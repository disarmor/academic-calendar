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sldIdLst>
    <p:sldId id="272" r:id="rId2"/>
    <p:sldId id="285" r:id="rId3"/>
    <p:sldId id="257" r:id="rId4"/>
    <p:sldId id="274" r:id="rId5"/>
    <p:sldId id="300" r:id="rId6"/>
    <p:sldId id="273" r:id="rId7"/>
    <p:sldId id="291" r:id="rId8"/>
    <p:sldId id="258" r:id="rId9"/>
    <p:sldId id="325" r:id="rId10"/>
    <p:sldId id="259" r:id="rId11"/>
    <p:sldId id="301" r:id="rId12"/>
    <p:sldId id="260" r:id="rId13"/>
    <p:sldId id="303" r:id="rId14"/>
    <p:sldId id="302" r:id="rId15"/>
    <p:sldId id="304" r:id="rId16"/>
    <p:sldId id="278" r:id="rId17"/>
    <p:sldId id="293" r:id="rId18"/>
    <p:sldId id="262" r:id="rId19"/>
    <p:sldId id="279" r:id="rId20"/>
    <p:sldId id="263" r:id="rId21"/>
    <p:sldId id="287" r:id="rId22"/>
    <p:sldId id="296" r:id="rId23"/>
    <p:sldId id="264" r:id="rId24"/>
    <p:sldId id="305" r:id="rId25"/>
    <p:sldId id="306" r:id="rId26"/>
    <p:sldId id="265" r:id="rId27"/>
    <p:sldId id="307" r:id="rId28"/>
    <p:sldId id="308" r:id="rId29"/>
    <p:sldId id="313" r:id="rId30"/>
    <p:sldId id="309" r:id="rId31"/>
    <p:sldId id="310" r:id="rId32"/>
    <p:sldId id="311" r:id="rId33"/>
    <p:sldId id="312" r:id="rId34"/>
    <p:sldId id="276" r:id="rId35"/>
    <p:sldId id="266" r:id="rId36"/>
    <p:sldId id="315" r:id="rId37"/>
    <p:sldId id="316" r:id="rId38"/>
    <p:sldId id="317" r:id="rId39"/>
    <p:sldId id="318" r:id="rId40"/>
    <p:sldId id="319" r:id="rId41"/>
    <p:sldId id="320" r:id="rId42"/>
    <p:sldId id="321" r:id="rId43"/>
    <p:sldId id="267" r:id="rId44"/>
    <p:sldId id="295" r:id="rId45"/>
    <p:sldId id="322" r:id="rId46"/>
    <p:sldId id="323" r:id="rId47"/>
    <p:sldId id="282" r:id="rId48"/>
    <p:sldId id="297" r:id="rId49"/>
    <p:sldId id="286" r:id="rId50"/>
    <p:sldId id="324" r:id="rId51"/>
    <p:sldId id="271" r:id="rId52"/>
    <p:sldId id="314" r:id="rId5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966" autoAdjust="0"/>
    <p:restoredTop sz="94632" autoAdjust="0"/>
  </p:normalViewPr>
  <p:slideViewPr>
    <p:cSldViewPr>
      <p:cViewPr>
        <p:scale>
          <a:sx n="90" d="100"/>
          <a:sy n="90" d="100"/>
        </p:scale>
        <p:origin x="-330" y="-3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231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11EBF-220E-4E2A-80B9-0CFAE5C1F1AD}" type="datetimeFigureOut">
              <a:rPr lang="ru-RU" smtClean="0"/>
              <a:pPr/>
              <a:t>17.10.2019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9CE4-88E7-4AD9-B2B0-5E5EF0A2A49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11EBF-220E-4E2A-80B9-0CFAE5C1F1AD}" type="datetimeFigureOut">
              <a:rPr lang="ru-RU" smtClean="0"/>
              <a:pPr/>
              <a:t>17.10.2019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9CE4-88E7-4AD9-B2B0-5E5EF0A2A49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11EBF-220E-4E2A-80B9-0CFAE5C1F1AD}" type="datetimeFigureOut">
              <a:rPr lang="ru-RU" smtClean="0"/>
              <a:pPr/>
              <a:t>17.10.2019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9CE4-88E7-4AD9-B2B0-5E5EF0A2A49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11EBF-220E-4E2A-80B9-0CFAE5C1F1AD}" type="datetimeFigureOut">
              <a:rPr lang="ru-RU" smtClean="0"/>
              <a:pPr/>
              <a:t>17.10.2019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9CE4-88E7-4AD9-B2B0-5E5EF0A2A49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11EBF-220E-4E2A-80B9-0CFAE5C1F1AD}" type="datetimeFigureOut">
              <a:rPr lang="ru-RU" smtClean="0"/>
              <a:pPr/>
              <a:t>17.10.2019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9CE4-88E7-4AD9-B2B0-5E5EF0A2A49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11EBF-220E-4E2A-80B9-0CFAE5C1F1AD}" type="datetimeFigureOut">
              <a:rPr lang="ru-RU" smtClean="0"/>
              <a:pPr/>
              <a:t>17.10.2019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9CE4-88E7-4AD9-B2B0-5E5EF0A2A49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11EBF-220E-4E2A-80B9-0CFAE5C1F1AD}" type="datetimeFigureOut">
              <a:rPr lang="ru-RU" smtClean="0"/>
              <a:pPr/>
              <a:t>17.10.2019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9CE4-88E7-4AD9-B2B0-5E5EF0A2A49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11EBF-220E-4E2A-80B9-0CFAE5C1F1AD}" type="datetimeFigureOut">
              <a:rPr lang="ru-RU" smtClean="0"/>
              <a:pPr/>
              <a:t>17.10.2019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9CE4-88E7-4AD9-B2B0-5E5EF0A2A49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с одним вырезанным скругленным углом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ый треугольник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11EBF-220E-4E2A-80B9-0CFAE5C1F1AD}" type="datetimeFigureOut">
              <a:rPr lang="ru-RU" smtClean="0"/>
              <a:pPr/>
              <a:t>17.10.2019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E15E9CE4-88E7-4AD9-B2B0-5E5EF0A2A497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10" name="Полилиния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Полилиния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11EBF-220E-4E2A-80B9-0CFAE5C1F1AD}" type="datetimeFigureOut">
              <a:rPr lang="ru-RU" smtClean="0"/>
              <a:pPr/>
              <a:t>17.10.2019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9CE4-88E7-4AD9-B2B0-5E5EF0A2A49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11EBF-220E-4E2A-80B9-0CFAE5C1F1AD}" type="datetimeFigureOut">
              <a:rPr lang="ru-RU" smtClean="0"/>
              <a:pPr/>
              <a:t>17.10.2019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E9CE4-88E7-4AD9-B2B0-5E5EF0A2A49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4C11EBF-220E-4E2A-80B9-0CFAE5C1F1AD}" type="datetimeFigureOut">
              <a:rPr lang="ru-RU" smtClean="0"/>
              <a:pPr/>
              <a:t>17.10.2019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15E9CE4-88E7-4AD9-B2B0-5E5EF0A2A497}" type="slidenum">
              <a:rPr lang="ru-RU" smtClean="0"/>
              <a:pPr/>
              <a:t>‹#›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Полилиния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Полилиния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3156960"/>
          </a:xfrm>
        </p:spPr>
        <p:txBody>
          <a:bodyPr>
            <a:normAutofit/>
          </a:bodyPr>
          <a:lstStyle/>
          <a:p>
            <a:pPr algn="ctr"/>
            <a:r>
              <a:rPr lang="ru-RU" sz="6600" dirty="0">
                <a:latin typeface="Arial Black" pitchFamily="34" charset="0"/>
              </a:rPr>
              <a:t>ПРИНЦИПЫ ДИДАКТИКИ</a:t>
            </a:r>
            <a:endParaRPr lang="ru-RU" sz="6000" dirty="0"/>
          </a:p>
        </p:txBody>
      </p:sp>
    </p:spTree>
    <p:extLst>
      <p:ext uri="{BB962C8B-B14F-4D97-AF65-F5344CB8AC3E}">
        <p14:creationId xmlns="" xmlns:p14="http://schemas.microsoft.com/office/powerpoint/2010/main" val="3488945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2060848"/>
            <a:ext cx="8784976" cy="4536504"/>
          </a:xfrm>
        </p:spPr>
        <p:txBody>
          <a:bodyPr>
            <a:normAutofit fontScale="62500" lnSpcReduction="20000"/>
          </a:bodyPr>
          <a:lstStyle/>
          <a:p>
            <a:pPr algn="ctr">
              <a:buNone/>
              <a:defRPr/>
            </a:pPr>
            <a:r>
              <a:rPr lang="ru-RU" sz="3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Наиболее полно принципы обучения были сформулированы </a:t>
            </a:r>
            <a:endParaRPr lang="ru-RU" sz="3200" b="1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  <a:defRPr/>
            </a:pPr>
            <a:r>
              <a:rPr lang="ru-RU" sz="3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К.Д</a:t>
            </a:r>
            <a:r>
              <a:rPr lang="ru-RU" sz="3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Ушинским:</a:t>
            </a:r>
          </a:p>
          <a:p>
            <a:pPr algn="just">
              <a:buNone/>
              <a:defRPr/>
            </a:pPr>
            <a:endParaRPr lang="ru-RU" sz="1100" i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ü"/>
              <a:defRPr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обучение должно начинаться своевременно и быть постепенным (пусть дети приобретают понемногу, но не теряют ничего из приобретенного и пользуются им для приобретения нового);</a:t>
            </a:r>
          </a:p>
          <a:p>
            <a:pPr algn="just">
              <a:buFont typeface="Wingdings" pitchFamily="2" charset="2"/>
              <a:buChar char="ü"/>
              <a:defRPr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обучение должно вестись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природосообразно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в соответствии с психологическими особенностями обучающихся;</a:t>
            </a:r>
          </a:p>
          <a:p>
            <a:pPr algn="just">
              <a:buFont typeface="Wingdings" pitchFamily="2" charset="2"/>
              <a:buChar char="ü"/>
              <a:defRPr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порядок и систематичность – одно из главных условий успеха в обучении; школа должна давать достаточно глубокие и основательные знания;</a:t>
            </a:r>
          </a:p>
          <a:p>
            <a:pPr algn="just">
              <a:buFont typeface="Wingdings" pitchFamily="2" charset="2"/>
              <a:buChar char="ü"/>
              <a:defRPr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обучение должно всячески развивать у детей самодеятельность, активность инициативу;</a:t>
            </a:r>
          </a:p>
          <a:p>
            <a:pPr algn="just">
              <a:buFont typeface="Wingdings" pitchFamily="2" charset="2"/>
              <a:buChar char="ü"/>
              <a:defRPr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обучение должно быть посильным для учащихся, не чрезмерно трудным и не слишком легким;</a:t>
            </a:r>
          </a:p>
          <a:p>
            <a:pPr algn="just">
              <a:buFont typeface="Wingdings" pitchFamily="2" charset="2"/>
              <a:buChar char="ü"/>
              <a:defRPr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преподавание всякого предмета должно непременно идти таким путем, чтобы на долю воспитания оставалось ровно столько труда, сколько могут одолеть его молодые силы.</a:t>
            </a:r>
          </a:p>
          <a:p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67544" y="692696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 истории педагогики выдвигались принципы </a:t>
            </a:r>
            <a:r>
              <a:rPr lang="ru-RU" sz="22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природосообразности</a:t>
            </a: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обучения  (</a:t>
            </a:r>
            <a:r>
              <a:rPr lang="ru-RU" sz="22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Я.А.Коменский</a:t>
            </a: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ru-RU" sz="22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культуросообразности</a:t>
            </a: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(Ф.А. </a:t>
            </a:r>
            <a:r>
              <a:rPr lang="ru-RU" sz="22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Дистервег</a:t>
            </a: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), формального и неформального подхода к образовании, и др. </a:t>
            </a:r>
            <a:b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Они оказались исторически преходящими.</a:t>
            </a:r>
            <a:endParaRPr lang="ru-RU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88785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03648" y="332656"/>
            <a:ext cx="6420766" cy="58177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/>
            </a:r>
            <a:br>
              <a:rPr lang="ru-RU" dirty="0"/>
            </a:br>
            <a:r>
              <a:rPr lang="ru-RU" sz="3600" b="1" dirty="0" smtClean="0"/>
              <a:t>Дидактические принципы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158" y="1357298"/>
            <a:ext cx="8463314" cy="5143536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Педагогические технологии, их организация и реализация зависят от требований ведущих дидактических принципов. </a:t>
            </a:r>
            <a:endParaRPr lang="ru-RU" dirty="0" smtClean="0"/>
          </a:p>
          <a:p>
            <a:r>
              <a:rPr lang="ru-RU" dirty="0" smtClean="0"/>
              <a:t>«</a:t>
            </a:r>
            <a:r>
              <a:rPr lang="ru-RU" dirty="0"/>
              <a:t>Дидактика» — это раздел науки педагогики, представляющий собой теорию обучения и образования, отвечающий на вопрос: </a:t>
            </a:r>
            <a:endParaRPr lang="ru-RU" dirty="0" smtClean="0"/>
          </a:p>
          <a:p>
            <a:pPr marL="0" indent="0" algn="ctr">
              <a:buNone/>
            </a:pPr>
            <a:r>
              <a:rPr lang="ru-RU" sz="3200" b="1" dirty="0" smtClean="0">
                <a:solidFill>
                  <a:srgbClr val="FF0000"/>
                </a:solidFill>
              </a:rPr>
              <a:t>«</a:t>
            </a:r>
            <a:r>
              <a:rPr lang="ru-RU" sz="3200" b="1" dirty="0">
                <a:solidFill>
                  <a:srgbClr val="FF0000"/>
                </a:solidFill>
              </a:rPr>
              <a:t>Как обучать?». </a:t>
            </a:r>
            <a:endParaRPr lang="ru-RU" sz="3200" b="1" dirty="0" smtClean="0">
              <a:solidFill>
                <a:srgbClr val="FF0000"/>
              </a:solidFill>
            </a:endParaRPr>
          </a:p>
          <a:p>
            <a:pPr marL="1079500" indent="-1079500">
              <a:buNone/>
            </a:pPr>
            <a:r>
              <a:rPr lang="ru-RU" b="1" dirty="0">
                <a:solidFill>
                  <a:srgbClr val="CC6600"/>
                </a:solidFill>
              </a:rPr>
              <a:t>Дидактика</a:t>
            </a:r>
            <a:r>
              <a:rPr lang="ru-RU" dirty="0"/>
              <a:t>  - </a:t>
            </a:r>
          </a:p>
          <a:p>
            <a:pPr marL="1079500" indent="-1079500">
              <a:buNone/>
            </a:pPr>
            <a:r>
              <a:rPr lang="ru-RU" dirty="0"/>
              <a:t>	это отрасль педагогики, направленная на изучение и раскрытие теоретических основ организации процесса обучения</a:t>
            </a:r>
            <a:r>
              <a:rPr lang="ru-RU" b="1" dirty="0" smtClean="0"/>
              <a:t>,</a:t>
            </a:r>
          </a:p>
          <a:p>
            <a:pPr marL="1079500" indent="-1079500" algn="ctr">
              <a:buNone/>
            </a:pPr>
            <a:r>
              <a:rPr lang="ru-RU" sz="3000" b="1" dirty="0" smtClean="0">
                <a:solidFill>
                  <a:srgbClr val="FF0000"/>
                </a:solidFill>
              </a:rPr>
              <a:t> </a:t>
            </a:r>
            <a:r>
              <a:rPr lang="ru-RU" sz="3000" b="1" dirty="0">
                <a:solidFill>
                  <a:srgbClr val="FF0000"/>
                </a:solidFill>
              </a:rPr>
              <a:t>а также поиск и разработку новых принципов</a:t>
            </a:r>
            <a:r>
              <a:rPr lang="ru-RU" dirty="0"/>
              <a:t>, стратегий, методик, технологий и систем обучения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41588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Все </a:t>
            </a:r>
            <a:r>
              <a:rPr lang="ru-RU" sz="3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принципы обучения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связаны друг с другом и проникают  один в другой, поэтому они могут быть представлены как </a:t>
            </a:r>
            <a:r>
              <a:rPr lang="ru-RU" sz="2800" i="1" dirty="0">
                <a:latin typeface="Times New Roman" pitchFamily="18" charset="0"/>
                <a:cs typeface="Times New Roman" pitchFamily="18" charset="0"/>
              </a:rPr>
              <a:t>система, состоящая 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из:</a:t>
            </a:r>
          </a:p>
          <a:p>
            <a:pPr algn="just">
              <a:buFont typeface="Wingdings" pitchFamily="2" charset="2"/>
              <a:buChar char="Ø"/>
            </a:pP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 содержательных;</a:t>
            </a:r>
          </a:p>
          <a:p>
            <a:pPr algn="just">
              <a:buFont typeface="Wingdings" pitchFamily="2" charset="2"/>
              <a:buChar char="Ø"/>
            </a:pP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процессуальных </a:t>
            </a:r>
            <a:r>
              <a:rPr lang="ru-RU" sz="2800" i="1" dirty="0">
                <a:latin typeface="Times New Roman" pitchFamily="18" charset="0"/>
                <a:cs typeface="Times New Roman" pitchFamily="18" charset="0"/>
              </a:rPr>
              <a:t>(организационно-методических</a:t>
            </a:r>
            <a:r>
              <a:rPr lang="ru-RU" sz="2800" i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ru-RU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Содержательные </a:t>
            </a:r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принципы </a:t>
            </a:r>
            <a:r>
              <a:rPr lang="ru-RU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обучения</a:t>
            </a:r>
          </a:p>
          <a:p>
            <a:pPr marL="0" indent="0" algn="ctr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отражают закономерности, которые связаны с отбором содержания образования и его совершенствованием.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097444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2484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Процессуальные </a:t>
            </a:r>
          </a:p>
          <a:p>
            <a:pPr marL="0" indent="0" algn="ctr">
              <a:buNone/>
            </a:pPr>
            <a:r>
              <a:rPr lang="ru-RU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(организационно-методические) </a:t>
            </a:r>
          </a:p>
          <a:p>
            <a:pPr marL="0" indent="0" algn="ctr">
              <a:buNone/>
            </a:pPr>
            <a:r>
              <a:rPr lang="ru-RU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принципы обучения</a:t>
            </a:r>
          </a:p>
          <a:p>
            <a:pPr marL="0" indent="0" algn="ctr">
              <a:buNone/>
            </a:pP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отражают закономерности, которые связаны с 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особенностью организации и проведением  процесса обучения.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ru-RU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60547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343872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sz="3200" b="1" dirty="0">
                <a:solidFill>
                  <a:srgbClr val="FF0000"/>
                </a:solidFill>
              </a:rPr>
              <a:t>Дидактические принципы или принципы обучения </a:t>
            </a:r>
            <a:r>
              <a:rPr lang="ru-RU" sz="3200" dirty="0" smtClean="0"/>
              <a:t>— </a:t>
            </a:r>
            <a:r>
              <a:rPr lang="ru-RU" sz="3200" dirty="0"/>
              <a:t>это руководящие положения, принципиальные закономерности, </a:t>
            </a:r>
            <a:r>
              <a:rPr lang="ru-RU" sz="3200" dirty="0" smtClean="0"/>
              <a:t>которые называют </a:t>
            </a:r>
            <a:r>
              <a:rPr lang="ru-RU" sz="3200" dirty="0"/>
              <a:t>определенную систему </a:t>
            </a:r>
            <a:br>
              <a:rPr lang="ru-RU" sz="3200" dirty="0"/>
            </a:br>
            <a:r>
              <a:rPr lang="ru-RU" sz="3200" dirty="0"/>
              <a:t>исходных, основных дидактических требований к содержанию, процессу обучения, методам, приемам, средствам и формам его организации. </a:t>
            </a:r>
            <a:endParaRPr lang="ru-RU" sz="3200" dirty="0" smtClean="0"/>
          </a:p>
          <a:p>
            <a:pPr marL="0" indent="0" algn="ctr">
              <a:buNone/>
            </a:pPr>
            <a:r>
              <a:rPr lang="ru-RU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Они возникают на основе исторического опыта и формулируются в результате научного исследования учебного процесса в его многообразных проявлениях.</a:t>
            </a:r>
            <a:endParaRPr lang="ru-RU" sz="3200" dirty="0"/>
          </a:p>
          <a:p>
            <a:pPr algn="ctr"/>
            <a:endParaRPr lang="ru-RU" sz="2800" dirty="0"/>
          </a:p>
        </p:txBody>
      </p:sp>
    </p:spTree>
    <p:extLst>
      <p:ext uri="{BB962C8B-B14F-4D97-AF65-F5344CB8AC3E}">
        <p14:creationId xmlns="" xmlns:p14="http://schemas.microsoft.com/office/powerpoint/2010/main" val="677865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548680"/>
            <a:ext cx="8640960" cy="6048672"/>
          </a:xfrm>
        </p:spPr>
        <p:txBody>
          <a:bodyPr>
            <a:normAutofit fontScale="92500"/>
          </a:bodyPr>
          <a:lstStyle/>
          <a:p>
            <a:pPr marL="0" indent="0"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30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Требования тех или иных принципов реализуются через систему правил. </a:t>
            </a:r>
            <a:endParaRPr lang="ru-RU" sz="3000" b="1" dirty="0" smtClean="0">
              <a:solidFill>
                <a:srgbClr val="0070C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b="1" i="1" dirty="0" smtClean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Правила </a:t>
            </a:r>
            <a:r>
              <a:rPr lang="ru-RU" b="1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lang="ru-RU" dirty="0">
                <a:latin typeface="Times New Roman"/>
                <a:ea typeface="Times New Roman"/>
                <a:cs typeface="Times New Roman"/>
              </a:rPr>
              <a:t> это регулятивные суждения относительно конкретных действий преподавателя и студентов с целью реализации требований определенных принципов, своеобразные практические требования, которые основываются прежде всего на логике учебного процесса.</a:t>
            </a:r>
            <a:endParaRPr lang="ru-RU" dirty="0">
              <a:latin typeface="Calibri"/>
              <a:ea typeface="Calibri"/>
              <a:cs typeface="Times New Roman"/>
            </a:endParaRPr>
          </a:p>
          <a:p>
            <a:pPr marL="0" indent="0"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dirty="0">
                <a:latin typeface="Times New Roman"/>
                <a:ea typeface="Times New Roman"/>
                <a:cs typeface="Times New Roman"/>
              </a:rPr>
              <a:t>Следует осознавать, что в любой звене, в любом виде учебной деятельности (лекция, семинар, практическое занятие) действуют не один или несколько принципов, а их комплекс. </a:t>
            </a:r>
            <a:endParaRPr lang="ru-RU" dirty="0" smtClean="0"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b="1" dirty="0" smtClean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Только </a:t>
            </a:r>
            <a:r>
              <a:rPr lang="ru-RU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во взаимодействии они обеспечивают оптимальный вариант учебного процесса.</a:t>
            </a:r>
            <a:endParaRPr lang="ru-RU" b="1" dirty="0">
              <a:solidFill>
                <a:srgbClr val="FF0000"/>
              </a:solidFill>
              <a:latin typeface="Calibri"/>
              <a:ea typeface="Calibri"/>
              <a:cs typeface="Times New Roman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464699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780696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700" dirty="0" smtClean="0"/>
              <a:t/>
            </a:r>
            <a:br>
              <a:rPr lang="ru-RU" sz="2700" dirty="0" smtClean="0"/>
            </a:br>
            <a:r>
              <a:rPr lang="ru-RU" sz="2700" dirty="0"/>
              <a:t/>
            </a:r>
            <a:br>
              <a:rPr lang="ru-RU" sz="2700" dirty="0"/>
            </a:br>
            <a:r>
              <a:rPr lang="ru-RU" sz="2700" dirty="0" smtClean="0"/>
              <a:t/>
            </a:r>
            <a:br>
              <a:rPr lang="ru-RU" sz="2700" dirty="0" smtClean="0"/>
            </a:br>
            <a:r>
              <a:rPr lang="ru-RU" sz="2700" dirty="0"/>
              <a:t/>
            </a:r>
            <a:br>
              <a:rPr lang="ru-RU" sz="2700" dirty="0"/>
            </a:br>
            <a:r>
              <a:rPr lang="ru-RU" sz="2700" dirty="0" smtClean="0"/>
              <a:t/>
            </a:r>
            <a:br>
              <a:rPr lang="ru-RU" sz="2700" dirty="0" smtClean="0"/>
            </a:br>
            <a:r>
              <a:rPr lang="ru-RU" sz="2700" dirty="0"/>
              <a:t/>
            </a:r>
            <a:br>
              <a:rPr lang="ru-RU" sz="2700" dirty="0"/>
            </a:br>
            <a:r>
              <a:rPr lang="ru-RU" sz="2700" dirty="0" smtClean="0"/>
              <a:t/>
            </a:r>
            <a:br>
              <a:rPr lang="ru-RU" sz="2700" dirty="0" smtClean="0"/>
            </a:br>
            <a:r>
              <a:rPr lang="ru-RU" sz="2700" dirty="0"/>
              <a:t/>
            </a:r>
            <a:br>
              <a:rPr lang="ru-RU" sz="2700" dirty="0"/>
            </a:br>
            <a:r>
              <a:rPr lang="ru-RU" sz="2700" dirty="0" smtClean="0"/>
              <a:t>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sz="3100" b="1" dirty="0" smtClean="0">
                <a:solidFill>
                  <a:srgbClr val="C00000"/>
                </a:solidFill>
              </a:rPr>
              <a:t>К ведущим принципам обучения относятся следующие: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39816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ru-RU" dirty="0" smtClean="0"/>
              <a:t>принцип целенаправленности</a:t>
            </a:r>
            <a:r>
              <a:rPr lang="ru-RU" dirty="0"/>
              <a:t>;</a:t>
            </a:r>
          </a:p>
          <a:p>
            <a:pPr lvl="0"/>
            <a:r>
              <a:rPr lang="ru-RU" dirty="0" smtClean="0"/>
              <a:t>научности;</a:t>
            </a:r>
          </a:p>
          <a:p>
            <a:pPr lvl="0"/>
            <a:r>
              <a:rPr lang="ru-RU" dirty="0" smtClean="0"/>
              <a:t>связи </a:t>
            </a:r>
            <a:r>
              <a:rPr lang="ru-RU" dirty="0"/>
              <a:t>обучения с жизнью;</a:t>
            </a:r>
          </a:p>
          <a:p>
            <a:pPr lvl="0"/>
            <a:r>
              <a:rPr lang="ru-RU" dirty="0"/>
              <a:t>систематичности и последовательности;</a:t>
            </a:r>
          </a:p>
          <a:p>
            <a:pPr lvl="0"/>
            <a:r>
              <a:rPr lang="ru-RU" dirty="0"/>
              <a:t>сознательности и активности;</a:t>
            </a:r>
          </a:p>
          <a:p>
            <a:pPr lvl="0"/>
            <a:r>
              <a:rPr lang="ru-RU" dirty="0"/>
              <a:t>наглядности обучения;</a:t>
            </a:r>
          </a:p>
          <a:p>
            <a:pPr lvl="0"/>
            <a:r>
              <a:rPr lang="ru-RU" dirty="0"/>
              <a:t>доступности;</a:t>
            </a:r>
          </a:p>
          <a:p>
            <a:pPr lvl="0"/>
            <a:r>
              <a:rPr lang="ru-RU" dirty="0" smtClean="0"/>
              <a:t>воспитывающего </a:t>
            </a:r>
            <a:r>
              <a:rPr lang="ru-RU" dirty="0"/>
              <a:t>и развивающего обучения;</a:t>
            </a:r>
          </a:p>
          <a:p>
            <a:pPr lvl="0"/>
            <a:r>
              <a:rPr lang="ru-RU" dirty="0"/>
              <a:t>принцип прочности</a:t>
            </a:r>
            <a:r>
              <a:rPr lang="ru-RU" dirty="0" smtClean="0"/>
              <a:t>.</a:t>
            </a:r>
          </a:p>
          <a:p>
            <a:pPr lvl="0"/>
            <a:r>
              <a:rPr lang="ru-RU" dirty="0"/>
              <a:t>Принцип активности и </a:t>
            </a:r>
            <a:r>
              <a:rPr lang="ru-RU" dirty="0" smtClean="0"/>
              <a:t>самостоятельности</a:t>
            </a:r>
          </a:p>
          <a:p>
            <a:pPr lvl="0"/>
            <a:r>
              <a:rPr lang="ru-RU" dirty="0"/>
              <a:t>Принцип основательности </a:t>
            </a:r>
            <a:endParaRPr lang="ru-RU" dirty="0" smtClean="0"/>
          </a:p>
          <a:p>
            <a:pPr lvl="0"/>
            <a:r>
              <a:rPr lang="ru-RU" dirty="0"/>
              <a:t> 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Принцип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соответствия обучения возрастным и индивидуальным особенностям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обучаемых</a:t>
            </a:r>
          </a:p>
          <a:p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lvl="0"/>
            <a:endParaRPr lang="ru-RU" dirty="0" smtClean="0"/>
          </a:p>
          <a:p>
            <a:pPr lvl="0"/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504056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>
                <a:solidFill>
                  <a:srgbClr val="C00000"/>
                </a:solidFill>
              </a:rPr>
              <a:t>К ведущим принципам обучения относятся следующие:</a:t>
            </a:r>
            <a:endParaRPr lang="ru-RU" sz="2000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283053" y="2528899"/>
            <a:ext cx="2441075" cy="93610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b="1" dirty="0" smtClean="0">
                <a:solidFill>
                  <a:srgbClr val="FF0000"/>
                </a:solidFill>
              </a:rPr>
              <a:t>Принципы дидактики</a:t>
            </a:r>
            <a:endParaRPr lang="ru-RU" sz="2400" b="1" dirty="0">
              <a:solidFill>
                <a:srgbClr val="FF0000"/>
              </a:solidFill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11560" y="1124744"/>
            <a:ext cx="2304381" cy="7920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dirty="0" smtClean="0"/>
              <a:t>Принцип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1600" dirty="0" smtClean="0"/>
              <a:t>научности</a:t>
            </a:r>
            <a:endParaRPr lang="ru-RU" sz="1600" dirty="0"/>
          </a:p>
        </p:txBody>
      </p:sp>
      <p:sp>
        <p:nvSpPr>
          <p:cNvPr id="6" name="Объект 4"/>
          <p:cNvSpPr txBox="1">
            <a:spLocks/>
          </p:cNvSpPr>
          <p:nvPr/>
        </p:nvSpPr>
        <p:spPr>
          <a:xfrm>
            <a:off x="3283053" y="980728"/>
            <a:ext cx="2304381" cy="7920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Wingdings 2"/>
              <a:buNone/>
            </a:pPr>
            <a:r>
              <a:rPr lang="ru-RU" sz="1600" dirty="0" smtClean="0"/>
              <a:t>Принцип</a:t>
            </a:r>
          </a:p>
          <a:p>
            <a:pPr marL="0" indent="0" algn="ctr">
              <a:spcBef>
                <a:spcPts val="0"/>
              </a:spcBef>
              <a:buFont typeface="Wingdings 2"/>
              <a:buNone/>
            </a:pPr>
            <a:r>
              <a:rPr lang="ru-RU" sz="1600" dirty="0"/>
              <a:t>с</a:t>
            </a:r>
            <a:r>
              <a:rPr lang="ru-RU" sz="1600" dirty="0" smtClean="0"/>
              <a:t>ознательности и активности</a:t>
            </a:r>
            <a:endParaRPr lang="ru-RU" sz="1600" dirty="0"/>
          </a:p>
        </p:txBody>
      </p:sp>
      <p:sp>
        <p:nvSpPr>
          <p:cNvPr id="7" name="Объект 4"/>
          <p:cNvSpPr txBox="1">
            <a:spLocks/>
          </p:cNvSpPr>
          <p:nvPr/>
        </p:nvSpPr>
        <p:spPr>
          <a:xfrm>
            <a:off x="5587434" y="4114059"/>
            <a:ext cx="2304381" cy="7920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Wingdings 2"/>
              <a:buNone/>
            </a:pPr>
            <a:r>
              <a:rPr lang="ru-RU" sz="1600" dirty="0" smtClean="0"/>
              <a:t>Принцип</a:t>
            </a:r>
          </a:p>
          <a:p>
            <a:pPr marL="0" indent="0" algn="ctr">
              <a:spcBef>
                <a:spcPts val="0"/>
              </a:spcBef>
              <a:buFont typeface="Wingdings 2"/>
              <a:buNone/>
            </a:pPr>
            <a:r>
              <a:rPr lang="ru-RU" sz="1600" dirty="0" smtClean="0"/>
              <a:t>прочности</a:t>
            </a:r>
            <a:endParaRPr lang="ru-RU" sz="1600" dirty="0"/>
          </a:p>
        </p:txBody>
      </p:sp>
      <p:sp>
        <p:nvSpPr>
          <p:cNvPr id="8" name="Объект 4"/>
          <p:cNvSpPr txBox="1">
            <a:spLocks/>
          </p:cNvSpPr>
          <p:nvPr/>
        </p:nvSpPr>
        <p:spPr>
          <a:xfrm>
            <a:off x="395536" y="2132856"/>
            <a:ext cx="2304381" cy="7920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Wingdings 2"/>
              <a:buNone/>
            </a:pPr>
            <a:r>
              <a:rPr lang="ru-RU" sz="1600" dirty="0" smtClean="0"/>
              <a:t>Принцип</a:t>
            </a:r>
          </a:p>
          <a:p>
            <a:pPr marL="0" indent="0" algn="ctr">
              <a:spcBef>
                <a:spcPts val="0"/>
              </a:spcBef>
              <a:buFont typeface="Wingdings 2"/>
              <a:buNone/>
            </a:pPr>
            <a:r>
              <a:rPr lang="ru-RU" sz="1600" dirty="0"/>
              <a:t>с</a:t>
            </a:r>
            <a:r>
              <a:rPr lang="ru-RU" sz="1600" dirty="0" smtClean="0"/>
              <a:t>истематичности и последовательности</a:t>
            </a:r>
            <a:endParaRPr lang="ru-RU" sz="1600" dirty="0"/>
          </a:p>
        </p:txBody>
      </p:sp>
      <p:sp>
        <p:nvSpPr>
          <p:cNvPr id="9" name="Объект 4"/>
          <p:cNvSpPr txBox="1">
            <a:spLocks/>
          </p:cNvSpPr>
          <p:nvPr/>
        </p:nvSpPr>
        <p:spPr>
          <a:xfrm>
            <a:off x="724769" y="5157192"/>
            <a:ext cx="3240361" cy="104323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Wingdings 2"/>
              <a:buNone/>
            </a:pPr>
            <a:r>
              <a:rPr lang="ru-RU" sz="1600" dirty="0" smtClean="0"/>
              <a:t>Принцип</a:t>
            </a:r>
          </a:p>
          <a:p>
            <a:pPr marL="0" indent="0" algn="ctr">
              <a:spcBef>
                <a:spcPts val="0"/>
              </a:spcBef>
              <a:buFont typeface="Wingdings 2"/>
              <a:buNone/>
            </a:pPr>
            <a:r>
              <a:rPr lang="ru-RU" sz="1600" dirty="0" smtClean="0"/>
              <a:t>Воспитывающего и развивающего обучения</a:t>
            </a:r>
            <a:endParaRPr lang="ru-RU" sz="1600" dirty="0"/>
          </a:p>
        </p:txBody>
      </p:sp>
      <p:sp>
        <p:nvSpPr>
          <p:cNvPr id="10" name="Объект 4"/>
          <p:cNvSpPr txBox="1">
            <a:spLocks/>
          </p:cNvSpPr>
          <p:nvPr/>
        </p:nvSpPr>
        <p:spPr>
          <a:xfrm>
            <a:off x="4860032" y="5129968"/>
            <a:ext cx="3312493" cy="109767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Wingdings 2"/>
              <a:buNone/>
            </a:pPr>
            <a:r>
              <a:rPr lang="ru-RU" sz="1600" dirty="0" smtClean="0"/>
              <a:t>Принцип</a:t>
            </a:r>
          </a:p>
          <a:p>
            <a:pPr marL="0" indent="0" algn="ctr">
              <a:spcBef>
                <a:spcPts val="0"/>
              </a:spcBef>
              <a:buFont typeface="Wingdings 2"/>
              <a:buNone/>
            </a:pPr>
            <a:r>
              <a:rPr lang="ru-RU" sz="1600" dirty="0" smtClean="0"/>
              <a:t>Соответствия обучения возрастным и индивидуальным особенностям</a:t>
            </a:r>
            <a:endParaRPr lang="ru-RU" sz="1600" dirty="0"/>
          </a:p>
        </p:txBody>
      </p:sp>
      <p:sp>
        <p:nvSpPr>
          <p:cNvPr id="11" name="Объект 4"/>
          <p:cNvSpPr txBox="1">
            <a:spLocks/>
          </p:cNvSpPr>
          <p:nvPr/>
        </p:nvSpPr>
        <p:spPr>
          <a:xfrm>
            <a:off x="683568" y="3140969"/>
            <a:ext cx="2304381" cy="7920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Wingdings 2"/>
              <a:buNone/>
            </a:pPr>
            <a:r>
              <a:rPr lang="ru-RU" sz="1600" dirty="0" smtClean="0"/>
              <a:t>Принцип</a:t>
            </a:r>
          </a:p>
          <a:p>
            <a:pPr marL="0" indent="0" algn="ctr">
              <a:spcBef>
                <a:spcPts val="0"/>
              </a:spcBef>
              <a:buFont typeface="Wingdings 2"/>
              <a:buNone/>
            </a:pPr>
            <a:r>
              <a:rPr lang="ru-RU" sz="1600" dirty="0" smtClean="0"/>
              <a:t>основательности</a:t>
            </a:r>
            <a:endParaRPr lang="ru-RU" sz="1600" dirty="0"/>
          </a:p>
        </p:txBody>
      </p:sp>
      <p:sp>
        <p:nvSpPr>
          <p:cNvPr id="12" name="Объект 4"/>
          <p:cNvSpPr txBox="1">
            <a:spLocks/>
          </p:cNvSpPr>
          <p:nvPr/>
        </p:nvSpPr>
        <p:spPr>
          <a:xfrm>
            <a:off x="978672" y="4114060"/>
            <a:ext cx="2304381" cy="7920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Wingdings 2"/>
              <a:buNone/>
            </a:pPr>
            <a:r>
              <a:rPr lang="ru-RU" sz="1600" dirty="0" smtClean="0"/>
              <a:t>Принцип</a:t>
            </a:r>
          </a:p>
          <a:p>
            <a:pPr marL="0" indent="0" algn="ctr">
              <a:spcBef>
                <a:spcPts val="0"/>
              </a:spcBef>
              <a:buFont typeface="Wingdings 2"/>
              <a:buNone/>
            </a:pPr>
            <a:r>
              <a:rPr lang="ru-RU" sz="1600" dirty="0"/>
              <a:t>а</a:t>
            </a:r>
            <a:r>
              <a:rPr lang="ru-RU" sz="1600" dirty="0" smtClean="0"/>
              <a:t>ктивности и самостоятельности</a:t>
            </a:r>
            <a:endParaRPr lang="ru-RU" sz="1600" dirty="0"/>
          </a:p>
        </p:txBody>
      </p:sp>
      <p:sp>
        <p:nvSpPr>
          <p:cNvPr id="13" name="Объект 4"/>
          <p:cNvSpPr txBox="1">
            <a:spLocks/>
          </p:cNvSpPr>
          <p:nvPr/>
        </p:nvSpPr>
        <p:spPr>
          <a:xfrm>
            <a:off x="6012160" y="3140969"/>
            <a:ext cx="2304381" cy="7920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Wingdings 2"/>
              <a:buNone/>
            </a:pPr>
            <a:r>
              <a:rPr lang="ru-RU" sz="1600" dirty="0" smtClean="0"/>
              <a:t>Принцип</a:t>
            </a:r>
          </a:p>
          <a:p>
            <a:pPr marL="0" indent="0" algn="ctr">
              <a:spcBef>
                <a:spcPts val="0"/>
              </a:spcBef>
              <a:buFont typeface="Wingdings 2"/>
              <a:buNone/>
            </a:pPr>
            <a:r>
              <a:rPr lang="ru-RU" sz="1600" dirty="0"/>
              <a:t>н</a:t>
            </a:r>
            <a:r>
              <a:rPr lang="ru-RU" sz="1600" dirty="0" smtClean="0"/>
              <a:t>аглядности  обучения</a:t>
            </a:r>
            <a:endParaRPr lang="ru-RU" sz="1600" dirty="0"/>
          </a:p>
        </p:txBody>
      </p:sp>
      <p:sp>
        <p:nvSpPr>
          <p:cNvPr id="14" name="Объект 4"/>
          <p:cNvSpPr txBox="1">
            <a:spLocks/>
          </p:cNvSpPr>
          <p:nvPr/>
        </p:nvSpPr>
        <p:spPr>
          <a:xfrm>
            <a:off x="6300192" y="2132856"/>
            <a:ext cx="2304381" cy="7920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Wingdings 2"/>
              <a:buNone/>
            </a:pPr>
            <a:r>
              <a:rPr lang="ru-RU" sz="1600" dirty="0" smtClean="0"/>
              <a:t>Принцип</a:t>
            </a:r>
          </a:p>
          <a:p>
            <a:pPr marL="0" indent="0" algn="ctr">
              <a:spcBef>
                <a:spcPts val="0"/>
              </a:spcBef>
              <a:buFont typeface="Wingdings 2"/>
              <a:buNone/>
            </a:pPr>
            <a:r>
              <a:rPr lang="ru-RU" sz="1600" dirty="0"/>
              <a:t>с</a:t>
            </a:r>
            <a:r>
              <a:rPr lang="ru-RU" sz="1600" dirty="0" smtClean="0"/>
              <a:t>вязи обучения с жизнью</a:t>
            </a:r>
            <a:endParaRPr lang="ru-RU" sz="1600" dirty="0"/>
          </a:p>
        </p:txBody>
      </p:sp>
      <p:sp>
        <p:nvSpPr>
          <p:cNvPr id="15" name="Объект 4"/>
          <p:cNvSpPr txBox="1">
            <a:spLocks/>
          </p:cNvSpPr>
          <p:nvPr/>
        </p:nvSpPr>
        <p:spPr>
          <a:xfrm>
            <a:off x="6012159" y="1175085"/>
            <a:ext cx="2304381" cy="79208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Wingdings 2"/>
              <a:buNone/>
            </a:pPr>
            <a:r>
              <a:rPr lang="ru-RU" sz="1600" smtClean="0"/>
              <a:t>Принцип</a:t>
            </a:r>
          </a:p>
          <a:p>
            <a:pPr marL="0" indent="0" algn="ctr">
              <a:spcBef>
                <a:spcPts val="0"/>
              </a:spcBef>
              <a:buFont typeface="Wingdings 2"/>
              <a:buNone/>
            </a:pPr>
            <a:r>
              <a:rPr lang="ru-RU" sz="1600" smtClean="0"/>
              <a:t>целенаправленности</a:t>
            </a:r>
            <a:endParaRPr lang="ru-RU" sz="1600" dirty="0"/>
          </a:p>
        </p:txBody>
      </p:sp>
      <p:cxnSp>
        <p:nvCxnSpPr>
          <p:cNvPr id="17" name="Прямая со стрелкой 16"/>
          <p:cNvCxnSpPr>
            <a:stCxn id="4" idx="0"/>
          </p:cNvCxnSpPr>
          <p:nvPr/>
        </p:nvCxnSpPr>
        <p:spPr>
          <a:xfrm flipH="1" flipV="1">
            <a:off x="4503590" y="1916832"/>
            <a:ext cx="1" cy="612067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/>
          <p:nvPr/>
        </p:nvCxnSpPr>
        <p:spPr>
          <a:xfrm flipV="1">
            <a:off x="5508106" y="1967172"/>
            <a:ext cx="504053" cy="561727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 flipV="1">
            <a:off x="3031024" y="1987054"/>
            <a:ext cx="504058" cy="54184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flipV="1">
            <a:off x="5724130" y="2708920"/>
            <a:ext cx="504054" cy="11763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5586366" y="3474725"/>
            <a:ext cx="389791" cy="17029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>
            <a:off x="5028909" y="3474725"/>
            <a:ext cx="504056" cy="71520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/>
          <p:nvPr/>
        </p:nvCxnSpPr>
        <p:spPr>
          <a:xfrm>
            <a:off x="4655993" y="3489652"/>
            <a:ext cx="372916" cy="164031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/>
          <p:nvPr/>
        </p:nvCxnSpPr>
        <p:spPr>
          <a:xfrm flipH="1">
            <a:off x="3851920" y="3489652"/>
            <a:ext cx="504056" cy="164031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 flipH="1">
            <a:off x="3283054" y="3474725"/>
            <a:ext cx="568866" cy="63933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/>
          <p:nvPr/>
        </p:nvCxnSpPr>
        <p:spPr>
          <a:xfrm flipH="1">
            <a:off x="3031024" y="3466515"/>
            <a:ext cx="341567" cy="17850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 flipH="1" flipV="1">
            <a:off x="2699917" y="2767737"/>
            <a:ext cx="566636" cy="14406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979780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9632" y="188640"/>
            <a:ext cx="6768752" cy="1224136"/>
          </a:xfrm>
        </p:spPr>
        <p:txBody>
          <a:bodyPr>
            <a:noAutofit/>
          </a:bodyPr>
          <a:lstStyle/>
          <a:p>
            <a:pPr algn="ctr"/>
            <a:r>
              <a:rPr lang="ru-RU" sz="5400" dirty="0" smtClean="0"/>
              <a:t/>
            </a:r>
            <a:br>
              <a:rPr lang="ru-RU" sz="5400" dirty="0" smtClean="0"/>
            </a:br>
            <a:r>
              <a:rPr lang="ru-RU" sz="4000" b="1" dirty="0" smtClean="0">
                <a:solidFill>
                  <a:srgbClr val="FF0000"/>
                </a:solidFill>
              </a:rPr>
              <a:t>Принцип целенаправленности</a:t>
            </a:r>
            <a:endParaRPr lang="ru-RU" sz="5400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44824"/>
            <a:ext cx="8543956" cy="447977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3200" dirty="0" smtClean="0"/>
              <a:t>Принцип </a:t>
            </a:r>
            <a:r>
              <a:rPr lang="ru-RU" sz="3200" dirty="0"/>
              <a:t>целенаправленности реализуется через главную цель основных направлений развития </a:t>
            </a:r>
            <a:r>
              <a:rPr lang="ru-RU" sz="3200" dirty="0" smtClean="0"/>
              <a:t>образования</a:t>
            </a:r>
            <a:r>
              <a:rPr lang="ru-RU" sz="3200" dirty="0"/>
              <a:t>, что выражается в </a:t>
            </a:r>
            <a:br>
              <a:rPr lang="ru-RU" sz="3200" dirty="0"/>
            </a:br>
            <a:r>
              <a:rPr lang="ru-RU" sz="3200" dirty="0"/>
              <a:t>создании организационных, методических и содержательных основ проведения в жизнь государственной политики в области </a:t>
            </a:r>
            <a:r>
              <a:rPr lang="ru-RU" sz="3200" dirty="0" smtClean="0"/>
              <a:t>образования</a:t>
            </a:r>
            <a:r>
              <a:rPr lang="ru-RU" sz="3200" dirty="0"/>
              <a:t>, в ускорении его адаптации у изменяющимся </a:t>
            </a:r>
            <a:r>
              <a:rPr lang="ru-RU" sz="3200" dirty="0" smtClean="0"/>
              <a:t>условиям. </a:t>
            </a:r>
            <a:endParaRPr lang="ru-RU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720080"/>
          </a:xfrm>
        </p:spPr>
        <p:txBody>
          <a:bodyPr>
            <a:normAutofit/>
          </a:bodyPr>
          <a:lstStyle/>
          <a:p>
            <a:pPr algn="ctr"/>
            <a:r>
              <a:rPr lang="ru-RU" sz="4400" b="1" dirty="0">
                <a:solidFill>
                  <a:srgbClr val="FF0000"/>
                </a:solidFill>
              </a:rPr>
              <a:t>Принцип научности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268760"/>
            <a:ext cx="8640960" cy="532859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sz="2800" dirty="0"/>
              <a:t>Принцип научности требует, чтобы содержание образования высшей школы отвечал достижениям науки в соответствующей области знаний. </a:t>
            </a:r>
            <a:endParaRPr lang="ru-RU" sz="2800" dirty="0" smtClean="0"/>
          </a:p>
          <a:p>
            <a:pPr marL="0" indent="0" algn="ctr">
              <a:buNone/>
            </a:pPr>
            <a:r>
              <a:rPr lang="ru-RU" sz="2800" dirty="0" smtClean="0"/>
              <a:t>Студенты </a:t>
            </a:r>
            <a:r>
              <a:rPr lang="ru-RU" sz="2800" dirty="0"/>
              <a:t>должны </a:t>
            </a:r>
            <a:r>
              <a:rPr lang="ru-RU" sz="2800" dirty="0" smtClean="0"/>
              <a:t>усваивать:</a:t>
            </a:r>
          </a:p>
          <a:p>
            <a:pPr algn="ctr">
              <a:buFont typeface="Wingdings" pitchFamily="2" charset="2"/>
              <a:buChar char="Ø"/>
            </a:pPr>
            <a:r>
              <a:rPr lang="ru-RU" sz="2800" dirty="0" smtClean="0"/>
              <a:t> </a:t>
            </a:r>
            <a:r>
              <a:rPr lang="ru-RU" sz="2800" dirty="0"/>
              <a:t>достоверные, научно обоснованные факты, явления, </a:t>
            </a:r>
            <a:r>
              <a:rPr lang="ru-RU" sz="2800" dirty="0" smtClean="0"/>
              <a:t>процессы;</a:t>
            </a:r>
          </a:p>
          <a:p>
            <a:pPr algn="ctr">
              <a:buFont typeface="Wingdings" pitchFamily="2" charset="2"/>
              <a:buChar char="Ø"/>
            </a:pPr>
            <a:r>
              <a:rPr lang="ru-RU" sz="2800" dirty="0" smtClean="0"/>
              <a:t>понимать </a:t>
            </a:r>
            <a:r>
              <a:rPr lang="ru-RU" sz="2800" dirty="0"/>
              <a:t>сущность </a:t>
            </a:r>
            <a:r>
              <a:rPr lang="ru-RU" sz="2800" dirty="0" smtClean="0"/>
              <a:t>научно- </a:t>
            </a:r>
            <a:r>
              <a:rPr lang="ru-RU" sz="2800" dirty="0"/>
              <a:t>обоснованных законов, особенности развития и становления научных </a:t>
            </a:r>
            <a:r>
              <a:rPr lang="ru-RU" sz="2800" dirty="0" smtClean="0"/>
              <a:t>открытий;</a:t>
            </a:r>
          </a:p>
          <a:p>
            <a:pPr algn="ctr">
              <a:buFont typeface="Wingdings" pitchFamily="2" charset="2"/>
              <a:buChar char="Ø"/>
            </a:pPr>
            <a:r>
              <a:rPr lang="ru-RU" sz="2800" dirty="0" smtClean="0"/>
              <a:t> </a:t>
            </a:r>
            <a:r>
              <a:rPr lang="ru-RU" sz="2800" dirty="0"/>
              <a:t>владеть методами научных </a:t>
            </a:r>
            <a:r>
              <a:rPr lang="ru-RU" sz="2800" dirty="0" smtClean="0"/>
              <a:t>исследований;</a:t>
            </a:r>
          </a:p>
          <a:p>
            <a:pPr algn="ctr">
              <a:buFont typeface="Wingdings" pitchFamily="2" charset="2"/>
              <a:buChar char="Ø"/>
            </a:pPr>
            <a:r>
              <a:rPr lang="ru-RU" sz="2800" dirty="0" smtClean="0"/>
              <a:t> </a:t>
            </a:r>
            <a:r>
              <a:rPr lang="ru-RU" sz="2800" dirty="0"/>
              <a:t>знакомиться с различными направлениями научных поисков в той или иной области </a:t>
            </a:r>
            <a:r>
              <a:rPr lang="ru-RU" sz="2800" dirty="0" smtClean="0"/>
              <a:t>знаний;</a:t>
            </a:r>
          </a:p>
          <a:p>
            <a:pPr algn="ctr">
              <a:buFont typeface="Wingdings" pitchFamily="2" charset="2"/>
              <a:buChar char="Ø"/>
            </a:pPr>
            <a:r>
              <a:rPr lang="ru-RU" sz="2800" dirty="0" smtClean="0"/>
              <a:t> </a:t>
            </a:r>
            <a:r>
              <a:rPr lang="ru-RU" sz="2800" dirty="0"/>
              <a:t>знакомиться с перспективами развития научных гипотез.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288228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7584" y="704088"/>
            <a:ext cx="7704856" cy="708688"/>
          </a:xfrm>
        </p:spPr>
        <p:txBody>
          <a:bodyPr>
            <a:noAutofit/>
          </a:bodyPr>
          <a:lstStyle/>
          <a:p>
            <a:pPr algn="ctr"/>
            <a:r>
              <a:rPr lang="ru-RU" sz="5400" dirty="0" smtClean="0">
                <a:solidFill>
                  <a:srgbClr val="FF0000"/>
                </a:solidFill>
              </a:rPr>
              <a:t/>
            </a:r>
            <a:br>
              <a:rPr lang="ru-RU" sz="5400" dirty="0" smtClean="0">
                <a:solidFill>
                  <a:srgbClr val="FF0000"/>
                </a:solidFill>
              </a:rPr>
            </a:br>
            <a:r>
              <a:rPr lang="ru-RU" sz="4000" b="1" dirty="0" smtClean="0">
                <a:solidFill>
                  <a:srgbClr val="FF0000"/>
                </a:solidFill>
              </a:rPr>
              <a:t>Требования принципа научности</a:t>
            </a:r>
            <a:endParaRPr lang="ru-RU" sz="5400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500174"/>
            <a:ext cx="8640960" cy="4824426"/>
          </a:xfrm>
        </p:spPr>
        <p:txBody>
          <a:bodyPr>
            <a:normAutofit/>
          </a:bodyPr>
          <a:lstStyle/>
          <a:p>
            <a:pPr lvl="0"/>
            <a:r>
              <a:rPr lang="ru-RU" sz="4000" dirty="0" smtClean="0"/>
              <a:t>наличие </a:t>
            </a:r>
            <a:r>
              <a:rPr lang="ru-RU" sz="4000" dirty="0"/>
              <a:t>у студентов системы теоретических знаний;</a:t>
            </a:r>
          </a:p>
          <a:p>
            <a:pPr lvl="0"/>
            <a:r>
              <a:rPr lang="ru-RU" sz="4000" dirty="0"/>
              <a:t>достоверность фактов, явлений, закономерностей;</a:t>
            </a:r>
          </a:p>
          <a:p>
            <a:pPr lvl="0"/>
            <a:r>
              <a:rPr lang="ru-RU" sz="4000" dirty="0"/>
              <a:t>научная аргументация практических выводов, действий.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260648"/>
            <a:ext cx="8640960" cy="640871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sz="3900" b="1" dirty="0" smtClean="0">
                <a:solidFill>
                  <a:srgbClr val="FF0000"/>
                </a:solidFill>
              </a:rPr>
              <a:t>Принцип </a:t>
            </a:r>
            <a:r>
              <a:rPr lang="ru-RU" sz="3900" b="1" dirty="0">
                <a:solidFill>
                  <a:srgbClr val="FF0000"/>
                </a:solidFill>
              </a:rPr>
              <a:t>научности</a:t>
            </a:r>
          </a:p>
          <a:p>
            <a:pPr marL="0" indent="0" algn="ctr">
              <a:buNone/>
            </a:pPr>
            <a:r>
              <a:rPr lang="ru-RU" dirty="0" smtClean="0"/>
              <a:t>Работая </a:t>
            </a:r>
            <a:r>
              <a:rPr lang="ru-RU" dirty="0"/>
              <a:t>над реализацией требований принципа научности, нельзя ограничиваться лишь ориентацией на содержание учебников и учебных пособий. </a:t>
            </a:r>
            <a:endParaRPr lang="ru-RU" dirty="0" smtClean="0"/>
          </a:p>
          <a:p>
            <a:pPr marL="0" indent="0" algn="ctr">
              <a:buNone/>
            </a:pPr>
            <a:r>
              <a:rPr lang="ru-RU" dirty="0" smtClean="0"/>
              <a:t>В </a:t>
            </a:r>
            <a:r>
              <a:rPr lang="ru-RU" dirty="0"/>
              <a:t>условиях действия научного "взрыва", что характерно для развития науки во второй половине XX и начале XXI вв., объем информации во всех сферах науки удваивается в среднем через 7-8 лет, а в отдельных отраслях - значительно быстрее. </a:t>
            </a:r>
            <a:endParaRPr lang="ru-RU" dirty="0" smtClean="0"/>
          </a:p>
          <a:p>
            <a:pPr marL="0" indent="0" algn="ctr">
              <a:buNone/>
            </a:pPr>
            <a:r>
              <a:rPr lang="ru-RU" dirty="0" smtClean="0"/>
              <a:t>Даже </a:t>
            </a:r>
            <a:r>
              <a:rPr lang="ru-RU" dirty="0"/>
              <a:t>новейшие учебные пособия не всегда содержат новейшую научную информацию, поскольку их подготовка и издание занимают немало времени и материал может устареть к моменту выхода книги в свет. Поэтому с точки зрения требований принципа научности преподавателю необходимо постоянно следить за новейшей научной информации, систематизировать ее и в рамках рабочей программы с конкретной дисциплины знакомить с ней студентов, давать им задания самостоятельно прорабатывать новые научные источники.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905666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510334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/>
            </a:r>
            <a:br>
              <a:rPr lang="ru-RU" dirty="0" smtClean="0"/>
            </a:br>
            <a:r>
              <a:rPr lang="ru-RU" sz="3600" b="1" dirty="0" smtClean="0">
                <a:solidFill>
                  <a:srgbClr val="FF0000"/>
                </a:solidFill>
              </a:rPr>
              <a:t>Принцип связи обучения с жизнью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5181616"/>
          </a:xfrm>
        </p:spPr>
        <p:txBody>
          <a:bodyPr>
            <a:normAutofit lnSpcReduction="10000"/>
          </a:bodyPr>
          <a:lstStyle/>
          <a:p>
            <a:r>
              <a:rPr lang="ru-RU" sz="4000" dirty="0" smtClean="0"/>
              <a:t>Требования </a:t>
            </a:r>
            <a:r>
              <a:rPr lang="ru-RU" sz="4000" dirty="0"/>
              <a:t>принципа:</a:t>
            </a:r>
          </a:p>
          <a:p>
            <a:pPr lvl="0"/>
            <a:r>
              <a:rPr lang="ru-RU" sz="4000" dirty="0"/>
              <a:t>профессиональная направленность всего учебно-воспитательного процесса;</a:t>
            </a:r>
          </a:p>
          <a:p>
            <a:pPr lvl="0"/>
            <a:r>
              <a:rPr lang="ru-RU" sz="4000" dirty="0"/>
              <a:t>получение ответа на вопрос где, когда и как можно использовать приобретенные знания и в жизни и на производстве.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638538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260648"/>
            <a:ext cx="8712968" cy="6336704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b="1" dirty="0">
                <a:solidFill>
                  <a:srgbClr val="FF0000"/>
                </a:solidFill>
              </a:rPr>
              <a:t>Принцип связи обучения с практической деятельностью, реалиями </a:t>
            </a:r>
            <a:r>
              <a:rPr lang="ru-RU" b="1" dirty="0" smtClean="0">
                <a:solidFill>
                  <a:srgbClr val="FF0000"/>
                </a:solidFill>
              </a:rPr>
              <a:t>жизни </a:t>
            </a:r>
          </a:p>
          <a:p>
            <a:pPr marL="0" indent="0" algn="ctr">
              <a:buNone/>
            </a:pPr>
            <a:r>
              <a:rPr lang="ru-RU" dirty="0" smtClean="0"/>
              <a:t>Обучение </a:t>
            </a:r>
            <a:r>
              <a:rPr lang="ru-RU" dirty="0"/>
              <a:t>только тогда является успешным, когда личность чувствует полезность и нужность усваиваемых знаний. </a:t>
            </a:r>
            <a:endParaRPr lang="ru-RU" dirty="0" smtClean="0"/>
          </a:p>
          <a:p>
            <a:pPr marL="0" indent="0" algn="ctr">
              <a:buNone/>
            </a:pPr>
            <a:r>
              <a:rPr lang="ru-RU" dirty="0" smtClean="0"/>
              <a:t>Сущность </a:t>
            </a:r>
            <a:r>
              <a:rPr lang="ru-RU" dirty="0"/>
              <a:t>деятельности профессиональных учебных заведений сводится к подготовке человека к активной производительного труда в сфере создание духовных и материальных ценностей.</a:t>
            </a:r>
          </a:p>
          <a:p>
            <a:pPr marL="0" indent="0" algn="ctr">
              <a:buNone/>
            </a:pPr>
            <a:r>
              <a:rPr lang="ru-RU" dirty="0"/>
              <a:t>Принцип связи обучения с жизнью основывается на гносеологических, социологических и психологических </a:t>
            </a:r>
            <a:r>
              <a:rPr lang="ru-RU" dirty="0" smtClean="0"/>
              <a:t>закономерностях: </a:t>
            </a:r>
          </a:p>
          <a:p>
            <a:pPr algn="ctr">
              <a:buFont typeface="Wingdings" pitchFamily="2" charset="2"/>
              <a:buChar char="Ø"/>
            </a:pPr>
            <a:r>
              <a:rPr lang="ru-RU" dirty="0" smtClean="0"/>
              <a:t>практика </a:t>
            </a:r>
            <a:r>
              <a:rPr lang="ru-RU" dirty="0"/>
              <a:t>- толчок к познавательной деятельности и одновременно критерий проверки истинности знаний; </a:t>
            </a:r>
            <a:endParaRPr lang="ru-RU" dirty="0" smtClean="0"/>
          </a:p>
          <a:p>
            <a:pPr algn="ctr">
              <a:buFont typeface="Wingdings" pitchFamily="2" charset="2"/>
              <a:buChar char="Ø"/>
            </a:pPr>
            <a:r>
              <a:rPr lang="ru-RU" dirty="0" smtClean="0"/>
              <a:t>практическая </a:t>
            </a:r>
            <a:r>
              <a:rPr lang="ru-RU" dirty="0"/>
              <a:t>деятельность - эффективное средство формирования личности; </a:t>
            </a:r>
            <a:endParaRPr lang="ru-RU" dirty="0" smtClean="0"/>
          </a:p>
          <a:p>
            <a:pPr algn="ctr">
              <a:buFont typeface="Wingdings" pitchFamily="2" charset="2"/>
              <a:buChar char="Ø"/>
            </a:pPr>
            <a:r>
              <a:rPr lang="ru-RU" dirty="0" smtClean="0"/>
              <a:t>способность </a:t>
            </a:r>
            <a:r>
              <a:rPr lang="ru-RU" dirty="0"/>
              <a:t>студента на основе приобретенных знаний успешно решать жизненные </a:t>
            </a:r>
            <a:r>
              <a:rPr lang="ru-RU" dirty="0" smtClean="0"/>
              <a:t>проблемы.</a:t>
            </a:r>
          </a:p>
          <a:p>
            <a:pPr marL="0" indent="0" algn="ctr">
              <a:buNone/>
            </a:pPr>
            <a:endParaRPr lang="ru-RU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</a:rPr>
              <a:t>Источник </a:t>
            </a:r>
            <a:r>
              <a:rPr lang="ru-RU" b="1" dirty="0">
                <a:solidFill>
                  <a:srgbClr val="FF0000"/>
                </a:solidFill>
              </a:rPr>
              <a:t>удовольствия от учебной деятельности, важный фактор утверждения личности в обществе в целом и конкретном коллективе в частности.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959268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864096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solidFill>
                  <a:srgbClr val="FF0000"/>
                </a:solidFill>
              </a:rPr>
              <a:t>Принцип систематичности и последовательности</a:t>
            </a:r>
            <a:endParaRPr lang="ru-RU" sz="2800" b="1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412776"/>
            <a:ext cx="8568952" cy="5256584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sz="2800" b="1" dirty="0">
                <a:solidFill>
                  <a:srgbClr val="7030A0"/>
                </a:solidFill>
              </a:rPr>
              <a:t>Принцип систематичности и последовательности вытекает из того, что </a:t>
            </a:r>
            <a:endParaRPr lang="ru-RU" sz="2800" b="1" dirty="0" smtClean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ru-RU" sz="2800" b="1" dirty="0" smtClean="0">
                <a:solidFill>
                  <a:srgbClr val="7030A0"/>
                </a:solidFill>
              </a:rPr>
              <a:t>познание </a:t>
            </a:r>
            <a:r>
              <a:rPr lang="ru-RU" sz="2800" b="1" dirty="0">
                <a:solidFill>
                  <a:srgbClr val="7030A0"/>
                </a:solidFill>
              </a:rPr>
              <a:t>окружающего мира возможно только в определенной системе, и каждая наука составляет систему знаний, объединенных внутренними связями. </a:t>
            </a:r>
            <a:endParaRPr lang="ru-RU" sz="2800" b="1" dirty="0" smtClean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ru-RU" sz="2800" dirty="0" smtClean="0"/>
              <a:t>Поэтому </a:t>
            </a:r>
            <a:r>
              <a:rPr lang="ru-RU" sz="2800" dirty="0"/>
              <a:t>этот принцип означает последовательное, с учетом логики конкретной науки и интеллектуальных возможностей студентов, развертывание содержания знаний, способов деятельности в учебных программах, учебниках, пособиях и др. соблюдение такого же порядка усвоения знаний, формирования умений и навыков</a:t>
            </a:r>
            <a:r>
              <a:rPr lang="ru-RU" sz="2400" dirty="0"/>
              <a:t>. </a:t>
            </a:r>
            <a:endParaRPr lang="ru-RU" sz="3600" dirty="0"/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45528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3367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800" b="1" dirty="0">
                <a:solidFill>
                  <a:srgbClr val="FF0000"/>
                </a:solidFill>
              </a:rPr>
              <a:t>Принцип систематичности и последовательности </a:t>
            </a:r>
            <a:endParaRPr lang="ru-RU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ru-RU" dirty="0" smtClean="0"/>
              <a:t>Предыдущий </a:t>
            </a:r>
            <a:r>
              <a:rPr lang="ru-RU" dirty="0"/>
              <a:t>уровень знаний должен выступать фундаментом эффективности усвоения следующей доли знаний. </a:t>
            </a:r>
            <a:endParaRPr lang="ru-RU" dirty="0" smtClean="0"/>
          </a:p>
          <a:p>
            <a:pPr marL="0" indent="0" algn="ctr">
              <a:buNone/>
            </a:pPr>
            <a:r>
              <a:rPr lang="ru-RU" dirty="0" smtClean="0"/>
              <a:t>Здесь </a:t>
            </a:r>
            <a:r>
              <a:rPr lang="ru-RU" dirty="0"/>
              <a:t>должна реализоваться действие закономерности овладения знаниями по модели концентрической спирали.</a:t>
            </a:r>
          </a:p>
          <a:p>
            <a:pPr marL="0" indent="0" algn="ctr">
              <a:buNone/>
            </a:pPr>
            <a:r>
              <a:rPr lang="ru-RU" dirty="0"/>
              <a:t>Необходимость соблюдения систематичности и последовательности в обучении обусловлена самой природой. </a:t>
            </a:r>
            <a:endParaRPr lang="ru-RU" dirty="0" smtClean="0"/>
          </a:p>
          <a:p>
            <a:pPr marL="0" indent="0" algn="ctr">
              <a:buNone/>
            </a:pPr>
            <a:r>
              <a:rPr lang="ru-RU" dirty="0" smtClean="0"/>
              <a:t>Я.А</a:t>
            </a:r>
            <a:r>
              <a:rPr lang="ru-RU" dirty="0"/>
              <a:t>. Коменский подчеркивал, что как в природе все имеет </a:t>
            </a:r>
            <a:r>
              <a:rPr lang="ru-RU" dirty="0" smtClean="0"/>
              <a:t>взаимосвязь </a:t>
            </a:r>
            <a:r>
              <a:rPr lang="ru-RU" dirty="0"/>
              <a:t>друг с другом, так и в учебе надо все связать.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858220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1271064"/>
          </a:xfrm>
        </p:spPr>
        <p:txBody>
          <a:bodyPr>
            <a:noAutofit/>
          </a:bodyPr>
          <a:lstStyle/>
          <a:p>
            <a:pPr algn="ctr"/>
            <a:r>
              <a:rPr lang="ru-RU" sz="4800" dirty="0" smtClean="0"/>
              <a:t/>
            </a:r>
            <a:br>
              <a:rPr lang="ru-RU" sz="4800" dirty="0" smtClean="0"/>
            </a:br>
            <a:r>
              <a:rPr lang="ru-RU" sz="3600" b="1" dirty="0" smtClean="0">
                <a:solidFill>
                  <a:srgbClr val="FF0000"/>
                </a:solidFill>
              </a:rPr>
              <a:t>Требования принципа систематичности и последовательности</a:t>
            </a:r>
            <a:endParaRPr lang="ru-RU" sz="4800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695800"/>
          </a:xfrm>
        </p:spPr>
        <p:txBody>
          <a:bodyPr>
            <a:normAutofit/>
          </a:bodyPr>
          <a:lstStyle/>
          <a:p>
            <a:pPr lvl="0"/>
            <a:endParaRPr lang="ru-RU" sz="3200" dirty="0" smtClean="0"/>
          </a:p>
          <a:p>
            <a:pPr lvl="0"/>
            <a:r>
              <a:rPr lang="ru-RU" sz="3200" dirty="0" smtClean="0"/>
              <a:t>строгое</a:t>
            </a:r>
            <a:r>
              <a:rPr lang="ru-RU" sz="3200" dirty="0"/>
              <a:t>, логичное расположение учебного материала как в учебной программе, так и в методах передачи знаний студентам;</a:t>
            </a:r>
          </a:p>
          <a:p>
            <a:pPr lvl="0"/>
            <a:r>
              <a:rPr lang="ru-RU" sz="3200" dirty="0"/>
              <a:t>последовательное овладение студентами знаниями, умениями и навыками и одновременное их применение на практике.</a:t>
            </a:r>
          </a:p>
          <a:p>
            <a:endParaRPr lang="ru-RU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648072"/>
          </a:xfrm>
        </p:spPr>
        <p:txBody>
          <a:bodyPr>
            <a:noAutofit/>
          </a:bodyPr>
          <a:lstStyle/>
          <a:p>
            <a:pPr algn="ctr"/>
            <a:r>
              <a:rPr lang="ru-RU" sz="4400" b="1" dirty="0">
                <a:solidFill>
                  <a:srgbClr val="FF0000"/>
                </a:solidFill>
              </a:rPr>
              <a:t>Принцип сознания обучения</a:t>
            </a:r>
            <a:endParaRPr lang="ru-RU" sz="4000" b="1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980728"/>
            <a:ext cx="8568952" cy="5688632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sz="2800" dirty="0"/>
              <a:t>Принцип сознания обучения базируется на постулате, что знания передать нельзя. </a:t>
            </a:r>
            <a:endParaRPr lang="ru-RU" sz="2800" dirty="0" smtClean="0"/>
          </a:p>
          <a:p>
            <a:pPr marL="0" indent="0" algn="ctr">
              <a:buNone/>
            </a:pPr>
            <a:r>
              <a:rPr lang="ru-RU" sz="2800" dirty="0" smtClean="0"/>
              <a:t>Они </a:t>
            </a:r>
            <a:r>
              <a:rPr lang="ru-RU" sz="2800" dirty="0"/>
              <a:t>становятся достоянием человека лишь в результате самостоятельной сознательной деятельности. </a:t>
            </a:r>
            <a:endParaRPr lang="ru-RU" sz="2800" dirty="0" smtClean="0"/>
          </a:p>
          <a:p>
            <a:pPr marL="0" indent="0" algn="ctr">
              <a:buNone/>
            </a:pPr>
            <a:r>
              <a:rPr lang="ru-RU" sz="2800" dirty="0" smtClean="0"/>
              <a:t>Сознательное и активное учение </a:t>
            </a:r>
            <a:r>
              <a:rPr lang="ru-RU" sz="2800" dirty="0"/>
              <a:t>предопределяется, прежде всего, уровнем </a:t>
            </a:r>
            <a:r>
              <a:rPr lang="ru-RU" sz="2800" dirty="0" err="1"/>
              <a:t>сформированности</a:t>
            </a:r>
            <a:r>
              <a:rPr lang="ru-RU" sz="2800" dirty="0"/>
              <a:t> мотивов учения, пониманием практической ценности и потребности в знаниях для избранной профессиональной деятельности. </a:t>
            </a:r>
            <a:endParaRPr lang="ru-RU" sz="2800" dirty="0" smtClean="0"/>
          </a:p>
          <a:p>
            <a:pPr marL="0" indent="0" algn="ctr">
              <a:buNone/>
            </a:pPr>
            <a:r>
              <a:rPr lang="ru-RU" sz="2800" dirty="0" smtClean="0"/>
              <a:t>Сознание </a:t>
            </a:r>
            <a:r>
              <a:rPr lang="ru-RU" sz="2800" dirty="0"/>
              <a:t>учение усиливается еще и тем, насколько созданы условия для самостоятельной познавательной деятельности. </a:t>
            </a:r>
            <a:endParaRPr lang="ru-RU" sz="2800" dirty="0" smtClean="0"/>
          </a:p>
          <a:p>
            <a:pPr marL="0" indent="0" algn="ctr">
              <a:buNone/>
            </a:pPr>
            <a:r>
              <a:rPr lang="ru-RU" sz="2800" dirty="0" smtClean="0"/>
              <a:t>Значительную </a:t>
            </a:r>
            <a:r>
              <a:rPr lang="ru-RU" sz="2800" dirty="0"/>
              <a:t>роль в этом играет уровень владения студентами методами учебной работы. </a:t>
            </a:r>
            <a:endParaRPr lang="ru-RU" sz="2800" dirty="0" smtClean="0"/>
          </a:p>
          <a:p>
            <a:pPr marL="0" indent="0" algn="ctr">
              <a:buNone/>
            </a:pPr>
            <a:r>
              <a:rPr lang="ru-RU" sz="2800" dirty="0" smtClean="0"/>
              <a:t>Ведь </a:t>
            </a:r>
            <a:r>
              <a:rPr lang="ru-RU" sz="2800" dirty="0"/>
              <a:t>практика, с точки зрения закономерностей познавательной деятельности, является толчком к познанию и критерием проверки истинности полученных знаний.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198563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28728" y="214290"/>
            <a:ext cx="6758006" cy="838446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/>
            </a:r>
            <a:br>
              <a:rPr lang="ru-RU" dirty="0" smtClean="0"/>
            </a:br>
            <a:r>
              <a:rPr lang="ru-RU" sz="3100" b="1" dirty="0" smtClean="0">
                <a:solidFill>
                  <a:srgbClr val="FF0000"/>
                </a:solidFill>
              </a:rPr>
              <a:t>Принцип сознательности и активности требования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196752"/>
            <a:ext cx="8640960" cy="5446958"/>
          </a:xfrm>
        </p:spPr>
        <p:txBody>
          <a:bodyPr>
            <a:normAutofit lnSpcReduction="10000"/>
          </a:bodyPr>
          <a:lstStyle/>
          <a:p>
            <a:endParaRPr lang="ru-RU" dirty="0"/>
          </a:p>
          <a:p>
            <a:pPr lvl="0">
              <a:buFont typeface="Wingdings" pitchFamily="2" charset="2"/>
              <a:buChar char="Ø"/>
            </a:pPr>
            <a:r>
              <a:rPr lang="ru-RU" dirty="0"/>
              <a:t>учет «двусторонности» характера учебного </a:t>
            </a:r>
            <a:r>
              <a:rPr lang="ru-RU" dirty="0" smtClean="0"/>
              <a:t>процесса;</a:t>
            </a:r>
          </a:p>
          <a:p>
            <a:pPr lvl="0">
              <a:buFont typeface="Wingdings" pitchFamily="2" charset="2"/>
              <a:buChar char="Ø"/>
            </a:pPr>
            <a:r>
              <a:rPr lang="ru-RU" dirty="0" smtClean="0"/>
              <a:t>необходимость </a:t>
            </a:r>
            <a:r>
              <a:rPr lang="ru-RU" dirty="0"/>
              <a:t>вызвать у студентов желание работать самостоятельно, </a:t>
            </a:r>
            <a:r>
              <a:rPr lang="ru-RU" dirty="0" smtClean="0"/>
              <a:t>творчески;</a:t>
            </a:r>
          </a:p>
          <a:p>
            <a:pPr lvl="0">
              <a:buFont typeface="Wingdings" pitchFamily="2" charset="2"/>
              <a:buChar char="Ø"/>
            </a:pPr>
            <a:r>
              <a:rPr lang="ru-RU" dirty="0" smtClean="0"/>
              <a:t>эффективное </a:t>
            </a:r>
            <a:r>
              <a:rPr lang="ru-RU" dirty="0"/>
              <a:t>включение в учебный процесс активных методов, форм </a:t>
            </a:r>
            <a:r>
              <a:rPr lang="ru-RU" dirty="0" smtClean="0"/>
              <a:t>обучения;</a:t>
            </a:r>
          </a:p>
          <a:p>
            <a:pPr lvl="0">
              <a:buFont typeface="Wingdings" pitchFamily="2" charset="2"/>
              <a:buChar char="Ø"/>
            </a:pPr>
            <a:r>
              <a:rPr lang="ru-RU" dirty="0" smtClean="0"/>
              <a:t>включение </a:t>
            </a:r>
            <a:r>
              <a:rPr lang="ru-RU" dirty="0"/>
              <a:t>студентов в процесс самостоятельного добывания </a:t>
            </a:r>
            <a:r>
              <a:rPr lang="ru-RU" dirty="0" smtClean="0"/>
              <a:t>знаний;</a:t>
            </a:r>
          </a:p>
          <a:p>
            <a:pPr lvl="0">
              <a:buFont typeface="Wingdings" pitchFamily="2" charset="2"/>
              <a:buChar char="Ø"/>
            </a:pPr>
            <a:r>
              <a:rPr lang="ru-RU" dirty="0" smtClean="0"/>
              <a:t>развитие </a:t>
            </a:r>
            <a:r>
              <a:rPr lang="ru-RU" dirty="0"/>
              <a:t>у студентов научного мышления и профессионального творческого подхода к приобретению знаний, умению самостоятельно и свободно использоваться ими для решения конкретных производственных задач.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8688"/>
          </a:xfrm>
        </p:spPr>
        <p:txBody>
          <a:bodyPr>
            <a:normAutofit fontScale="90000"/>
          </a:bodyPr>
          <a:lstStyle/>
          <a:p>
            <a:pPr algn="ctr"/>
            <a:r>
              <a:rPr lang="ru-RU" sz="5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5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5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5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5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Принцип наглядности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9685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Я.А. Коменский называл его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ru-RU" sz="36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sz="36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золотым правилом» дидактики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,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согласно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которому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обучении нужно использовать все органы чувств человека.</a:t>
            </a:r>
          </a:p>
          <a:p>
            <a:pPr marL="0" indent="0" algn="ctr">
              <a:buNone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Наглядность в обучении основана на такой закономерности процесса познания,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как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его движение от чувственного к логическому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0" indent="0" algn="ctr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от конкретного к абстрактному.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386695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88640"/>
            <a:ext cx="8712968" cy="6552728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sz="3600" b="1" dirty="0">
                <a:solidFill>
                  <a:srgbClr val="FF0000"/>
                </a:solidFill>
              </a:rPr>
              <a:t>Принцип </a:t>
            </a:r>
            <a:r>
              <a:rPr lang="ru-RU" sz="3600" b="1" dirty="0" smtClean="0">
                <a:solidFill>
                  <a:srgbClr val="FF0000"/>
                </a:solidFill>
              </a:rPr>
              <a:t>наглядности</a:t>
            </a:r>
          </a:p>
          <a:p>
            <a:pPr marL="0" indent="0" algn="ctr">
              <a:buNone/>
            </a:pPr>
            <a:r>
              <a:rPr lang="ru-RU" dirty="0" smtClean="0"/>
              <a:t>Вытекает  </a:t>
            </a:r>
            <a:r>
              <a:rPr lang="ru-RU" dirty="0"/>
              <a:t>из закономерностей процесса познания, исходным компонентом которого является созерцание явлений, процессов, действий, предметов, а с другой - в процессе познания человек использует первую сигнальную систему, в частности, зрительную </a:t>
            </a:r>
            <a:r>
              <a:rPr lang="ru-RU" dirty="0" smtClean="0"/>
              <a:t>память:</a:t>
            </a:r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</a:rPr>
              <a:t> </a:t>
            </a:r>
            <a:r>
              <a:rPr lang="ru-RU" b="1" dirty="0">
                <a:solidFill>
                  <a:srgbClr val="FF0000"/>
                </a:solidFill>
              </a:rPr>
              <a:t>"Лучше один раз увидеть, чем сто раз услышать".</a:t>
            </a:r>
          </a:p>
          <a:p>
            <a:pPr marL="0" indent="0" algn="ctr">
              <a:buNone/>
            </a:pPr>
            <a:r>
              <a:rPr lang="ru-RU" dirty="0"/>
              <a:t>Использование наглядности в обучении способствует сочетанию конкретного по абстрактным, рациональное с иррациональным, теоретических знаний с практической деятельностью. </a:t>
            </a:r>
            <a:endParaRPr lang="ru-RU" dirty="0" smtClean="0"/>
          </a:p>
          <a:p>
            <a:pPr marL="0" indent="0" algn="ctr">
              <a:buNone/>
            </a:pPr>
            <a:r>
              <a:rPr lang="ru-RU" dirty="0" smtClean="0">
                <a:solidFill>
                  <a:srgbClr val="FF0000"/>
                </a:solidFill>
              </a:rPr>
              <a:t>"</a:t>
            </a:r>
            <a:r>
              <a:rPr lang="ru-RU" dirty="0">
                <a:solidFill>
                  <a:srgbClr val="FF0000"/>
                </a:solidFill>
              </a:rPr>
              <a:t>Что такое наглядное обучение?" </a:t>
            </a:r>
            <a:endParaRPr lang="ru-RU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ru-RU" dirty="0" smtClean="0"/>
              <a:t>спрашивает </a:t>
            </a:r>
            <a:r>
              <a:rPr lang="ru-RU" dirty="0"/>
              <a:t>К.Д. Ушинский, </a:t>
            </a:r>
            <a:endParaRPr lang="ru-RU" dirty="0" smtClean="0"/>
          </a:p>
          <a:p>
            <a:pPr marL="0" indent="0" algn="ctr">
              <a:buNone/>
            </a:pPr>
            <a:r>
              <a:rPr lang="ru-RU" dirty="0" smtClean="0"/>
              <a:t>и </a:t>
            </a:r>
            <a:r>
              <a:rPr lang="ru-RU" dirty="0"/>
              <a:t>отвечает: </a:t>
            </a:r>
            <a:endParaRPr lang="ru-RU" dirty="0" smtClean="0"/>
          </a:p>
          <a:p>
            <a:pPr algn="ctr">
              <a:buFontTx/>
              <a:buChar char="-"/>
            </a:pPr>
            <a:r>
              <a:rPr lang="ru-RU" b="1" dirty="0" smtClean="0">
                <a:solidFill>
                  <a:srgbClr val="FF0000"/>
                </a:solidFill>
              </a:rPr>
              <a:t>"</a:t>
            </a:r>
            <a:r>
              <a:rPr lang="ru-RU" b="1" dirty="0">
                <a:solidFill>
                  <a:srgbClr val="FF0000"/>
                </a:solidFill>
              </a:rPr>
              <a:t>И это такое обучение, которое основывается не на абстрактных представлениях и словах, а на конкретных образах, непосредственно воспринимаемых ребенком: будут ли эти образы восприняты во время самого обучения, под руководством наставника, или ранее, благодаря самостоятельным наблюдением ребенка, следовательно, наставник находит в душе ребенка уже готовый образ и на нем строит обучение".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3670220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7624" y="214290"/>
            <a:ext cx="6840760" cy="62242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/>
            </a:r>
            <a:br>
              <a:rPr lang="ru-RU" dirty="0" smtClean="0">
                <a:solidFill>
                  <a:srgbClr val="FF0000"/>
                </a:solidFill>
              </a:rPr>
            </a:br>
            <a:r>
              <a:rPr lang="ru-RU" sz="3600" b="1" dirty="0" smtClean="0">
                <a:solidFill>
                  <a:srgbClr val="FF0000"/>
                </a:solidFill>
              </a:rPr>
              <a:t>требования принцип наглядности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643602"/>
          </a:xfrm>
        </p:spPr>
        <p:txBody>
          <a:bodyPr>
            <a:normAutofit lnSpcReduction="10000"/>
          </a:bodyPr>
          <a:lstStyle/>
          <a:p>
            <a:pPr lvl="0">
              <a:buFont typeface="Wingdings" pitchFamily="2" charset="2"/>
              <a:buChar char="Ø"/>
            </a:pPr>
            <a:r>
              <a:rPr lang="ru-RU" dirty="0" smtClean="0"/>
              <a:t>четкое </a:t>
            </a:r>
            <a:r>
              <a:rPr lang="ru-RU" dirty="0"/>
              <a:t>определение дидактической цели использования </a:t>
            </a:r>
            <a:r>
              <a:rPr lang="ru-RU" dirty="0" smtClean="0"/>
              <a:t>наглядности;</a:t>
            </a:r>
          </a:p>
          <a:p>
            <a:pPr lvl="0">
              <a:buFont typeface="Wingdings" pitchFamily="2" charset="2"/>
              <a:buChar char="Ø"/>
            </a:pPr>
            <a:r>
              <a:rPr lang="ru-RU" dirty="0" smtClean="0"/>
              <a:t>порядок </a:t>
            </a:r>
            <a:r>
              <a:rPr lang="ru-RU" dirty="0"/>
              <a:t>и методика </a:t>
            </a:r>
            <a:r>
              <a:rPr lang="ru-RU" dirty="0" smtClean="0"/>
              <a:t>показа;</a:t>
            </a:r>
          </a:p>
          <a:p>
            <a:pPr lvl="0">
              <a:buFont typeface="Wingdings" pitchFamily="2" charset="2"/>
              <a:buChar char="Ø"/>
            </a:pPr>
            <a:r>
              <a:rPr lang="ru-RU" dirty="0" smtClean="0"/>
              <a:t>выбор </a:t>
            </a:r>
            <a:r>
              <a:rPr lang="ru-RU" dirty="0"/>
              <a:t>целенаправленного количества </a:t>
            </a:r>
            <a:r>
              <a:rPr lang="ru-RU" dirty="0" smtClean="0"/>
              <a:t>наглядности;</a:t>
            </a:r>
          </a:p>
          <a:p>
            <a:pPr lvl="0">
              <a:buFont typeface="Wingdings" pitchFamily="2" charset="2"/>
              <a:buChar char="Ø"/>
            </a:pPr>
            <a:r>
              <a:rPr lang="ru-RU" dirty="0" smtClean="0"/>
              <a:t>последовательность демонстрации;</a:t>
            </a:r>
          </a:p>
          <a:p>
            <a:pPr lvl="0">
              <a:buFont typeface="Wingdings" pitchFamily="2" charset="2"/>
              <a:buChar char="Ø"/>
            </a:pPr>
            <a:r>
              <a:rPr lang="ru-RU" dirty="0" smtClean="0"/>
              <a:t>сочетание </a:t>
            </a:r>
            <a:r>
              <a:rPr lang="ru-RU" dirty="0"/>
              <a:t>отдельных видов </a:t>
            </a:r>
            <a:r>
              <a:rPr lang="ru-RU" dirty="0" smtClean="0"/>
              <a:t>наглядности;</a:t>
            </a:r>
          </a:p>
          <a:p>
            <a:pPr lvl="0">
              <a:buFont typeface="Wingdings" pitchFamily="2" charset="2"/>
              <a:buChar char="Ø"/>
            </a:pPr>
            <a:r>
              <a:rPr lang="ru-RU" dirty="0" smtClean="0"/>
              <a:t>включение </a:t>
            </a:r>
            <a:r>
              <a:rPr lang="ru-RU" dirty="0"/>
              <a:t>студентов в самостоятельный анализ наблюдаемых </a:t>
            </a:r>
            <a:r>
              <a:rPr lang="ru-RU" dirty="0" smtClean="0"/>
              <a:t>объектов;</a:t>
            </a:r>
          </a:p>
          <a:p>
            <a:pPr lvl="0">
              <a:buFont typeface="Wingdings" pitchFamily="2" charset="2"/>
              <a:buChar char="Ø"/>
            </a:pPr>
            <a:r>
              <a:rPr lang="ru-RU" dirty="0" smtClean="0"/>
              <a:t>соблюдение </a:t>
            </a:r>
            <a:r>
              <a:rPr lang="ru-RU" dirty="0"/>
              <a:t>требований культуры </a:t>
            </a:r>
            <a:r>
              <a:rPr lang="ru-RU" dirty="0" smtClean="0"/>
              <a:t>показа;</a:t>
            </a:r>
          </a:p>
          <a:p>
            <a:pPr lvl="0">
              <a:buFont typeface="Wingdings" pitchFamily="2" charset="2"/>
              <a:buChar char="Ø"/>
            </a:pPr>
            <a:r>
              <a:rPr lang="ru-RU" dirty="0" smtClean="0"/>
              <a:t>психологические </a:t>
            </a:r>
            <a:r>
              <a:rPr lang="ru-RU" dirty="0"/>
              <a:t>требования к оформлению </a:t>
            </a:r>
            <a:r>
              <a:rPr lang="ru-RU" dirty="0" smtClean="0"/>
              <a:t>наглядности;</a:t>
            </a:r>
          </a:p>
          <a:p>
            <a:pPr lvl="0">
              <a:buFont typeface="Wingdings" pitchFamily="2" charset="2"/>
              <a:buChar char="Ø"/>
            </a:pPr>
            <a:r>
              <a:rPr lang="ru-RU" dirty="0" smtClean="0"/>
              <a:t>наличие </a:t>
            </a:r>
            <a:r>
              <a:rPr lang="ru-RU" dirty="0"/>
              <a:t>вывода преподавателя.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332656"/>
            <a:ext cx="8507288" cy="59919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600" b="1" dirty="0">
                <a:solidFill>
                  <a:srgbClr val="FF0000"/>
                </a:solidFill>
              </a:rPr>
              <a:t>Принцип доступности</a:t>
            </a:r>
          </a:p>
          <a:p>
            <a:pPr>
              <a:buFont typeface="Wingdings" pitchFamily="2" charset="2"/>
              <a:buChar char="Ø"/>
            </a:pPr>
            <a:r>
              <a:rPr lang="ru-RU" dirty="0"/>
              <a:t>Принцип доступности заключается в необходимости соответствия содержания, методов и форм обучения возрастным особенностям обучающихся, уровню их развития. </a:t>
            </a:r>
            <a:endParaRPr lang="ru-RU" dirty="0" smtClean="0"/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Доступность </a:t>
            </a:r>
            <a:r>
              <a:rPr lang="ru-RU" dirty="0"/>
              <a:t>не должна подменяться «легкостью», обучение не может обойтись без напряжения умственных сил </a:t>
            </a:r>
            <a:r>
              <a:rPr lang="ru-RU" dirty="0" smtClean="0"/>
              <a:t>учащихся;</a:t>
            </a:r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Высокий </a:t>
            </a:r>
            <a:r>
              <a:rPr lang="ru-RU" dirty="0"/>
              <a:t>уровень развития достигается на пределе возможностей. </a:t>
            </a:r>
            <a:endParaRPr lang="ru-RU" dirty="0" smtClean="0"/>
          </a:p>
          <a:p>
            <a:pPr marL="0" indent="0" algn="ctr">
              <a:buNone/>
            </a:pPr>
            <a:r>
              <a:rPr lang="ru-RU" b="1" dirty="0" smtClean="0">
                <a:solidFill>
                  <a:srgbClr val="7030A0"/>
                </a:solidFill>
              </a:rPr>
              <a:t>Поэтому </a:t>
            </a:r>
            <a:r>
              <a:rPr lang="ru-RU" b="1" dirty="0">
                <a:solidFill>
                  <a:srgbClr val="7030A0"/>
                </a:solidFill>
              </a:rPr>
              <a:t>процесс обучения должен быть трудным, но посильным для учащихся.</a:t>
            </a:r>
          </a:p>
        </p:txBody>
      </p:sp>
    </p:spTree>
    <p:extLst>
      <p:ext uri="{BB962C8B-B14F-4D97-AF65-F5344CB8AC3E}">
        <p14:creationId xmlns="" xmlns:p14="http://schemas.microsoft.com/office/powerpoint/2010/main" val="3328475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692696"/>
            <a:ext cx="8640960" cy="5631904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b="1" dirty="0">
                <a:solidFill>
                  <a:srgbClr val="FF0000"/>
                </a:solidFill>
              </a:rPr>
              <a:t>Доступность обучения прежде всего определяется возрастными особенностями </a:t>
            </a:r>
            <a:r>
              <a:rPr lang="ru-RU" b="1" dirty="0" smtClean="0">
                <a:solidFill>
                  <a:srgbClr val="FF0000"/>
                </a:solidFill>
              </a:rPr>
              <a:t>учащихся</a:t>
            </a:r>
            <a:endParaRPr lang="ru-RU" b="1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ru-RU" dirty="0"/>
              <a:t>Доступность определяется многими факторами: соблюдением принципов </a:t>
            </a:r>
            <a:r>
              <a:rPr lang="ru-RU" dirty="0" smtClean="0"/>
              <a:t>дидактики;</a:t>
            </a:r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тщательным </a:t>
            </a:r>
            <a:r>
              <a:rPr lang="ru-RU" dirty="0"/>
              <a:t>отбором </a:t>
            </a:r>
            <a:r>
              <a:rPr lang="ru-RU" dirty="0" smtClean="0"/>
              <a:t>содержания;</a:t>
            </a:r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использованием </a:t>
            </a:r>
            <a:r>
              <a:rPr lang="ru-RU" dirty="0"/>
              <a:t>более эффективной системы его изучения, более рациональных методов </a:t>
            </a:r>
            <a:r>
              <a:rPr lang="ru-RU" dirty="0" smtClean="0"/>
              <a:t>работы;</a:t>
            </a:r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мастерством </a:t>
            </a:r>
            <a:r>
              <a:rPr lang="ru-RU" dirty="0"/>
              <a:t>самого обучающего и т.п</a:t>
            </a:r>
            <a:r>
              <a:rPr lang="ru-RU" dirty="0" smtClean="0"/>
              <a:t>.</a:t>
            </a:r>
          </a:p>
          <a:p>
            <a:pPr marL="0" indent="0" algn="ctr">
              <a:buNone/>
            </a:pPr>
            <a:r>
              <a:rPr lang="ru-RU" dirty="0"/>
              <a:t>Доступность учебного материала нельзя отождествлять с его сложностью. </a:t>
            </a:r>
            <a:endParaRPr lang="ru-RU" dirty="0" smtClean="0"/>
          </a:p>
          <a:p>
            <a:pPr marL="0" indent="0" algn="ctr">
              <a:buNone/>
            </a:pPr>
            <a:r>
              <a:rPr lang="ru-RU" dirty="0" smtClean="0"/>
              <a:t>Он </a:t>
            </a:r>
            <a:r>
              <a:rPr lang="ru-RU" dirty="0"/>
              <a:t>может быть трудным для одного ученика и совсем не трудным для другого. </a:t>
            </a:r>
            <a:endParaRPr lang="ru-RU" dirty="0" smtClean="0"/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</a:rPr>
              <a:t>Поэтому </a:t>
            </a:r>
            <a:r>
              <a:rPr lang="ru-RU" b="1" dirty="0">
                <a:solidFill>
                  <a:srgbClr val="FF0000"/>
                </a:solidFill>
              </a:rPr>
              <a:t>доступность должна определяться уровнем подготовки ученика, его умственными и физическими возможностями.</a:t>
            </a:r>
          </a:p>
        </p:txBody>
      </p:sp>
    </p:spTree>
    <p:extLst>
      <p:ext uri="{BB962C8B-B14F-4D97-AF65-F5344CB8AC3E}">
        <p14:creationId xmlns="" xmlns:p14="http://schemas.microsoft.com/office/powerpoint/2010/main" val="1520906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5576" y="332656"/>
            <a:ext cx="8064896" cy="72008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/>
            </a:r>
            <a:br>
              <a:rPr lang="ru-RU" dirty="0" smtClean="0">
                <a:solidFill>
                  <a:srgbClr val="FF0000"/>
                </a:solidFill>
              </a:rPr>
            </a:br>
            <a:r>
              <a:rPr lang="ru-RU" sz="4400" b="1" dirty="0" smtClean="0">
                <a:solidFill>
                  <a:srgbClr val="FF0000"/>
                </a:solidFill>
              </a:rPr>
              <a:t>требования принципа доступности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9118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ru-RU" sz="3200" dirty="0"/>
          </a:p>
          <a:p>
            <a:pPr lvl="0">
              <a:buFont typeface="Wingdings" pitchFamily="2" charset="2"/>
              <a:buChar char="Ø"/>
            </a:pPr>
            <a:r>
              <a:rPr lang="ru-RU" sz="3200" dirty="0"/>
              <a:t>учет образовательного уровня студентов;</a:t>
            </a:r>
          </a:p>
          <a:p>
            <a:pPr lvl="0">
              <a:buFont typeface="Wingdings" pitchFamily="2" charset="2"/>
              <a:buChar char="Ø"/>
            </a:pPr>
            <a:r>
              <a:rPr lang="ru-RU" sz="3200" dirty="0"/>
              <a:t>учет познавательных возможностей студентов;</a:t>
            </a:r>
          </a:p>
          <a:p>
            <a:pPr>
              <a:buFont typeface="Wingdings" pitchFamily="2" charset="2"/>
              <a:buChar char="Ø"/>
            </a:pPr>
            <a:r>
              <a:rPr lang="ru-RU" sz="3200" dirty="0"/>
              <a:t>учет профессиональной подготовки, характера и опыта студентов;</a:t>
            </a:r>
          </a:p>
          <a:p>
            <a:pPr lvl="0">
              <a:buFont typeface="Wingdings" pitchFamily="2" charset="2"/>
              <a:buChar char="Ø"/>
            </a:pPr>
            <a:r>
              <a:rPr lang="ru-RU" sz="3200" dirty="0"/>
              <a:t>учет возрастных особенностей студентов;</a:t>
            </a:r>
          </a:p>
          <a:p>
            <a:pPr lvl="0">
              <a:buFont typeface="Wingdings" pitchFamily="2" charset="2"/>
              <a:buChar char="Ø"/>
            </a:pPr>
            <a:r>
              <a:rPr lang="ru-RU" sz="3200" dirty="0"/>
              <a:t>учет потребностей и интересов студентов.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solidFill>
                  <a:srgbClr val="FF0000"/>
                </a:solidFill>
              </a:rPr>
              <a:t>принцип доступности нарушается по трем основным причинам: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824536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Учебный материал недоступен учащимся по своей глубине (большое количество абстрактных рассуждений, непонятных формул, математических расчетов и т.п.) и они не могут понять сущности изучаемого материала;</a:t>
            </a:r>
          </a:p>
          <a:p>
            <a:r>
              <a:rPr lang="ru-RU" dirty="0"/>
              <a:t>Материал недоступен по объему, в этом случае учащиеся не всегда успевают «переварить» соответствующее количество материала и усваивают его довольно поверхностно.</a:t>
            </a:r>
          </a:p>
          <a:p>
            <a:r>
              <a:rPr lang="ru-RU" dirty="0"/>
              <a:t>Материал недоступен для учащихся ввиду физического перенапряжения. В данном случае имеется ввиду не просто усталость </a:t>
            </a:r>
            <a:r>
              <a:rPr lang="ru-RU" dirty="0" smtClean="0"/>
              <a:t>учащихся, </a:t>
            </a:r>
            <a:r>
              <a:rPr lang="ru-RU" dirty="0"/>
              <a:t>а именно перенапряжение в процессе выполнения непривычно большой физической нагрузки (в домашних условиях, в спортивных секциях и т.п.).</a:t>
            </a:r>
          </a:p>
        </p:txBody>
      </p:sp>
    </p:spTree>
    <p:extLst>
      <p:ext uri="{BB962C8B-B14F-4D97-AF65-F5344CB8AC3E}">
        <p14:creationId xmlns="" xmlns:p14="http://schemas.microsoft.com/office/powerpoint/2010/main" val="12212221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720080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solidFill>
                  <a:srgbClr val="FF0000"/>
                </a:solidFill>
              </a:rPr>
              <a:t>Правила принципа доступности в обучении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196752"/>
            <a:ext cx="8712968" cy="532859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Одним из главных правил является необходимость совпадения темпа сообщения информации учителем и скорости усвоения этой информации учащимися. </a:t>
            </a:r>
            <a:endParaRPr lang="ru-RU" dirty="0" smtClean="0"/>
          </a:p>
          <a:p>
            <a:pPr marL="0" indent="0" algn="ctr">
              <a:buNone/>
            </a:pPr>
            <a:r>
              <a:rPr lang="ru-RU" dirty="0" smtClean="0"/>
              <a:t>Очень </a:t>
            </a:r>
            <a:r>
              <a:rPr lang="ru-RU" dirty="0"/>
              <a:t>часто возникает вопрос: учитель должен говорить быстро или медленно? </a:t>
            </a:r>
            <a:endParaRPr lang="ru-RU" dirty="0" smtClean="0"/>
          </a:p>
          <a:p>
            <a:pPr marL="0" indent="0" algn="ctr">
              <a:buNone/>
            </a:pPr>
            <a:r>
              <a:rPr lang="ru-RU" dirty="0" smtClean="0"/>
              <a:t>На </a:t>
            </a:r>
            <a:r>
              <a:rPr lang="ru-RU" dirty="0"/>
              <a:t>него нельзя дать однозначного ответа. </a:t>
            </a:r>
            <a:endParaRPr lang="ru-RU" dirty="0" smtClean="0"/>
          </a:p>
          <a:p>
            <a:pPr marL="0" indent="0" algn="ctr">
              <a:buNone/>
            </a:pPr>
            <a:r>
              <a:rPr lang="ru-RU" dirty="0" smtClean="0"/>
              <a:t>Скорость </a:t>
            </a:r>
            <a:r>
              <a:rPr lang="ru-RU" dirty="0"/>
              <a:t>информации, сообщаемой учителем, должна учитывать особенности возраста, подготовленности и общего развития учащихся.</a:t>
            </a:r>
          </a:p>
          <a:p>
            <a:pPr marL="0" indent="0" algn="ctr">
              <a:buNone/>
            </a:pPr>
            <a:r>
              <a:rPr lang="ru-RU" dirty="0"/>
              <a:t>В процессе обучения необходимо ориентировать учащихся прежде всего на понимание изучаемого материала, а не на запоминание</a:t>
            </a:r>
            <a:r>
              <a:rPr lang="ru-RU" dirty="0" smtClean="0"/>
              <a:t>.</a:t>
            </a:r>
          </a:p>
          <a:p>
            <a:pPr marL="0" indent="0" algn="ctr">
              <a:buNone/>
            </a:pPr>
            <a:r>
              <a:rPr lang="ru-RU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4942873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332656"/>
            <a:ext cx="8784976" cy="640871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b="1" dirty="0">
                <a:solidFill>
                  <a:srgbClr val="FF0000"/>
                </a:solidFill>
              </a:rPr>
              <a:t>Традиционный репродуктивный (объяснительно-иллюстративный) процесс обучения </a:t>
            </a:r>
            <a:endParaRPr lang="ru-RU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ru-RU" dirty="0" smtClean="0"/>
              <a:t>ориентирует </a:t>
            </a:r>
            <a:r>
              <a:rPr lang="ru-RU" dirty="0"/>
              <a:t>именно на запоминание, на повторение информации, данной учителем. </a:t>
            </a:r>
          </a:p>
          <a:p>
            <a:pPr marL="0" indent="0" algn="ctr">
              <a:buNone/>
            </a:pPr>
            <a:r>
              <a:rPr lang="ru-RU" dirty="0"/>
              <a:t>Поэтому необходимо ставить учащихся в проблемные ситуации, предложить им, например, задачу практического содержания, для решения которой надо использовать на практике знания, данные учителем, а не просто повторить их.</a:t>
            </a:r>
          </a:p>
          <a:p>
            <a:pPr marL="0" indent="0" algn="ctr">
              <a:buNone/>
            </a:pPr>
            <a:r>
              <a:rPr lang="ru-RU" dirty="0"/>
              <a:t>Необходимо соблюдать и такие традиционные правила, </a:t>
            </a:r>
            <a:r>
              <a:rPr lang="ru-RU" dirty="0" smtClean="0"/>
              <a:t>как: </a:t>
            </a:r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</a:rPr>
              <a:t>«</a:t>
            </a:r>
            <a:r>
              <a:rPr lang="ru-RU" b="1" dirty="0">
                <a:solidFill>
                  <a:srgbClr val="FF0000"/>
                </a:solidFill>
              </a:rPr>
              <a:t>от простого к сложному</a:t>
            </a:r>
            <a:r>
              <a:rPr lang="ru-RU" b="1" dirty="0" smtClean="0">
                <a:solidFill>
                  <a:srgbClr val="FF0000"/>
                </a:solidFill>
              </a:rPr>
              <a:t>»;</a:t>
            </a:r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</a:rPr>
              <a:t> </a:t>
            </a:r>
            <a:r>
              <a:rPr lang="ru-RU" b="1" dirty="0">
                <a:solidFill>
                  <a:srgbClr val="FF0000"/>
                </a:solidFill>
              </a:rPr>
              <a:t>«от близкого к далекому</a:t>
            </a:r>
            <a:r>
              <a:rPr lang="ru-RU" b="1" dirty="0" smtClean="0">
                <a:solidFill>
                  <a:srgbClr val="FF0000"/>
                </a:solidFill>
              </a:rPr>
              <a:t>»;</a:t>
            </a:r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</a:rPr>
              <a:t> </a:t>
            </a:r>
            <a:r>
              <a:rPr lang="ru-RU" b="1" dirty="0">
                <a:solidFill>
                  <a:srgbClr val="FF0000"/>
                </a:solidFill>
              </a:rPr>
              <a:t>«от легкого к трудному</a:t>
            </a:r>
            <a:r>
              <a:rPr lang="ru-RU" b="1" dirty="0" smtClean="0">
                <a:solidFill>
                  <a:srgbClr val="FF0000"/>
                </a:solidFill>
              </a:rPr>
              <a:t>»;</a:t>
            </a:r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</a:rPr>
              <a:t> </a:t>
            </a:r>
            <a:r>
              <a:rPr lang="ru-RU" b="1" dirty="0">
                <a:solidFill>
                  <a:srgbClr val="FF0000"/>
                </a:solidFill>
              </a:rPr>
              <a:t>«от известного к неизвестному» и т.п. </a:t>
            </a:r>
          </a:p>
          <a:p>
            <a:pPr marL="0" indent="0" algn="ctr">
              <a:buNone/>
            </a:pP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2965765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08688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dirty="0"/>
              <a:t/>
            </a:r>
            <a:br>
              <a:rPr lang="ru-RU" dirty="0"/>
            </a:br>
            <a:r>
              <a:rPr lang="ru-RU" sz="3600" b="1" dirty="0" smtClean="0">
                <a:solidFill>
                  <a:srgbClr val="FF0000"/>
                </a:solidFill>
              </a:rPr>
              <a:t>Факторы повышения доступности обучения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ru-RU" dirty="0"/>
              <a:t>связь содержания нового учебного материала с уже сформированной системой знаний, умений и навыков обучающихся; </a:t>
            </a:r>
            <a:endParaRPr lang="ru-RU" dirty="0" smtClean="0"/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необходимость </a:t>
            </a:r>
            <a:r>
              <a:rPr lang="ru-RU" dirty="0"/>
              <a:t>включения в новый учебный материал привычных или непривычных рассуждений, форм и операций мышления; </a:t>
            </a:r>
            <a:endParaRPr lang="ru-RU" dirty="0" smtClean="0"/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повышение </a:t>
            </a:r>
            <a:r>
              <a:rPr lang="ru-RU" dirty="0"/>
              <a:t>доступности обучения требует учета интересов обучающихся.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0577183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548680"/>
            <a:ext cx="8712968" cy="604867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sz="3600" b="1" dirty="0" smtClean="0">
                <a:solidFill>
                  <a:srgbClr val="FF0000"/>
                </a:solidFill>
              </a:rPr>
              <a:t>дидактических правила принципа доступности</a:t>
            </a:r>
          </a:p>
          <a:p>
            <a:pPr marL="0" indent="0" algn="ctr">
              <a:buNone/>
            </a:pPr>
            <a:r>
              <a:rPr lang="ru-RU" dirty="0"/>
              <a:t>п</a:t>
            </a:r>
            <a:r>
              <a:rPr lang="ru-RU" dirty="0" smtClean="0"/>
              <a:t>о  </a:t>
            </a:r>
            <a:r>
              <a:rPr lang="ru-RU" dirty="0"/>
              <a:t>Я. А. </a:t>
            </a:r>
            <a:r>
              <a:rPr lang="ru-RU" dirty="0" smtClean="0"/>
              <a:t>Коменскому:</a:t>
            </a:r>
          </a:p>
          <a:p>
            <a:pPr marL="0" indent="0" algn="ctr">
              <a:buNone/>
            </a:pPr>
            <a:r>
              <a:rPr lang="ru-RU" dirty="0" smtClean="0"/>
              <a:t>В </a:t>
            </a:r>
            <a:r>
              <a:rPr lang="ru-RU" dirty="0"/>
              <a:t>обучении следует переходить от того, что ученику </a:t>
            </a:r>
            <a:r>
              <a:rPr lang="ru-RU" b="1" dirty="0">
                <a:solidFill>
                  <a:srgbClr val="0070C0"/>
                </a:solidFill>
              </a:rPr>
              <a:t>близко, к тому, что до сих пор было ему чуждо.</a:t>
            </a:r>
            <a:br>
              <a:rPr lang="ru-RU" b="1" dirty="0">
                <a:solidFill>
                  <a:srgbClr val="0070C0"/>
                </a:solidFill>
              </a:rPr>
            </a:br>
            <a:r>
              <a:rPr lang="ru-RU" b="1" dirty="0">
                <a:solidFill>
                  <a:srgbClr val="0070C0"/>
                </a:solidFill>
              </a:rPr>
              <a:t>В обучении следует переходить от легкого к более трудному. </a:t>
            </a:r>
            <a:endParaRPr lang="ru-RU" b="1" dirty="0" smtClean="0">
              <a:solidFill>
                <a:srgbClr val="0070C0"/>
              </a:solidFill>
            </a:endParaRPr>
          </a:p>
          <a:p>
            <a:pPr marL="0" indent="0" algn="ctr">
              <a:buNone/>
            </a:pPr>
            <a:r>
              <a:rPr lang="ru-RU" dirty="0" smtClean="0"/>
              <a:t>Строгое </a:t>
            </a:r>
            <a:r>
              <a:rPr lang="ru-RU" dirty="0"/>
              <a:t>соблюдение этого дидактического правила является залогом успеха любой учебно-воспитательной работы, независимо от уровня, на котором она ведется. </a:t>
            </a:r>
            <a:endParaRPr lang="ru-RU" dirty="0" smtClean="0"/>
          </a:p>
          <a:p>
            <a:pPr marL="0" indent="0" algn="ctr">
              <a:buNone/>
            </a:pPr>
            <a:r>
              <a:rPr lang="ru-RU" dirty="0" smtClean="0"/>
              <a:t>Предъявление </a:t>
            </a:r>
            <a:r>
              <a:rPr lang="ru-RU" dirty="0"/>
              <a:t>к учащимся непосильных для них требований отбивает интерес к учебе, подрывает веру в собственные силы, снижает желание учиться, порождает серьезные препятствия на пути достижения учебных целей. </a:t>
            </a:r>
          </a:p>
          <a:p>
            <a:pPr marL="0" indent="0" algn="ctr">
              <a:buNone/>
            </a:pPr>
            <a:endParaRPr lang="ru-RU" dirty="0" smtClean="0"/>
          </a:p>
        </p:txBody>
      </p:sp>
    </p:spTree>
    <p:extLst>
      <p:ext uri="{BB962C8B-B14F-4D97-AF65-F5344CB8AC3E}">
        <p14:creationId xmlns="" xmlns:p14="http://schemas.microsoft.com/office/powerpoint/2010/main" val="25025440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800" b="1" dirty="0" smtClean="0">
                <a:solidFill>
                  <a:srgbClr val="FF0000"/>
                </a:solidFill>
              </a:rPr>
              <a:t>Принцип доступности</a:t>
            </a:r>
          </a:p>
          <a:p>
            <a:pPr marL="0" indent="0" algn="ctr">
              <a:buNone/>
            </a:pPr>
            <a:r>
              <a:rPr lang="ru-RU" dirty="0" smtClean="0"/>
              <a:t>Слишком низкий </a:t>
            </a:r>
            <a:r>
              <a:rPr lang="ru-RU" dirty="0"/>
              <a:t>уровень требований не мобилизует усилия </a:t>
            </a:r>
            <a:r>
              <a:rPr lang="ru-RU" dirty="0" smtClean="0"/>
              <a:t>учащихся.</a:t>
            </a:r>
          </a:p>
          <a:p>
            <a:pPr marL="0" indent="0" algn="ctr">
              <a:buNone/>
            </a:pPr>
            <a:r>
              <a:rPr lang="ru-RU" dirty="0" smtClean="0"/>
              <a:t> </a:t>
            </a:r>
            <a:r>
              <a:rPr lang="ru-RU" dirty="0"/>
              <a:t>Постепенное же усложнение заданий для учащихся приводит к тому, что они работают оптимальным образом, как бы приближаясь к пределу своих возможностей. </a:t>
            </a:r>
            <a:endParaRPr lang="ru-RU" dirty="0" smtClean="0"/>
          </a:p>
          <a:p>
            <a:pPr marL="0" indent="0" algn="ctr">
              <a:buNone/>
            </a:pPr>
            <a:r>
              <a:rPr lang="ru-RU" dirty="0" smtClean="0"/>
              <a:t>Чтобы </a:t>
            </a:r>
            <a:r>
              <a:rPr lang="ru-RU" dirty="0"/>
              <a:t>этого достичь, </a:t>
            </a:r>
            <a:endParaRPr lang="ru-RU" dirty="0" smtClean="0"/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</a:rPr>
              <a:t>учитель </a:t>
            </a:r>
            <a:r>
              <a:rPr lang="ru-RU" b="1" dirty="0">
                <a:solidFill>
                  <a:srgbClr val="FF0000"/>
                </a:solidFill>
              </a:rPr>
              <a:t>должен хорошо знать возможности своих воспитанников, должен интересоваться их работой, вникать в причины возникающих трудностей и, постепенно повышая уровень предъявленных требований, помогать им их преодолевать.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5642887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332656"/>
            <a:ext cx="8712968" cy="62646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</a:rPr>
              <a:t>Принцип доступности</a:t>
            </a:r>
          </a:p>
          <a:p>
            <a:pPr marL="0" indent="0" algn="ctr">
              <a:buNone/>
            </a:pPr>
            <a:r>
              <a:rPr lang="ru-RU" dirty="0" smtClean="0"/>
              <a:t>В </a:t>
            </a:r>
            <a:r>
              <a:rPr lang="ru-RU" dirty="0"/>
              <a:t>обучении следует переходить от уже известного к новому, неизвестному.</a:t>
            </a:r>
            <a:br>
              <a:rPr lang="ru-RU" dirty="0"/>
            </a:br>
            <a:r>
              <a:rPr lang="ru-RU" dirty="0"/>
              <a:t>Для правильной реализации этого правила </a:t>
            </a:r>
            <a:endParaRPr lang="ru-RU" dirty="0" smtClean="0"/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</a:rPr>
              <a:t>учитель </a:t>
            </a:r>
            <a:r>
              <a:rPr lang="ru-RU" b="1" dirty="0">
                <a:solidFill>
                  <a:srgbClr val="FF0000"/>
                </a:solidFill>
              </a:rPr>
              <a:t>обязан хорошо изучить объем исходных знаний учащихся в тот момент, когда они приступают к выполнению данного задания. </a:t>
            </a:r>
            <a:endParaRPr lang="ru-RU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ru-RU" b="1" dirty="0" smtClean="0"/>
              <a:t>Наличие </a:t>
            </a:r>
            <a:r>
              <a:rPr lang="ru-RU" b="1" dirty="0"/>
              <a:t>пробелов и недостатков в усвоении учениками пройденного материала делает работу над новой темой затруднительной и даже невозможной.</a:t>
            </a:r>
            <a:br>
              <a:rPr lang="ru-RU" b="1" dirty="0"/>
            </a:br>
            <a:r>
              <a:rPr lang="ru-RU" b="1" dirty="0" smtClean="0">
                <a:solidFill>
                  <a:srgbClr val="FF0000"/>
                </a:solidFill>
              </a:rPr>
              <a:t>В </a:t>
            </a:r>
            <a:r>
              <a:rPr lang="ru-RU" b="1" dirty="0">
                <a:solidFill>
                  <a:srgbClr val="FF0000"/>
                </a:solidFill>
              </a:rPr>
              <a:t>процессе обучения нужно учитывать различия в скорости индивидуальной работы и в уровне продвинутости в учебе отдельных учащихся.</a:t>
            </a:r>
          </a:p>
        </p:txBody>
      </p:sp>
    </p:spTree>
    <p:extLst>
      <p:ext uri="{BB962C8B-B14F-4D97-AF65-F5344CB8AC3E}">
        <p14:creationId xmlns="" xmlns:p14="http://schemas.microsoft.com/office/powerpoint/2010/main" val="42267540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792088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solidFill>
                  <a:srgbClr val="FF0000"/>
                </a:solidFill>
              </a:rPr>
              <a:t>Принцип единства образовательных, развивающих и воспитательных функций обучения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196752"/>
            <a:ext cx="8856984" cy="5544616"/>
          </a:xfrm>
        </p:spPr>
        <p:txBody>
          <a:bodyPr>
            <a:normAutofit fontScale="47500" lnSpcReduction="20000"/>
          </a:bodyPr>
          <a:lstStyle/>
          <a:p>
            <a:pPr marL="0" indent="0" algn="ctr">
              <a:buNone/>
            </a:pPr>
            <a:r>
              <a:rPr lang="ru-RU" sz="5100" dirty="0"/>
              <a:t>Принцип единства образовательных, развивающих и воспитательных функций обучения вытекает из сущности </a:t>
            </a:r>
            <a:endParaRPr lang="ru-RU" sz="5100" dirty="0" smtClean="0"/>
          </a:p>
          <a:p>
            <a:pPr marL="0" indent="0" algn="ctr">
              <a:buNone/>
            </a:pPr>
            <a:r>
              <a:rPr lang="ru-RU" sz="5100" b="1" dirty="0" smtClean="0">
                <a:solidFill>
                  <a:srgbClr val="7030A0"/>
                </a:solidFill>
              </a:rPr>
              <a:t>функций </a:t>
            </a:r>
            <a:r>
              <a:rPr lang="ru-RU" sz="5100" b="1" dirty="0">
                <a:solidFill>
                  <a:srgbClr val="7030A0"/>
                </a:solidFill>
              </a:rPr>
              <a:t>обучения: образовательной и воспитательной. </a:t>
            </a:r>
            <a:endParaRPr lang="ru-RU" sz="5100" b="1" dirty="0" smtClean="0">
              <a:solidFill>
                <a:srgbClr val="7030A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ru-RU" sz="5100" b="1" dirty="0" smtClean="0">
                <a:solidFill>
                  <a:srgbClr val="C00000"/>
                </a:solidFill>
              </a:rPr>
              <a:t>Во-первых</a:t>
            </a:r>
            <a:r>
              <a:rPr lang="ru-RU" sz="5100" dirty="0"/>
              <a:t>, в процессе обучения человек овладевает знаниями, умениями и навыками, формируется ее научное </a:t>
            </a:r>
            <a:r>
              <a:rPr lang="ru-RU" sz="5100" dirty="0" smtClean="0"/>
              <a:t>мировоззрение. </a:t>
            </a:r>
            <a:endParaRPr lang="ru-RU" sz="5100" dirty="0"/>
          </a:p>
          <a:p>
            <a:pPr>
              <a:buFont typeface="Wingdings" pitchFamily="2" charset="2"/>
              <a:buChar char="Ø"/>
            </a:pPr>
            <a:r>
              <a:rPr lang="ru-RU" sz="5100" b="1" dirty="0" smtClean="0">
                <a:solidFill>
                  <a:srgbClr val="C00000"/>
                </a:solidFill>
              </a:rPr>
              <a:t>Во-вторых</a:t>
            </a:r>
            <a:r>
              <a:rPr lang="ru-RU" sz="5100" dirty="0"/>
              <a:t>, в условиях деятельности личности происходит ее интеллектуальное </a:t>
            </a:r>
            <a:r>
              <a:rPr lang="ru-RU" sz="5100" dirty="0" smtClean="0"/>
              <a:t>развитие.</a:t>
            </a:r>
            <a:endParaRPr lang="ru-RU" sz="5100" dirty="0"/>
          </a:p>
          <a:p>
            <a:pPr>
              <a:buFont typeface="Wingdings" pitchFamily="2" charset="2"/>
              <a:buChar char="Ø"/>
            </a:pPr>
            <a:r>
              <a:rPr lang="ru-RU" sz="5100" b="1" dirty="0" smtClean="0">
                <a:solidFill>
                  <a:srgbClr val="C00000"/>
                </a:solidFill>
              </a:rPr>
              <a:t>В-третьих</a:t>
            </a:r>
            <a:r>
              <a:rPr lang="ru-RU" sz="5100" dirty="0"/>
              <a:t>, содержание учебного материала, непосредственное участие студентов в учебной работе являются средствами формирование у них соответствующих морально-духовных качеств. Педагог, моделируя процесс обучения со студентами, </a:t>
            </a:r>
            <a:r>
              <a:rPr lang="ru-RU" sz="5100" dirty="0" smtClean="0"/>
              <a:t>умеет </a:t>
            </a:r>
            <a:r>
              <a:rPr lang="ru-RU" sz="5100" dirty="0"/>
              <a:t>продумывать все аспекты, чтобы обеспечить оптимальные условия для реализации требований принципа единства образования, развития и воспитания.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2069993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357166"/>
            <a:ext cx="8229600" cy="857256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b="1" dirty="0" smtClean="0"/>
              <a:t/>
            </a:r>
            <a:br>
              <a:rPr lang="ru-RU" sz="3600" b="1" dirty="0" smtClean="0"/>
            </a:br>
            <a:r>
              <a:rPr lang="ru-RU" sz="3600" b="1" dirty="0" smtClean="0"/>
              <a:t/>
            </a:r>
            <a:br>
              <a:rPr lang="ru-RU" sz="3600" b="1" dirty="0" smtClean="0"/>
            </a:br>
            <a:r>
              <a:rPr lang="ru-RU" sz="3600" b="1" dirty="0" smtClean="0"/>
              <a:t/>
            </a:r>
            <a:br>
              <a:rPr lang="ru-RU" sz="3600" b="1" dirty="0" smtClean="0"/>
            </a:br>
            <a:r>
              <a:rPr lang="ru-RU" sz="3600" b="1" dirty="0" smtClean="0"/>
              <a:t/>
            </a:r>
            <a:br>
              <a:rPr lang="ru-RU" sz="3600" b="1" dirty="0" smtClean="0"/>
            </a:br>
            <a:r>
              <a:rPr lang="ru-RU" sz="3600" b="1" dirty="0" smtClean="0"/>
              <a:t/>
            </a:r>
            <a:br>
              <a:rPr lang="ru-RU" sz="3600" b="1" dirty="0" smtClean="0"/>
            </a:br>
            <a:r>
              <a:rPr lang="ru-RU" sz="3600" b="1" dirty="0" smtClean="0"/>
              <a:t/>
            </a:r>
            <a:br>
              <a:rPr lang="ru-RU" sz="3600" b="1" dirty="0" smtClean="0"/>
            </a:br>
            <a:r>
              <a:rPr lang="ru-RU" dirty="0" smtClean="0"/>
              <a:t/>
            </a:r>
            <a:br>
              <a:rPr lang="ru-RU" dirty="0" smtClean="0"/>
            </a:br>
            <a:r>
              <a:rPr lang="ru-RU" sz="3600" b="1" dirty="0" smtClean="0">
                <a:solidFill>
                  <a:srgbClr val="FF0000"/>
                </a:solidFill>
              </a:rPr>
              <a:t>Требования</a:t>
            </a:r>
            <a:r>
              <a:rPr lang="ru-RU" dirty="0" smtClean="0">
                <a:solidFill>
                  <a:srgbClr val="FF0000"/>
                </a:solidFill>
              </a:rPr>
              <a:t> </a:t>
            </a:r>
            <a:r>
              <a:rPr lang="ru-RU" sz="3600" b="1" dirty="0" smtClean="0">
                <a:solidFill>
                  <a:srgbClr val="FF0000"/>
                </a:solidFill>
              </a:rPr>
              <a:t>принципа воспитывающего и развивающего обучения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28736"/>
            <a:ext cx="8472518" cy="5214974"/>
          </a:xfrm>
        </p:spPr>
        <p:txBody>
          <a:bodyPr>
            <a:normAutofit fontScale="92500"/>
          </a:bodyPr>
          <a:lstStyle/>
          <a:p>
            <a:pPr lvl="0">
              <a:buFont typeface="Wingdings" pitchFamily="2" charset="2"/>
              <a:buChar char="Ø"/>
            </a:pPr>
            <a:r>
              <a:rPr lang="ru-RU" dirty="0" smtClean="0"/>
              <a:t>правильное </a:t>
            </a:r>
            <a:r>
              <a:rPr lang="ru-RU" dirty="0"/>
              <a:t>определение ведущих целей обучения: познавательной, воспитывающей, развивающей;</a:t>
            </a:r>
          </a:p>
          <a:p>
            <a:pPr lvl="0">
              <a:buFont typeface="Wingdings" pitchFamily="2" charset="2"/>
              <a:buChar char="Ø"/>
            </a:pPr>
            <a:r>
              <a:rPr lang="ru-RU" dirty="0"/>
              <a:t>формирование у студентов в ходе занятия научного мировоззрения;</a:t>
            </a:r>
          </a:p>
          <a:p>
            <a:pPr lvl="0">
              <a:buFont typeface="Wingdings" pitchFamily="2" charset="2"/>
              <a:buChar char="Ø"/>
            </a:pPr>
            <a:r>
              <a:rPr lang="ru-RU" dirty="0"/>
              <a:t>воспитание чувств патриотизма, гражданственности, гуманности, интеллигентности, формирование навыков культурного поведения, дисциплинированности;</a:t>
            </a:r>
          </a:p>
          <a:p>
            <a:pPr lvl="0">
              <a:buFont typeface="Wingdings" pitchFamily="2" charset="2"/>
              <a:buChar char="Ø"/>
            </a:pPr>
            <a:r>
              <a:rPr lang="ru-RU" dirty="0"/>
              <a:t>развитие самостоятельности, инициативы, творчества;</a:t>
            </a:r>
          </a:p>
          <a:p>
            <a:pPr lvl="0">
              <a:buFont typeface="Wingdings" pitchFamily="2" charset="2"/>
              <a:buChar char="Ø"/>
            </a:pPr>
            <a:r>
              <a:rPr lang="ru-RU" dirty="0"/>
              <a:t>развитие познавательных способностей и творческих сил (умение анализировать, обобщать, выделять главное, сравнивать, сопоставлять, делать самостоятельные выводы).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80696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>
                <a:solidFill>
                  <a:srgbClr val="FF0000"/>
                </a:solidFill>
              </a:rPr>
              <a:t>Принцип прочности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Принцип прочности означает способность учащегося при необходимости воспроизвести изученное и воспользоваться соответствующими знаниями в практической деятельности, т.е. прочность это не только глубокое запоминание, но и умение воспользоваться тем, чем располагает память. В этом заключается главная особенность данного принципа.</a:t>
            </a:r>
          </a:p>
        </p:txBody>
      </p:sp>
    </p:spTree>
    <p:extLst>
      <p:ext uri="{BB962C8B-B14F-4D97-AF65-F5344CB8AC3E}">
        <p14:creationId xmlns="" xmlns:p14="http://schemas.microsoft.com/office/powerpoint/2010/main" val="15073011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Принцип прочности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Память человека избирательна: мы не запоминаем всего, а помним лишь то, что для нас особенно важно и интересно. Кроме того, в определенных случаях непроизвольное запоминание может оказаться более продуктивным по сравнению с намеренным, произвольным запоминанием.</a:t>
            </a:r>
          </a:p>
        </p:txBody>
      </p:sp>
    </p:spTree>
    <p:extLst>
      <p:ext uri="{BB962C8B-B14F-4D97-AF65-F5344CB8AC3E}">
        <p14:creationId xmlns="" xmlns:p14="http://schemas.microsoft.com/office/powerpoint/2010/main" val="34096301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63668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>
                <a:solidFill>
                  <a:srgbClr val="FF0000"/>
                </a:solidFill>
              </a:rPr>
              <a:t>Принцип прочности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484784"/>
            <a:ext cx="8712968" cy="4839816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ru-RU" dirty="0"/>
              <a:t>В ходе подготовки учащихся к ознакомлению с новым материалом мы должны соответствующим образом направить их интересы, сформировать позитивное отношение к изучаемому.</a:t>
            </a:r>
          </a:p>
          <a:p>
            <a:pPr>
              <a:buFont typeface="Wingdings" pitchFamily="2" charset="2"/>
              <a:buChar char="Ø"/>
            </a:pPr>
            <a:r>
              <a:rPr lang="ru-RU" dirty="0"/>
              <a:t>Ознакомление с новым содержанием с точки зрения организационной и дидактической должно быть подготовлено таким образом, чтобы учащиеся принимали в этом процессе как можно более активное участие. Количество и периодичность выполнения упражнений нужно соотносить с индивидуальными различиями в способностях и скорости работы отдельных учащихся.</a:t>
            </a:r>
          </a:p>
          <a:p>
            <a:pPr>
              <a:buFont typeface="Wingdings" pitchFamily="2" charset="2"/>
              <a:buChar char="Ø"/>
            </a:pPr>
            <a:r>
              <a:rPr lang="ru-RU" dirty="0"/>
              <a:t>Упражнения, нацеленные на закрепление проработанного ранее материала, нужно проводить только после проверки того, насколько учащиеся его усвоили.</a:t>
            </a:r>
          </a:p>
          <a:p>
            <a:pPr>
              <a:buFont typeface="Wingdings" pitchFamily="2" charset="2"/>
              <a:buChar char="Ø"/>
            </a:pPr>
            <a:r>
              <a:rPr lang="ru-RU" dirty="0"/>
              <a:t>Частота повторения должна соответствовать ходу кривой запоминания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9095624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57606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b="1" dirty="0" smtClean="0">
                <a:solidFill>
                  <a:srgbClr val="FF0000"/>
                </a:solidFill>
              </a:rPr>
              <a:t>Принцип прочности - кривая </a:t>
            </a:r>
            <a:r>
              <a:rPr lang="ru-RU" sz="3600" b="1" dirty="0">
                <a:solidFill>
                  <a:srgbClr val="FF0000"/>
                </a:solidFill>
              </a:rPr>
              <a:t>запоминания</a:t>
            </a:r>
            <a:r>
              <a:rPr lang="ru-RU" dirty="0"/>
              <a:t> 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935480"/>
            <a:ext cx="8568952" cy="4805888"/>
          </a:xfrm>
        </p:spPr>
        <p:txBody>
          <a:bodyPr>
            <a:normAutofit fontScale="77500" lnSpcReduction="20000"/>
          </a:bodyPr>
          <a:lstStyle/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b="1" dirty="0" smtClean="0"/>
          </a:p>
          <a:p>
            <a:r>
              <a:rPr lang="ru-RU" b="1" dirty="0" smtClean="0"/>
              <a:t>Рис</a:t>
            </a:r>
            <a:r>
              <a:rPr lang="ru-RU" b="1" dirty="0"/>
              <a:t>. 4. Зависимость забывания от частоты повторений:</a:t>
            </a:r>
            <a:endParaRPr lang="ru-RU" dirty="0"/>
          </a:p>
          <a:p>
            <a:r>
              <a:rPr lang="ru-RU" b="1" i="1" dirty="0"/>
              <a:t>i</a:t>
            </a:r>
            <a:r>
              <a:rPr lang="ru-RU" b="1" dirty="0"/>
              <a:t> — информация;</a:t>
            </a:r>
            <a:r>
              <a:rPr lang="ru-RU" b="1" i="1" dirty="0"/>
              <a:t> t</a:t>
            </a:r>
            <a:r>
              <a:rPr lang="ru-RU" b="1" dirty="0"/>
              <a:t> — время;</a:t>
            </a:r>
            <a:r>
              <a:rPr lang="ru-RU" b="1" i="1" dirty="0"/>
              <a:t> F</a:t>
            </a:r>
            <a:r>
              <a:rPr lang="ru-RU" b="1" dirty="0"/>
              <a:t> — точка, соответствующая полному овладению темой (100% усвоения информации)</a:t>
            </a:r>
            <a:endParaRPr lang="ru-RU" dirty="0"/>
          </a:p>
          <a:p>
            <a:r>
              <a:rPr lang="ru-RU" dirty="0"/>
              <a:t>Как следует из приведенного графика, наибольшее количество повторений требуется сразу же после ознакомления учащихся с новым материалом (а, Ь, с), т. е. в момент максимальной потери информации, после чего это количество повторений должно постепенно снижаться (</a:t>
            </a:r>
            <a:r>
              <a:rPr lang="ru-RU" i="1" dirty="0"/>
              <a:t>d, е, f</a:t>
            </a:r>
            <a:r>
              <a:rPr lang="ru-RU" dirty="0"/>
              <a:t>), но не исчезать полностью (</a:t>
            </a:r>
            <a:r>
              <a:rPr lang="ru-RU" i="1" dirty="0"/>
              <a:t>g, h,…,n</a:t>
            </a:r>
            <a:r>
              <a:rPr lang="ru-RU" dirty="0"/>
              <a:t>).</a:t>
            </a:r>
          </a:p>
          <a:p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928" y="1124744"/>
            <a:ext cx="5730387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7611458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63668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>
                <a:solidFill>
                  <a:srgbClr val="FF0000"/>
                </a:solidFill>
              </a:rPr>
              <a:t>Принцип прочности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7260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ru-RU" dirty="0"/>
              <a:t>Важной формой закрепления пройденного является систематизация материала, связанная с самостоятельным его воспроизведением учениками. </a:t>
            </a:r>
            <a:endParaRPr lang="ru-RU" dirty="0" smtClean="0"/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Учащиеся </a:t>
            </a:r>
            <a:r>
              <a:rPr lang="ru-RU" dirty="0"/>
              <a:t>должны запоминать прежде всего важнейшие факты. </a:t>
            </a:r>
            <a:endParaRPr lang="ru-RU" dirty="0" smtClean="0"/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Преподаватель  </a:t>
            </a:r>
            <a:r>
              <a:rPr lang="ru-RU" dirty="0"/>
              <a:t>должен приучать учащихся к теоретической и — если это возможно — к опытной проверке рассматриваемых законов, научных принципов и </a:t>
            </a:r>
            <a:r>
              <a:rPr lang="ru-RU" dirty="0" smtClean="0"/>
              <a:t>правил.</a:t>
            </a:r>
          </a:p>
          <a:p>
            <a:pPr marL="0" indent="0" algn="ctr">
              <a:buNone/>
            </a:pPr>
            <a:r>
              <a:rPr lang="ru-RU" dirty="0" smtClean="0"/>
              <a:t> </a:t>
            </a:r>
            <a:r>
              <a:rPr lang="ru-RU" b="1" dirty="0" smtClean="0">
                <a:solidFill>
                  <a:srgbClr val="FF0000"/>
                </a:solidFill>
              </a:rPr>
              <a:t>Такого </a:t>
            </a:r>
            <a:r>
              <a:rPr lang="ru-RU" b="1" dirty="0">
                <a:solidFill>
                  <a:srgbClr val="FF0000"/>
                </a:solidFill>
              </a:rPr>
              <a:t>рода проверка содействует закреплению знаний и оперативному овладению ими.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7330854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63668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>
                <a:solidFill>
                  <a:srgbClr val="FF0000"/>
                </a:solidFill>
              </a:rPr>
              <a:t>Принцип прочности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532859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ru-RU" dirty="0"/>
              <a:t>Так как прочность запоминания информации, приобретенной в форме логических структур, выше, чем прочность разрозненных знаний, </a:t>
            </a:r>
            <a:endParaRPr lang="ru-RU" dirty="0" smtClean="0"/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</a:rPr>
              <a:t>закреплять </a:t>
            </a:r>
            <a:r>
              <a:rPr lang="ru-RU" b="1" dirty="0">
                <a:solidFill>
                  <a:srgbClr val="FF0000"/>
                </a:solidFill>
              </a:rPr>
              <a:t>следует знания, представленные в логически целостных </a:t>
            </a:r>
            <a:r>
              <a:rPr lang="ru-RU" b="1" dirty="0" smtClean="0">
                <a:solidFill>
                  <a:srgbClr val="FF0000"/>
                </a:solidFill>
              </a:rPr>
              <a:t>структурах.</a:t>
            </a:r>
            <a:endParaRPr lang="ru-RU" b="1" dirty="0">
              <a:solidFill>
                <a:srgbClr val="FF000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ru-RU" dirty="0"/>
              <a:t>Систематический контроль над результатами обучения, объединенный с оценкой работы учащихся, благоприятно влияет на прочность знаний, приобретаемых </a:t>
            </a:r>
            <a:r>
              <a:rPr lang="ru-RU" dirty="0" smtClean="0"/>
              <a:t>учащимися, </a:t>
            </a:r>
            <a:r>
              <a:rPr lang="ru-RU" dirty="0"/>
              <a:t>как в ходе </a:t>
            </a:r>
            <a:r>
              <a:rPr lang="ru-RU" dirty="0" smtClean="0"/>
              <a:t>занятий, </a:t>
            </a:r>
            <a:r>
              <a:rPr lang="ru-RU" dirty="0"/>
              <a:t>так и в форме </a:t>
            </a:r>
            <a:r>
              <a:rPr lang="ru-RU" dirty="0" smtClean="0"/>
              <a:t>лабораторных и практических занятий.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7669940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008112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solidFill>
                  <a:srgbClr val="FF0000"/>
                </a:solidFill>
              </a:rPr>
              <a:t>Правила, вытекающие из принципа прочности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412776"/>
            <a:ext cx="8640960" cy="5256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4240765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136904" cy="864096"/>
          </a:xfrm>
        </p:spPr>
        <p:txBody>
          <a:bodyPr>
            <a:noAutofit/>
          </a:bodyPr>
          <a:lstStyle/>
          <a:p>
            <a:pPr algn="ctr"/>
            <a:r>
              <a:rPr lang="ru-RU" sz="3600" dirty="0" smtClean="0">
                <a:solidFill>
                  <a:srgbClr val="FF0000"/>
                </a:solidFill>
              </a:rPr>
              <a:t/>
            </a:r>
            <a:br>
              <a:rPr lang="ru-RU" sz="3600" dirty="0" smtClean="0">
                <a:solidFill>
                  <a:srgbClr val="FF0000"/>
                </a:solidFill>
              </a:rPr>
            </a:br>
            <a:r>
              <a:rPr lang="ru-RU" sz="3600" dirty="0" smtClean="0">
                <a:solidFill>
                  <a:srgbClr val="FF0000"/>
                </a:solidFill>
              </a:rPr>
              <a:t> </a:t>
            </a:r>
            <a:r>
              <a:rPr lang="ru-RU" sz="3200" b="1" dirty="0" smtClean="0">
                <a:solidFill>
                  <a:srgbClr val="FF0000"/>
                </a:solidFill>
              </a:rPr>
              <a:t>Требования</a:t>
            </a:r>
            <a:r>
              <a:rPr lang="ru-RU" sz="3200" dirty="0" smtClean="0">
                <a:solidFill>
                  <a:srgbClr val="FF0000"/>
                </a:solidFill>
              </a:rPr>
              <a:t> </a:t>
            </a:r>
            <a:r>
              <a:rPr lang="ru-RU" sz="3200" b="1" dirty="0" smtClean="0">
                <a:solidFill>
                  <a:srgbClr val="FF0000"/>
                </a:solidFill>
              </a:rPr>
              <a:t>принципа прочности</a:t>
            </a:r>
            <a:r>
              <a:rPr lang="en-US" sz="3200" b="1" dirty="0" smtClean="0">
                <a:solidFill>
                  <a:srgbClr val="FF0000"/>
                </a:solidFill>
              </a:rPr>
              <a:t> </a:t>
            </a:r>
            <a:r>
              <a:rPr lang="ru-RU" sz="3200" b="1" dirty="0" smtClean="0">
                <a:solidFill>
                  <a:srgbClr val="FF0000"/>
                </a:solidFill>
              </a:rPr>
              <a:t>усвоения знаний</a:t>
            </a:r>
            <a:endParaRPr lang="ru-RU" sz="3600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14422"/>
            <a:ext cx="8472518" cy="5357850"/>
          </a:xfrm>
        </p:spPr>
        <p:txBody>
          <a:bodyPr>
            <a:normAutofit/>
          </a:bodyPr>
          <a:lstStyle/>
          <a:p>
            <a:pPr lvl="0">
              <a:buFont typeface="Wingdings" pitchFamily="2" charset="2"/>
              <a:buChar char="Ø"/>
            </a:pPr>
            <a:r>
              <a:rPr lang="ru-RU" dirty="0" smtClean="0"/>
              <a:t>педагогически </a:t>
            </a:r>
            <a:r>
              <a:rPr lang="ru-RU" dirty="0"/>
              <a:t>целесообразно </a:t>
            </a:r>
            <a:r>
              <a:rPr lang="ru-RU" dirty="0" smtClean="0"/>
              <a:t> </a:t>
            </a:r>
            <a:r>
              <a:rPr lang="ru-RU" dirty="0"/>
              <a:t>четко организовать повторение, закрепление полученных знаний, формировать умения и навыки использования этих знаний на практике;</a:t>
            </a:r>
          </a:p>
          <a:p>
            <a:pPr lvl="0">
              <a:buFont typeface="Wingdings" pitchFamily="2" charset="2"/>
              <a:buChar char="Ø"/>
            </a:pPr>
            <a:r>
              <a:rPr lang="ru-RU" dirty="0"/>
              <a:t>систематически контролировать оценивать приобретенные студентами знания, умения и навыки;</a:t>
            </a:r>
          </a:p>
          <a:p>
            <a:pPr lvl="0">
              <a:buFont typeface="Wingdings" pitchFamily="2" charset="2"/>
              <a:buChar char="Ø"/>
            </a:pPr>
            <a:r>
              <a:rPr lang="ru-RU" dirty="0"/>
              <a:t>осуществлять индивидуальный, дифференцированный подход к студентам в процессе организации учебно-воспитательной работы.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476672"/>
            <a:ext cx="8712968" cy="6192688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sz="3000" b="1" dirty="0">
                <a:solidFill>
                  <a:srgbClr val="FF0000"/>
                </a:solidFill>
              </a:rPr>
              <a:t>Принцип активности и самостоятельности </a:t>
            </a:r>
            <a:endParaRPr lang="ru-RU" sz="30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ru-RU" dirty="0" smtClean="0"/>
          </a:p>
          <a:p>
            <a:pPr marL="0" indent="0" algn="ctr">
              <a:buNone/>
            </a:pPr>
            <a:r>
              <a:rPr lang="ru-RU" b="1" dirty="0" smtClean="0">
                <a:solidFill>
                  <a:srgbClr val="FF0000"/>
                </a:solidFill>
              </a:rPr>
              <a:t>знание </a:t>
            </a:r>
            <a:r>
              <a:rPr lang="ru-RU" b="1" dirty="0">
                <a:solidFill>
                  <a:srgbClr val="FF0000"/>
                </a:solidFill>
              </a:rPr>
              <a:t>- это результат самостоятельного умственного труда личности. </a:t>
            </a:r>
            <a:endParaRPr lang="ru-RU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ru-RU" dirty="0" smtClean="0"/>
              <a:t>Только </a:t>
            </a:r>
            <a:r>
              <a:rPr lang="ru-RU" dirty="0"/>
              <a:t>умственный труд является залогом интеллектуального развития человека, прочности приобретенных знаний, формирование действенных мотивов учения. </a:t>
            </a:r>
            <a:endParaRPr lang="ru-RU" dirty="0" smtClean="0"/>
          </a:p>
          <a:p>
            <a:pPr marL="0" indent="0" algn="ctr">
              <a:buNone/>
            </a:pPr>
            <a:r>
              <a:rPr lang="ru-RU" dirty="0" smtClean="0"/>
              <a:t>По </a:t>
            </a:r>
            <a:r>
              <a:rPr lang="ru-RU" dirty="0"/>
              <a:t>своей природе человек с раннего детства стремится к самостоятельной деятельности, в том числе познавательной. </a:t>
            </a:r>
            <a:endParaRPr lang="ru-RU" dirty="0" smtClean="0"/>
          </a:p>
          <a:p>
            <a:pPr marL="0" indent="0" algn="ctr">
              <a:buNone/>
            </a:pPr>
            <a:r>
              <a:rPr lang="ru-RU" dirty="0" smtClean="0"/>
              <a:t>Педагогу </a:t>
            </a:r>
            <a:r>
              <a:rPr lang="ru-RU" dirty="0"/>
              <a:t>следует учитывать эту закономерность и на всех этапах учебного процесса привлекать студентов к активной учебной работы. </a:t>
            </a:r>
            <a:endParaRPr lang="ru-RU" dirty="0" smtClean="0"/>
          </a:p>
          <a:p>
            <a:pPr marL="0" indent="0" algn="ctr">
              <a:buNone/>
            </a:pPr>
            <a:r>
              <a:rPr lang="ru-RU" b="1" dirty="0" smtClean="0">
                <a:solidFill>
                  <a:srgbClr val="7030A0"/>
                </a:solidFill>
              </a:rPr>
              <a:t>Попытки </a:t>
            </a:r>
            <a:r>
              <a:rPr lang="ru-RU" b="1" dirty="0">
                <a:solidFill>
                  <a:srgbClr val="7030A0"/>
                </a:solidFill>
              </a:rPr>
              <a:t>преподавателя все объяснить в деталях, слишком упростить учебную работу студентов ведут к формированию потребительской психологии личности, ослабляют ее, делают неспособной к самостоятельной продуктивной профессиональной деятельности. </a:t>
            </a:r>
            <a:endParaRPr lang="ru-RU" b="1" dirty="0" smtClean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ru-RU" dirty="0" smtClean="0"/>
              <a:t>В </a:t>
            </a:r>
            <a:r>
              <a:rPr lang="ru-RU" dirty="0"/>
              <a:t>то же время ухудшаются условия для оптимального интеллектуального развития человека.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9566132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636680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solidFill>
                  <a:srgbClr val="FF0000"/>
                </a:solidFill>
              </a:rPr>
              <a:t/>
            </a:r>
            <a:br>
              <a:rPr lang="ru-RU" sz="3200" b="1" dirty="0">
                <a:solidFill>
                  <a:srgbClr val="FF0000"/>
                </a:solidFill>
              </a:rPr>
            </a:br>
            <a:r>
              <a:rPr lang="ru-RU" sz="3200" b="1" dirty="0" smtClean="0">
                <a:solidFill>
                  <a:srgbClr val="FF0000"/>
                </a:solidFill>
              </a:rPr>
              <a:t>Принцип активности и самостоятельности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124744"/>
            <a:ext cx="8640960" cy="554461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Активности </a:t>
            </a:r>
            <a:r>
              <a:rPr lang="ru-RU" dirty="0"/>
              <a:t>и сознательности в обучении можно достичь путем: </a:t>
            </a:r>
            <a:endParaRPr lang="ru-RU" dirty="0" smtClean="0"/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создание </a:t>
            </a:r>
            <a:r>
              <a:rPr lang="ru-RU" dirty="0"/>
              <a:t>у учащихся положительного представления о будущей профессиональной деятельности; </a:t>
            </a:r>
            <a:endParaRPr lang="ru-RU" dirty="0" smtClean="0"/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формирование </a:t>
            </a:r>
            <a:r>
              <a:rPr lang="ru-RU" dirty="0"/>
              <a:t>понимания учащимися смысла профессионального образования и, соответственно, на этой основе интереса к профессиональных знаний, навыков и умений; </a:t>
            </a:r>
            <a:endParaRPr lang="ru-RU" dirty="0" smtClean="0"/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выработка </a:t>
            </a:r>
            <a:r>
              <a:rPr lang="ru-RU" dirty="0"/>
              <a:t>мотивации обучения и будущей профессиональной деятельности; </a:t>
            </a:r>
            <a:endParaRPr lang="ru-RU" dirty="0" smtClean="0"/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побуждение </a:t>
            </a:r>
            <a:r>
              <a:rPr lang="ru-RU" dirty="0"/>
              <a:t>учащихся к правильной оценке собственных действий, поступков, воспитания у них привычек самоанализа и самоконтроля и потребности самосовершенствования; </a:t>
            </a:r>
            <a:endParaRPr lang="ru-RU" dirty="0" smtClean="0"/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создание </a:t>
            </a:r>
            <a:r>
              <a:rPr lang="ru-RU" dirty="0"/>
              <a:t>во время обучения проблемных ситуаций, которые требуют самостоятельных, творческих и активных действий, и привлечение учащихся к их решению; 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6149648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6264696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sz="3000" b="1" dirty="0">
                <a:solidFill>
                  <a:srgbClr val="FF0000"/>
                </a:solidFill>
              </a:rPr>
              <a:t>Принцип активности и самостоятельности</a:t>
            </a:r>
            <a:endParaRPr lang="ru-RU" sz="3000" dirty="0" smtClean="0"/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использование </a:t>
            </a:r>
            <a:r>
              <a:rPr lang="ru-RU" dirty="0"/>
              <a:t>диалогических методов обучения, которые формируют и развивают самостоятельность, творчество и активность учащихся; </a:t>
            </a:r>
            <a:endParaRPr lang="ru-RU" dirty="0" smtClean="0"/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стимулирование </a:t>
            </a:r>
            <a:r>
              <a:rPr lang="ru-RU" dirty="0"/>
              <a:t>коллективных форм работы, взаимодействия учащихся в обучении; </a:t>
            </a:r>
            <a:endParaRPr lang="ru-RU" dirty="0" smtClean="0"/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организации </a:t>
            </a:r>
            <a:r>
              <a:rPr lang="ru-RU" dirty="0"/>
              <a:t>обучения в условиях соревнования, стимулирования инициативы и творчества; </a:t>
            </a:r>
            <a:endParaRPr lang="ru-RU" dirty="0" smtClean="0"/>
          </a:p>
          <a:p>
            <a:pPr>
              <a:buFont typeface="Wingdings" pitchFamily="2" charset="2"/>
              <a:buChar char="Ø"/>
            </a:pPr>
            <a:r>
              <a:rPr lang="ru-RU" dirty="0" err="1" smtClean="0"/>
              <a:t>проблемности</a:t>
            </a:r>
            <a:r>
              <a:rPr lang="ru-RU" dirty="0" smtClean="0"/>
              <a:t> </a:t>
            </a:r>
            <a:r>
              <a:rPr lang="ru-RU" dirty="0"/>
              <a:t>преподавания учебного материала; </a:t>
            </a:r>
            <a:endParaRPr lang="ru-RU" dirty="0" smtClean="0"/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использование </a:t>
            </a:r>
            <a:r>
              <a:rPr lang="ru-RU" dirty="0"/>
              <a:t>полученных профессиональных знаний, навыков и умений в практической деятельности; </a:t>
            </a:r>
            <a:endParaRPr lang="ru-RU" dirty="0" smtClean="0"/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дифференциации </a:t>
            </a:r>
            <a:r>
              <a:rPr lang="ru-RU" dirty="0"/>
              <a:t>учебного материала в соответствии с умственных и физических возможностей и способностей учащихся; </a:t>
            </a:r>
            <a:endParaRPr lang="ru-RU" dirty="0" smtClean="0"/>
          </a:p>
          <a:p>
            <a:pPr>
              <a:buFont typeface="Wingdings" pitchFamily="2" charset="2"/>
              <a:buChar char="Ø"/>
            </a:pPr>
            <a:r>
              <a:rPr lang="ru-RU" dirty="0" smtClean="0"/>
              <a:t>умение </a:t>
            </a:r>
            <a:r>
              <a:rPr lang="ru-RU" dirty="0"/>
              <a:t>педагога чувствовать психическое состояние учеников и тому подобное.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42383140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564672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dirty="0">
                <a:solidFill>
                  <a:srgbClr val="FF0000"/>
                </a:solidFill>
              </a:rPr>
              <a:t>Принцип основательности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412776"/>
            <a:ext cx="8640960" cy="5112568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ru-RU" sz="2800" dirty="0"/>
              <a:t>Принцип основательности вытекает из сущности обучения и его задач. </a:t>
            </a:r>
            <a:endParaRPr lang="ru-RU" sz="2800" dirty="0" smtClean="0"/>
          </a:p>
          <a:p>
            <a:pPr marL="0" indent="0" algn="ctr">
              <a:buNone/>
            </a:pPr>
            <a:r>
              <a:rPr lang="ru-RU" sz="2800" dirty="0" smtClean="0"/>
              <a:t>На </a:t>
            </a:r>
            <a:r>
              <a:rPr lang="ru-RU" sz="2800" dirty="0"/>
              <a:t>определенном этапе обучения человек должен основательно усвоить определенную сумму знаний, овладеть умениями и навыками, которые являются </a:t>
            </a:r>
            <a:r>
              <a:rPr lang="ru-RU" sz="2800" dirty="0" smtClean="0"/>
              <a:t>предпосылкой:</a:t>
            </a:r>
          </a:p>
          <a:p>
            <a:pPr algn="ctr">
              <a:buFont typeface="Wingdings" pitchFamily="2" charset="2"/>
              <a:buChar char="Ø"/>
            </a:pPr>
            <a:r>
              <a:rPr lang="ru-RU" sz="2800" dirty="0" smtClean="0"/>
              <a:t>во-первых</a:t>
            </a:r>
            <a:r>
              <a:rPr lang="ru-RU" sz="2800" dirty="0"/>
              <a:t>, дальнейшего продвижения в учебной </a:t>
            </a:r>
            <a:r>
              <a:rPr lang="ru-RU" sz="2800" dirty="0" smtClean="0"/>
              <a:t>деятельности;</a:t>
            </a:r>
          </a:p>
          <a:p>
            <a:pPr algn="ctr">
              <a:buFont typeface="Wingdings" pitchFamily="2" charset="2"/>
              <a:buChar char="Ø"/>
            </a:pPr>
            <a:r>
              <a:rPr lang="ru-RU" sz="2800" dirty="0" smtClean="0"/>
              <a:t>во-вторых</a:t>
            </a:r>
            <a:r>
              <a:rPr lang="ru-RU" sz="2800" dirty="0"/>
              <a:t>, базой для формирования научного мировоззрения. </a:t>
            </a:r>
            <a:endParaRPr lang="ru-RU" sz="2800" dirty="0" smtClean="0"/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 smtClean="0"/>
              <a:t>Под </a:t>
            </a:r>
            <a:r>
              <a:rPr lang="ru-RU" sz="2800" dirty="0"/>
              <a:t>основательными знаниями имеют в виду такие, что хорошо осознаны, систематизированы, связанные с практикой, которые стали достоянием долговременной памяти. </a:t>
            </a:r>
            <a:endParaRPr lang="ru-RU" sz="2800" dirty="0" smtClean="0"/>
          </a:p>
          <a:p>
            <a:pPr marL="0" indent="0" algn="ctr">
              <a:buNone/>
            </a:pPr>
            <a:r>
              <a:rPr lang="ru-RU" sz="2800" dirty="0" smtClean="0"/>
              <a:t>Крепко усвоенные знания </a:t>
            </a:r>
            <a:r>
              <a:rPr lang="ru-RU" sz="2800" dirty="0"/>
              <a:t>не только </a:t>
            </a:r>
            <a:r>
              <a:rPr lang="ru-RU" sz="2800" dirty="0" smtClean="0"/>
              <a:t>включаются </a:t>
            </a:r>
            <a:r>
              <a:rPr lang="ru-RU" sz="2800" dirty="0"/>
              <a:t>в фонд памяти, </a:t>
            </a:r>
            <a:endParaRPr lang="ru-RU" sz="2800" dirty="0" smtClean="0"/>
          </a:p>
          <a:p>
            <a:pPr marL="0" indent="0" algn="ctr">
              <a:buNone/>
            </a:pPr>
            <a:r>
              <a:rPr lang="ru-RU" sz="2800" dirty="0" smtClean="0"/>
              <a:t>а  становятся </a:t>
            </a:r>
            <a:r>
              <a:rPr lang="ru-RU" sz="2800" dirty="0"/>
              <a:t>инструментом мыслительной деятельности. </a:t>
            </a:r>
            <a:endParaRPr lang="ru-RU" sz="2800" dirty="0" smtClean="0"/>
          </a:p>
          <a:p>
            <a:pPr marL="0" indent="0" algn="ctr">
              <a:buNone/>
            </a:pPr>
            <a:r>
              <a:rPr lang="ru-RU" sz="2800" b="1" dirty="0" smtClean="0">
                <a:solidFill>
                  <a:srgbClr val="FF0000"/>
                </a:solidFill>
              </a:rPr>
              <a:t>Я.А</a:t>
            </a:r>
            <a:r>
              <a:rPr lang="ru-RU" sz="2800" b="1" dirty="0">
                <a:solidFill>
                  <a:srgbClr val="FF0000"/>
                </a:solidFill>
              </a:rPr>
              <a:t>. Коменский писал: "Ничего не следует заставлять заучивать наизусть, кроме того, что хорошо понятно и осознанно умом".</a:t>
            </a:r>
          </a:p>
        </p:txBody>
      </p:sp>
    </p:spTree>
    <p:extLst>
      <p:ext uri="{BB962C8B-B14F-4D97-AF65-F5344CB8AC3E}">
        <p14:creationId xmlns="" xmlns:p14="http://schemas.microsoft.com/office/powerpoint/2010/main" val="40752594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260648"/>
            <a:ext cx="8784976" cy="64807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200" b="1" dirty="0">
                <a:solidFill>
                  <a:srgbClr val="FF0000"/>
                </a:solidFill>
              </a:rPr>
              <a:t>Принцип основательности </a:t>
            </a:r>
            <a:endParaRPr lang="ru-RU" sz="32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ru-RU" sz="2800" dirty="0" smtClean="0"/>
              <a:t>Прочное </a:t>
            </a:r>
            <a:r>
              <a:rPr lang="ru-RU" sz="2800" dirty="0"/>
              <a:t>усвоение главного, существенного, что является предпосылкой дальнейшего продвижения в учебном процессе, приносит радость человеку, стимулирует познавательную деятельность является важным фактором интеллектуального развития.</a:t>
            </a:r>
          </a:p>
          <a:p>
            <a:pPr marL="0" indent="0" algn="ctr">
              <a:buNone/>
            </a:pPr>
            <a:r>
              <a:rPr lang="ru-RU" sz="2800" dirty="0"/>
              <a:t>Осознание и прочность усвоения учебного материала достигаются при условии, если студенты в процессе обучения осуществляют полный цикл учебно-познавательных действий: восприятие, осознание и понимание, запоминание, систематизация и обобщение, применения на практике.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="" xmlns:p14="http://schemas.microsoft.com/office/powerpoint/2010/main" val="30258276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792088"/>
          </a:xfrm>
        </p:spPr>
        <p:txBody>
          <a:bodyPr>
            <a:noAutofit/>
          </a:bodyPr>
          <a:lstStyle/>
          <a:p>
            <a:pPr algn="ctr"/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принцип соответствия обучения возрастным и индивидуальным особенностям</a:t>
            </a:r>
            <a:endParaRPr lang="ru-RU" sz="5400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556792"/>
            <a:ext cx="8568952" cy="5040560"/>
          </a:xfrm>
        </p:spPr>
        <p:txBody>
          <a:bodyPr>
            <a:normAutofit fontScale="92500" lnSpcReduction="20000"/>
          </a:bodyPr>
          <a:lstStyle/>
          <a:p>
            <a:endParaRPr lang="ru-RU" sz="2800" b="1" i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Данный принцип предполагает 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реализацию возрастного и индивидуального подходов.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ru-RU" sz="2800" dirty="0"/>
              <a:t>Существуют два основных пути учета индивидуальных </a:t>
            </a:r>
            <a:r>
              <a:rPr lang="ru-RU" sz="2800" dirty="0" smtClean="0"/>
              <a:t>особенностей:</a:t>
            </a:r>
          </a:p>
          <a:p>
            <a:pPr algn="ctr">
              <a:buFont typeface="Wingdings" pitchFamily="2" charset="2"/>
              <a:buChar char="Ø"/>
            </a:pPr>
            <a:r>
              <a:rPr lang="ru-RU" sz="2800" dirty="0" smtClean="0"/>
              <a:t>индивидуальный </a:t>
            </a:r>
            <a:r>
              <a:rPr lang="ru-RU" sz="2800" dirty="0"/>
              <a:t>подход (учебная работа проводится по единой программе со всеми при индивидуализации форм и методов работы с каждым</a:t>
            </a:r>
            <a:r>
              <a:rPr lang="ru-RU" sz="2800" dirty="0" smtClean="0"/>
              <a:t>);</a:t>
            </a:r>
          </a:p>
          <a:p>
            <a:pPr algn="ctr">
              <a:buFont typeface="Wingdings" pitchFamily="2" charset="2"/>
              <a:buChar char="Ø"/>
            </a:pPr>
            <a:r>
              <a:rPr lang="ru-RU" sz="2800" dirty="0" smtClean="0"/>
              <a:t>дифференциация </a:t>
            </a:r>
            <a:r>
              <a:rPr lang="ru-RU" sz="2800" dirty="0"/>
              <a:t>(разделение учащихся на однородные группы по способностям, возможностям, интересам и др. и работа с ними по разным программам).</a:t>
            </a:r>
            <a:br>
              <a:rPr lang="ru-RU" sz="2800" dirty="0"/>
            </a:br>
            <a:r>
              <a:rPr lang="ru-RU" sz="2000" dirty="0"/>
              <a:t/>
            </a:r>
            <a:br>
              <a:rPr lang="ru-RU" sz="2000" dirty="0"/>
            </a:b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767986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924712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принцип соответствия обучения возрастным и индивидуальным особенностям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772816"/>
            <a:ext cx="8568952" cy="48245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800" dirty="0"/>
              <a:t>Возрастной подход предусматривает знание уровней актуального психического и личностного развития, </a:t>
            </a:r>
            <a:endParaRPr lang="ru-RU" sz="2800" dirty="0" smtClean="0"/>
          </a:p>
          <a:p>
            <a:pPr marL="0" indent="0" algn="ctr">
              <a:buNone/>
            </a:pPr>
            <a:r>
              <a:rPr lang="ru-RU" sz="2800" dirty="0" smtClean="0"/>
              <a:t>воспитанности </a:t>
            </a:r>
            <a:r>
              <a:rPr lang="ru-RU" sz="2800" dirty="0"/>
              <a:t>и социальной зрелости обучаемых. </a:t>
            </a:r>
            <a:endParaRPr lang="ru-RU" sz="2800" dirty="0" smtClean="0"/>
          </a:p>
          <a:p>
            <a:pPr marL="0" indent="0" algn="ctr">
              <a:buNone/>
            </a:pPr>
            <a:r>
              <a:rPr lang="ru-RU" sz="2800" dirty="0" smtClean="0"/>
              <a:t>Эффективность </a:t>
            </a:r>
            <a:r>
              <a:rPr lang="ru-RU" sz="2800" dirty="0"/>
              <a:t>учебной деятельности снижается, если предъявляемые требования и организационные структуры обучения отстают от возрастных возможностей учащихся или не соответствуют им.</a:t>
            </a:r>
          </a:p>
        </p:txBody>
      </p:sp>
    </p:spTree>
    <p:extLst>
      <p:ext uri="{BB962C8B-B14F-4D97-AF65-F5344CB8AC3E}">
        <p14:creationId xmlns="" xmlns:p14="http://schemas.microsoft.com/office/powerpoint/2010/main" val="14335039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5967434"/>
          </a:xfrm>
        </p:spPr>
        <p:txBody>
          <a:bodyPr>
            <a:noAutofit/>
          </a:bodyPr>
          <a:lstStyle/>
          <a:p>
            <a:pPr algn="ctr"/>
            <a:r>
              <a:rPr lang="ru-RU" sz="4800" dirty="0"/>
              <a:t>Перечисленные выше требования ведущих принципов обучения, являются </a:t>
            </a:r>
            <a:r>
              <a:rPr lang="ru-RU" sz="4800" dirty="0" smtClean="0"/>
              <a:t>стержневой </a:t>
            </a:r>
            <a:r>
              <a:rPr lang="ru-RU" sz="4800" dirty="0"/>
              <a:t>основой для современных педагогических технологий.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8479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b="1" dirty="0" smtClean="0">
                <a:solidFill>
                  <a:srgbClr val="FF0000"/>
                </a:solidFill>
              </a:rPr>
              <a:t>Охарактеризованные </a:t>
            </a:r>
            <a:r>
              <a:rPr lang="ru-RU" sz="4400" b="1" dirty="0">
                <a:solidFill>
                  <a:srgbClr val="FF0000"/>
                </a:solidFill>
              </a:rPr>
              <a:t>выше дидактические принципы образуют органическое единство и несут в себе организующее начало совместной деятельности педагога и студентов в процессе обучения в ВУЗЕ.</a:t>
            </a:r>
          </a:p>
        </p:txBody>
      </p:sp>
    </p:spTree>
    <p:extLst>
      <p:ext uri="{BB962C8B-B14F-4D97-AF65-F5344CB8AC3E}">
        <p14:creationId xmlns="" xmlns:p14="http://schemas.microsoft.com/office/powerpoint/2010/main" val="25303426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ток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1148</TotalTime>
  <Words>2897</Words>
  <Application>Microsoft Office PowerPoint</Application>
  <PresentationFormat>Экран (4:3)</PresentationFormat>
  <Paragraphs>310</Paragraphs>
  <Slides>52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52</vt:i4>
      </vt:variant>
    </vt:vector>
  </HeadingPairs>
  <TitlesOfParts>
    <vt:vector size="53" baseType="lpstr">
      <vt:lpstr>Поток</vt:lpstr>
      <vt:lpstr>ПРИНЦИПЫ ДИДАКТИКИ</vt:lpstr>
      <vt:lpstr>              В истории педагогики выдвигались принципы природосообразности обучения  (Я.А.Коменский), культуросообразности (Ф.А. Дистервег), формального и неформального подхода к образовании, и др.  Они оказались исторически преходящими.</vt:lpstr>
      <vt:lpstr> Дидактические принципы</vt:lpstr>
      <vt:lpstr>Слайд 4</vt:lpstr>
      <vt:lpstr>Слайд 5</vt:lpstr>
      <vt:lpstr>Слайд 6</vt:lpstr>
      <vt:lpstr>Слайд 7</vt:lpstr>
      <vt:lpstr>          К ведущим принципам обучения относятся следующие:</vt:lpstr>
      <vt:lpstr>К ведущим принципам обучения относятся следующие:</vt:lpstr>
      <vt:lpstr> Принцип целенаправленности</vt:lpstr>
      <vt:lpstr>Принцип научности</vt:lpstr>
      <vt:lpstr> Требования принципа научности</vt:lpstr>
      <vt:lpstr>Слайд 13</vt:lpstr>
      <vt:lpstr> Принцип связи обучения с жизнью</vt:lpstr>
      <vt:lpstr>Слайд 15</vt:lpstr>
      <vt:lpstr>Принцип систематичности и последовательности</vt:lpstr>
      <vt:lpstr>Слайд 17</vt:lpstr>
      <vt:lpstr> Требования принципа систематичности и последовательности</vt:lpstr>
      <vt:lpstr>Принцип сознания обучения</vt:lpstr>
      <vt:lpstr> Принцип сознательности и активности требования</vt:lpstr>
      <vt:lpstr>  Принцип наглядности</vt:lpstr>
      <vt:lpstr>Слайд 22</vt:lpstr>
      <vt:lpstr> требования принцип наглядности</vt:lpstr>
      <vt:lpstr>Слайд 24</vt:lpstr>
      <vt:lpstr>Слайд 25</vt:lpstr>
      <vt:lpstr> требования принципа доступности</vt:lpstr>
      <vt:lpstr>принцип доступности нарушается по трем основным причинам:</vt:lpstr>
      <vt:lpstr>Правила принципа доступности в обучении</vt:lpstr>
      <vt:lpstr>Слайд 29</vt:lpstr>
      <vt:lpstr>     Факторы повышения доступности обучения</vt:lpstr>
      <vt:lpstr>Слайд 31</vt:lpstr>
      <vt:lpstr>Слайд 32</vt:lpstr>
      <vt:lpstr>Слайд 33</vt:lpstr>
      <vt:lpstr>Принцип единства образовательных, развивающих и воспитательных функций обучения</vt:lpstr>
      <vt:lpstr>       Требования принципа воспитывающего и развивающего обучения</vt:lpstr>
      <vt:lpstr>Принцип прочности</vt:lpstr>
      <vt:lpstr>Принцип прочности</vt:lpstr>
      <vt:lpstr>Принцип прочности</vt:lpstr>
      <vt:lpstr>Принцип прочности - кривая запоминания </vt:lpstr>
      <vt:lpstr>Принцип прочности</vt:lpstr>
      <vt:lpstr>Принцип прочности</vt:lpstr>
      <vt:lpstr>Правила, вытекающие из принципа прочности</vt:lpstr>
      <vt:lpstr>  Требования принципа прочности усвоения знаний</vt:lpstr>
      <vt:lpstr>Слайд 44</vt:lpstr>
      <vt:lpstr> Принцип активности и самостоятельности</vt:lpstr>
      <vt:lpstr>Слайд 46</vt:lpstr>
      <vt:lpstr>Принцип основательности </vt:lpstr>
      <vt:lpstr>Слайд 48</vt:lpstr>
      <vt:lpstr> принцип соответствия обучения возрастным и индивидуальным особенностям</vt:lpstr>
      <vt:lpstr>принцип соответствия обучения возрастным и индивидуальным особенностям</vt:lpstr>
      <vt:lpstr>Слайд 51</vt:lpstr>
      <vt:lpstr>Слайд 52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/>
  <cp:lastModifiedBy/>
  <cp:revision>61</cp:revision>
  <dcterms:created xsi:type="dcterms:W3CDTF">2016-05-28T11:08:26Z</dcterms:created>
  <dcterms:modified xsi:type="dcterms:W3CDTF">2019-10-17T09:38:29Z</dcterms:modified>
</cp:coreProperties>
</file>