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5" r:id="rId17"/>
    <p:sldId id="276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65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A6F4F-E8C6-4255-8E35-2F3CB29D9A79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09B56-0D0C-42E7-86BB-E1874B7F1D0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A09B56-0D0C-42E7-86BB-E1874B7F1D06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CD76-B463-4631-A8C6-C83BC7B43811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7986-6BAB-4E71-A652-F89BFAD4929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CD76-B463-4631-A8C6-C83BC7B43811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7986-6BAB-4E71-A652-F89BFAD4929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CD76-B463-4631-A8C6-C83BC7B43811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7986-6BAB-4E71-A652-F89BFAD4929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CD76-B463-4631-A8C6-C83BC7B43811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7986-6BAB-4E71-A652-F89BFAD4929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CD76-B463-4631-A8C6-C83BC7B43811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7986-6BAB-4E71-A652-F89BFAD4929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CD76-B463-4631-A8C6-C83BC7B43811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7986-6BAB-4E71-A652-F89BFAD4929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CD76-B463-4631-A8C6-C83BC7B43811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7986-6BAB-4E71-A652-F89BFAD4929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CD76-B463-4631-A8C6-C83BC7B43811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7986-6BAB-4E71-A652-F89BFAD4929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CD76-B463-4631-A8C6-C83BC7B43811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7986-6BAB-4E71-A652-F89BFAD4929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CD76-B463-4631-A8C6-C83BC7B43811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7986-6BAB-4E71-A652-F89BFAD4929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1CD76-B463-4631-A8C6-C83BC7B43811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7986-6BAB-4E71-A652-F89BFAD4929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1CD76-B463-4631-A8C6-C83BC7B43811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37986-6BAB-4E71-A652-F89BFAD4929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ПРЕДМЕТ</a:t>
            </a:r>
            <a:br>
              <a:rPr lang="ru-RU" b="1" dirty="0" smtClean="0">
                <a:solidFill>
                  <a:srgbClr val="FF0000"/>
                </a:solidFill>
              </a:rPr>
            </a:br>
            <a:r>
              <a:rPr lang="ru-RU" b="1" dirty="0" smtClean="0">
                <a:solidFill>
                  <a:srgbClr val="FF0000"/>
                </a:solidFill>
              </a:rPr>
              <a:t>ПЕДАГОГИЧЕСКОЙ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ru-RU" b="1" dirty="0" smtClean="0">
                <a:solidFill>
                  <a:srgbClr val="FF0000"/>
                </a:solidFill>
              </a:rPr>
              <a:t> НАУКИ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FF0000"/>
                </a:solidFill>
              </a:rPr>
              <a:t>И ЕЕ ОСНОВНЫЕ КАТЕГОРИИ</a:t>
            </a:r>
            <a:r>
              <a:rPr lang="ru-RU" b="1" dirty="0" smtClean="0"/>
              <a:t>,</a:t>
            </a:r>
            <a:r>
              <a:rPr lang="ru-RU" b="1" dirty="0" smtClean="0">
                <a:solidFill>
                  <a:srgbClr val="FF0000"/>
                </a:solidFill>
              </a:rPr>
              <a:t>ЗАКОНЫ</a:t>
            </a:r>
            <a:endParaRPr lang="ru-RU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43240" y="428604"/>
            <a:ext cx="5500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rgbClr val="FF0000"/>
                </a:solidFill>
              </a:rPr>
              <a:t>«У каждой науки есть своя таблица умножения»</a:t>
            </a:r>
          </a:p>
          <a:p>
            <a:r>
              <a:rPr lang="ru-RU" sz="2000" dirty="0">
                <a:solidFill>
                  <a:srgbClr val="FF0000"/>
                </a:solidFill>
              </a:rPr>
              <a:t> </a:t>
            </a:r>
            <a:r>
              <a:rPr lang="ru-RU" sz="2000" dirty="0" smtClean="0">
                <a:solidFill>
                  <a:srgbClr val="FF0000"/>
                </a:solidFill>
              </a:rPr>
              <a:t>                                                      Н.Г. Чернышевский</a:t>
            </a:r>
            <a:endParaRPr lang="ru-RU" sz="20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0100" y="2071678"/>
            <a:ext cx="79115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>
                <a:solidFill>
                  <a:srgbClr val="FF0000"/>
                </a:solidFill>
              </a:rPr>
              <a:t>Категория</a:t>
            </a:r>
            <a:r>
              <a:rPr lang="ru-RU" sz="2400" b="1" dirty="0" smtClean="0"/>
              <a:t>( греч.</a:t>
            </a:r>
            <a:r>
              <a:rPr lang="en-US" sz="2400" b="1" dirty="0" err="1" smtClean="0"/>
              <a:t>Kategoria</a:t>
            </a:r>
            <a:r>
              <a:rPr lang="en-US" sz="2400" b="1" dirty="0" smtClean="0"/>
              <a:t>-</a:t>
            </a:r>
            <a:r>
              <a:rPr lang="ru-RU" sz="2400" b="1" dirty="0" smtClean="0"/>
              <a:t> высказывание, признак)</a:t>
            </a:r>
          </a:p>
          <a:p>
            <a:r>
              <a:rPr lang="ru-RU" sz="2400" b="1" dirty="0" smtClean="0"/>
              <a:t>Научное понятие, выражающее наиболее существенные </a:t>
            </a:r>
          </a:p>
          <a:p>
            <a:r>
              <a:rPr lang="ru-RU" sz="2400" b="1" dirty="0" smtClean="0"/>
              <a:t>свойства и отношения определенного явления </a:t>
            </a:r>
          </a:p>
          <a:p>
            <a:r>
              <a:rPr lang="ru-RU" sz="2400" b="1" dirty="0"/>
              <a:t>д</a:t>
            </a:r>
            <a:r>
              <a:rPr lang="ru-RU" sz="2400" b="1" dirty="0" smtClean="0"/>
              <a:t>ействительности. </a:t>
            </a:r>
            <a:endParaRPr lang="ru-RU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214414" y="4929198"/>
            <a:ext cx="50586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>
                <a:solidFill>
                  <a:srgbClr val="FF0000"/>
                </a:solidFill>
              </a:rPr>
              <a:t>Знать </a:t>
            </a:r>
            <a:r>
              <a:rPr lang="ru-RU" sz="2400" b="1" dirty="0" smtClean="0"/>
              <a:t>категории необходимо, чтобы</a:t>
            </a:r>
          </a:p>
          <a:p>
            <a:r>
              <a:rPr lang="ru-RU" sz="2400" b="1" dirty="0">
                <a:solidFill>
                  <a:srgbClr val="FF0000"/>
                </a:solidFill>
              </a:rPr>
              <a:t>п</a:t>
            </a:r>
            <a:r>
              <a:rPr lang="ru-RU" sz="2400" b="1" dirty="0" smtClean="0">
                <a:solidFill>
                  <a:srgbClr val="FF0000"/>
                </a:solidFill>
              </a:rPr>
              <a:t>онимать </a:t>
            </a:r>
            <a:r>
              <a:rPr lang="ru-RU" sz="2400" b="1" dirty="0" smtClean="0"/>
              <a:t>язык науки.</a:t>
            </a:r>
            <a:endParaRPr lang="ru-RU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FF0000"/>
                </a:solidFill>
              </a:rPr>
              <a:t>Педагогика- ЭТО…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96752"/>
            <a:ext cx="857190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Наука о целенаправленном </a:t>
            </a: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процессе передачи человеческого опыта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и </a:t>
            </a:r>
          </a:p>
          <a:p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подготовки подрастающего поколения к жизни и деятельности </a:t>
            </a:r>
          </a:p>
          <a:p>
            <a:pPr>
              <a:buFont typeface="Arial" pitchFamily="34" charset="0"/>
              <a:buChar char="•"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Наука </a:t>
            </a: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 воспитании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человека</a:t>
            </a:r>
          </a:p>
          <a:p>
            <a:pPr>
              <a:buFont typeface="Arial" pitchFamily="34" charset="0"/>
              <a:buChar char="•"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Особая, социально и личностно детерминированная </a:t>
            </a: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деятельность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по</a:t>
            </a:r>
          </a:p>
          <a:p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риобщению человеческих существ к жизни общества</a:t>
            </a:r>
          </a:p>
          <a:p>
            <a:pPr>
              <a:buFont typeface="Arial" pitchFamily="34" charset="0"/>
              <a:buChar char="•"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Наука </a:t>
            </a: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 педагогическом процессе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,организованном в условиях </a:t>
            </a:r>
          </a:p>
          <a:p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едагогической системы и обеспечивающем развитие его субъектов </a:t>
            </a:r>
          </a:p>
          <a:p>
            <a:pPr>
              <a:buFont typeface="Arial" pitchFamily="34" charset="0"/>
              <a:buChar char="•"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Наука о законах и закономерностях </a:t>
            </a: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воспитания, образования, обучения, социализации и творческого саморазвития человека</a:t>
            </a:r>
          </a:p>
          <a:p>
            <a:pPr>
              <a:buFont typeface="Arial" pitchFamily="34" charset="0"/>
              <a:buChar char="•"/>
            </a:pP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Осмысление </a:t>
            </a: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воспитания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Arial" pitchFamily="34" charset="0"/>
              <a:buChar char="•"/>
            </a:pP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Рефлексия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фрагмента </a:t>
            </a: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социальной реальности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, называемого воспитанием, отраженная в текстах и «преданиях»</a:t>
            </a:r>
          </a:p>
          <a:p>
            <a:endParaRPr lang="ru-RU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Объект и предмет педагогики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lvl="1">
              <a:buNone/>
            </a:pPr>
            <a:r>
              <a:rPr lang="ru-RU" sz="3600" b="1" dirty="0" smtClean="0">
                <a:solidFill>
                  <a:srgbClr val="FF0000"/>
                </a:solidFill>
              </a:rPr>
              <a:t>ОБЪЕКТ </a:t>
            </a:r>
            <a:endParaRPr lang="ru-RU" sz="3600" b="1" dirty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ru-RU" sz="3200" b="1" dirty="0" smtClean="0"/>
              <a:t>Человек, находящийся в специально-организованных системах</a:t>
            </a:r>
            <a:endParaRPr lang="ru-RU" sz="3200" b="1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281518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sz="3600" b="1" dirty="0" smtClean="0">
                <a:solidFill>
                  <a:srgbClr val="FF0000"/>
                </a:solidFill>
              </a:rPr>
              <a:t>ПРЕДМЕТ</a:t>
            </a:r>
          </a:p>
          <a:p>
            <a:pPr>
              <a:buNone/>
            </a:pPr>
            <a:r>
              <a:rPr lang="ru-RU" sz="3600" b="1" dirty="0" smtClean="0"/>
              <a:t>-воспитание </a:t>
            </a:r>
          </a:p>
          <a:p>
            <a:pPr>
              <a:buNone/>
            </a:pPr>
            <a:r>
              <a:rPr lang="ru-RU" sz="3600" b="1" dirty="0" smtClean="0"/>
              <a:t>-профессиональная</a:t>
            </a:r>
          </a:p>
          <a:p>
            <a:pPr>
              <a:buNone/>
            </a:pPr>
            <a:r>
              <a:rPr lang="ru-RU" sz="3600" b="1" dirty="0"/>
              <a:t>п</a:t>
            </a:r>
            <a:r>
              <a:rPr lang="ru-RU" sz="3600" b="1" dirty="0" smtClean="0"/>
              <a:t>едагогическая </a:t>
            </a:r>
          </a:p>
          <a:p>
            <a:pPr>
              <a:buNone/>
            </a:pPr>
            <a:r>
              <a:rPr lang="ru-RU" sz="3600" b="1" dirty="0"/>
              <a:t>д</a:t>
            </a:r>
            <a:r>
              <a:rPr lang="ru-RU" sz="3600" b="1" dirty="0" smtClean="0"/>
              <a:t>еятельность </a:t>
            </a:r>
          </a:p>
          <a:p>
            <a:pPr>
              <a:buNone/>
            </a:pPr>
            <a:r>
              <a:rPr lang="ru-RU" sz="3600" b="1" dirty="0" smtClean="0"/>
              <a:t>-педагогический </a:t>
            </a:r>
          </a:p>
          <a:p>
            <a:pPr>
              <a:buNone/>
            </a:pPr>
            <a:r>
              <a:rPr lang="ru-RU" sz="3600" b="1" dirty="0" smtClean="0"/>
              <a:t>процесс</a:t>
            </a:r>
          </a:p>
          <a:p>
            <a:pPr>
              <a:buNone/>
            </a:pPr>
            <a:endParaRPr lang="ru-RU" sz="3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FF0000"/>
                </a:solidFill>
              </a:rPr>
              <a:t>Педагогическая система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0100" y="2143116"/>
            <a:ext cx="768646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solidFill>
                  <a:srgbClr val="FF0000"/>
                </a:solidFill>
              </a:rPr>
              <a:t>Педагогическая система </a:t>
            </a:r>
            <a:r>
              <a:rPr lang="ru-RU" sz="3200" b="1" dirty="0" smtClean="0"/>
              <a:t>–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совокупность взаимосвязанных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средств, методов и процессов, необходимых для создания организованного, целенаправленного педагогического влияния на формирование личности с заданными качествами.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0034" y="642918"/>
            <a:ext cx="940353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dirty="0" smtClean="0">
                <a:solidFill>
                  <a:srgbClr val="FF0000"/>
                </a:solidFill>
              </a:rPr>
              <a:t>Педагогика</a:t>
            </a:r>
            <a:r>
              <a:rPr lang="ru-RU" sz="3200" b="1" dirty="0" smtClean="0"/>
              <a:t>-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это наука о специально организованной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ц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еленаправленной и систематической 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д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еятельности по формированию человека, 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о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содержании, формах и методах воспитания, </a:t>
            </a:r>
          </a:p>
          <a:p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о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бразования и обучения.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67544" y="4005064"/>
            <a:ext cx="74372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Педагогика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- наука о воспитании человека на протяжении всей жизни</a:t>
            </a:r>
            <a:r>
              <a:rPr lang="ru-RU" sz="3200" b="1" dirty="0" smtClean="0"/>
              <a:t>.</a:t>
            </a:r>
            <a:endParaRPr lang="ru-RU" sz="32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Характеристики педагогики как наука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Гуманитарный характер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педагогической науки проявляется в ее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миссии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 отношению к человеку. На человека должно оказываться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воздействие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но не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давление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Человеку надо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помочь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стать духовно богатым, творчески активным, найти равновесие с природой и обществом…</a:t>
            </a:r>
          </a:p>
          <a:p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Личностно-субъективный характер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педагогической науки проявляется в деятельности педагогов как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личностей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достижении высших целей воспитания и определяется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субъективным факторами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профессиональным мастерством творчеством </a:t>
            </a:r>
          </a:p>
          <a:p>
            <a:pPr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-уровнем профессиональной компетентности педагога</a:t>
            </a:r>
          </a:p>
          <a:p>
            <a:pPr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-уровнем развития личности учащихся</a:t>
            </a:r>
            <a:endParaRPr lang="ru-RU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Функции (задачи)</a:t>
            </a:r>
            <a:br>
              <a:rPr lang="ru-RU" b="1" dirty="0" smtClean="0">
                <a:solidFill>
                  <a:srgbClr val="FF0000"/>
                </a:solidFill>
              </a:rPr>
            </a:br>
            <a:r>
              <a:rPr lang="ru-RU" b="1" dirty="0" smtClean="0">
                <a:solidFill>
                  <a:srgbClr val="FF0000"/>
                </a:solidFill>
              </a:rPr>
              <a:t>педагогической науки: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ctr">
              <a:buAutoNum type="arabicPeriod"/>
            </a:pPr>
            <a:r>
              <a:rPr lang="ru-RU" sz="4000" b="1" dirty="0" smtClean="0"/>
              <a:t>Объяснительная </a:t>
            </a:r>
          </a:p>
          <a:p>
            <a:pPr marL="514350" indent="-514350" algn="ctr">
              <a:buAutoNum type="arabicPeriod"/>
            </a:pPr>
            <a:r>
              <a:rPr lang="ru-RU" sz="4000" b="1" dirty="0" smtClean="0"/>
              <a:t>Преобразовательная</a:t>
            </a:r>
          </a:p>
          <a:p>
            <a:pPr marL="514350" indent="-514350" algn="ctr">
              <a:buAutoNum type="arabicPeriod"/>
            </a:pPr>
            <a:r>
              <a:rPr lang="ru-RU" sz="4000" b="1" dirty="0" smtClean="0"/>
              <a:t>Прогностическая</a:t>
            </a:r>
            <a:endParaRPr lang="ru-RU" sz="40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FF0000"/>
                </a:solidFill>
              </a:rPr>
              <a:t>Объяснительная функция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342900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Описывает педагогические факты, явления, процессы, объясняет, по каким законам, при каких условиях, почему так или иначе протекают процессы воспитания.               На основе фундаментального знания совершенствуется педагогическая практика.</a:t>
            </a:r>
          </a:p>
          <a:p>
            <a:pPr indent="342900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 результате исследований создаются новые педагогические системы, технологии описания процессов воспитания или обучения.</a:t>
            </a:r>
          </a:p>
          <a:p>
            <a:pPr indent="342900">
              <a:buNone/>
            </a:pPr>
            <a:endParaRPr lang="ru-RU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FF0000"/>
                </a:solidFill>
              </a:rPr>
              <a:t>Прогностическая функция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342900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Предвидение развитие педагогической реальности. Результатом педагогических исследований являются новые теории, педагогическое системы и технологии, педагогические прогнозы. Они представляются в разных формах: докладах, статьях, монографиях, учебных пособиях, учебных программах и т.п. 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Основные категории педагогики: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smtClean="0"/>
              <a:t>Воспитание</a:t>
            </a:r>
          </a:p>
          <a:p>
            <a:r>
              <a:rPr lang="ru-RU" b="1" dirty="0" smtClean="0"/>
              <a:t>Образование</a:t>
            </a:r>
          </a:p>
          <a:p>
            <a:r>
              <a:rPr lang="ru-RU" b="1" dirty="0" smtClean="0"/>
              <a:t>Обучение</a:t>
            </a:r>
          </a:p>
          <a:p>
            <a:r>
              <a:rPr lang="ru-RU" b="1" dirty="0" smtClean="0"/>
              <a:t>Развитие</a:t>
            </a:r>
          </a:p>
          <a:p>
            <a:r>
              <a:rPr lang="ru-RU" b="1" dirty="0" smtClean="0"/>
              <a:t>Формирование </a:t>
            </a:r>
            <a:endParaRPr lang="ru-RU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Основные категории педагогики: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Основные категории педагогики.                           В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период становления педагогики как науки</a:t>
            </a:r>
          </a:p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были определены три фундаментальные</a:t>
            </a:r>
          </a:p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категории (основные понятия педагогики) —</a:t>
            </a:r>
          </a:p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воспитание, обучение, образование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Основные категории педагогики: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Воспитание - это механизм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обеспечения сохранения исторической памяти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популяции. (И.П. Павлов) Смысл воспитания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это воспитание такой личности, которая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бы гармонично влилась бы в общество.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Виды воспитания. По содержанию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воспитания: Умственное; Трудовое;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Физическое; Нравственное; Эстетическое;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Правовое; Половое;  Экономическое; Экологическое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Основные категории педагогики: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Виды воспитания. По институциональному признаку : 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Семейное; Религиозное;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Социализация —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Социальное (в узком смысле);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Дизсоциальное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становление личности </a:t>
            </a:r>
            <a:r>
              <a:rPr lang="ru-RU" sz="2400" dirty="0" smtClean="0"/>
              <a:t>—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процесс усвоения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(асоциальное); Коррекционное. Как соотносятся пять категорий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процесс, направленный на изменение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педагогики между собой?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материальных и духовных объектов с целью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их усовершенствования. Изменение материи и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категории педагогики. </a:t>
            </a:r>
          </a:p>
          <a:p>
            <a:pPr>
              <a:buNone/>
            </a:pPr>
            <a:endParaRPr lang="ru-RU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Основные категории педагогики: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Виды воспитания. По доминирующим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принципам и стилю отношений: Авторитарное; Свободное;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Демократическое. Модели взаимодействия. Авторитарная.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Воспитание и обучение. Формирование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общества. Обучение. Воспитание. Развитие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личности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Образование — понимается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как: 1) ценность развивающегося человека и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общества; 2) процесс обучения и воспитания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человека; 3) как результат последнего; 4) как система</a:t>
            </a:r>
          </a:p>
          <a:p>
            <a:pPr>
              <a:buNone/>
            </a:pPr>
            <a:endParaRPr lang="ru-RU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Основные категории педагогики: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Научная педагогическая деятельность – это</a:t>
            </a:r>
          </a:p>
          <a:p>
            <a:pPr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вид педагогической деятельности, целью</a:t>
            </a:r>
          </a:p>
          <a:p>
            <a:pPr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которой является получение новых знаний о</a:t>
            </a:r>
          </a:p>
          <a:p>
            <a:pPr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педагогических отношениях взрослых и детей .</a:t>
            </a:r>
          </a:p>
          <a:p>
            <a:pPr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Практическая педагогическая деятельность – это вид педагогической деятельности, целью которой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является передача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необходимой части культуры и опыта старшего поколения младшему.</a:t>
            </a:r>
          </a:p>
          <a:p>
            <a:endParaRPr lang="ru-RU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Основные категории педагогики: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endParaRPr lang="ru-RU" sz="2400" dirty="0" smtClean="0"/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Как соотносятся пять категорий</a:t>
            </a:r>
          </a:p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процесс, направленный на изменение</a:t>
            </a:r>
          </a:p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педагогики между собой?</a:t>
            </a:r>
          </a:p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материальных и духовных объектов с целью</a:t>
            </a:r>
          </a:p>
          <a:p>
            <a:pPr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их усовершенствования. Изменение материи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категории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педагогики.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ru-RU" b="1" dirty="0" smtClean="0">
                <a:solidFill>
                  <a:srgbClr val="FF0000"/>
                </a:solidFill>
              </a:rPr>
              <a:t>: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5121" name="Rectangle 1"/>
          <p:cNvSpPr>
            <a:spLocks noChangeArrowheads="1"/>
          </p:cNvSpPr>
          <p:nvPr/>
        </p:nvSpPr>
        <p:spPr bwMode="auto">
          <a:xfrm>
            <a:off x="1071538" y="-61555"/>
            <a:ext cx="4786346" cy="846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900" b="0" i="0" u="none" strike="noStrike" cap="none" normalizeH="0" baseline="0" dirty="0" smtClean="0">
              <a:ln>
                <a:noFill/>
              </a:ln>
              <a:solidFill>
                <a:srgbClr val="10101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b="1" dirty="0" smtClean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400" b="1" dirty="0" smtClean="0"/>
              <a:t>Законы педагогического процесса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Содержимое 6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138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Педагогический процесс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- это специально организованное, целенаправленное взаимодействие педагогов и воспитанников,  направленное на решение развивающих и образовательных задач.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Законы педагогического процесса: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Закон социальной обусловленности целей, содержания и методов обучения.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Он раскрывает объективный процесс определяющего влияния общественных отношений, социального строя на формирование всех элементов воспитания и обучения. Речь идет о том, чтобы, используя данный закон, полно и оптимально перевести социальный заказ на уровень педагогических средств и обучения </a:t>
            </a:r>
          </a:p>
          <a:p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Закон взаимообусловленности обучения, воспитания и деятельности учащихся.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Он раскрывает соотношение между педагогическим руководством и развитием собственной активности обучающихся, между способами организации обучения и его результатами. </a:t>
            </a:r>
            <a:br>
              <a:rPr lang="ru-RU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Закон целостности и единства педагогического процесса.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Он раскрывает соотношение части и целого в педагогическом процессе, обусловливает необходимость гармонического единства рационального, эмоционального, сообщающего и поискового, содержательного, операционного и мотивационного компонентов в обучении.</a:t>
            </a:r>
            <a:br>
              <a:rPr lang="ru-RU" sz="2400" dirty="0" smtClean="0">
                <a:latin typeface="Times New Roman" pitchFamily="18" charset="0"/>
                <a:cs typeface="Times New Roman" pitchFamily="18" charset="0"/>
              </a:rPr>
            </a:b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Закон единства и взаимосвязи теории и практики в обучении.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Закон единства и взаимообусловленности индивидуальной и групповой организации учебной деятельности.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Закономерности обучения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рассматриваются как выражение действия законов в конкретных условиях, - это объективные, существенные, устойчивые, повторяющиеся связи между составными частями, компонентами процесса обучения.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Общие закономерности педагогического процесса (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процесса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обучения):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1. Закономерность цели обучения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Цель обучения зависит от:</a:t>
            </a:r>
          </a:p>
          <a:p>
            <a:pPr lvl="0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уровня и темпов развития общества;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потребностей и возможностей общества;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уровня развития и возможностей педагогической науки, и практики.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2. Закономерность содержания обучения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Содержание обучения (образования) зависит от:</a:t>
            </a:r>
          </a:p>
          <a:p>
            <a:pPr lvl="0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общественных потребностей и целей обучения;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темпов социального и научно-технического прогресса;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возрастных возможностей;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уровня развития теории и практики обучения;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материально-технических и экономических возможностей учебных заведений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3. Закономерность качества обучения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Эффективность каждого нового этапа обучения зависит от: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продуктивности предыдущего этапа и достигнутых на нем результатов;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характера и объема изучаемого материала;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организационно-педагогического воздействия обучающих;</a:t>
            </a:r>
          </a:p>
          <a:p>
            <a:pPr lvl="0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обучаемости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учащихся;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времени обучения.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400" b="1" dirty="0" smtClean="0"/>
              <a:t>4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. Закономерность методов обучения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Эффективность дидактических методов зависит от:</a:t>
            </a:r>
          </a:p>
          <a:p>
            <a:pPr lvl="0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знаний и навыков в применении методов;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цели обучения;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содержания обучения;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возраста учащихся;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учебных возможностей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обучаемости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учащихся;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материально-технического обеспечения;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организации учебного процесса.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5. Закономерность управления обучением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Продуктивность обучения зависит от:</a:t>
            </a:r>
          </a:p>
          <a:p>
            <a:pPr lvl="0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интенсивности обратных связей в системе обучения;</a:t>
            </a:r>
          </a:p>
          <a:p>
            <a:pPr lvl="0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обоснованности корректирующих воздействий.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6. Закономерность стимулирования обучения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Продуктивность обучения зависит от:</a:t>
            </a:r>
          </a:p>
          <a:p>
            <a:pPr lvl="0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внутренних стимулов (мотивов) обучения;</a:t>
            </a:r>
          </a:p>
          <a:p>
            <a:pPr lvl="0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внешних (общественных, экономических, педагогических) стимулов.</a:t>
            </a:r>
          </a:p>
          <a:p>
            <a:pPr>
              <a:buNone/>
            </a:pP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943</TotalTime>
  <Words>941</Words>
  <Application>Microsoft Office PowerPoint</Application>
  <PresentationFormat>Экран (4:3)</PresentationFormat>
  <Paragraphs>149</Paragraphs>
  <Slides>25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6" baseType="lpstr">
      <vt:lpstr>Тема Office</vt:lpstr>
      <vt:lpstr>ПРЕДМЕТ ПЕДАГОГИЧЕСКОЙ  НАУКИ</vt:lpstr>
      <vt:lpstr>Слайд 2</vt:lpstr>
      <vt:lpstr>Педагогика- ЭТО…</vt:lpstr>
      <vt:lpstr>Объект и предмет педагогики</vt:lpstr>
      <vt:lpstr>Педагогическая система</vt:lpstr>
      <vt:lpstr>Слайд 6</vt:lpstr>
      <vt:lpstr>Характеристики педагогики как наука</vt:lpstr>
      <vt:lpstr>Функции (задачи) педагогической науки:</vt:lpstr>
      <vt:lpstr>Объяснительная функция</vt:lpstr>
      <vt:lpstr>Прогностическая функция</vt:lpstr>
      <vt:lpstr>Основные категории педагогики:</vt:lpstr>
      <vt:lpstr>Основные категории педагогики:</vt:lpstr>
      <vt:lpstr>Основные категории педагогики:</vt:lpstr>
      <vt:lpstr>Основные категории педагогики:</vt:lpstr>
      <vt:lpstr>Основные категории педагогики:</vt:lpstr>
      <vt:lpstr>Основные категории педагогики:</vt:lpstr>
      <vt:lpstr>Основные категории педагогики:</vt:lpstr>
      <vt:lpstr> :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ПРЕДМЕТ ПЕДАГОГИЧЕСКОЙ НАУКИ</dc:title>
  <dc:creator/>
  <cp:lastModifiedBy/>
  <cp:revision>61</cp:revision>
  <dcterms:created xsi:type="dcterms:W3CDTF">2017-11-28T16:43:28Z</dcterms:created>
  <dcterms:modified xsi:type="dcterms:W3CDTF">2019-10-17T07:44:34Z</dcterms:modified>
</cp:coreProperties>
</file>