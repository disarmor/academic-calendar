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4" r:id="rId1"/>
    <p:sldMasterId id="2147484004" r:id="rId2"/>
    <p:sldMasterId id="2147484018" r:id="rId3"/>
    <p:sldMasterId id="2147484032" r:id="rId4"/>
    <p:sldMasterId id="2147484061" r:id="rId5"/>
  </p:sldMasterIdLst>
  <p:notesMasterIdLst>
    <p:notesMasterId r:id="rId76"/>
  </p:notesMasterIdLst>
  <p:sldIdLst>
    <p:sldId id="256" r:id="rId6"/>
    <p:sldId id="282" r:id="rId7"/>
    <p:sldId id="281" r:id="rId8"/>
    <p:sldId id="283" r:id="rId9"/>
    <p:sldId id="284" r:id="rId10"/>
    <p:sldId id="288" r:id="rId11"/>
    <p:sldId id="291" r:id="rId12"/>
    <p:sldId id="289" r:id="rId13"/>
    <p:sldId id="285" r:id="rId14"/>
    <p:sldId id="286" r:id="rId15"/>
    <p:sldId id="287" r:id="rId16"/>
    <p:sldId id="290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306" r:id="rId32"/>
    <p:sldId id="307" r:id="rId33"/>
    <p:sldId id="308" r:id="rId34"/>
    <p:sldId id="310" r:id="rId35"/>
    <p:sldId id="311" r:id="rId36"/>
    <p:sldId id="312" r:id="rId37"/>
    <p:sldId id="313" r:id="rId38"/>
    <p:sldId id="314" r:id="rId39"/>
    <p:sldId id="315" r:id="rId40"/>
    <p:sldId id="316" r:id="rId41"/>
    <p:sldId id="317" r:id="rId42"/>
    <p:sldId id="318" r:id="rId43"/>
    <p:sldId id="319" r:id="rId44"/>
    <p:sldId id="320" r:id="rId45"/>
    <p:sldId id="321" r:id="rId46"/>
    <p:sldId id="322" r:id="rId47"/>
    <p:sldId id="323" r:id="rId48"/>
    <p:sldId id="351" r:id="rId49"/>
    <p:sldId id="324" r:id="rId50"/>
    <p:sldId id="325" r:id="rId51"/>
    <p:sldId id="326" r:id="rId52"/>
    <p:sldId id="327" r:id="rId53"/>
    <p:sldId id="328" r:id="rId54"/>
    <p:sldId id="329" r:id="rId55"/>
    <p:sldId id="330" r:id="rId56"/>
    <p:sldId id="331" r:id="rId57"/>
    <p:sldId id="332" r:id="rId58"/>
    <p:sldId id="333" r:id="rId59"/>
    <p:sldId id="334" r:id="rId60"/>
    <p:sldId id="336" r:id="rId61"/>
    <p:sldId id="337" r:id="rId62"/>
    <p:sldId id="338" r:id="rId63"/>
    <p:sldId id="339" r:id="rId64"/>
    <p:sldId id="340" r:id="rId65"/>
    <p:sldId id="341" r:id="rId66"/>
    <p:sldId id="342" r:id="rId67"/>
    <p:sldId id="343" r:id="rId68"/>
    <p:sldId id="345" r:id="rId69"/>
    <p:sldId id="346" r:id="rId70"/>
    <p:sldId id="347" r:id="rId71"/>
    <p:sldId id="348" r:id="rId72"/>
    <p:sldId id="349" r:id="rId73"/>
    <p:sldId id="350" r:id="rId74"/>
    <p:sldId id="278" r:id="rId7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 varScale="1">
        <p:scale>
          <a:sx n="91" d="100"/>
          <a:sy n="91" d="100"/>
        </p:scale>
        <p:origin x="3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slide" Target="slides/slide69.xml"/><Relationship Id="rId79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image" Target="../media/image44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image" Target="../media/image47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image" Target="../media/image51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image" Target="../media/image53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image" Target="../media/image56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4" Type="http://schemas.openxmlformats.org/officeDocument/2006/relationships/image" Target="../media/image63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png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image" Target="../media/image80.png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6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A574DF-2890-4980-A48C-0D3443C3BE89}" type="datetimeFigureOut">
              <a:rPr lang="ru-RU" smtClean="0"/>
              <a:t>09.04.2019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AA5437-8D39-4620-8949-FA0FE12E0B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6672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1764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с двумя скругленными противолежащими углами 3"/>
          <p:cNvSpPr/>
          <p:nvPr/>
        </p:nvSpPr>
        <p:spPr>
          <a:xfrm>
            <a:off x="219456" y="146304"/>
            <a:ext cx="11753088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618979" y="381001"/>
            <a:ext cx="10972800" cy="2209800"/>
          </a:xfrm>
        </p:spPr>
        <p:txBody>
          <a:bodyPr lIns="45720" rIns="228600"/>
          <a:lstStyle>
            <a:lvl1pPr marL="0" algn="r">
              <a:defRPr sz="4800"/>
            </a:lvl1pPr>
            <a:extLst/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844800" y="2819400"/>
            <a:ext cx="8746979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5" name="Дата 9"/>
          <p:cNvSpPr>
            <a:spLocks noGrp="1"/>
          </p:cNvSpPr>
          <p:nvPr>
            <p:ph type="dt" sz="half" idx="10"/>
          </p:nvPr>
        </p:nvSpPr>
        <p:spPr>
          <a:xfrm>
            <a:off x="7416801" y="6508750"/>
            <a:ext cx="4002617" cy="274638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fld id="{D2C9934C-127E-4DFB-A16C-66DAFAB9FEC6}" type="datetimeFigureOut">
              <a:rPr lang="ru-RU">
                <a:solidFill>
                  <a:srgbClr val="676A55">
                    <a:tint val="60000"/>
                    <a:satMod val="155000"/>
                  </a:srgbClr>
                </a:solidFill>
              </a:rPr>
              <a:pPr>
                <a:defRPr/>
              </a:pPr>
              <a:t>09.04.2019</a:t>
            </a:fld>
            <a:endParaRPr lang="ru-RU" dirty="0">
              <a:solidFill>
                <a:srgbClr val="676A55">
                  <a:tint val="60000"/>
                  <a:satMod val="155000"/>
                </a:srgbClr>
              </a:solidFill>
            </a:endParaRPr>
          </a:p>
        </p:txBody>
      </p:sp>
      <p:sp>
        <p:nvSpPr>
          <p:cNvPr id="6" name="Номер слайда 10"/>
          <p:cNvSpPr>
            <a:spLocks noGrp="1"/>
          </p:cNvSpPr>
          <p:nvPr>
            <p:ph type="sldNum" sz="quarter" idx="11"/>
          </p:nvPr>
        </p:nvSpPr>
        <p:spPr>
          <a:xfrm>
            <a:off x="11518900" y="6508750"/>
            <a:ext cx="618067" cy="274638"/>
          </a:xfrm>
        </p:spPr>
        <p:txBody>
          <a:bodyPr/>
          <a:lstStyle>
            <a:lvl1pPr>
              <a:defRPr/>
            </a:lvl1pPr>
          </a:lstStyle>
          <a:p>
            <a:fld id="{3B535B59-88BA-4C18-9803-2DAB2B9217A0}" type="slidenum">
              <a:rPr lang="ru-RU"/>
              <a:pPr/>
              <a:t>‹#›</a:t>
            </a:fld>
            <a:endParaRPr lang="ru-RU"/>
          </a:p>
        </p:txBody>
      </p:sp>
      <p:sp>
        <p:nvSpPr>
          <p:cNvPr id="7" name="Нижний колонтитул 11"/>
          <p:cNvSpPr>
            <a:spLocks noGrp="1"/>
          </p:cNvSpPr>
          <p:nvPr>
            <p:ph type="ftr" sz="quarter" idx="12"/>
          </p:nvPr>
        </p:nvSpPr>
        <p:spPr>
          <a:xfrm>
            <a:off x="2133600" y="6508750"/>
            <a:ext cx="5209117" cy="274638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endParaRPr lang="ru-RU">
              <a:solidFill>
                <a:srgbClr val="676A55">
                  <a:tint val="60000"/>
                  <a:satMod val="15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233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785284" y="1423989"/>
            <a:ext cx="10668000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AA8270E-750A-4FB5-ABF4-B4CBC34302D2}" type="datetimeFigureOut">
              <a:rPr lang="ru-RU">
                <a:solidFill>
                  <a:srgbClr val="676A55">
                    <a:tint val="60000"/>
                    <a:satMod val="155000"/>
                  </a:srgbClr>
                </a:solidFill>
              </a:rPr>
              <a:pPr>
                <a:defRPr/>
              </a:pPr>
              <a:t>09.04.2019</a:t>
            </a:fld>
            <a:endParaRPr lang="ru-RU" dirty="0">
              <a:solidFill>
                <a:srgbClr val="676A55">
                  <a:tint val="60000"/>
                  <a:satMod val="155000"/>
                </a:srgbClr>
              </a:solidFill>
            </a:endParaRPr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ru-RU">
              <a:solidFill>
                <a:srgbClr val="676A55">
                  <a:tint val="60000"/>
                  <a:satMod val="155000"/>
                </a:srgbClr>
              </a:solidFill>
            </a:endParaRP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05F09D-D18D-4B47-A1A9-C7C01A697C45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778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333501" y="3267076"/>
            <a:ext cx="9876367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168" y="498230"/>
            <a:ext cx="103632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3287713"/>
            <a:ext cx="10363200" cy="1509712"/>
          </a:xfrm>
        </p:spPr>
        <p:txBody>
          <a:bodyPr rIns="128016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>
          <a:xfrm>
            <a:off x="7416801" y="6513514"/>
            <a:ext cx="4002617" cy="274637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fld id="{30956B6F-1268-41FC-AF92-096E16425B4C}" type="datetimeFigureOut">
              <a:rPr lang="ru-RU">
                <a:solidFill>
                  <a:srgbClr val="676A55">
                    <a:tint val="60000"/>
                    <a:satMod val="155000"/>
                  </a:srgbClr>
                </a:solidFill>
              </a:rPr>
              <a:pPr>
                <a:defRPr/>
              </a:pPr>
              <a:t>09.04.2019</a:t>
            </a:fld>
            <a:endParaRPr lang="ru-RU" dirty="0">
              <a:solidFill>
                <a:srgbClr val="676A55">
                  <a:tint val="60000"/>
                  <a:satMod val="155000"/>
                </a:srgbClr>
              </a:solidFill>
            </a:endParaRPr>
          </a:p>
        </p:txBody>
      </p:sp>
      <p:sp>
        <p:nvSpPr>
          <p:cNvPr id="6" name="Номер слайда 8"/>
          <p:cNvSpPr>
            <a:spLocks noGrp="1"/>
          </p:cNvSpPr>
          <p:nvPr>
            <p:ph type="sldNum" sz="quarter" idx="11"/>
          </p:nvPr>
        </p:nvSpPr>
        <p:spPr>
          <a:xfrm>
            <a:off x="11518900" y="6513514"/>
            <a:ext cx="618067" cy="274637"/>
          </a:xfrm>
        </p:spPr>
        <p:txBody>
          <a:bodyPr/>
          <a:lstStyle>
            <a:lvl1pPr>
              <a:defRPr/>
            </a:lvl1pPr>
          </a:lstStyle>
          <a:p>
            <a:fld id="{98C2BF19-AD7F-41F1-AC83-CC4D730B9227}" type="slidenum">
              <a:rPr lang="ru-RU"/>
              <a:pPr/>
              <a:t>‹#›</a:t>
            </a:fld>
            <a:endParaRPr lang="ru-RU"/>
          </a:p>
        </p:txBody>
      </p:sp>
      <p:sp>
        <p:nvSpPr>
          <p:cNvPr id="7" name="Нижний колонтитул 9"/>
          <p:cNvSpPr>
            <a:spLocks noGrp="1"/>
          </p:cNvSpPr>
          <p:nvPr>
            <p:ph type="ftr" sz="quarter" idx="12"/>
          </p:nvPr>
        </p:nvSpPr>
        <p:spPr>
          <a:xfrm>
            <a:off x="2133600" y="6513514"/>
            <a:ext cx="5209117" cy="274637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endParaRPr lang="ru-RU">
              <a:solidFill>
                <a:srgbClr val="676A55">
                  <a:tint val="60000"/>
                  <a:satMod val="15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1169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785284" y="1423989"/>
            <a:ext cx="10668000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645920"/>
            <a:ext cx="53848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45920"/>
            <a:ext cx="53848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FA457EF-1D8A-438D-A5BA-71DEAA72A153}" type="datetimeFigureOut">
              <a:rPr lang="ru-RU">
                <a:solidFill>
                  <a:srgbClr val="676A55">
                    <a:tint val="60000"/>
                    <a:satMod val="155000"/>
                  </a:srgbClr>
                </a:solidFill>
              </a:rPr>
              <a:pPr>
                <a:defRPr/>
              </a:pPr>
              <a:t>09.04.2019</a:t>
            </a:fld>
            <a:endParaRPr lang="ru-RU" dirty="0">
              <a:solidFill>
                <a:srgbClr val="676A55">
                  <a:tint val="60000"/>
                  <a:satMod val="155000"/>
                </a:srgbClr>
              </a:solidFill>
            </a:endParaRPr>
          </a:p>
        </p:txBody>
      </p:sp>
      <p:sp>
        <p:nvSpPr>
          <p:cNvPr id="7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ru-RU">
              <a:solidFill>
                <a:srgbClr val="676A55">
                  <a:tint val="60000"/>
                  <a:satMod val="155000"/>
                </a:srgbClr>
              </a:solidFill>
            </a:endParaRPr>
          </a:p>
        </p:txBody>
      </p:sp>
      <p:sp>
        <p:nvSpPr>
          <p:cNvPr id="8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1521018" y="6515100"/>
            <a:ext cx="620183" cy="273050"/>
          </a:xfrm>
        </p:spPr>
        <p:txBody>
          <a:bodyPr/>
          <a:lstStyle>
            <a:lvl1pPr>
              <a:defRPr/>
            </a:lvl1pPr>
          </a:lstStyle>
          <a:p>
            <a:fld id="{41A9F2B9-2E96-4659-B112-0DCE8C34A5DB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2480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823385" y="2165351"/>
            <a:ext cx="4997449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400801" y="2165351"/>
            <a:ext cx="4999567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51948"/>
            <a:ext cx="109728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6193368" y="1535113"/>
            <a:ext cx="5389033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609600" y="2362201"/>
            <a:ext cx="5386917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68" y="2362201"/>
            <a:ext cx="5389033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9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DDF8122-0763-4773-BF39-795166FF1CFA}" type="datetimeFigureOut">
              <a:rPr lang="ru-RU">
                <a:solidFill>
                  <a:srgbClr val="676A55">
                    <a:tint val="60000"/>
                    <a:satMod val="155000"/>
                  </a:srgbClr>
                </a:solidFill>
              </a:rPr>
              <a:pPr>
                <a:defRPr/>
              </a:pPr>
              <a:t>09.04.2019</a:t>
            </a:fld>
            <a:endParaRPr lang="ru-RU" dirty="0">
              <a:solidFill>
                <a:srgbClr val="676A55">
                  <a:tint val="60000"/>
                  <a:satMod val="155000"/>
                </a:srgbClr>
              </a:solidFill>
            </a:endParaRPr>
          </a:p>
        </p:txBody>
      </p:sp>
      <p:sp>
        <p:nvSpPr>
          <p:cNvPr id="10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ru-RU">
              <a:solidFill>
                <a:srgbClr val="676A55">
                  <a:tint val="60000"/>
                  <a:satMod val="155000"/>
                </a:srgbClr>
              </a:solidFill>
            </a:endParaRPr>
          </a:p>
        </p:txBody>
      </p:sp>
      <p:sp>
        <p:nvSpPr>
          <p:cNvPr id="11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11521018" y="6515100"/>
            <a:ext cx="620183" cy="273050"/>
          </a:xfrm>
        </p:spPr>
        <p:txBody>
          <a:bodyPr/>
          <a:lstStyle>
            <a:lvl1pPr>
              <a:defRPr/>
            </a:lvl1pPr>
          </a:lstStyle>
          <a:p>
            <a:fld id="{A2D14C7F-185F-46E5-BD9E-819F641757E0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838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785284" y="1423989"/>
            <a:ext cx="10668000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53218"/>
            <a:ext cx="109728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A250D312-C7F9-4588-94B2-21606A4AB474}" type="datetimeFigureOut">
              <a:rPr lang="ru-RU">
                <a:solidFill>
                  <a:srgbClr val="676A55">
                    <a:tint val="60000"/>
                    <a:satMod val="155000"/>
                  </a:srgbClr>
                </a:solidFill>
              </a:rPr>
              <a:pPr>
                <a:defRPr/>
              </a:pPr>
              <a:t>09.04.2019</a:t>
            </a:fld>
            <a:endParaRPr lang="ru-RU" dirty="0">
              <a:solidFill>
                <a:srgbClr val="676A55">
                  <a:tint val="60000"/>
                  <a:satMod val="155000"/>
                </a:srgbClr>
              </a:solidFill>
            </a:endParaRPr>
          </a:p>
        </p:txBody>
      </p:sp>
      <p:sp>
        <p:nvSpPr>
          <p:cNvPr id="5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ru-RU">
              <a:solidFill>
                <a:srgbClr val="676A55">
                  <a:tint val="60000"/>
                  <a:satMod val="155000"/>
                </a:srgbClr>
              </a:solidFill>
            </a:endParaRPr>
          </a:p>
        </p:txBody>
      </p:sp>
      <p:sp>
        <p:nvSpPr>
          <p:cNvPr id="6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26188D-2C5E-4FE7-917A-5E2BC7386770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135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676A55">
                  <a:tint val="60000"/>
                  <a:satMod val="155000"/>
                </a:srgbClr>
              </a:solidFill>
            </a:endParaRPr>
          </a:p>
        </p:txBody>
      </p:sp>
      <p:sp>
        <p:nvSpPr>
          <p:cNvPr id="3" name="Дата 1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C06729-33CB-49AF-A167-53DCD0297744}" type="datetimeFigureOut">
              <a:rPr lang="ru-RU">
                <a:solidFill>
                  <a:srgbClr val="676A55">
                    <a:tint val="60000"/>
                    <a:satMod val="155000"/>
                  </a:srgbClr>
                </a:solidFill>
              </a:rPr>
              <a:pPr>
                <a:defRPr/>
              </a:pPr>
              <a:t>09.04.2019</a:t>
            </a:fld>
            <a:endParaRPr lang="ru-RU" dirty="0">
              <a:solidFill>
                <a:srgbClr val="676A55">
                  <a:tint val="60000"/>
                  <a:satMod val="155000"/>
                </a:srgbClr>
              </a:solidFill>
            </a:endParaRPr>
          </a:p>
        </p:txBody>
      </p:sp>
      <p:sp>
        <p:nvSpPr>
          <p:cNvPr id="4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E3D363-4650-47B5-8ED5-6E6C301DF8D7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0907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6743700" y="1057276"/>
            <a:ext cx="4997451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17515" y="304800"/>
            <a:ext cx="5242560" cy="762000"/>
          </a:xfrm>
        </p:spPr>
        <p:txBody>
          <a:bodyPr/>
          <a:lstStyle>
            <a:lvl1pPr marL="0" algn="r">
              <a:buNone/>
              <a:defRPr sz="2000" b="1"/>
            </a:lvl1pPr>
            <a:extLst/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617515" y="1107560"/>
            <a:ext cx="524256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04800" y="2209800"/>
            <a:ext cx="11555275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Дата 8"/>
          <p:cNvSpPr>
            <a:spLocks noGrp="1"/>
          </p:cNvSpPr>
          <p:nvPr>
            <p:ph type="dt" sz="half" idx="10"/>
          </p:nvPr>
        </p:nvSpPr>
        <p:spPr>
          <a:xfrm>
            <a:off x="7416801" y="6513514"/>
            <a:ext cx="4002617" cy="274637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fld id="{1752CAB2-AB1E-4C65-A29D-235D1E5D1845}" type="datetimeFigureOut">
              <a:rPr lang="ru-RU">
                <a:solidFill>
                  <a:srgbClr val="676A55">
                    <a:tint val="60000"/>
                    <a:satMod val="155000"/>
                  </a:srgbClr>
                </a:solidFill>
              </a:rPr>
              <a:pPr>
                <a:defRPr/>
              </a:pPr>
              <a:t>09.04.2019</a:t>
            </a:fld>
            <a:endParaRPr lang="ru-RU" dirty="0">
              <a:solidFill>
                <a:srgbClr val="676A55">
                  <a:tint val="60000"/>
                  <a:satMod val="155000"/>
                </a:srgbClr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1"/>
          </p:nvPr>
        </p:nvSpPr>
        <p:spPr>
          <a:xfrm>
            <a:off x="11518900" y="6513514"/>
            <a:ext cx="618067" cy="274637"/>
          </a:xfrm>
        </p:spPr>
        <p:txBody>
          <a:bodyPr/>
          <a:lstStyle>
            <a:lvl1pPr>
              <a:defRPr/>
            </a:lvl1pPr>
          </a:lstStyle>
          <a:p>
            <a:fld id="{78EFC033-F2BD-449D-82E8-49D270E08ACE}" type="slidenum">
              <a:rPr lang="ru-RU"/>
              <a:pPr/>
              <a:t>‹#›</a:t>
            </a:fld>
            <a:endParaRPr lang="ru-RU"/>
          </a:p>
        </p:txBody>
      </p:sp>
      <p:sp>
        <p:nvSpPr>
          <p:cNvPr id="8" name="Нижний колонтитул 10"/>
          <p:cNvSpPr>
            <a:spLocks noGrp="1"/>
          </p:cNvSpPr>
          <p:nvPr>
            <p:ph type="ftr" sz="quarter" idx="12"/>
          </p:nvPr>
        </p:nvSpPr>
        <p:spPr>
          <a:xfrm>
            <a:off x="2133600" y="6513514"/>
            <a:ext cx="5209117" cy="274637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endParaRPr lang="ru-RU">
              <a:solidFill>
                <a:srgbClr val="676A55">
                  <a:tint val="60000"/>
                  <a:satMod val="15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497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53924" y="4724400"/>
            <a:ext cx="7315200" cy="664536"/>
          </a:xfrm>
        </p:spPr>
        <p:txBody>
          <a:bodyPr/>
          <a:lstStyle>
            <a:lvl1pPr marL="0" algn="r">
              <a:buNone/>
              <a:defRPr sz="2000" b="1"/>
            </a:lvl1pPr>
            <a:extLst/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053924" y="5388937"/>
            <a:ext cx="73152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>
          <a:xfrm>
            <a:off x="406400" y="249864"/>
            <a:ext cx="113792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indent="0">
              <a:buNone/>
              <a:defRPr sz="3200"/>
            </a:lvl1pPr>
            <a:extLst/>
          </a:lstStyle>
          <a:p>
            <a:pPr lvl="0"/>
            <a:r>
              <a:rPr lang="ru-RU" noProof="0"/>
              <a:t>Вставка рисунка</a:t>
            </a:r>
            <a:endParaRPr lang="en-US" noProof="0" dirty="0"/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>
          <a:xfrm>
            <a:off x="7416801" y="6508750"/>
            <a:ext cx="4002617" cy="274638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fld id="{CF42FBAD-1048-4B81-AF92-B6A5E91D5665}" type="datetimeFigureOut">
              <a:rPr lang="ru-RU">
                <a:solidFill>
                  <a:srgbClr val="676A55">
                    <a:tint val="60000"/>
                    <a:satMod val="155000"/>
                  </a:srgbClr>
                </a:solidFill>
              </a:rPr>
              <a:pPr>
                <a:defRPr/>
              </a:pPr>
              <a:t>09.04.2019</a:t>
            </a:fld>
            <a:endParaRPr lang="ru-RU" dirty="0">
              <a:solidFill>
                <a:srgbClr val="676A55">
                  <a:tint val="60000"/>
                  <a:satMod val="155000"/>
                </a:srgbClr>
              </a:solidFill>
            </a:endParaRPr>
          </a:p>
        </p:txBody>
      </p:sp>
      <p:sp>
        <p:nvSpPr>
          <p:cNvPr id="6" name="Номер слайда 8"/>
          <p:cNvSpPr>
            <a:spLocks noGrp="1"/>
          </p:cNvSpPr>
          <p:nvPr>
            <p:ph type="sldNum" sz="quarter" idx="11"/>
          </p:nvPr>
        </p:nvSpPr>
        <p:spPr>
          <a:xfrm>
            <a:off x="11518900" y="6508750"/>
            <a:ext cx="618067" cy="274638"/>
          </a:xfrm>
        </p:spPr>
        <p:txBody>
          <a:bodyPr/>
          <a:lstStyle>
            <a:lvl1pPr>
              <a:defRPr/>
            </a:lvl1pPr>
          </a:lstStyle>
          <a:p>
            <a:fld id="{4CC50EDF-5A05-4285-A396-B55013DF0728}" type="slidenum">
              <a:rPr lang="ru-RU"/>
              <a:pPr/>
              <a:t>‹#›</a:t>
            </a:fld>
            <a:endParaRPr lang="ru-RU"/>
          </a:p>
        </p:txBody>
      </p:sp>
      <p:sp>
        <p:nvSpPr>
          <p:cNvPr id="7" name="Нижний колонтитул 9"/>
          <p:cNvSpPr>
            <a:spLocks noGrp="1"/>
          </p:cNvSpPr>
          <p:nvPr>
            <p:ph type="ftr" sz="quarter" idx="12"/>
          </p:nvPr>
        </p:nvSpPr>
        <p:spPr>
          <a:xfrm>
            <a:off x="2133600" y="6508750"/>
            <a:ext cx="5209117" cy="274638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endParaRPr lang="ru-RU">
              <a:solidFill>
                <a:srgbClr val="676A55">
                  <a:tint val="60000"/>
                  <a:satMod val="15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92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676A55">
                  <a:tint val="60000"/>
                  <a:satMod val="155000"/>
                </a:srgbClr>
              </a:solidFill>
            </a:endParaRPr>
          </a:p>
        </p:txBody>
      </p:sp>
      <p:sp>
        <p:nvSpPr>
          <p:cNvPr id="5" name="Дата 1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75864C-8F51-4AD5-814F-10E330326D0A}" type="datetimeFigureOut">
              <a:rPr lang="ru-RU">
                <a:solidFill>
                  <a:srgbClr val="676A55">
                    <a:tint val="60000"/>
                    <a:satMod val="155000"/>
                  </a:srgbClr>
                </a:solidFill>
              </a:rPr>
              <a:pPr>
                <a:defRPr/>
              </a:pPr>
              <a:t>09.04.2019</a:t>
            </a:fld>
            <a:endParaRPr lang="ru-RU" dirty="0">
              <a:solidFill>
                <a:srgbClr val="676A55">
                  <a:tint val="60000"/>
                  <a:satMod val="155000"/>
                </a:srgbClr>
              </a:solidFill>
            </a:endParaRPr>
          </a:p>
        </p:txBody>
      </p:sp>
      <p:sp>
        <p:nvSpPr>
          <p:cNvPr id="6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7C9B5D-95EB-4D74-8969-DC9DE4C4A02D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188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676A55">
                  <a:tint val="60000"/>
                  <a:satMod val="155000"/>
                </a:srgbClr>
              </a:solidFill>
            </a:endParaRPr>
          </a:p>
        </p:txBody>
      </p:sp>
      <p:sp>
        <p:nvSpPr>
          <p:cNvPr id="5" name="Дата 1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BFF3BF-FCDD-4688-BFC4-54636C48D9F2}" type="datetimeFigureOut">
              <a:rPr lang="ru-RU">
                <a:solidFill>
                  <a:srgbClr val="676A55">
                    <a:tint val="60000"/>
                    <a:satMod val="155000"/>
                  </a:srgbClr>
                </a:solidFill>
              </a:rPr>
              <a:pPr>
                <a:defRPr/>
              </a:pPr>
              <a:t>09.04.2019</a:t>
            </a:fld>
            <a:endParaRPr lang="ru-RU" dirty="0">
              <a:solidFill>
                <a:srgbClr val="676A55">
                  <a:tint val="60000"/>
                  <a:satMod val="155000"/>
                </a:srgbClr>
              </a:solidFill>
            </a:endParaRPr>
          </a:p>
        </p:txBody>
      </p:sp>
      <p:sp>
        <p:nvSpPr>
          <p:cNvPr id="6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1A7535-34B9-418E-9165-EC74F56AB7D0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4826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1" y="-17463"/>
            <a:ext cx="12238567" cy="6905626"/>
            <a:chOff x="0" y="-11"/>
            <a:chExt cx="5782" cy="4350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hidden">
            <a:xfrm>
              <a:off x="0" y="1824"/>
              <a:ext cx="5774" cy="2515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ru-RU" sz="2400">
                <a:solidFill>
                  <a:srgbClr val="F8F8F8"/>
                </a:solidFill>
              </a:endParaRPr>
            </a:p>
          </p:txBody>
        </p:sp>
        <p:sp>
          <p:nvSpPr>
            <p:cNvPr id="6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5759" cy="1824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ru-RU" sz="2400">
                <a:solidFill>
                  <a:srgbClr val="F8F8F8"/>
                </a:solidFill>
              </a:endParaRPr>
            </a:p>
          </p:txBody>
        </p:sp>
        <p:grpSp>
          <p:nvGrpSpPr>
            <p:cNvPr id="7" name="Group 6"/>
            <p:cNvGrpSpPr>
              <a:grpSpLocks/>
            </p:cNvGrpSpPr>
            <p:nvPr/>
          </p:nvGrpSpPr>
          <p:grpSpPr bwMode="auto">
            <a:xfrm>
              <a:off x="5301" y="-11"/>
              <a:ext cx="481" cy="4284"/>
              <a:chOff x="5301" y="-11"/>
              <a:chExt cx="481" cy="4284"/>
            </a:xfrm>
          </p:grpSpPr>
          <p:sp>
            <p:nvSpPr>
              <p:cNvPr id="49" name="Freeform 4"/>
              <p:cNvSpPr>
                <a:spLocks/>
              </p:cNvSpPr>
              <p:nvPr/>
            </p:nvSpPr>
            <p:spPr bwMode="ltGray">
              <a:xfrm>
                <a:off x="5301" y="-11"/>
                <a:ext cx="241" cy="4284"/>
              </a:xfrm>
              <a:custGeom>
                <a:avLst/>
                <a:gdLst/>
                <a:ahLst/>
                <a:cxnLst>
                  <a:cxn ang="0">
                    <a:pos x="0" y="4234"/>
                  </a:cxn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4234"/>
                  </a:cxn>
                  <a:cxn ang="0">
                    <a:pos x="192" y="4283"/>
                  </a:cxn>
                  <a:cxn ang="0">
                    <a:pos x="144" y="4281"/>
                  </a:cxn>
                  <a:cxn ang="0">
                    <a:pos x="112" y="4281"/>
                  </a:cxn>
                  <a:cxn ang="0">
                    <a:pos x="49" y="4281"/>
                  </a:cxn>
                  <a:cxn ang="0">
                    <a:pos x="0" y="4234"/>
                  </a:cxn>
                </a:cxnLst>
                <a:rect l="0" t="0" r="r" b="b"/>
                <a:pathLst>
                  <a:path w="241" h="4284">
                    <a:moveTo>
                      <a:pt x="0" y="4234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40" y="4234"/>
                    </a:lnTo>
                    <a:lnTo>
                      <a:pt x="192" y="4283"/>
                    </a:lnTo>
                    <a:lnTo>
                      <a:pt x="144" y="4281"/>
                    </a:lnTo>
                    <a:lnTo>
                      <a:pt x="112" y="4281"/>
                    </a:lnTo>
                    <a:lnTo>
                      <a:pt x="49" y="4281"/>
                    </a:lnTo>
                    <a:lnTo>
                      <a:pt x="0" y="4234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50" name="Freeform 5"/>
              <p:cNvSpPr>
                <a:spLocks/>
              </p:cNvSpPr>
              <p:nvPr/>
            </p:nvSpPr>
            <p:spPr bwMode="ltGray">
              <a:xfrm>
                <a:off x="5541" y="-11"/>
                <a:ext cx="241" cy="4284"/>
              </a:xfrm>
              <a:custGeom>
                <a:avLst/>
                <a:gdLst/>
                <a:ahLst/>
                <a:cxnLst>
                  <a:cxn ang="0">
                    <a:pos x="0" y="4234"/>
                  </a:cxn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4234"/>
                  </a:cxn>
                  <a:cxn ang="0">
                    <a:pos x="192" y="4283"/>
                  </a:cxn>
                  <a:cxn ang="0">
                    <a:pos x="144" y="4281"/>
                  </a:cxn>
                  <a:cxn ang="0">
                    <a:pos x="112" y="4281"/>
                  </a:cxn>
                  <a:cxn ang="0">
                    <a:pos x="49" y="4281"/>
                  </a:cxn>
                  <a:cxn ang="0">
                    <a:pos x="0" y="4234"/>
                  </a:cxn>
                </a:cxnLst>
                <a:rect l="0" t="0" r="r" b="b"/>
                <a:pathLst>
                  <a:path w="241" h="4284">
                    <a:moveTo>
                      <a:pt x="0" y="4234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40" y="4234"/>
                    </a:lnTo>
                    <a:lnTo>
                      <a:pt x="192" y="4283"/>
                    </a:lnTo>
                    <a:lnTo>
                      <a:pt x="144" y="4281"/>
                    </a:lnTo>
                    <a:lnTo>
                      <a:pt x="112" y="4281"/>
                    </a:lnTo>
                    <a:lnTo>
                      <a:pt x="49" y="4281"/>
                    </a:lnTo>
                    <a:lnTo>
                      <a:pt x="0" y="4234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</p:grpSp>
        <p:grpSp>
          <p:nvGrpSpPr>
            <p:cNvPr id="8" name="Group 9"/>
            <p:cNvGrpSpPr>
              <a:grpSpLocks/>
            </p:cNvGrpSpPr>
            <p:nvPr/>
          </p:nvGrpSpPr>
          <p:grpSpPr bwMode="auto">
            <a:xfrm>
              <a:off x="0" y="0"/>
              <a:ext cx="481" cy="4273"/>
              <a:chOff x="0" y="0"/>
              <a:chExt cx="481" cy="4273"/>
            </a:xfrm>
          </p:grpSpPr>
          <p:sp>
            <p:nvSpPr>
              <p:cNvPr id="47" name="Freeform 7"/>
              <p:cNvSpPr>
                <a:spLocks/>
              </p:cNvSpPr>
              <p:nvPr/>
            </p:nvSpPr>
            <p:spPr bwMode="ltGray">
              <a:xfrm>
                <a:off x="0" y="0"/>
                <a:ext cx="241" cy="4273"/>
              </a:xfrm>
              <a:custGeom>
                <a:avLst/>
                <a:gdLst/>
                <a:ahLst/>
                <a:cxnLst>
                  <a:cxn ang="0">
                    <a:pos x="0" y="4223"/>
                  </a:cxn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4223"/>
                  </a:cxn>
                  <a:cxn ang="0">
                    <a:pos x="192" y="4272"/>
                  </a:cxn>
                  <a:cxn ang="0">
                    <a:pos x="144" y="4270"/>
                  </a:cxn>
                  <a:cxn ang="0">
                    <a:pos x="112" y="4270"/>
                  </a:cxn>
                  <a:cxn ang="0">
                    <a:pos x="49" y="4270"/>
                  </a:cxn>
                  <a:cxn ang="0">
                    <a:pos x="0" y="4223"/>
                  </a:cxn>
                </a:cxnLst>
                <a:rect l="0" t="0" r="r" b="b"/>
                <a:pathLst>
                  <a:path w="241" h="4273">
                    <a:moveTo>
                      <a:pt x="0" y="4223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40" y="4223"/>
                    </a:lnTo>
                    <a:lnTo>
                      <a:pt x="192" y="4272"/>
                    </a:lnTo>
                    <a:lnTo>
                      <a:pt x="144" y="4270"/>
                    </a:lnTo>
                    <a:lnTo>
                      <a:pt x="112" y="4270"/>
                    </a:lnTo>
                    <a:lnTo>
                      <a:pt x="49" y="4270"/>
                    </a:lnTo>
                    <a:lnTo>
                      <a:pt x="0" y="4223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48" name="Freeform 8"/>
              <p:cNvSpPr>
                <a:spLocks/>
              </p:cNvSpPr>
              <p:nvPr/>
            </p:nvSpPr>
            <p:spPr bwMode="ltGray">
              <a:xfrm>
                <a:off x="240" y="0"/>
                <a:ext cx="241" cy="4273"/>
              </a:xfrm>
              <a:custGeom>
                <a:avLst/>
                <a:gdLst/>
                <a:ahLst/>
                <a:cxnLst>
                  <a:cxn ang="0">
                    <a:pos x="0" y="4223"/>
                  </a:cxn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4223"/>
                  </a:cxn>
                  <a:cxn ang="0">
                    <a:pos x="192" y="4272"/>
                  </a:cxn>
                  <a:cxn ang="0">
                    <a:pos x="144" y="4270"/>
                  </a:cxn>
                  <a:cxn ang="0">
                    <a:pos x="112" y="4270"/>
                  </a:cxn>
                  <a:cxn ang="0">
                    <a:pos x="49" y="4270"/>
                  </a:cxn>
                  <a:cxn ang="0">
                    <a:pos x="0" y="4223"/>
                  </a:cxn>
                </a:cxnLst>
                <a:rect l="0" t="0" r="r" b="b"/>
                <a:pathLst>
                  <a:path w="241" h="4273">
                    <a:moveTo>
                      <a:pt x="0" y="4223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40" y="4223"/>
                    </a:lnTo>
                    <a:lnTo>
                      <a:pt x="192" y="4272"/>
                    </a:lnTo>
                    <a:lnTo>
                      <a:pt x="144" y="4270"/>
                    </a:lnTo>
                    <a:lnTo>
                      <a:pt x="112" y="4270"/>
                    </a:lnTo>
                    <a:lnTo>
                      <a:pt x="49" y="4270"/>
                    </a:lnTo>
                    <a:lnTo>
                      <a:pt x="0" y="4223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</p:grpSp>
        <p:grpSp>
          <p:nvGrpSpPr>
            <p:cNvPr id="9" name="Group 47"/>
            <p:cNvGrpSpPr>
              <a:grpSpLocks/>
            </p:cNvGrpSpPr>
            <p:nvPr/>
          </p:nvGrpSpPr>
          <p:grpSpPr bwMode="auto">
            <a:xfrm>
              <a:off x="82" y="838"/>
              <a:ext cx="5590" cy="891"/>
              <a:chOff x="82" y="838"/>
              <a:chExt cx="5590" cy="891"/>
            </a:xfrm>
          </p:grpSpPr>
          <p:grpSp>
            <p:nvGrpSpPr>
              <p:cNvPr id="10" name="Group 28"/>
              <p:cNvGrpSpPr>
                <a:grpSpLocks/>
              </p:cNvGrpSpPr>
              <p:nvPr/>
            </p:nvGrpSpPr>
            <p:grpSpPr bwMode="auto">
              <a:xfrm>
                <a:off x="134" y="838"/>
                <a:ext cx="5538" cy="850"/>
                <a:chOff x="134" y="838"/>
                <a:chExt cx="5538" cy="850"/>
              </a:xfrm>
            </p:grpSpPr>
            <p:sp>
              <p:nvSpPr>
                <p:cNvPr id="29" name="Freeform 10"/>
                <p:cNvSpPr>
                  <a:spLocks/>
                </p:cNvSpPr>
                <p:nvPr/>
              </p:nvSpPr>
              <p:spPr bwMode="ltGray">
                <a:xfrm>
                  <a:off x="5269" y="1550"/>
                  <a:ext cx="156" cy="117"/>
                </a:xfrm>
                <a:custGeom>
                  <a:avLst/>
                  <a:gdLst/>
                  <a:ahLst/>
                  <a:cxnLst>
                    <a:cxn ang="0">
                      <a:pos x="83" y="0"/>
                    </a:cxn>
                    <a:cxn ang="0">
                      <a:pos x="134" y="19"/>
                    </a:cxn>
                    <a:cxn ang="0">
                      <a:pos x="152" y="45"/>
                    </a:cxn>
                    <a:cxn ang="0">
                      <a:pos x="155" y="70"/>
                    </a:cxn>
                    <a:cxn ang="0">
                      <a:pos x="155" y="83"/>
                    </a:cxn>
                    <a:cxn ang="0">
                      <a:pos x="146" y="99"/>
                    </a:cxn>
                    <a:cxn ang="0">
                      <a:pos x="126" y="107"/>
                    </a:cxn>
                    <a:cxn ang="0">
                      <a:pos x="105" y="113"/>
                    </a:cxn>
                    <a:cxn ang="0">
                      <a:pos x="86" y="116"/>
                    </a:cxn>
                    <a:cxn ang="0">
                      <a:pos x="69" y="116"/>
                    </a:cxn>
                    <a:cxn ang="0">
                      <a:pos x="41" y="111"/>
                    </a:cxn>
                    <a:cxn ang="0">
                      <a:pos x="21" y="106"/>
                    </a:cxn>
                    <a:cxn ang="0">
                      <a:pos x="9" y="98"/>
                    </a:cxn>
                    <a:cxn ang="0">
                      <a:pos x="2" y="89"/>
                    </a:cxn>
                    <a:cxn ang="0">
                      <a:pos x="0" y="78"/>
                    </a:cxn>
                    <a:cxn ang="0">
                      <a:pos x="2" y="60"/>
                    </a:cxn>
                    <a:cxn ang="0">
                      <a:pos x="9" y="11"/>
                    </a:cxn>
                    <a:cxn ang="0">
                      <a:pos x="83" y="0"/>
                    </a:cxn>
                  </a:cxnLst>
                  <a:rect l="0" t="0" r="r" b="b"/>
                  <a:pathLst>
                    <a:path w="156" h="117">
                      <a:moveTo>
                        <a:pt x="83" y="0"/>
                      </a:moveTo>
                      <a:lnTo>
                        <a:pt x="134" y="19"/>
                      </a:lnTo>
                      <a:lnTo>
                        <a:pt x="152" y="45"/>
                      </a:lnTo>
                      <a:lnTo>
                        <a:pt x="155" y="70"/>
                      </a:lnTo>
                      <a:lnTo>
                        <a:pt x="155" y="83"/>
                      </a:lnTo>
                      <a:lnTo>
                        <a:pt x="146" y="99"/>
                      </a:lnTo>
                      <a:lnTo>
                        <a:pt x="126" y="107"/>
                      </a:lnTo>
                      <a:lnTo>
                        <a:pt x="105" y="113"/>
                      </a:lnTo>
                      <a:lnTo>
                        <a:pt x="86" y="116"/>
                      </a:lnTo>
                      <a:lnTo>
                        <a:pt x="69" y="116"/>
                      </a:lnTo>
                      <a:lnTo>
                        <a:pt x="41" y="111"/>
                      </a:lnTo>
                      <a:lnTo>
                        <a:pt x="21" y="106"/>
                      </a:lnTo>
                      <a:lnTo>
                        <a:pt x="9" y="98"/>
                      </a:lnTo>
                      <a:lnTo>
                        <a:pt x="2" y="89"/>
                      </a:lnTo>
                      <a:lnTo>
                        <a:pt x="0" y="78"/>
                      </a:lnTo>
                      <a:lnTo>
                        <a:pt x="2" y="60"/>
                      </a:lnTo>
                      <a:lnTo>
                        <a:pt x="9" y="11"/>
                      </a:lnTo>
                      <a:lnTo>
                        <a:pt x="83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0" name="Freeform 11"/>
                <p:cNvSpPr>
                  <a:spLocks/>
                </p:cNvSpPr>
                <p:nvPr/>
              </p:nvSpPr>
              <p:spPr bwMode="ltGray">
                <a:xfrm>
                  <a:off x="5265" y="1562"/>
                  <a:ext cx="88" cy="75"/>
                </a:xfrm>
                <a:custGeom>
                  <a:avLst/>
                  <a:gdLst/>
                  <a:ahLst/>
                  <a:cxnLst>
                    <a:cxn ang="0">
                      <a:pos x="0" y="69"/>
                    </a:cxn>
                    <a:cxn ang="0">
                      <a:pos x="11" y="0"/>
                    </a:cxn>
                    <a:cxn ang="0">
                      <a:pos x="54" y="5"/>
                    </a:cxn>
                    <a:cxn ang="0">
                      <a:pos x="87" y="9"/>
                    </a:cxn>
                    <a:cxn ang="0">
                      <a:pos x="78" y="74"/>
                    </a:cxn>
                    <a:cxn ang="0">
                      <a:pos x="75" y="59"/>
                    </a:cxn>
                    <a:cxn ang="0">
                      <a:pos x="65" y="48"/>
                    </a:cxn>
                    <a:cxn ang="0">
                      <a:pos x="47" y="44"/>
                    </a:cxn>
                    <a:cxn ang="0">
                      <a:pos x="27" y="45"/>
                    </a:cxn>
                    <a:cxn ang="0">
                      <a:pos x="11" y="52"/>
                    </a:cxn>
                    <a:cxn ang="0">
                      <a:pos x="0" y="69"/>
                    </a:cxn>
                  </a:cxnLst>
                  <a:rect l="0" t="0" r="r" b="b"/>
                  <a:pathLst>
                    <a:path w="88" h="75">
                      <a:moveTo>
                        <a:pt x="0" y="69"/>
                      </a:moveTo>
                      <a:lnTo>
                        <a:pt x="11" y="0"/>
                      </a:lnTo>
                      <a:lnTo>
                        <a:pt x="54" y="5"/>
                      </a:lnTo>
                      <a:lnTo>
                        <a:pt x="87" y="9"/>
                      </a:lnTo>
                      <a:lnTo>
                        <a:pt x="78" y="74"/>
                      </a:lnTo>
                      <a:lnTo>
                        <a:pt x="75" y="59"/>
                      </a:lnTo>
                      <a:lnTo>
                        <a:pt x="65" y="48"/>
                      </a:lnTo>
                      <a:lnTo>
                        <a:pt x="47" y="44"/>
                      </a:lnTo>
                      <a:lnTo>
                        <a:pt x="27" y="45"/>
                      </a:lnTo>
                      <a:lnTo>
                        <a:pt x="11" y="52"/>
                      </a:lnTo>
                      <a:lnTo>
                        <a:pt x="0" y="69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1" name="Freeform 12"/>
                <p:cNvSpPr>
                  <a:spLocks/>
                </p:cNvSpPr>
                <p:nvPr/>
              </p:nvSpPr>
              <p:spPr bwMode="ltGray">
                <a:xfrm>
                  <a:off x="475" y="1541"/>
                  <a:ext cx="156" cy="117"/>
                </a:xfrm>
                <a:custGeom>
                  <a:avLst/>
                  <a:gdLst/>
                  <a:ahLst/>
                  <a:cxnLst>
                    <a:cxn ang="0">
                      <a:pos x="72" y="0"/>
                    </a:cxn>
                    <a:cxn ang="0">
                      <a:pos x="21" y="19"/>
                    </a:cxn>
                    <a:cxn ang="0">
                      <a:pos x="3" y="45"/>
                    </a:cxn>
                    <a:cxn ang="0">
                      <a:pos x="0" y="70"/>
                    </a:cxn>
                    <a:cxn ang="0">
                      <a:pos x="0" y="83"/>
                    </a:cxn>
                    <a:cxn ang="0">
                      <a:pos x="9" y="99"/>
                    </a:cxn>
                    <a:cxn ang="0">
                      <a:pos x="29" y="107"/>
                    </a:cxn>
                    <a:cxn ang="0">
                      <a:pos x="50" y="113"/>
                    </a:cxn>
                    <a:cxn ang="0">
                      <a:pos x="69" y="116"/>
                    </a:cxn>
                    <a:cxn ang="0">
                      <a:pos x="86" y="116"/>
                    </a:cxn>
                    <a:cxn ang="0">
                      <a:pos x="114" y="111"/>
                    </a:cxn>
                    <a:cxn ang="0">
                      <a:pos x="134" y="106"/>
                    </a:cxn>
                    <a:cxn ang="0">
                      <a:pos x="146" y="98"/>
                    </a:cxn>
                    <a:cxn ang="0">
                      <a:pos x="153" y="89"/>
                    </a:cxn>
                    <a:cxn ang="0">
                      <a:pos x="155" y="78"/>
                    </a:cxn>
                    <a:cxn ang="0">
                      <a:pos x="153" y="60"/>
                    </a:cxn>
                    <a:cxn ang="0">
                      <a:pos x="146" y="11"/>
                    </a:cxn>
                    <a:cxn ang="0">
                      <a:pos x="72" y="0"/>
                    </a:cxn>
                  </a:cxnLst>
                  <a:rect l="0" t="0" r="r" b="b"/>
                  <a:pathLst>
                    <a:path w="156" h="117">
                      <a:moveTo>
                        <a:pt x="72" y="0"/>
                      </a:moveTo>
                      <a:lnTo>
                        <a:pt x="21" y="19"/>
                      </a:lnTo>
                      <a:lnTo>
                        <a:pt x="3" y="45"/>
                      </a:lnTo>
                      <a:lnTo>
                        <a:pt x="0" y="70"/>
                      </a:lnTo>
                      <a:lnTo>
                        <a:pt x="0" y="83"/>
                      </a:lnTo>
                      <a:lnTo>
                        <a:pt x="9" y="99"/>
                      </a:lnTo>
                      <a:lnTo>
                        <a:pt x="29" y="107"/>
                      </a:lnTo>
                      <a:lnTo>
                        <a:pt x="50" y="113"/>
                      </a:lnTo>
                      <a:lnTo>
                        <a:pt x="69" y="116"/>
                      </a:lnTo>
                      <a:lnTo>
                        <a:pt x="86" y="116"/>
                      </a:lnTo>
                      <a:lnTo>
                        <a:pt x="114" y="111"/>
                      </a:lnTo>
                      <a:lnTo>
                        <a:pt x="134" y="106"/>
                      </a:lnTo>
                      <a:lnTo>
                        <a:pt x="146" y="98"/>
                      </a:lnTo>
                      <a:lnTo>
                        <a:pt x="153" y="89"/>
                      </a:lnTo>
                      <a:lnTo>
                        <a:pt x="155" y="78"/>
                      </a:lnTo>
                      <a:lnTo>
                        <a:pt x="153" y="60"/>
                      </a:lnTo>
                      <a:lnTo>
                        <a:pt x="146" y="11"/>
                      </a:lnTo>
                      <a:lnTo>
                        <a:pt x="72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2" name="Freeform 13"/>
                <p:cNvSpPr>
                  <a:spLocks/>
                </p:cNvSpPr>
                <p:nvPr/>
              </p:nvSpPr>
              <p:spPr bwMode="ltGray">
                <a:xfrm>
                  <a:off x="547" y="1554"/>
                  <a:ext cx="88" cy="75"/>
                </a:xfrm>
                <a:custGeom>
                  <a:avLst/>
                  <a:gdLst/>
                  <a:ahLst/>
                  <a:cxnLst>
                    <a:cxn ang="0">
                      <a:pos x="87" y="68"/>
                    </a:cxn>
                    <a:cxn ang="0">
                      <a:pos x="76" y="0"/>
                    </a:cxn>
                    <a:cxn ang="0">
                      <a:pos x="33" y="5"/>
                    </a:cxn>
                    <a:cxn ang="0">
                      <a:pos x="0" y="9"/>
                    </a:cxn>
                    <a:cxn ang="0">
                      <a:pos x="9" y="74"/>
                    </a:cxn>
                    <a:cxn ang="0">
                      <a:pos x="12" y="58"/>
                    </a:cxn>
                    <a:cxn ang="0">
                      <a:pos x="22" y="47"/>
                    </a:cxn>
                    <a:cxn ang="0">
                      <a:pos x="40" y="44"/>
                    </a:cxn>
                    <a:cxn ang="0">
                      <a:pos x="60" y="45"/>
                    </a:cxn>
                    <a:cxn ang="0">
                      <a:pos x="76" y="52"/>
                    </a:cxn>
                    <a:cxn ang="0">
                      <a:pos x="87" y="68"/>
                    </a:cxn>
                  </a:cxnLst>
                  <a:rect l="0" t="0" r="r" b="b"/>
                  <a:pathLst>
                    <a:path w="88" h="75">
                      <a:moveTo>
                        <a:pt x="87" y="68"/>
                      </a:moveTo>
                      <a:lnTo>
                        <a:pt x="76" y="0"/>
                      </a:lnTo>
                      <a:lnTo>
                        <a:pt x="33" y="5"/>
                      </a:lnTo>
                      <a:lnTo>
                        <a:pt x="0" y="9"/>
                      </a:lnTo>
                      <a:lnTo>
                        <a:pt x="9" y="74"/>
                      </a:lnTo>
                      <a:lnTo>
                        <a:pt x="12" y="58"/>
                      </a:lnTo>
                      <a:lnTo>
                        <a:pt x="22" y="47"/>
                      </a:lnTo>
                      <a:lnTo>
                        <a:pt x="40" y="44"/>
                      </a:lnTo>
                      <a:lnTo>
                        <a:pt x="60" y="45"/>
                      </a:lnTo>
                      <a:lnTo>
                        <a:pt x="76" y="52"/>
                      </a:lnTo>
                      <a:lnTo>
                        <a:pt x="87" y="68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3" name="Line 14"/>
                <p:cNvSpPr>
                  <a:spLocks noChangeShapeType="1"/>
                </p:cNvSpPr>
                <p:nvPr/>
              </p:nvSpPr>
              <p:spPr bwMode="ltGray">
                <a:xfrm flipV="1">
                  <a:off x="2020" y="1125"/>
                  <a:ext cx="192" cy="87"/>
                </a:xfrm>
                <a:prstGeom prst="line">
                  <a:avLst/>
                </a:prstGeom>
                <a:noFill/>
                <a:ln w="12700">
                  <a:solidFill>
                    <a:schemeClr val="hlink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4" name="Freeform 15"/>
                <p:cNvSpPr>
                  <a:spLocks/>
                </p:cNvSpPr>
                <p:nvPr/>
              </p:nvSpPr>
              <p:spPr bwMode="ltGray">
                <a:xfrm>
                  <a:off x="1408" y="838"/>
                  <a:ext cx="2967" cy="457"/>
                </a:xfrm>
                <a:custGeom>
                  <a:avLst/>
                  <a:gdLst/>
                  <a:ahLst/>
                  <a:cxnLst>
                    <a:cxn ang="0">
                      <a:pos x="0" y="122"/>
                    </a:cxn>
                    <a:cxn ang="0">
                      <a:pos x="207" y="78"/>
                    </a:cxn>
                    <a:cxn ang="0">
                      <a:pos x="442" y="48"/>
                    </a:cxn>
                    <a:cxn ang="0">
                      <a:pos x="640" y="32"/>
                    </a:cxn>
                    <a:cxn ang="0">
                      <a:pos x="897" y="16"/>
                    </a:cxn>
                    <a:cxn ang="0">
                      <a:pos x="1215" y="2"/>
                    </a:cxn>
                    <a:cxn ang="0">
                      <a:pos x="1392" y="0"/>
                    </a:cxn>
                    <a:cxn ang="0">
                      <a:pos x="1710" y="0"/>
                    </a:cxn>
                    <a:cxn ang="0">
                      <a:pos x="1997" y="10"/>
                    </a:cxn>
                    <a:cxn ang="0">
                      <a:pos x="2258" y="21"/>
                    </a:cxn>
                    <a:cxn ang="0">
                      <a:pos x="2493" y="38"/>
                    </a:cxn>
                    <a:cxn ang="0">
                      <a:pos x="2674" y="54"/>
                    </a:cxn>
                    <a:cxn ang="0">
                      <a:pos x="2828" y="73"/>
                    </a:cxn>
                    <a:cxn ang="0">
                      <a:pos x="2966" y="92"/>
                    </a:cxn>
                    <a:cxn ang="0">
                      <a:pos x="2966" y="456"/>
                    </a:cxn>
                    <a:cxn ang="0">
                      <a:pos x="2833" y="434"/>
                    </a:cxn>
                    <a:cxn ang="0">
                      <a:pos x="2563" y="399"/>
                    </a:cxn>
                    <a:cxn ang="0">
                      <a:pos x="2382" y="382"/>
                    </a:cxn>
                    <a:cxn ang="0">
                      <a:pos x="2134" y="366"/>
                    </a:cxn>
                    <a:cxn ang="0">
                      <a:pos x="1944" y="358"/>
                    </a:cxn>
                    <a:cxn ang="0">
                      <a:pos x="1746" y="350"/>
                    </a:cxn>
                    <a:cxn ang="0">
                      <a:pos x="1529" y="350"/>
                    </a:cxn>
                    <a:cxn ang="0">
                      <a:pos x="1295" y="350"/>
                    </a:cxn>
                    <a:cxn ang="0">
                      <a:pos x="1047" y="355"/>
                    </a:cxn>
                    <a:cxn ang="0">
                      <a:pos x="853" y="363"/>
                    </a:cxn>
                    <a:cxn ang="0">
                      <a:pos x="654" y="374"/>
                    </a:cxn>
                    <a:cxn ang="0">
                      <a:pos x="468" y="388"/>
                    </a:cxn>
                    <a:cxn ang="0">
                      <a:pos x="296" y="404"/>
                    </a:cxn>
                    <a:cxn ang="0">
                      <a:pos x="150" y="423"/>
                    </a:cxn>
                    <a:cxn ang="0">
                      <a:pos x="13" y="445"/>
                    </a:cxn>
                    <a:cxn ang="0">
                      <a:pos x="0" y="122"/>
                    </a:cxn>
                  </a:cxnLst>
                  <a:rect l="0" t="0" r="r" b="b"/>
                  <a:pathLst>
                    <a:path w="2967" h="457">
                      <a:moveTo>
                        <a:pt x="0" y="122"/>
                      </a:moveTo>
                      <a:lnTo>
                        <a:pt x="207" y="78"/>
                      </a:lnTo>
                      <a:lnTo>
                        <a:pt x="442" y="48"/>
                      </a:lnTo>
                      <a:lnTo>
                        <a:pt x="640" y="32"/>
                      </a:lnTo>
                      <a:lnTo>
                        <a:pt x="897" y="16"/>
                      </a:lnTo>
                      <a:lnTo>
                        <a:pt x="1215" y="2"/>
                      </a:lnTo>
                      <a:lnTo>
                        <a:pt x="1392" y="0"/>
                      </a:lnTo>
                      <a:lnTo>
                        <a:pt x="1710" y="0"/>
                      </a:lnTo>
                      <a:lnTo>
                        <a:pt x="1997" y="10"/>
                      </a:lnTo>
                      <a:lnTo>
                        <a:pt x="2258" y="21"/>
                      </a:lnTo>
                      <a:lnTo>
                        <a:pt x="2493" y="38"/>
                      </a:lnTo>
                      <a:lnTo>
                        <a:pt x="2674" y="54"/>
                      </a:lnTo>
                      <a:lnTo>
                        <a:pt x="2828" y="73"/>
                      </a:lnTo>
                      <a:lnTo>
                        <a:pt x="2966" y="92"/>
                      </a:lnTo>
                      <a:lnTo>
                        <a:pt x="2966" y="456"/>
                      </a:lnTo>
                      <a:lnTo>
                        <a:pt x="2833" y="434"/>
                      </a:lnTo>
                      <a:lnTo>
                        <a:pt x="2563" y="399"/>
                      </a:lnTo>
                      <a:lnTo>
                        <a:pt x="2382" y="382"/>
                      </a:lnTo>
                      <a:lnTo>
                        <a:pt x="2134" y="366"/>
                      </a:lnTo>
                      <a:lnTo>
                        <a:pt x="1944" y="358"/>
                      </a:lnTo>
                      <a:lnTo>
                        <a:pt x="1746" y="350"/>
                      </a:lnTo>
                      <a:lnTo>
                        <a:pt x="1529" y="350"/>
                      </a:lnTo>
                      <a:lnTo>
                        <a:pt x="1295" y="350"/>
                      </a:lnTo>
                      <a:lnTo>
                        <a:pt x="1047" y="355"/>
                      </a:lnTo>
                      <a:lnTo>
                        <a:pt x="853" y="363"/>
                      </a:lnTo>
                      <a:lnTo>
                        <a:pt x="654" y="374"/>
                      </a:lnTo>
                      <a:lnTo>
                        <a:pt x="468" y="388"/>
                      </a:lnTo>
                      <a:lnTo>
                        <a:pt x="296" y="404"/>
                      </a:lnTo>
                      <a:lnTo>
                        <a:pt x="150" y="423"/>
                      </a:lnTo>
                      <a:lnTo>
                        <a:pt x="13" y="445"/>
                      </a:lnTo>
                      <a:lnTo>
                        <a:pt x="0" y="122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5" name="Freeform 16"/>
                <p:cNvSpPr>
                  <a:spLocks/>
                </p:cNvSpPr>
                <p:nvPr/>
              </p:nvSpPr>
              <p:spPr bwMode="ltGray">
                <a:xfrm>
                  <a:off x="607" y="934"/>
                  <a:ext cx="823" cy="431"/>
                </a:xfrm>
                <a:custGeom>
                  <a:avLst/>
                  <a:gdLst/>
                  <a:ahLst/>
                  <a:cxnLst>
                    <a:cxn ang="0">
                      <a:pos x="815" y="27"/>
                    </a:cxn>
                    <a:cxn ang="0">
                      <a:pos x="822" y="350"/>
                    </a:cxn>
                    <a:cxn ang="0">
                      <a:pos x="746" y="382"/>
                    </a:cxn>
                    <a:cxn ang="0">
                      <a:pos x="676" y="404"/>
                    </a:cxn>
                    <a:cxn ang="0">
                      <a:pos x="619" y="415"/>
                    </a:cxn>
                    <a:cxn ang="0">
                      <a:pos x="571" y="421"/>
                    </a:cxn>
                    <a:cxn ang="0">
                      <a:pos x="517" y="427"/>
                    </a:cxn>
                    <a:cxn ang="0">
                      <a:pos x="427" y="430"/>
                    </a:cxn>
                    <a:cxn ang="0">
                      <a:pos x="344" y="423"/>
                    </a:cxn>
                    <a:cxn ang="0">
                      <a:pos x="259" y="410"/>
                    </a:cxn>
                    <a:cxn ang="0">
                      <a:pos x="177" y="388"/>
                    </a:cxn>
                    <a:cxn ang="0">
                      <a:pos x="105" y="358"/>
                    </a:cxn>
                    <a:cxn ang="0">
                      <a:pos x="41" y="325"/>
                    </a:cxn>
                    <a:cxn ang="0">
                      <a:pos x="0" y="294"/>
                    </a:cxn>
                    <a:cxn ang="0">
                      <a:pos x="0" y="0"/>
                    </a:cxn>
                    <a:cxn ang="0">
                      <a:pos x="46" y="25"/>
                    </a:cxn>
                    <a:cxn ang="0">
                      <a:pos x="105" y="47"/>
                    </a:cxn>
                    <a:cxn ang="0">
                      <a:pos x="175" y="66"/>
                    </a:cxn>
                    <a:cxn ang="0">
                      <a:pos x="244" y="81"/>
                    </a:cxn>
                    <a:cxn ang="0">
                      <a:pos x="314" y="89"/>
                    </a:cxn>
                    <a:cxn ang="0">
                      <a:pos x="361" y="93"/>
                    </a:cxn>
                    <a:cxn ang="0">
                      <a:pos x="401" y="95"/>
                    </a:cxn>
                    <a:cxn ang="0">
                      <a:pos x="471" y="95"/>
                    </a:cxn>
                    <a:cxn ang="0">
                      <a:pos x="515" y="92"/>
                    </a:cxn>
                    <a:cxn ang="0">
                      <a:pos x="555" y="87"/>
                    </a:cxn>
                    <a:cxn ang="0">
                      <a:pos x="600" y="84"/>
                    </a:cxn>
                    <a:cxn ang="0">
                      <a:pos x="640" y="76"/>
                    </a:cxn>
                    <a:cxn ang="0">
                      <a:pos x="689" y="67"/>
                    </a:cxn>
                    <a:cxn ang="0">
                      <a:pos x="733" y="55"/>
                    </a:cxn>
                    <a:cxn ang="0">
                      <a:pos x="777" y="41"/>
                    </a:cxn>
                    <a:cxn ang="0">
                      <a:pos x="815" y="27"/>
                    </a:cxn>
                  </a:cxnLst>
                  <a:rect l="0" t="0" r="r" b="b"/>
                  <a:pathLst>
                    <a:path w="823" h="431">
                      <a:moveTo>
                        <a:pt x="815" y="27"/>
                      </a:moveTo>
                      <a:lnTo>
                        <a:pt x="822" y="350"/>
                      </a:lnTo>
                      <a:lnTo>
                        <a:pt x="746" y="382"/>
                      </a:lnTo>
                      <a:lnTo>
                        <a:pt x="676" y="404"/>
                      </a:lnTo>
                      <a:lnTo>
                        <a:pt x="619" y="415"/>
                      </a:lnTo>
                      <a:lnTo>
                        <a:pt x="571" y="421"/>
                      </a:lnTo>
                      <a:lnTo>
                        <a:pt x="517" y="427"/>
                      </a:lnTo>
                      <a:lnTo>
                        <a:pt x="427" y="430"/>
                      </a:lnTo>
                      <a:lnTo>
                        <a:pt x="344" y="423"/>
                      </a:lnTo>
                      <a:lnTo>
                        <a:pt x="259" y="410"/>
                      </a:lnTo>
                      <a:lnTo>
                        <a:pt x="177" y="388"/>
                      </a:lnTo>
                      <a:lnTo>
                        <a:pt x="105" y="358"/>
                      </a:lnTo>
                      <a:lnTo>
                        <a:pt x="41" y="325"/>
                      </a:lnTo>
                      <a:lnTo>
                        <a:pt x="0" y="294"/>
                      </a:lnTo>
                      <a:lnTo>
                        <a:pt x="0" y="0"/>
                      </a:lnTo>
                      <a:lnTo>
                        <a:pt x="46" y="25"/>
                      </a:lnTo>
                      <a:lnTo>
                        <a:pt x="105" y="47"/>
                      </a:lnTo>
                      <a:lnTo>
                        <a:pt x="175" y="66"/>
                      </a:lnTo>
                      <a:lnTo>
                        <a:pt x="244" y="81"/>
                      </a:lnTo>
                      <a:lnTo>
                        <a:pt x="314" y="89"/>
                      </a:lnTo>
                      <a:lnTo>
                        <a:pt x="361" y="93"/>
                      </a:lnTo>
                      <a:lnTo>
                        <a:pt x="401" y="95"/>
                      </a:lnTo>
                      <a:lnTo>
                        <a:pt x="471" y="95"/>
                      </a:lnTo>
                      <a:lnTo>
                        <a:pt x="515" y="92"/>
                      </a:lnTo>
                      <a:lnTo>
                        <a:pt x="555" y="87"/>
                      </a:lnTo>
                      <a:lnTo>
                        <a:pt x="600" y="84"/>
                      </a:lnTo>
                      <a:lnTo>
                        <a:pt x="640" y="76"/>
                      </a:lnTo>
                      <a:lnTo>
                        <a:pt x="689" y="67"/>
                      </a:lnTo>
                      <a:lnTo>
                        <a:pt x="733" y="55"/>
                      </a:lnTo>
                      <a:lnTo>
                        <a:pt x="777" y="41"/>
                      </a:lnTo>
                      <a:lnTo>
                        <a:pt x="815" y="27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6" name="Freeform 17"/>
                <p:cNvSpPr>
                  <a:spLocks/>
                </p:cNvSpPr>
                <p:nvPr/>
              </p:nvSpPr>
              <p:spPr bwMode="ltGray">
                <a:xfrm>
                  <a:off x="154" y="1349"/>
                  <a:ext cx="551" cy="339"/>
                </a:xfrm>
                <a:custGeom>
                  <a:avLst/>
                  <a:gdLst/>
                  <a:ahLst/>
                  <a:cxnLst>
                    <a:cxn ang="0">
                      <a:pos x="16" y="53"/>
                    </a:cxn>
                    <a:cxn ang="0">
                      <a:pos x="0" y="122"/>
                    </a:cxn>
                    <a:cxn ang="0">
                      <a:pos x="10" y="146"/>
                    </a:cxn>
                    <a:cxn ang="0">
                      <a:pos x="33" y="183"/>
                    </a:cxn>
                    <a:cxn ang="0">
                      <a:pos x="57" y="216"/>
                    </a:cxn>
                    <a:cxn ang="0">
                      <a:pos x="85" y="244"/>
                    </a:cxn>
                    <a:cxn ang="0">
                      <a:pos x="120" y="271"/>
                    </a:cxn>
                    <a:cxn ang="0">
                      <a:pos x="153" y="290"/>
                    </a:cxn>
                    <a:cxn ang="0">
                      <a:pos x="189" y="308"/>
                    </a:cxn>
                    <a:cxn ang="0">
                      <a:pos x="235" y="324"/>
                    </a:cxn>
                    <a:cxn ang="0">
                      <a:pos x="270" y="332"/>
                    </a:cxn>
                    <a:cxn ang="0">
                      <a:pos x="312" y="338"/>
                    </a:cxn>
                    <a:cxn ang="0">
                      <a:pos x="351" y="338"/>
                    </a:cxn>
                    <a:cxn ang="0">
                      <a:pos x="393" y="333"/>
                    </a:cxn>
                    <a:cxn ang="0">
                      <a:pos x="436" y="321"/>
                    </a:cxn>
                    <a:cxn ang="0">
                      <a:pos x="475" y="302"/>
                    </a:cxn>
                    <a:cxn ang="0">
                      <a:pos x="498" y="286"/>
                    </a:cxn>
                    <a:cxn ang="0">
                      <a:pos x="526" y="262"/>
                    </a:cxn>
                    <a:cxn ang="0">
                      <a:pos x="541" y="243"/>
                    </a:cxn>
                    <a:cxn ang="0">
                      <a:pos x="550" y="226"/>
                    </a:cxn>
                    <a:cxn ang="0">
                      <a:pos x="550" y="208"/>
                    </a:cxn>
                    <a:cxn ang="0">
                      <a:pos x="544" y="187"/>
                    </a:cxn>
                    <a:cxn ang="0">
                      <a:pos x="532" y="170"/>
                    </a:cxn>
                    <a:cxn ang="0">
                      <a:pos x="523" y="135"/>
                    </a:cxn>
                    <a:cxn ang="0">
                      <a:pos x="519" y="116"/>
                    </a:cxn>
                    <a:cxn ang="0">
                      <a:pos x="267" y="132"/>
                    </a:cxn>
                    <a:cxn ang="0">
                      <a:pos x="234" y="126"/>
                    </a:cxn>
                    <a:cxn ang="0">
                      <a:pos x="193" y="113"/>
                    </a:cxn>
                    <a:cxn ang="0">
                      <a:pos x="162" y="97"/>
                    </a:cxn>
                    <a:cxn ang="0">
                      <a:pos x="129" y="77"/>
                    </a:cxn>
                    <a:cxn ang="0">
                      <a:pos x="97" y="48"/>
                    </a:cxn>
                    <a:cxn ang="0">
                      <a:pos x="78" y="24"/>
                    </a:cxn>
                    <a:cxn ang="0">
                      <a:pos x="60" y="0"/>
                    </a:cxn>
                    <a:cxn ang="0">
                      <a:pos x="16" y="53"/>
                    </a:cxn>
                  </a:cxnLst>
                  <a:rect l="0" t="0" r="r" b="b"/>
                  <a:pathLst>
                    <a:path w="551" h="339">
                      <a:moveTo>
                        <a:pt x="16" y="53"/>
                      </a:moveTo>
                      <a:lnTo>
                        <a:pt x="0" y="122"/>
                      </a:lnTo>
                      <a:lnTo>
                        <a:pt x="10" y="146"/>
                      </a:lnTo>
                      <a:lnTo>
                        <a:pt x="33" y="183"/>
                      </a:lnTo>
                      <a:lnTo>
                        <a:pt x="57" y="216"/>
                      </a:lnTo>
                      <a:lnTo>
                        <a:pt x="85" y="244"/>
                      </a:lnTo>
                      <a:lnTo>
                        <a:pt x="120" y="271"/>
                      </a:lnTo>
                      <a:lnTo>
                        <a:pt x="153" y="290"/>
                      </a:lnTo>
                      <a:lnTo>
                        <a:pt x="189" y="308"/>
                      </a:lnTo>
                      <a:lnTo>
                        <a:pt x="235" y="324"/>
                      </a:lnTo>
                      <a:lnTo>
                        <a:pt x="270" y="332"/>
                      </a:lnTo>
                      <a:lnTo>
                        <a:pt x="312" y="338"/>
                      </a:lnTo>
                      <a:lnTo>
                        <a:pt x="351" y="338"/>
                      </a:lnTo>
                      <a:lnTo>
                        <a:pt x="393" y="333"/>
                      </a:lnTo>
                      <a:lnTo>
                        <a:pt x="436" y="321"/>
                      </a:lnTo>
                      <a:lnTo>
                        <a:pt x="475" y="302"/>
                      </a:lnTo>
                      <a:lnTo>
                        <a:pt x="498" y="286"/>
                      </a:lnTo>
                      <a:lnTo>
                        <a:pt x="526" y="262"/>
                      </a:lnTo>
                      <a:lnTo>
                        <a:pt x="541" y="243"/>
                      </a:lnTo>
                      <a:lnTo>
                        <a:pt x="550" y="226"/>
                      </a:lnTo>
                      <a:lnTo>
                        <a:pt x="550" y="208"/>
                      </a:lnTo>
                      <a:lnTo>
                        <a:pt x="544" y="187"/>
                      </a:lnTo>
                      <a:lnTo>
                        <a:pt x="532" y="170"/>
                      </a:lnTo>
                      <a:lnTo>
                        <a:pt x="523" y="135"/>
                      </a:lnTo>
                      <a:lnTo>
                        <a:pt x="519" y="116"/>
                      </a:lnTo>
                      <a:lnTo>
                        <a:pt x="267" y="132"/>
                      </a:lnTo>
                      <a:lnTo>
                        <a:pt x="234" y="126"/>
                      </a:lnTo>
                      <a:lnTo>
                        <a:pt x="193" y="113"/>
                      </a:lnTo>
                      <a:lnTo>
                        <a:pt x="162" y="97"/>
                      </a:lnTo>
                      <a:lnTo>
                        <a:pt x="129" y="77"/>
                      </a:lnTo>
                      <a:lnTo>
                        <a:pt x="97" y="48"/>
                      </a:lnTo>
                      <a:lnTo>
                        <a:pt x="78" y="24"/>
                      </a:lnTo>
                      <a:lnTo>
                        <a:pt x="60" y="0"/>
                      </a:lnTo>
                      <a:lnTo>
                        <a:pt x="16" y="53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7" name="Freeform 18"/>
                <p:cNvSpPr>
                  <a:spLocks/>
                </p:cNvSpPr>
                <p:nvPr/>
              </p:nvSpPr>
              <p:spPr bwMode="ltGray">
                <a:xfrm>
                  <a:off x="134" y="935"/>
                  <a:ext cx="475" cy="552"/>
                </a:xfrm>
                <a:custGeom>
                  <a:avLst/>
                  <a:gdLst/>
                  <a:ahLst/>
                  <a:cxnLst>
                    <a:cxn ang="0">
                      <a:pos x="474" y="0"/>
                    </a:cxn>
                    <a:cxn ang="0">
                      <a:pos x="474" y="294"/>
                    </a:cxn>
                    <a:cxn ang="0">
                      <a:pos x="446" y="291"/>
                    </a:cxn>
                    <a:cxn ang="0">
                      <a:pos x="411" y="293"/>
                    </a:cxn>
                    <a:cxn ang="0">
                      <a:pos x="353" y="299"/>
                    </a:cxn>
                    <a:cxn ang="0">
                      <a:pos x="296" y="310"/>
                    </a:cxn>
                    <a:cxn ang="0">
                      <a:pos x="243" y="323"/>
                    </a:cxn>
                    <a:cxn ang="0">
                      <a:pos x="200" y="339"/>
                    </a:cxn>
                    <a:cxn ang="0">
                      <a:pos x="149" y="364"/>
                    </a:cxn>
                    <a:cxn ang="0">
                      <a:pos x="110" y="390"/>
                    </a:cxn>
                    <a:cxn ang="0">
                      <a:pos x="81" y="415"/>
                    </a:cxn>
                    <a:cxn ang="0">
                      <a:pos x="60" y="439"/>
                    </a:cxn>
                    <a:cxn ang="0">
                      <a:pos x="47" y="461"/>
                    </a:cxn>
                    <a:cxn ang="0">
                      <a:pos x="35" y="488"/>
                    </a:cxn>
                    <a:cxn ang="0">
                      <a:pos x="30" y="513"/>
                    </a:cxn>
                    <a:cxn ang="0">
                      <a:pos x="23" y="551"/>
                    </a:cxn>
                    <a:cxn ang="0">
                      <a:pos x="17" y="518"/>
                    </a:cxn>
                    <a:cxn ang="0">
                      <a:pos x="8" y="481"/>
                    </a:cxn>
                    <a:cxn ang="0">
                      <a:pos x="5" y="453"/>
                    </a:cxn>
                    <a:cxn ang="0">
                      <a:pos x="0" y="420"/>
                    </a:cxn>
                    <a:cxn ang="0">
                      <a:pos x="2" y="393"/>
                    </a:cxn>
                    <a:cxn ang="0">
                      <a:pos x="8" y="361"/>
                    </a:cxn>
                    <a:cxn ang="0">
                      <a:pos x="15" y="317"/>
                    </a:cxn>
                    <a:cxn ang="0">
                      <a:pos x="30" y="279"/>
                    </a:cxn>
                    <a:cxn ang="0">
                      <a:pos x="50" y="238"/>
                    </a:cxn>
                    <a:cxn ang="0">
                      <a:pos x="75" y="196"/>
                    </a:cxn>
                    <a:cxn ang="0">
                      <a:pos x="111" y="152"/>
                    </a:cxn>
                    <a:cxn ang="0">
                      <a:pos x="152" y="116"/>
                    </a:cxn>
                    <a:cxn ang="0">
                      <a:pos x="188" y="87"/>
                    </a:cxn>
                    <a:cxn ang="0">
                      <a:pos x="233" y="60"/>
                    </a:cxn>
                    <a:cxn ang="0">
                      <a:pos x="279" y="40"/>
                    </a:cxn>
                    <a:cxn ang="0">
                      <a:pos x="333" y="21"/>
                    </a:cxn>
                    <a:cxn ang="0">
                      <a:pos x="380" y="10"/>
                    </a:cxn>
                    <a:cxn ang="0">
                      <a:pos x="435" y="3"/>
                    </a:cxn>
                    <a:cxn ang="0">
                      <a:pos x="474" y="0"/>
                    </a:cxn>
                  </a:cxnLst>
                  <a:rect l="0" t="0" r="r" b="b"/>
                  <a:pathLst>
                    <a:path w="475" h="552">
                      <a:moveTo>
                        <a:pt x="474" y="0"/>
                      </a:moveTo>
                      <a:lnTo>
                        <a:pt x="474" y="294"/>
                      </a:lnTo>
                      <a:lnTo>
                        <a:pt x="446" y="291"/>
                      </a:lnTo>
                      <a:lnTo>
                        <a:pt x="411" y="293"/>
                      </a:lnTo>
                      <a:lnTo>
                        <a:pt x="353" y="299"/>
                      </a:lnTo>
                      <a:lnTo>
                        <a:pt x="296" y="310"/>
                      </a:lnTo>
                      <a:lnTo>
                        <a:pt x="243" y="323"/>
                      </a:lnTo>
                      <a:lnTo>
                        <a:pt x="200" y="339"/>
                      </a:lnTo>
                      <a:lnTo>
                        <a:pt x="149" y="364"/>
                      </a:lnTo>
                      <a:lnTo>
                        <a:pt x="110" y="390"/>
                      </a:lnTo>
                      <a:lnTo>
                        <a:pt x="81" y="415"/>
                      </a:lnTo>
                      <a:lnTo>
                        <a:pt x="60" y="439"/>
                      </a:lnTo>
                      <a:lnTo>
                        <a:pt x="47" y="461"/>
                      </a:lnTo>
                      <a:lnTo>
                        <a:pt x="35" y="488"/>
                      </a:lnTo>
                      <a:lnTo>
                        <a:pt x="30" y="513"/>
                      </a:lnTo>
                      <a:lnTo>
                        <a:pt x="23" y="551"/>
                      </a:lnTo>
                      <a:lnTo>
                        <a:pt x="17" y="518"/>
                      </a:lnTo>
                      <a:lnTo>
                        <a:pt x="8" y="481"/>
                      </a:lnTo>
                      <a:lnTo>
                        <a:pt x="5" y="453"/>
                      </a:lnTo>
                      <a:lnTo>
                        <a:pt x="0" y="420"/>
                      </a:lnTo>
                      <a:lnTo>
                        <a:pt x="2" y="393"/>
                      </a:lnTo>
                      <a:lnTo>
                        <a:pt x="8" y="361"/>
                      </a:lnTo>
                      <a:lnTo>
                        <a:pt x="15" y="317"/>
                      </a:lnTo>
                      <a:lnTo>
                        <a:pt x="30" y="279"/>
                      </a:lnTo>
                      <a:lnTo>
                        <a:pt x="50" y="238"/>
                      </a:lnTo>
                      <a:lnTo>
                        <a:pt x="75" y="196"/>
                      </a:lnTo>
                      <a:lnTo>
                        <a:pt x="111" y="152"/>
                      </a:lnTo>
                      <a:lnTo>
                        <a:pt x="152" y="116"/>
                      </a:lnTo>
                      <a:lnTo>
                        <a:pt x="188" y="87"/>
                      </a:lnTo>
                      <a:lnTo>
                        <a:pt x="233" y="60"/>
                      </a:lnTo>
                      <a:lnTo>
                        <a:pt x="279" y="40"/>
                      </a:lnTo>
                      <a:lnTo>
                        <a:pt x="333" y="21"/>
                      </a:lnTo>
                      <a:lnTo>
                        <a:pt x="380" y="10"/>
                      </a:lnTo>
                      <a:lnTo>
                        <a:pt x="435" y="3"/>
                      </a:lnTo>
                      <a:lnTo>
                        <a:pt x="474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8" name="Freeform 19"/>
                <p:cNvSpPr>
                  <a:spLocks/>
                </p:cNvSpPr>
                <p:nvPr/>
              </p:nvSpPr>
              <p:spPr bwMode="ltGray">
                <a:xfrm>
                  <a:off x="422" y="1503"/>
                  <a:ext cx="156" cy="117"/>
                </a:xfrm>
                <a:custGeom>
                  <a:avLst/>
                  <a:gdLst/>
                  <a:ahLst/>
                  <a:cxnLst>
                    <a:cxn ang="0">
                      <a:pos x="72" y="0"/>
                    </a:cxn>
                    <a:cxn ang="0">
                      <a:pos x="21" y="19"/>
                    </a:cxn>
                    <a:cxn ang="0">
                      <a:pos x="3" y="45"/>
                    </a:cxn>
                    <a:cxn ang="0">
                      <a:pos x="0" y="70"/>
                    </a:cxn>
                    <a:cxn ang="0">
                      <a:pos x="0" y="83"/>
                    </a:cxn>
                    <a:cxn ang="0">
                      <a:pos x="9" y="99"/>
                    </a:cxn>
                    <a:cxn ang="0">
                      <a:pos x="29" y="107"/>
                    </a:cxn>
                    <a:cxn ang="0">
                      <a:pos x="50" y="113"/>
                    </a:cxn>
                    <a:cxn ang="0">
                      <a:pos x="69" y="116"/>
                    </a:cxn>
                    <a:cxn ang="0">
                      <a:pos x="86" y="116"/>
                    </a:cxn>
                    <a:cxn ang="0">
                      <a:pos x="114" y="111"/>
                    </a:cxn>
                    <a:cxn ang="0">
                      <a:pos x="134" y="106"/>
                    </a:cxn>
                    <a:cxn ang="0">
                      <a:pos x="146" y="98"/>
                    </a:cxn>
                    <a:cxn ang="0">
                      <a:pos x="153" y="89"/>
                    </a:cxn>
                    <a:cxn ang="0">
                      <a:pos x="155" y="78"/>
                    </a:cxn>
                    <a:cxn ang="0">
                      <a:pos x="153" y="60"/>
                    </a:cxn>
                    <a:cxn ang="0">
                      <a:pos x="146" y="11"/>
                    </a:cxn>
                    <a:cxn ang="0">
                      <a:pos x="72" y="0"/>
                    </a:cxn>
                  </a:cxnLst>
                  <a:rect l="0" t="0" r="r" b="b"/>
                  <a:pathLst>
                    <a:path w="156" h="117">
                      <a:moveTo>
                        <a:pt x="72" y="0"/>
                      </a:moveTo>
                      <a:lnTo>
                        <a:pt x="21" y="19"/>
                      </a:lnTo>
                      <a:lnTo>
                        <a:pt x="3" y="45"/>
                      </a:lnTo>
                      <a:lnTo>
                        <a:pt x="0" y="70"/>
                      </a:lnTo>
                      <a:lnTo>
                        <a:pt x="0" y="83"/>
                      </a:lnTo>
                      <a:lnTo>
                        <a:pt x="9" y="99"/>
                      </a:lnTo>
                      <a:lnTo>
                        <a:pt x="29" y="107"/>
                      </a:lnTo>
                      <a:lnTo>
                        <a:pt x="50" y="113"/>
                      </a:lnTo>
                      <a:lnTo>
                        <a:pt x="69" y="116"/>
                      </a:lnTo>
                      <a:lnTo>
                        <a:pt x="86" y="116"/>
                      </a:lnTo>
                      <a:lnTo>
                        <a:pt x="114" y="111"/>
                      </a:lnTo>
                      <a:lnTo>
                        <a:pt x="134" y="106"/>
                      </a:lnTo>
                      <a:lnTo>
                        <a:pt x="146" y="98"/>
                      </a:lnTo>
                      <a:lnTo>
                        <a:pt x="153" y="89"/>
                      </a:lnTo>
                      <a:lnTo>
                        <a:pt x="155" y="78"/>
                      </a:lnTo>
                      <a:lnTo>
                        <a:pt x="153" y="60"/>
                      </a:lnTo>
                      <a:lnTo>
                        <a:pt x="146" y="11"/>
                      </a:lnTo>
                      <a:lnTo>
                        <a:pt x="72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9" name="Freeform 20"/>
                <p:cNvSpPr>
                  <a:spLocks/>
                </p:cNvSpPr>
                <p:nvPr/>
              </p:nvSpPr>
              <p:spPr bwMode="ltGray">
                <a:xfrm>
                  <a:off x="494" y="1516"/>
                  <a:ext cx="88" cy="74"/>
                </a:xfrm>
                <a:custGeom>
                  <a:avLst/>
                  <a:gdLst/>
                  <a:ahLst/>
                  <a:cxnLst>
                    <a:cxn ang="0">
                      <a:pos x="87" y="67"/>
                    </a:cxn>
                    <a:cxn ang="0">
                      <a:pos x="76" y="0"/>
                    </a:cxn>
                    <a:cxn ang="0">
                      <a:pos x="33" y="5"/>
                    </a:cxn>
                    <a:cxn ang="0">
                      <a:pos x="0" y="8"/>
                    </a:cxn>
                    <a:cxn ang="0">
                      <a:pos x="9" y="73"/>
                    </a:cxn>
                    <a:cxn ang="0">
                      <a:pos x="12" y="57"/>
                    </a:cxn>
                    <a:cxn ang="0">
                      <a:pos x="22" y="47"/>
                    </a:cxn>
                    <a:cxn ang="0">
                      <a:pos x="40" y="43"/>
                    </a:cxn>
                    <a:cxn ang="0">
                      <a:pos x="60" y="44"/>
                    </a:cxn>
                    <a:cxn ang="0">
                      <a:pos x="76" y="51"/>
                    </a:cxn>
                    <a:cxn ang="0">
                      <a:pos x="87" y="67"/>
                    </a:cxn>
                  </a:cxnLst>
                  <a:rect l="0" t="0" r="r" b="b"/>
                  <a:pathLst>
                    <a:path w="88" h="74">
                      <a:moveTo>
                        <a:pt x="87" y="67"/>
                      </a:moveTo>
                      <a:lnTo>
                        <a:pt x="76" y="0"/>
                      </a:lnTo>
                      <a:lnTo>
                        <a:pt x="33" y="5"/>
                      </a:lnTo>
                      <a:lnTo>
                        <a:pt x="0" y="8"/>
                      </a:lnTo>
                      <a:lnTo>
                        <a:pt x="9" y="73"/>
                      </a:lnTo>
                      <a:lnTo>
                        <a:pt x="12" y="57"/>
                      </a:lnTo>
                      <a:lnTo>
                        <a:pt x="22" y="47"/>
                      </a:lnTo>
                      <a:lnTo>
                        <a:pt x="40" y="43"/>
                      </a:lnTo>
                      <a:lnTo>
                        <a:pt x="60" y="44"/>
                      </a:lnTo>
                      <a:lnTo>
                        <a:pt x="76" y="51"/>
                      </a:lnTo>
                      <a:lnTo>
                        <a:pt x="87" y="67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40" name="Freeform 21"/>
                <p:cNvSpPr>
                  <a:spLocks/>
                </p:cNvSpPr>
                <p:nvPr/>
              </p:nvSpPr>
              <p:spPr bwMode="ltGray">
                <a:xfrm>
                  <a:off x="386" y="1295"/>
                  <a:ext cx="319" cy="286"/>
                </a:xfrm>
                <a:custGeom>
                  <a:avLst/>
                  <a:gdLst/>
                  <a:ahLst/>
                  <a:cxnLst>
                    <a:cxn ang="0">
                      <a:pos x="317" y="275"/>
                    </a:cxn>
                    <a:cxn ang="0">
                      <a:pos x="315" y="254"/>
                    </a:cxn>
                    <a:cxn ang="0">
                      <a:pos x="306" y="235"/>
                    </a:cxn>
                    <a:cxn ang="0">
                      <a:pos x="299" y="219"/>
                    </a:cxn>
                    <a:cxn ang="0">
                      <a:pos x="294" y="194"/>
                    </a:cxn>
                    <a:cxn ang="0">
                      <a:pos x="288" y="161"/>
                    </a:cxn>
                    <a:cxn ang="0">
                      <a:pos x="284" y="126"/>
                    </a:cxn>
                    <a:cxn ang="0">
                      <a:pos x="281" y="94"/>
                    </a:cxn>
                    <a:cxn ang="0">
                      <a:pos x="279" y="67"/>
                    </a:cxn>
                    <a:cxn ang="0">
                      <a:pos x="278" y="43"/>
                    </a:cxn>
                    <a:cxn ang="0">
                      <a:pos x="270" y="29"/>
                    </a:cxn>
                    <a:cxn ang="0">
                      <a:pos x="255" y="16"/>
                    </a:cxn>
                    <a:cxn ang="0">
                      <a:pos x="240" y="9"/>
                    </a:cxn>
                    <a:cxn ang="0">
                      <a:pos x="216" y="2"/>
                    </a:cxn>
                    <a:cxn ang="0">
                      <a:pos x="189" y="0"/>
                    </a:cxn>
                    <a:cxn ang="0">
                      <a:pos x="147" y="0"/>
                    </a:cxn>
                    <a:cxn ang="0">
                      <a:pos x="110" y="2"/>
                    </a:cxn>
                    <a:cxn ang="0">
                      <a:pos x="74" y="9"/>
                    </a:cxn>
                    <a:cxn ang="0">
                      <a:pos x="41" y="21"/>
                    </a:cxn>
                    <a:cxn ang="0">
                      <a:pos x="20" y="35"/>
                    </a:cxn>
                    <a:cxn ang="0">
                      <a:pos x="8" y="47"/>
                    </a:cxn>
                    <a:cxn ang="0">
                      <a:pos x="0" y="61"/>
                    </a:cxn>
                    <a:cxn ang="0">
                      <a:pos x="2" y="75"/>
                    </a:cxn>
                    <a:cxn ang="0">
                      <a:pos x="5" y="89"/>
                    </a:cxn>
                    <a:cxn ang="0">
                      <a:pos x="15" y="104"/>
                    </a:cxn>
                    <a:cxn ang="0">
                      <a:pos x="23" y="123"/>
                    </a:cxn>
                    <a:cxn ang="0">
                      <a:pos x="27" y="149"/>
                    </a:cxn>
                    <a:cxn ang="0">
                      <a:pos x="30" y="176"/>
                    </a:cxn>
                    <a:cxn ang="0">
                      <a:pos x="35" y="200"/>
                    </a:cxn>
                    <a:cxn ang="0">
                      <a:pos x="36" y="235"/>
                    </a:cxn>
                    <a:cxn ang="0">
                      <a:pos x="38" y="265"/>
                    </a:cxn>
                    <a:cxn ang="0">
                      <a:pos x="38" y="285"/>
                    </a:cxn>
                    <a:cxn ang="0">
                      <a:pos x="48" y="260"/>
                    </a:cxn>
                    <a:cxn ang="0">
                      <a:pos x="68" y="248"/>
                    </a:cxn>
                    <a:cxn ang="0">
                      <a:pos x="86" y="241"/>
                    </a:cxn>
                    <a:cxn ang="0">
                      <a:pos x="108" y="236"/>
                    </a:cxn>
                    <a:cxn ang="0">
                      <a:pos x="143" y="229"/>
                    </a:cxn>
                    <a:cxn ang="0">
                      <a:pos x="177" y="228"/>
                    </a:cxn>
                    <a:cxn ang="0">
                      <a:pos x="197" y="228"/>
                    </a:cxn>
                    <a:cxn ang="0">
                      <a:pos x="228" y="230"/>
                    </a:cxn>
                    <a:cxn ang="0">
                      <a:pos x="264" y="237"/>
                    </a:cxn>
                    <a:cxn ang="0">
                      <a:pos x="287" y="246"/>
                    </a:cxn>
                    <a:cxn ang="0">
                      <a:pos x="302" y="255"/>
                    </a:cxn>
                    <a:cxn ang="0">
                      <a:pos x="318" y="268"/>
                    </a:cxn>
                  </a:cxnLst>
                  <a:rect l="0" t="0" r="r" b="b"/>
                  <a:pathLst>
                    <a:path w="319" h="286">
                      <a:moveTo>
                        <a:pt x="317" y="275"/>
                      </a:moveTo>
                      <a:lnTo>
                        <a:pt x="315" y="254"/>
                      </a:lnTo>
                      <a:lnTo>
                        <a:pt x="306" y="235"/>
                      </a:lnTo>
                      <a:lnTo>
                        <a:pt x="299" y="219"/>
                      </a:lnTo>
                      <a:lnTo>
                        <a:pt x="294" y="194"/>
                      </a:lnTo>
                      <a:lnTo>
                        <a:pt x="288" y="161"/>
                      </a:lnTo>
                      <a:lnTo>
                        <a:pt x="284" y="126"/>
                      </a:lnTo>
                      <a:lnTo>
                        <a:pt x="281" y="94"/>
                      </a:lnTo>
                      <a:lnTo>
                        <a:pt x="279" y="67"/>
                      </a:lnTo>
                      <a:lnTo>
                        <a:pt x="278" y="43"/>
                      </a:lnTo>
                      <a:lnTo>
                        <a:pt x="270" y="29"/>
                      </a:lnTo>
                      <a:lnTo>
                        <a:pt x="255" y="16"/>
                      </a:lnTo>
                      <a:lnTo>
                        <a:pt x="240" y="9"/>
                      </a:lnTo>
                      <a:lnTo>
                        <a:pt x="216" y="2"/>
                      </a:lnTo>
                      <a:lnTo>
                        <a:pt x="189" y="0"/>
                      </a:lnTo>
                      <a:lnTo>
                        <a:pt x="147" y="0"/>
                      </a:lnTo>
                      <a:lnTo>
                        <a:pt x="110" y="2"/>
                      </a:lnTo>
                      <a:lnTo>
                        <a:pt x="74" y="9"/>
                      </a:lnTo>
                      <a:lnTo>
                        <a:pt x="41" y="21"/>
                      </a:lnTo>
                      <a:lnTo>
                        <a:pt x="20" y="35"/>
                      </a:lnTo>
                      <a:lnTo>
                        <a:pt x="8" y="47"/>
                      </a:lnTo>
                      <a:lnTo>
                        <a:pt x="0" y="61"/>
                      </a:lnTo>
                      <a:lnTo>
                        <a:pt x="2" y="75"/>
                      </a:lnTo>
                      <a:lnTo>
                        <a:pt x="5" y="89"/>
                      </a:lnTo>
                      <a:lnTo>
                        <a:pt x="15" y="104"/>
                      </a:lnTo>
                      <a:lnTo>
                        <a:pt x="23" y="123"/>
                      </a:lnTo>
                      <a:lnTo>
                        <a:pt x="27" y="149"/>
                      </a:lnTo>
                      <a:lnTo>
                        <a:pt x="30" y="176"/>
                      </a:lnTo>
                      <a:lnTo>
                        <a:pt x="35" y="200"/>
                      </a:lnTo>
                      <a:lnTo>
                        <a:pt x="36" y="235"/>
                      </a:lnTo>
                      <a:lnTo>
                        <a:pt x="38" y="265"/>
                      </a:lnTo>
                      <a:lnTo>
                        <a:pt x="38" y="285"/>
                      </a:lnTo>
                      <a:lnTo>
                        <a:pt x="48" y="260"/>
                      </a:lnTo>
                      <a:lnTo>
                        <a:pt x="68" y="248"/>
                      </a:lnTo>
                      <a:lnTo>
                        <a:pt x="86" y="241"/>
                      </a:lnTo>
                      <a:lnTo>
                        <a:pt x="108" y="236"/>
                      </a:lnTo>
                      <a:lnTo>
                        <a:pt x="143" y="229"/>
                      </a:lnTo>
                      <a:lnTo>
                        <a:pt x="177" y="228"/>
                      </a:lnTo>
                      <a:lnTo>
                        <a:pt x="197" y="228"/>
                      </a:lnTo>
                      <a:lnTo>
                        <a:pt x="228" y="230"/>
                      </a:lnTo>
                      <a:lnTo>
                        <a:pt x="264" y="237"/>
                      </a:lnTo>
                      <a:lnTo>
                        <a:pt x="287" y="246"/>
                      </a:lnTo>
                      <a:lnTo>
                        <a:pt x="302" y="255"/>
                      </a:lnTo>
                      <a:lnTo>
                        <a:pt x="318" y="268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41" name="Freeform 22"/>
                <p:cNvSpPr>
                  <a:spLocks/>
                </p:cNvSpPr>
                <p:nvPr/>
              </p:nvSpPr>
              <p:spPr bwMode="ltGray">
                <a:xfrm>
                  <a:off x="5101" y="1353"/>
                  <a:ext cx="551" cy="335"/>
                </a:xfrm>
                <a:custGeom>
                  <a:avLst/>
                  <a:gdLst/>
                  <a:ahLst/>
                  <a:cxnLst>
                    <a:cxn ang="0">
                      <a:pos x="534" y="48"/>
                    </a:cxn>
                    <a:cxn ang="0">
                      <a:pos x="550" y="117"/>
                    </a:cxn>
                    <a:cxn ang="0">
                      <a:pos x="540" y="142"/>
                    </a:cxn>
                    <a:cxn ang="0">
                      <a:pos x="517" y="179"/>
                    </a:cxn>
                    <a:cxn ang="0">
                      <a:pos x="493" y="212"/>
                    </a:cxn>
                    <a:cxn ang="0">
                      <a:pos x="465" y="239"/>
                    </a:cxn>
                    <a:cxn ang="0">
                      <a:pos x="430" y="267"/>
                    </a:cxn>
                    <a:cxn ang="0">
                      <a:pos x="397" y="286"/>
                    </a:cxn>
                    <a:cxn ang="0">
                      <a:pos x="361" y="304"/>
                    </a:cxn>
                    <a:cxn ang="0">
                      <a:pos x="315" y="320"/>
                    </a:cxn>
                    <a:cxn ang="0">
                      <a:pos x="280" y="328"/>
                    </a:cxn>
                    <a:cxn ang="0">
                      <a:pos x="238" y="334"/>
                    </a:cxn>
                    <a:cxn ang="0">
                      <a:pos x="199" y="334"/>
                    </a:cxn>
                    <a:cxn ang="0">
                      <a:pos x="157" y="329"/>
                    </a:cxn>
                    <a:cxn ang="0">
                      <a:pos x="114" y="317"/>
                    </a:cxn>
                    <a:cxn ang="0">
                      <a:pos x="75" y="298"/>
                    </a:cxn>
                    <a:cxn ang="0">
                      <a:pos x="52" y="282"/>
                    </a:cxn>
                    <a:cxn ang="0">
                      <a:pos x="24" y="258"/>
                    </a:cxn>
                    <a:cxn ang="0">
                      <a:pos x="9" y="238"/>
                    </a:cxn>
                    <a:cxn ang="0">
                      <a:pos x="0" y="222"/>
                    </a:cxn>
                    <a:cxn ang="0">
                      <a:pos x="0" y="204"/>
                    </a:cxn>
                    <a:cxn ang="0">
                      <a:pos x="6" y="182"/>
                    </a:cxn>
                    <a:cxn ang="0">
                      <a:pos x="18" y="166"/>
                    </a:cxn>
                    <a:cxn ang="0">
                      <a:pos x="27" y="131"/>
                    </a:cxn>
                    <a:cxn ang="0">
                      <a:pos x="31" y="112"/>
                    </a:cxn>
                    <a:cxn ang="0">
                      <a:pos x="283" y="128"/>
                    </a:cxn>
                    <a:cxn ang="0">
                      <a:pos x="316" y="122"/>
                    </a:cxn>
                    <a:cxn ang="0">
                      <a:pos x="357" y="109"/>
                    </a:cxn>
                    <a:cxn ang="0">
                      <a:pos x="388" y="93"/>
                    </a:cxn>
                    <a:cxn ang="0">
                      <a:pos x="421" y="73"/>
                    </a:cxn>
                    <a:cxn ang="0">
                      <a:pos x="453" y="44"/>
                    </a:cxn>
                    <a:cxn ang="0">
                      <a:pos x="472" y="19"/>
                    </a:cxn>
                    <a:cxn ang="0">
                      <a:pos x="486" y="0"/>
                    </a:cxn>
                    <a:cxn ang="0">
                      <a:pos x="534" y="48"/>
                    </a:cxn>
                  </a:cxnLst>
                  <a:rect l="0" t="0" r="r" b="b"/>
                  <a:pathLst>
                    <a:path w="551" h="335">
                      <a:moveTo>
                        <a:pt x="534" y="48"/>
                      </a:moveTo>
                      <a:lnTo>
                        <a:pt x="550" y="117"/>
                      </a:lnTo>
                      <a:lnTo>
                        <a:pt x="540" y="142"/>
                      </a:lnTo>
                      <a:lnTo>
                        <a:pt x="517" y="179"/>
                      </a:lnTo>
                      <a:lnTo>
                        <a:pt x="493" y="212"/>
                      </a:lnTo>
                      <a:lnTo>
                        <a:pt x="465" y="239"/>
                      </a:lnTo>
                      <a:lnTo>
                        <a:pt x="430" y="267"/>
                      </a:lnTo>
                      <a:lnTo>
                        <a:pt x="397" y="286"/>
                      </a:lnTo>
                      <a:lnTo>
                        <a:pt x="361" y="304"/>
                      </a:lnTo>
                      <a:lnTo>
                        <a:pt x="315" y="320"/>
                      </a:lnTo>
                      <a:lnTo>
                        <a:pt x="280" y="328"/>
                      </a:lnTo>
                      <a:lnTo>
                        <a:pt x="238" y="334"/>
                      </a:lnTo>
                      <a:lnTo>
                        <a:pt x="199" y="334"/>
                      </a:lnTo>
                      <a:lnTo>
                        <a:pt x="157" y="329"/>
                      </a:lnTo>
                      <a:lnTo>
                        <a:pt x="114" y="317"/>
                      </a:lnTo>
                      <a:lnTo>
                        <a:pt x="75" y="298"/>
                      </a:lnTo>
                      <a:lnTo>
                        <a:pt x="52" y="282"/>
                      </a:lnTo>
                      <a:lnTo>
                        <a:pt x="24" y="258"/>
                      </a:lnTo>
                      <a:lnTo>
                        <a:pt x="9" y="238"/>
                      </a:lnTo>
                      <a:lnTo>
                        <a:pt x="0" y="222"/>
                      </a:lnTo>
                      <a:lnTo>
                        <a:pt x="0" y="204"/>
                      </a:lnTo>
                      <a:lnTo>
                        <a:pt x="6" y="182"/>
                      </a:lnTo>
                      <a:lnTo>
                        <a:pt x="18" y="166"/>
                      </a:lnTo>
                      <a:lnTo>
                        <a:pt x="27" y="131"/>
                      </a:lnTo>
                      <a:lnTo>
                        <a:pt x="31" y="112"/>
                      </a:lnTo>
                      <a:lnTo>
                        <a:pt x="283" y="128"/>
                      </a:lnTo>
                      <a:lnTo>
                        <a:pt x="316" y="122"/>
                      </a:lnTo>
                      <a:lnTo>
                        <a:pt x="357" y="109"/>
                      </a:lnTo>
                      <a:lnTo>
                        <a:pt x="388" y="93"/>
                      </a:lnTo>
                      <a:lnTo>
                        <a:pt x="421" y="73"/>
                      </a:lnTo>
                      <a:lnTo>
                        <a:pt x="453" y="44"/>
                      </a:lnTo>
                      <a:lnTo>
                        <a:pt x="472" y="19"/>
                      </a:lnTo>
                      <a:lnTo>
                        <a:pt x="486" y="0"/>
                      </a:lnTo>
                      <a:lnTo>
                        <a:pt x="534" y="48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42" name="Freeform 23"/>
                <p:cNvSpPr>
                  <a:spLocks/>
                </p:cNvSpPr>
                <p:nvPr/>
              </p:nvSpPr>
              <p:spPr bwMode="ltGray">
                <a:xfrm>
                  <a:off x="5197" y="935"/>
                  <a:ext cx="475" cy="55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94"/>
                    </a:cxn>
                    <a:cxn ang="0">
                      <a:pos x="28" y="291"/>
                    </a:cxn>
                    <a:cxn ang="0">
                      <a:pos x="63" y="293"/>
                    </a:cxn>
                    <a:cxn ang="0">
                      <a:pos x="121" y="299"/>
                    </a:cxn>
                    <a:cxn ang="0">
                      <a:pos x="178" y="310"/>
                    </a:cxn>
                    <a:cxn ang="0">
                      <a:pos x="231" y="323"/>
                    </a:cxn>
                    <a:cxn ang="0">
                      <a:pos x="274" y="339"/>
                    </a:cxn>
                    <a:cxn ang="0">
                      <a:pos x="325" y="364"/>
                    </a:cxn>
                    <a:cxn ang="0">
                      <a:pos x="364" y="390"/>
                    </a:cxn>
                    <a:cxn ang="0">
                      <a:pos x="393" y="415"/>
                    </a:cxn>
                    <a:cxn ang="0">
                      <a:pos x="414" y="439"/>
                    </a:cxn>
                    <a:cxn ang="0">
                      <a:pos x="427" y="461"/>
                    </a:cxn>
                    <a:cxn ang="0">
                      <a:pos x="439" y="488"/>
                    </a:cxn>
                    <a:cxn ang="0">
                      <a:pos x="444" y="513"/>
                    </a:cxn>
                    <a:cxn ang="0">
                      <a:pos x="451" y="551"/>
                    </a:cxn>
                    <a:cxn ang="0">
                      <a:pos x="457" y="518"/>
                    </a:cxn>
                    <a:cxn ang="0">
                      <a:pos x="466" y="481"/>
                    </a:cxn>
                    <a:cxn ang="0">
                      <a:pos x="469" y="453"/>
                    </a:cxn>
                    <a:cxn ang="0">
                      <a:pos x="474" y="420"/>
                    </a:cxn>
                    <a:cxn ang="0">
                      <a:pos x="472" y="393"/>
                    </a:cxn>
                    <a:cxn ang="0">
                      <a:pos x="466" y="361"/>
                    </a:cxn>
                    <a:cxn ang="0">
                      <a:pos x="459" y="317"/>
                    </a:cxn>
                    <a:cxn ang="0">
                      <a:pos x="444" y="279"/>
                    </a:cxn>
                    <a:cxn ang="0">
                      <a:pos x="424" y="238"/>
                    </a:cxn>
                    <a:cxn ang="0">
                      <a:pos x="399" y="196"/>
                    </a:cxn>
                    <a:cxn ang="0">
                      <a:pos x="363" y="152"/>
                    </a:cxn>
                    <a:cxn ang="0">
                      <a:pos x="322" y="116"/>
                    </a:cxn>
                    <a:cxn ang="0">
                      <a:pos x="286" y="87"/>
                    </a:cxn>
                    <a:cxn ang="0">
                      <a:pos x="241" y="60"/>
                    </a:cxn>
                    <a:cxn ang="0">
                      <a:pos x="195" y="40"/>
                    </a:cxn>
                    <a:cxn ang="0">
                      <a:pos x="141" y="21"/>
                    </a:cxn>
                    <a:cxn ang="0">
                      <a:pos x="94" y="10"/>
                    </a:cxn>
                    <a:cxn ang="0">
                      <a:pos x="39" y="3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75" h="552">
                      <a:moveTo>
                        <a:pt x="0" y="0"/>
                      </a:moveTo>
                      <a:lnTo>
                        <a:pt x="0" y="294"/>
                      </a:lnTo>
                      <a:lnTo>
                        <a:pt x="28" y="291"/>
                      </a:lnTo>
                      <a:lnTo>
                        <a:pt x="63" y="293"/>
                      </a:lnTo>
                      <a:lnTo>
                        <a:pt x="121" y="299"/>
                      </a:lnTo>
                      <a:lnTo>
                        <a:pt x="178" y="310"/>
                      </a:lnTo>
                      <a:lnTo>
                        <a:pt x="231" y="323"/>
                      </a:lnTo>
                      <a:lnTo>
                        <a:pt x="274" y="339"/>
                      </a:lnTo>
                      <a:lnTo>
                        <a:pt x="325" y="364"/>
                      </a:lnTo>
                      <a:lnTo>
                        <a:pt x="364" y="390"/>
                      </a:lnTo>
                      <a:lnTo>
                        <a:pt x="393" y="415"/>
                      </a:lnTo>
                      <a:lnTo>
                        <a:pt x="414" y="439"/>
                      </a:lnTo>
                      <a:lnTo>
                        <a:pt x="427" y="461"/>
                      </a:lnTo>
                      <a:lnTo>
                        <a:pt x="439" y="488"/>
                      </a:lnTo>
                      <a:lnTo>
                        <a:pt x="444" y="513"/>
                      </a:lnTo>
                      <a:lnTo>
                        <a:pt x="451" y="551"/>
                      </a:lnTo>
                      <a:lnTo>
                        <a:pt x="457" y="518"/>
                      </a:lnTo>
                      <a:lnTo>
                        <a:pt x="466" y="481"/>
                      </a:lnTo>
                      <a:lnTo>
                        <a:pt x="469" y="453"/>
                      </a:lnTo>
                      <a:lnTo>
                        <a:pt x="474" y="420"/>
                      </a:lnTo>
                      <a:lnTo>
                        <a:pt x="472" y="393"/>
                      </a:lnTo>
                      <a:lnTo>
                        <a:pt x="466" y="361"/>
                      </a:lnTo>
                      <a:lnTo>
                        <a:pt x="459" y="317"/>
                      </a:lnTo>
                      <a:lnTo>
                        <a:pt x="444" y="279"/>
                      </a:lnTo>
                      <a:lnTo>
                        <a:pt x="424" y="238"/>
                      </a:lnTo>
                      <a:lnTo>
                        <a:pt x="399" y="196"/>
                      </a:lnTo>
                      <a:lnTo>
                        <a:pt x="363" y="152"/>
                      </a:lnTo>
                      <a:lnTo>
                        <a:pt x="322" y="116"/>
                      </a:lnTo>
                      <a:lnTo>
                        <a:pt x="286" y="87"/>
                      </a:lnTo>
                      <a:lnTo>
                        <a:pt x="241" y="60"/>
                      </a:lnTo>
                      <a:lnTo>
                        <a:pt x="195" y="40"/>
                      </a:lnTo>
                      <a:lnTo>
                        <a:pt x="141" y="21"/>
                      </a:lnTo>
                      <a:lnTo>
                        <a:pt x="94" y="10"/>
                      </a:lnTo>
                      <a:lnTo>
                        <a:pt x="39" y="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43" name="Freeform 24"/>
                <p:cNvSpPr>
                  <a:spLocks/>
                </p:cNvSpPr>
                <p:nvPr/>
              </p:nvSpPr>
              <p:spPr bwMode="ltGray">
                <a:xfrm>
                  <a:off x="5228" y="1503"/>
                  <a:ext cx="156" cy="117"/>
                </a:xfrm>
                <a:custGeom>
                  <a:avLst/>
                  <a:gdLst/>
                  <a:ahLst/>
                  <a:cxnLst>
                    <a:cxn ang="0">
                      <a:pos x="83" y="0"/>
                    </a:cxn>
                    <a:cxn ang="0">
                      <a:pos x="134" y="19"/>
                    </a:cxn>
                    <a:cxn ang="0">
                      <a:pos x="152" y="45"/>
                    </a:cxn>
                    <a:cxn ang="0">
                      <a:pos x="155" y="70"/>
                    </a:cxn>
                    <a:cxn ang="0">
                      <a:pos x="155" y="83"/>
                    </a:cxn>
                    <a:cxn ang="0">
                      <a:pos x="146" y="99"/>
                    </a:cxn>
                    <a:cxn ang="0">
                      <a:pos x="126" y="107"/>
                    </a:cxn>
                    <a:cxn ang="0">
                      <a:pos x="105" y="113"/>
                    </a:cxn>
                    <a:cxn ang="0">
                      <a:pos x="86" y="116"/>
                    </a:cxn>
                    <a:cxn ang="0">
                      <a:pos x="69" y="116"/>
                    </a:cxn>
                    <a:cxn ang="0">
                      <a:pos x="41" y="111"/>
                    </a:cxn>
                    <a:cxn ang="0">
                      <a:pos x="21" y="106"/>
                    </a:cxn>
                    <a:cxn ang="0">
                      <a:pos x="9" y="98"/>
                    </a:cxn>
                    <a:cxn ang="0">
                      <a:pos x="2" y="89"/>
                    </a:cxn>
                    <a:cxn ang="0">
                      <a:pos x="0" y="78"/>
                    </a:cxn>
                    <a:cxn ang="0">
                      <a:pos x="2" y="60"/>
                    </a:cxn>
                    <a:cxn ang="0">
                      <a:pos x="9" y="11"/>
                    </a:cxn>
                    <a:cxn ang="0">
                      <a:pos x="83" y="0"/>
                    </a:cxn>
                  </a:cxnLst>
                  <a:rect l="0" t="0" r="r" b="b"/>
                  <a:pathLst>
                    <a:path w="156" h="117">
                      <a:moveTo>
                        <a:pt x="83" y="0"/>
                      </a:moveTo>
                      <a:lnTo>
                        <a:pt x="134" y="19"/>
                      </a:lnTo>
                      <a:lnTo>
                        <a:pt x="152" y="45"/>
                      </a:lnTo>
                      <a:lnTo>
                        <a:pt x="155" y="70"/>
                      </a:lnTo>
                      <a:lnTo>
                        <a:pt x="155" y="83"/>
                      </a:lnTo>
                      <a:lnTo>
                        <a:pt x="146" y="99"/>
                      </a:lnTo>
                      <a:lnTo>
                        <a:pt x="126" y="107"/>
                      </a:lnTo>
                      <a:lnTo>
                        <a:pt x="105" y="113"/>
                      </a:lnTo>
                      <a:lnTo>
                        <a:pt x="86" y="116"/>
                      </a:lnTo>
                      <a:lnTo>
                        <a:pt x="69" y="116"/>
                      </a:lnTo>
                      <a:lnTo>
                        <a:pt x="41" y="111"/>
                      </a:lnTo>
                      <a:lnTo>
                        <a:pt x="21" y="106"/>
                      </a:lnTo>
                      <a:lnTo>
                        <a:pt x="9" y="98"/>
                      </a:lnTo>
                      <a:lnTo>
                        <a:pt x="2" y="89"/>
                      </a:lnTo>
                      <a:lnTo>
                        <a:pt x="0" y="78"/>
                      </a:lnTo>
                      <a:lnTo>
                        <a:pt x="2" y="60"/>
                      </a:lnTo>
                      <a:lnTo>
                        <a:pt x="9" y="11"/>
                      </a:lnTo>
                      <a:lnTo>
                        <a:pt x="83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44" name="Freeform 25"/>
                <p:cNvSpPr>
                  <a:spLocks/>
                </p:cNvSpPr>
                <p:nvPr/>
              </p:nvSpPr>
              <p:spPr bwMode="ltGray">
                <a:xfrm>
                  <a:off x="5224" y="1515"/>
                  <a:ext cx="88" cy="75"/>
                </a:xfrm>
                <a:custGeom>
                  <a:avLst/>
                  <a:gdLst/>
                  <a:ahLst/>
                  <a:cxnLst>
                    <a:cxn ang="0">
                      <a:pos x="0" y="69"/>
                    </a:cxn>
                    <a:cxn ang="0">
                      <a:pos x="11" y="0"/>
                    </a:cxn>
                    <a:cxn ang="0">
                      <a:pos x="54" y="5"/>
                    </a:cxn>
                    <a:cxn ang="0">
                      <a:pos x="87" y="9"/>
                    </a:cxn>
                    <a:cxn ang="0">
                      <a:pos x="78" y="74"/>
                    </a:cxn>
                    <a:cxn ang="0">
                      <a:pos x="75" y="59"/>
                    </a:cxn>
                    <a:cxn ang="0">
                      <a:pos x="65" y="48"/>
                    </a:cxn>
                    <a:cxn ang="0">
                      <a:pos x="47" y="44"/>
                    </a:cxn>
                    <a:cxn ang="0">
                      <a:pos x="27" y="45"/>
                    </a:cxn>
                    <a:cxn ang="0">
                      <a:pos x="11" y="52"/>
                    </a:cxn>
                    <a:cxn ang="0">
                      <a:pos x="0" y="69"/>
                    </a:cxn>
                  </a:cxnLst>
                  <a:rect l="0" t="0" r="r" b="b"/>
                  <a:pathLst>
                    <a:path w="88" h="75">
                      <a:moveTo>
                        <a:pt x="0" y="69"/>
                      </a:moveTo>
                      <a:lnTo>
                        <a:pt x="11" y="0"/>
                      </a:lnTo>
                      <a:lnTo>
                        <a:pt x="54" y="5"/>
                      </a:lnTo>
                      <a:lnTo>
                        <a:pt x="87" y="9"/>
                      </a:lnTo>
                      <a:lnTo>
                        <a:pt x="78" y="74"/>
                      </a:lnTo>
                      <a:lnTo>
                        <a:pt x="75" y="59"/>
                      </a:lnTo>
                      <a:lnTo>
                        <a:pt x="65" y="48"/>
                      </a:lnTo>
                      <a:lnTo>
                        <a:pt x="47" y="44"/>
                      </a:lnTo>
                      <a:lnTo>
                        <a:pt x="27" y="45"/>
                      </a:lnTo>
                      <a:lnTo>
                        <a:pt x="11" y="52"/>
                      </a:lnTo>
                      <a:lnTo>
                        <a:pt x="0" y="69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45" name="Freeform 26"/>
                <p:cNvSpPr>
                  <a:spLocks/>
                </p:cNvSpPr>
                <p:nvPr/>
              </p:nvSpPr>
              <p:spPr bwMode="ltGray">
                <a:xfrm>
                  <a:off x="5101" y="1295"/>
                  <a:ext cx="319" cy="286"/>
                </a:xfrm>
                <a:custGeom>
                  <a:avLst/>
                  <a:gdLst/>
                  <a:ahLst/>
                  <a:cxnLst>
                    <a:cxn ang="0">
                      <a:pos x="1" y="275"/>
                    </a:cxn>
                    <a:cxn ang="0">
                      <a:pos x="3" y="254"/>
                    </a:cxn>
                    <a:cxn ang="0">
                      <a:pos x="12" y="235"/>
                    </a:cxn>
                    <a:cxn ang="0">
                      <a:pos x="19" y="219"/>
                    </a:cxn>
                    <a:cxn ang="0">
                      <a:pos x="24" y="194"/>
                    </a:cxn>
                    <a:cxn ang="0">
                      <a:pos x="30" y="161"/>
                    </a:cxn>
                    <a:cxn ang="0">
                      <a:pos x="34" y="126"/>
                    </a:cxn>
                    <a:cxn ang="0">
                      <a:pos x="37" y="94"/>
                    </a:cxn>
                    <a:cxn ang="0">
                      <a:pos x="39" y="67"/>
                    </a:cxn>
                    <a:cxn ang="0">
                      <a:pos x="40" y="43"/>
                    </a:cxn>
                    <a:cxn ang="0">
                      <a:pos x="48" y="29"/>
                    </a:cxn>
                    <a:cxn ang="0">
                      <a:pos x="63" y="16"/>
                    </a:cxn>
                    <a:cxn ang="0">
                      <a:pos x="78" y="9"/>
                    </a:cxn>
                    <a:cxn ang="0">
                      <a:pos x="102" y="2"/>
                    </a:cxn>
                    <a:cxn ang="0">
                      <a:pos x="129" y="0"/>
                    </a:cxn>
                    <a:cxn ang="0">
                      <a:pos x="171" y="0"/>
                    </a:cxn>
                    <a:cxn ang="0">
                      <a:pos x="208" y="2"/>
                    </a:cxn>
                    <a:cxn ang="0">
                      <a:pos x="244" y="9"/>
                    </a:cxn>
                    <a:cxn ang="0">
                      <a:pos x="277" y="21"/>
                    </a:cxn>
                    <a:cxn ang="0">
                      <a:pos x="298" y="35"/>
                    </a:cxn>
                    <a:cxn ang="0">
                      <a:pos x="310" y="47"/>
                    </a:cxn>
                    <a:cxn ang="0">
                      <a:pos x="318" y="61"/>
                    </a:cxn>
                    <a:cxn ang="0">
                      <a:pos x="316" y="75"/>
                    </a:cxn>
                    <a:cxn ang="0">
                      <a:pos x="313" y="89"/>
                    </a:cxn>
                    <a:cxn ang="0">
                      <a:pos x="303" y="104"/>
                    </a:cxn>
                    <a:cxn ang="0">
                      <a:pos x="295" y="123"/>
                    </a:cxn>
                    <a:cxn ang="0">
                      <a:pos x="291" y="149"/>
                    </a:cxn>
                    <a:cxn ang="0">
                      <a:pos x="288" y="176"/>
                    </a:cxn>
                    <a:cxn ang="0">
                      <a:pos x="283" y="200"/>
                    </a:cxn>
                    <a:cxn ang="0">
                      <a:pos x="282" y="235"/>
                    </a:cxn>
                    <a:cxn ang="0">
                      <a:pos x="280" y="265"/>
                    </a:cxn>
                    <a:cxn ang="0">
                      <a:pos x="280" y="285"/>
                    </a:cxn>
                    <a:cxn ang="0">
                      <a:pos x="270" y="260"/>
                    </a:cxn>
                    <a:cxn ang="0">
                      <a:pos x="250" y="248"/>
                    </a:cxn>
                    <a:cxn ang="0">
                      <a:pos x="232" y="241"/>
                    </a:cxn>
                    <a:cxn ang="0">
                      <a:pos x="210" y="236"/>
                    </a:cxn>
                    <a:cxn ang="0">
                      <a:pos x="175" y="229"/>
                    </a:cxn>
                    <a:cxn ang="0">
                      <a:pos x="141" y="228"/>
                    </a:cxn>
                    <a:cxn ang="0">
                      <a:pos x="121" y="228"/>
                    </a:cxn>
                    <a:cxn ang="0">
                      <a:pos x="90" y="230"/>
                    </a:cxn>
                    <a:cxn ang="0">
                      <a:pos x="54" y="237"/>
                    </a:cxn>
                    <a:cxn ang="0">
                      <a:pos x="31" y="246"/>
                    </a:cxn>
                    <a:cxn ang="0">
                      <a:pos x="16" y="255"/>
                    </a:cxn>
                    <a:cxn ang="0">
                      <a:pos x="0" y="268"/>
                    </a:cxn>
                  </a:cxnLst>
                  <a:rect l="0" t="0" r="r" b="b"/>
                  <a:pathLst>
                    <a:path w="319" h="286">
                      <a:moveTo>
                        <a:pt x="1" y="275"/>
                      </a:moveTo>
                      <a:lnTo>
                        <a:pt x="3" y="254"/>
                      </a:lnTo>
                      <a:lnTo>
                        <a:pt x="12" y="235"/>
                      </a:lnTo>
                      <a:lnTo>
                        <a:pt x="19" y="219"/>
                      </a:lnTo>
                      <a:lnTo>
                        <a:pt x="24" y="194"/>
                      </a:lnTo>
                      <a:lnTo>
                        <a:pt x="30" y="161"/>
                      </a:lnTo>
                      <a:lnTo>
                        <a:pt x="34" y="126"/>
                      </a:lnTo>
                      <a:lnTo>
                        <a:pt x="37" y="94"/>
                      </a:lnTo>
                      <a:lnTo>
                        <a:pt x="39" y="67"/>
                      </a:lnTo>
                      <a:lnTo>
                        <a:pt x="40" y="43"/>
                      </a:lnTo>
                      <a:lnTo>
                        <a:pt x="48" y="29"/>
                      </a:lnTo>
                      <a:lnTo>
                        <a:pt x="63" y="16"/>
                      </a:lnTo>
                      <a:lnTo>
                        <a:pt x="78" y="9"/>
                      </a:lnTo>
                      <a:lnTo>
                        <a:pt x="102" y="2"/>
                      </a:lnTo>
                      <a:lnTo>
                        <a:pt x="129" y="0"/>
                      </a:lnTo>
                      <a:lnTo>
                        <a:pt x="171" y="0"/>
                      </a:lnTo>
                      <a:lnTo>
                        <a:pt x="208" y="2"/>
                      </a:lnTo>
                      <a:lnTo>
                        <a:pt x="244" y="9"/>
                      </a:lnTo>
                      <a:lnTo>
                        <a:pt x="277" y="21"/>
                      </a:lnTo>
                      <a:lnTo>
                        <a:pt x="298" y="35"/>
                      </a:lnTo>
                      <a:lnTo>
                        <a:pt x="310" y="47"/>
                      </a:lnTo>
                      <a:lnTo>
                        <a:pt x="318" y="61"/>
                      </a:lnTo>
                      <a:lnTo>
                        <a:pt x="316" y="75"/>
                      </a:lnTo>
                      <a:lnTo>
                        <a:pt x="313" y="89"/>
                      </a:lnTo>
                      <a:lnTo>
                        <a:pt x="303" y="104"/>
                      </a:lnTo>
                      <a:lnTo>
                        <a:pt x="295" y="123"/>
                      </a:lnTo>
                      <a:lnTo>
                        <a:pt x="291" y="149"/>
                      </a:lnTo>
                      <a:lnTo>
                        <a:pt x="288" y="176"/>
                      </a:lnTo>
                      <a:lnTo>
                        <a:pt x="283" y="200"/>
                      </a:lnTo>
                      <a:lnTo>
                        <a:pt x="282" y="235"/>
                      </a:lnTo>
                      <a:lnTo>
                        <a:pt x="280" y="265"/>
                      </a:lnTo>
                      <a:lnTo>
                        <a:pt x="280" y="285"/>
                      </a:lnTo>
                      <a:lnTo>
                        <a:pt x="270" y="260"/>
                      </a:lnTo>
                      <a:lnTo>
                        <a:pt x="250" y="248"/>
                      </a:lnTo>
                      <a:lnTo>
                        <a:pt x="232" y="241"/>
                      </a:lnTo>
                      <a:lnTo>
                        <a:pt x="210" y="236"/>
                      </a:lnTo>
                      <a:lnTo>
                        <a:pt x="175" y="229"/>
                      </a:lnTo>
                      <a:lnTo>
                        <a:pt x="141" y="228"/>
                      </a:lnTo>
                      <a:lnTo>
                        <a:pt x="121" y="228"/>
                      </a:lnTo>
                      <a:lnTo>
                        <a:pt x="90" y="230"/>
                      </a:lnTo>
                      <a:lnTo>
                        <a:pt x="54" y="237"/>
                      </a:lnTo>
                      <a:lnTo>
                        <a:pt x="31" y="246"/>
                      </a:lnTo>
                      <a:lnTo>
                        <a:pt x="16" y="255"/>
                      </a:lnTo>
                      <a:lnTo>
                        <a:pt x="0" y="268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46" name="Freeform 27"/>
                <p:cNvSpPr>
                  <a:spLocks/>
                </p:cNvSpPr>
                <p:nvPr/>
              </p:nvSpPr>
              <p:spPr bwMode="ltGray">
                <a:xfrm>
                  <a:off x="4371" y="935"/>
                  <a:ext cx="832" cy="42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356"/>
                    </a:cxn>
                    <a:cxn ang="0">
                      <a:pos x="84" y="374"/>
                    </a:cxn>
                    <a:cxn ang="0">
                      <a:pos x="153" y="393"/>
                    </a:cxn>
                    <a:cxn ang="0">
                      <a:pos x="210" y="404"/>
                    </a:cxn>
                    <a:cxn ang="0">
                      <a:pos x="258" y="410"/>
                    </a:cxn>
                    <a:cxn ang="0">
                      <a:pos x="312" y="416"/>
                    </a:cxn>
                    <a:cxn ang="0">
                      <a:pos x="402" y="419"/>
                    </a:cxn>
                    <a:cxn ang="0">
                      <a:pos x="485" y="412"/>
                    </a:cxn>
                    <a:cxn ang="0">
                      <a:pos x="570" y="399"/>
                    </a:cxn>
                    <a:cxn ang="0">
                      <a:pos x="652" y="377"/>
                    </a:cxn>
                    <a:cxn ang="0">
                      <a:pos x="724" y="347"/>
                    </a:cxn>
                    <a:cxn ang="0">
                      <a:pos x="784" y="306"/>
                    </a:cxn>
                    <a:cxn ang="0">
                      <a:pos x="829" y="291"/>
                    </a:cxn>
                    <a:cxn ang="0">
                      <a:pos x="831" y="2"/>
                    </a:cxn>
                    <a:cxn ang="0">
                      <a:pos x="786" y="9"/>
                    </a:cxn>
                    <a:cxn ang="0">
                      <a:pos x="726" y="29"/>
                    </a:cxn>
                    <a:cxn ang="0">
                      <a:pos x="654" y="55"/>
                    </a:cxn>
                    <a:cxn ang="0">
                      <a:pos x="585" y="70"/>
                    </a:cxn>
                    <a:cxn ang="0">
                      <a:pos x="515" y="78"/>
                    </a:cxn>
                    <a:cxn ang="0">
                      <a:pos x="468" y="82"/>
                    </a:cxn>
                    <a:cxn ang="0">
                      <a:pos x="428" y="84"/>
                    </a:cxn>
                    <a:cxn ang="0">
                      <a:pos x="358" y="84"/>
                    </a:cxn>
                    <a:cxn ang="0">
                      <a:pos x="314" y="81"/>
                    </a:cxn>
                    <a:cxn ang="0">
                      <a:pos x="274" y="76"/>
                    </a:cxn>
                    <a:cxn ang="0">
                      <a:pos x="229" y="73"/>
                    </a:cxn>
                    <a:cxn ang="0">
                      <a:pos x="190" y="66"/>
                    </a:cxn>
                    <a:cxn ang="0">
                      <a:pos x="140" y="57"/>
                    </a:cxn>
                    <a:cxn ang="0">
                      <a:pos x="96" y="44"/>
                    </a:cxn>
                    <a:cxn ang="0">
                      <a:pos x="49" y="24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832" h="420">
                      <a:moveTo>
                        <a:pt x="0" y="0"/>
                      </a:moveTo>
                      <a:lnTo>
                        <a:pt x="0" y="356"/>
                      </a:lnTo>
                      <a:lnTo>
                        <a:pt x="84" y="374"/>
                      </a:lnTo>
                      <a:lnTo>
                        <a:pt x="153" y="393"/>
                      </a:lnTo>
                      <a:lnTo>
                        <a:pt x="210" y="404"/>
                      </a:lnTo>
                      <a:lnTo>
                        <a:pt x="258" y="410"/>
                      </a:lnTo>
                      <a:lnTo>
                        <a:pt x="312" y="416"/>
                      </a:lnTo>
                      <a:lnTo>
                        <a:pt x="402" y="419"/>
                      </a:lnTo>
                      <a:lnTo>
                        <a:pt x="485" y="412"/>
                      </a:lnTo>
                      <a:lnTo>
                        <a:pt x="570" y="399"/>
                      </a:lnTo>
                      <a:lnTo>
                        <a:pt x="652" y="377"/>
                      </a:lnTo>
                      <a:lnTo>
                        <a:pt x="724" y="347"/>
                      </a:lnTo>
                      <a:lnTo>
                        <a:pt x="784" y="306"/>
                      </a:lnTo>
                      <a:lnTo>
                        <a:pt x="829" y="291"/>
                      </a:lnTo>
                      <a:lnTo>
                        <a:pt x="831" y="2"/>
                      </a:lnTo>
                      <a:lnTo>
                        <a:pt x="786" y="9"/>
                      </a:lnTo>
                      <a:lnTo>
                        <a:pt x="726" y="29"/>
                      </a:lnTo>
                      <a:lnTo>
                        <a:pt x="654" y="55"/>
                      </a:lnTo>
                      <a:lnTo>
                        <a:pt x="585" y="70"/>
                      </a:lnTo>
                      <a:lnTo>
                        <a:pt x="515" y="78"/>
                      </a:lnTo>
                      <a:lnTo>
                        <a:pt x="468" y="82"/>
                      </a:lnTo>
                      <a:lnTo>
                        <a:pt x="428" y="84"/>
                      </a:lnTo>
                      <a:lnTo>
                        <a:pt x="358" y="84"/>
                      </a:lnTo>
                      <a:lnTo>
                        <a:pt x="314" y="81"/>
                      </a:lnTo>
                      <a:lnTo>
                        <a:pt x="274" y="76"/>
                      </a:lnTo>
                      <a:lnTo>
                        <a:pt x="229" y="73"/>
                      </a:lnTo>
                      <a:lnTo>
                        <a:pt x="190" y="66"/>
                      </a:lnTo>
                      <a:lnTo>
                        <a:pt x="140" y="57"/>
                      </a:lnTo>
                      <a:lnTo>
                        <a:pt x="96" y="44"/>
                      </a:lnTo>
                      <a:lnTo>
                        <a:pt x="49" y="2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</p:grpSp>
          <p:sp>
            <p:nvSpPr>
              <p:cNvPr id="11" name="Freeform 29"/>
              <p:cNvSpPr>
                <a:spLocks/>
              </p:cNvSpPr>
              <p:nvPr/>
            </p:nvSpPr>
            <p:spPr bwMode="ltGray">
              <a:xfrm>
                <a:off x="5217" y="1590"/>
                <a:ext cx="156" cy="118"/>
              </a:xfrm>
              <a:custGeom>
                <a:avLst/>
                <a:gdLst/>
                <a:ahLst/>
                <a:cxnLst>
                  <a:cxn ang="0">
                    <a:pos x="83" y="0"/>
                  </a:cxn>
                  <a:cxn ang="0">
                    <a:pos x="134" y="19"/>
                  </a:cxn>
                  <a:cxn ang="0">
                    <a:pos x="152" y="46"/>
                  </a:cxn>
                  <a:cxn ang="0">
                    <a:pos x="155" y="70"/>
                  </a:cxn>
                  <a:cxn ang="0">
                    <a:pos x="155" y="84"/>
                  </a:cxn>
                  <a:cxn ang="0">
                    <a:pos x="146" y="100"/>
                  </a:cxn>
                  <a:cxn ang="0">
                    <a:pos x="126" y="108"/>
                  </a:cxn>
                  <a:cxn ang="0">
                    <a:pos x="105" y="114"/>
                  </a:cxn>
                  <a:cxn ang="0">
                    <a:pos x="86" y="117"/>
                  </a:cxn>
                  <a:cxn ang="0">
                    <a:pos x="69" y="117"/>
                  </a:cxn>
                  <a:cxn ang="0">
                    <a:pos x="41" y="112"/>
                  </a:cxn>
                  <a:cxn ang="0">
                    <a:pos x="21" y="107"/>
                  </a:cxn>
                  <a:cxn ang="0">
                    <a:pos x="9" y="98"/>
                  </a:cxn>
                  <a:cxn ang="0">
                    <a:pos x="2" y="90"/>
                  </a:cxn>
                  <a:cxn ang="0">
                    <a:pos x="0" y="78"/>
                  </a:cxn>
                  <a:cxn ang="0">
                    <a:pos x="2" y="60"/>
                  </a:cxn>
                  <a:cxn ang="0">
                    <a:pos x="9" y="11"/>
                  </a:cxn>
                  <a:cxn ang="0">
                    <a:pos x="83" y="0"/>
                  </a:cxn>
                </a:cxnLst>
                <a:rect l="0" t="0" r="r" b="b"/>
                <a:pathLst>
                  <a:path w="156" h="118">
                    <a:moveTo>
                      <a:pt x="83" y="0"/>
                    </a:moveTo>
                    <a:lnTo>
                      <a:pt x="134" y="19"/>
                    </a:lnTo>
                    <a:lnTo>
                      <a:pt x="152" y="46"/>
                    </a:lnTo>
                    <a:lnTo>
                      <a:pt x="155" y="70"/>
                    </a:lnTo>
                    <a:lnTo>
                      <a:pt x="155" y="84"/>
                    </a:lnTo>
                    <a:lnTo>
                      <a:pt x="146" y="100"/>
                    </a:lnTo>
                    <a:lnTo>
                      <a:pt x="126" y="108"/>
                    </a:lnTo>
                    <a:lnTo>
                      <a:pt x="105" y="114"/>
                    </a:lnTo>
                    <a:lnTo>
                      <a:pt x="86" y="117"/>
                    </a:lnTo>
                    <a:lnTo>
                      <a:pt x="69" y="117"/>
                    </a:lnTo>
                    <a:lnTo>
                      <a:pt x="41" y="112"/>
                    </a:lnTo>
                    <a:lnTo>
                      <a:pt x="21" y="107"/>
                    </a:lnTo>
                    <a:lnTo>
                      <a:pt x="9" y="98"/>
                    </a:lnTo>
                    <a:lnTo>
                      <a:pt x="2" y="90"/>
                    </a:lnTo>
                    <a:lnTo>
                      <a:pt x="0" y="78"/>
                    </a:lnTo>
                    <a:lnTo>
                      <a:pt x="2" y="60"/>
                    </a:lnTo>
                    <a:lnTo>
                      <a:pt x="9" y="11"/>
                    </a:lnTo>
                    <a:lnTo>
                      <a:pt x="83" y="0"/>
                    </a:lnTo>
                  </a:path>
                </a:pathLst>
              </a:custGeom>
              <a:solidFill>
                <a:schemeClr val="bg2">
                  <a:alpha val="50000"/>
                </a:schemeClr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2" name="Freeform 30"/>
              <p:cNvSpPr>
                <a:spLocks/>
              </p:cNvSpPr>
              <p:nvPr/>
            </p:nvSpPr>
            <p:spPr bwMode="ltGray">
              <a:xfrm>
                <a:off x="5213" y="1603"/>
                <a:ext cx="88" cy="74"/>
              </a:xfrm>
              <a:custGeom>
                <a:avLst/>
                <a:gdLst/>
                <a:ahLst/>
                <a:cxnLst>
                  <a:cxn ang="0">
                    <a:pos x="0" y="68"/>
                  </a:cxn>
                  <a:cxn ang="0">
                    <a:pos x="11" y="0"/>
                  </a:cxn>
                  <a:cxn ang="0">
                    <a:pos x="54" y="5"/>
                  </a:cxn>
                  <a:cxn ang="0">
                    <a:pos x="87" y="9"/>
                  </a:cxn>
                  <a:cxn ang="0">
                    <a:pos x="78" y="73"/>
                  </a:cxn>
                  <a:cxn ang="0">
                    <a:pos x="75" y="58"/>
                  </a:cxn>
                  <a:cxn ang="0">
                    <a:pos x="65" y="47"/>
                  </a:cxn>
                  <a:cxn ang="0">
                    <a:pos x="47" y="44"/>
                  </a:cxn>
                  <a:cxn ang="0">
                    <a:pos x="27" y="45"/>
                  </a:cxn>
                  <a:cxn ang="0">
                    <a:pos x="11" y="52"/>
                  </a:cxn>
                  <a:cxn ang="0">
                    <a:pos x="0" y="68"/>
                  </a:cxn>
                </a:cxnLst>
                <a:rect l="0" t="0" r="r" b="b"/>
                <a:pathLst>
                  <a:path w="88" h="74">
                    <a:moveTo>
                      <a:pt x="0" y="68"/>
                    </a:moveTo>
                    <a:lnTo>
                      <a:pt x="11" y="0"/>
                    </a:lnTo>
                    <a:lnTo>
                      <a:pt x="54" y="5"/>
                    </a:lnTo>
                    <a:lnTo>
                      <a:pt x="87" y="9"/>
                    </a:lnTo>
                    <a:lnTo>
                      <a:pt x="78" y="73"/>
                    </a:lnTo>
                    <a:lnTo>
                      <a:pt x="75" y="58"/>
                    </a:lnTo>
                    <a:lnTo>
                      <a:pt x="65" y="47"/>
                    </a:lnTo>
                    <a:lnTo>
                      <a:pt x="47" y="44"/>
                    </a:lnTo>
                    <a:lnTo>
                      <a:pt x="27" y="45"/>
                    </a:lnTo>
                    <a:lnTo>
                      <a:pt x="11" y="52"/>
                    </a:lnTo>
                    <a:lnTo>
                      <a:pt x="0" y="68"/>
                    </a:lnTo>
                  </a:path>
                </a:pathLst>
              </a:custGeom>
              <a:solidFill>
                <a:schemeClr val="bg2">
                  <a:alpha val="50000"/>
                </a:schemeClr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3" name="Freeform 31"/>
              <p:cNvSpPr>
                <a:spLocks/>
              </p:cNvSpPr>
              <p:nvPr/>
            </p:nvSpPr>
            <p:spPr bwMode="ltGray">
              <a:xfrm>
                <a:off x="423" y="1581"/>
                <a:ext cx="156" cy="118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21" y="19"/>
                  </a:cxn>
                  <a:cxn ang="0">
                    <a:pos x="3" y="46"/>
                  </a:cxn>
                  <a:cxn ang="0">
                    <a:pos x="0" y="70"/>
                  </a:cxn>
                  <a:cxn ang="0">
                    <a:pos x="0" y="84"/>
                  </a:cxn>
                  <a:cxn ang="0">
                    <a:pos x="9" y="100"/>
                  </a:cxn>
                  <a:cxn ang="0">
                    <a:pos x="29" y="108"/>
                  </a:cxn>
                  <a:cxn ang="0">
                    <a:pos x="50" y="114"/>
                  </a:cxn>
                  <a:cxn ang="0">
                    <a:pos x="69" y="117"/>
                  </a:cxn>
                  <a:cxn ang="0">
                    <a:pos x="86" y="117"/>
                  </a:cxn>
                  <a:cxn ang="0">
                    <a:pos x="114" y="112"/>
                  </a:cxn>
                  <a:cxn ang="0">
                    <a:pos x="134" y="107"/>
                  </a:cxn>
                  <a:cxn ang="0">
                    <a:pos x="146" y="98"/>
                  </a:cxn>
                  <a:cxn ang="0">
                    <a:pos x="153" y="90"/>
                  </a:cxn>
                  <a:cxn ang="0">
                    <a:pos x="155" y="78"/>
                  </a:cxn>
                  <a:cxn ang="0">
                    <a:pos x="153" y="60"/>
                  </a:cxn>
                  <a:cxn ang="0">
                    <a:pos x="146" y="11"/>
                  </a:cxn>
                  <a:cxn ang="0">
                    <a:pos x="72" y="0"/>
                  </a:cxn>
                </a:cxnLst>
                <a:rect l="0" t="0" r="r" b="b"/>
                <a:pathLst>
                  <a:path w="156" h="118">
                    <a:moveTo>
                      <a:pt x="72" y="0"/>
                    </a:moveTo>
                    <a:lnTo>
                      <a:pt x="21" y="19"/>
                    </a:lnTo>
                    <a:lnTo>
                      <a:pt x="3" y="46"/>
                    </a:lnTo>
                    <a:lnTo>
                      <a:pt x="0" y="70"/>
                    </a:lnTo>
                    <a:lnTo>
                      <a:pt x="0" y="84"/>
                    </a:lnTo>
                    <a:lnTo>
                      <a:pt x="9" y="100"/>
                    </a:lnTo>
                    <a:lnTo>
                      <a:pt x="29" y="108"/>
                    </a:lnTo>
                    <a:lnTo>
                      <a:pt x="50" y="114"/>
                    </a:lnTo>
                    <a:lnTo>
                      <a:pt x="69" y="117"/>
                    </a:lnTo>
                    <a:lnTo>
                      <a:pt x="86" y="117"/>
                    </a:lnTo>
                    <a:lnTo>
                      <a:pt x="114" y="112"/>
                    </a:lnTo>
                    <a:lnTo>
                      <a:pt x="134" y="107"/>
                    </a:lnTo>
                    <a:lnTo>
                      <a:pt x="146" y="98"/>
                    </a:lnTo>
                    <a:lnTo>
                      <a:pt x="153" y="90"/>
                    </a:lnTo>
                    <a:lnTo>
                      <a:pt x="155" y="78"/>
                    </a:lnTo>
                    <a:lnTo>
                      <a:pt x="153" y="60"/>
                    </a:lnTo>
                    <a:lnTo>
                      <a:pt x="146" y="11"/>
                    </a:lnTo>
                    <a:lnTo>
                      <a:pt x="72" y="0"/>
                    </a:lnTo>
                  </a:path>
                </a:pathLst>
              </a:custGeom>
              <a:solidFill>
                <a:schemeClr val="bg2">
                  <a:alpha val="50000"/>
                </a:schemeClr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4" name="Freeform 32"/>
              <p:cNvSpPr>
                <a:spLocks/>
              </p:cNvSpPr>
              <p:nvPr/>
            </p:nvSpPr>
            <p:spPr bwMode="ltGray">
              <a:xfrm>
                <a:off x="495" y="1595"/>
                <a:ext cx="88" cy="74"/>
              </a:xfrm>
              <a:custGeom>
                <a:avLst/>
                <a:gdLst/>
                <a:ahLst/>
                <a:cxnLst>
                  <a:cxn ang="0">
                    <a:pos x="87" y="67"/>
                  </a:cxn>
                  <a:cxn ang="0">
                    <a:pos x="76" y="0"/>
                  </a:cxn>
                  <a:cxn ang="0">
                    <a:pos x="33" y="5"/>
                  </a:cxn>
                  <a:cxn ang="0">
                    <a:pos x="0" y="8"/>
                  </a:cxn>
                  <a:cxn ang="0">
                    <a:pos x="9" y="73"/>
                  </a:cxn>
                  <a:cxn ang="0">
                    <a:pos x="12" y="57"/>
                  </a:cxn>
                  <a:cxn ang="0">
                    <a:pos x="22" y="47"/>
                  </a:cxn>
                  <a:cxn ang="0">
                    <a:pos x="40" y="43"/>
                  </a:cxn>
                  <a:cxn ang="0">
                    <a:pos x="60" y="44"/>
                  </a:cxn>
                  <a:cxn ang="0">
                    <a:pos x="76" y="51"/>
                  </a:cxn>
                  <a:cxn ang="0">
                    <a:pos x="87" y="67"/>
                  </a:cxn>
                </a:cxnLst>
                <a:rect l="0" t="0" r="r" b="b"/>
                <a:pathLst>
                  <a:path w="88" h="74">
                    <a:moveTo>
                      <a:pt x="87" y="67"/>
                    </a:moveTo>
                    <a:lnTo>
                      <a:pt x="76" y="0"/>
                    </a:lnTo>
                    <a:lnTo>
                      <a:pt x="33" y="5"/>
                    </a:lnTo>
                    <a:lnTo>
                      <a:pt x="0" y="8"/>
                    </a:lnTo>
                    <a:lnTo>
                      <a:pt x="9" y="73"/>
                    </a:lnTo>
                    <a:lnTo>
                      <a:pt x="12" y="57"/>
                    </a:lnTo>
                    <a:lnTo>
                      <a:pt x="22" y="47"/>
                    </a:lnTo>
                    <a:lnTo>
                      <a:pt x="40" y="43"/>
                    </a:lnTo>
                    <a:lnTo>
                      <a:pt x="60" y="44"/>
                    </a:lnTo>
                    <a:lnTo>
                      <a:pt x="76" y="51"/>
                    </a:lnTo>
                    <a:lnTo>
                      <a:pt x="87" y="67"/>
                    </a:lnTo>
                  </a:path>
                </a:pathLst>
              </a:custGeom>
              <a:solidFill>
                <a:schemeClr val="bg2">
                  <a:alpha val="50000"/>
                </a:schemeClr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5" name="Line 33"/>
              <p:cNvSpPr>
                <a:spLocks noChangeShapeType="1"/>
              </p:cNvSpPr>
              <p:nvPr/>
            </p:nvSpPr>
            <p:spPr bwMode="ltGray">
              <a:xfrm flipV="1">
                <a:off x="1968" y="1166"/>
                <a:ext cx="192" cy="87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6" name="Freeform 34"/>
              <p:cNvSpPr>
                <a:spLocks/>
              </p:cNvSpPr>
              <p:nvPr/>
            </p:nvSpPr>
            <p:spPr bwMode="ltGray">
              <a:xfrm>
                <a:off x="1356" y="879"/>
                <a:ext cx="2967" cy="457"/>
              </a:xfrm>
              <a:custGeom>
                <a:avLst/>
                <a:gdLst/>
                <a:ahLst/>
                <a:cxnLst>
                  <a:cxn ang="0">
                    <a:pos x="0" y="122"/>
                  </a:cxn>
                  <a:cxn ang="0">
                    <a:pos x="207" y="78"/>
                  </a:cxn>
                  <a:cxn ang="0">
                    <a:pos x="442" y="48"/>
                  </a:cxn>
                  <a:cxn ang="0">
                    <a:pos x="640" y="32"/>
                  </a:cxn>
                  <a:cxn ang="0">
                    <a:pos x="897" y="16"/>
                  </a:cxn>
                  <a:cxn ang="0">
                    <a:pos x="1215" y="2"/>
                  </a:cxn>
                  <a:cxn ang="0">
                    <a:pos x="1392" y="0"/>
                  </a:cxn>
                  <a:cxn ang="0">
                    <a:pos x="1710" y="0"/>
                  </a:cxn>
                  <a:cxn ang="0">
                    <a:pos x="1997" y="10"/>
                  </a:cxn>
                  <a:cxn ang="0">
                    <a:pos x="2258" y="21"/>
                  </a:cxn>
                  <a:cxn ang="0">
                    <a:pos x="2493" y="38"/>
                  </a:cxn>
                  <a:cxn ang="0">
                    <a:pos x="2674" y="54"/>
                  </a:cxn>
                  <a:cxn ang="0">
                    <a:pos x="2828" y="73"/>
                  </a:cxn>
                  <a:cxn ang="0">
                    <a:pos x="2966" y="92"/>
                  </a:cxn>
                  <a:cxn ang="0">
                    <a:pos x="2966" y="456"/>
                  </a:cxn>
                  <a:cxn ang="0">
                    <a:pos x="2833" y="434"/>
                  </a:cxn>
                  <a:cxn ang="0">
                    <a:pos x="2563" y="399"/>
                  </a:cxn>
                  <a:cxn ang="0">
                    <a:pos x="2382" y="382"/>
                  </a:cxn>
                  <a:cxn ang="0">
                    <a:pos x="2134" y="366"/>
                  </a:cxn>
                  <a:cxn ang="0">
                    <a:pos x="1944" y="358"/>
                  </a:cxn>
                  <a:cxn ang="0">
                    <a:pos x="1746" y="350"/>
                  </a:cxn>
                  <a:cxn ang="0">
                    <a:pos x="1529" y="350"/>
                  </a:cxn>
                  <a:cxn ang="0">
                    <a:pos x="1295" y="350"/>
                  </a:cxn>
                  <a:cxn ang="0">
                    <a:pos x="1047" y="355"/>
                  </a:cxn>
                  <a:cxn ang="0">
                    <a:pos x="853" y="363"/>
                  </a:cxn>
                  <a:cxn ang="0">
                    <a:pos x="654" y="374"/>
                  </a:cxn>
                  <a:cxn ang="0">
                    <a:pos x="468" y="388"/>
                  </a:cxn>
                  <a:cxn ang="0">
                    <a:pos x="296" y="404"/>
                  </a:cxn>
                  <a:cxn ang="0">
                    <a:pos x="150" y="423"/>
                  </a:cxn>
                  <a:cxn ang="0">
                    <a:pos x="13" y="445"/>
                  </a:cxn>
                  <a:cxn ang="0">
                    <a:pos x="0" y="122"/>
                  </a:cxn>
                </a:cxnLst>
                <a:rect l="0" t="0" r="r" b="b"/>
                <a:pathLst>
                  <a:path w="2967" h="457">
                    <a:moveTo>
                      <a:pt x="0" y="122"/>
                    </a:moveTo>
                    <a:lnTo>
                      <a:pt x="207" y="78"/>
                    </a:lnTo>
                    <a:lnTo>
                      <a:pt x="442" y="48"/>
                    </a:lnTo>
                    <a:lnTo>
                      <a:pt x="640" y="32"/>
                    </a:lnTo>
                    <a:lnTo>
                      <a:pt x="897" y="16"/>
                    </a:lnTo>
                    <a:lnTo>
                      <a:pt x="1215" y="2"/>
                    </a:lnTo>
                    <a:lnTo>
                      <a:pt x="1392" y="0"/>
                    </a:lnTo>
                    <a:lnTo>
                      <a:pt x="1710" y="0"/>
                    </a:lnTo>
                    <a:lnTo>
                      <a:pt x="1997" y="10"/>
                    </a:lnTo>
                    <a:lnTo>
                      <a:pt x="2258" y="21"/>
                    </a:lnTo>
                    <a:lnTo>
                      <a:pt x="2493" y="38"/>
                    </a:lnTo>
                    <a:lnTo>
                      <a:pt x="2674" y="54"/>
                    </a:lnTo>
                    <a:lnTo>
                      <a:pt x="2828" y="73"/>
                    </a:lnTo>
                    <a:lnTo>
                      <a:pt x="2966" y="92"/>
                    </a:lnTo>
                    <a:lnTo>
                      <a:pt x="2966" y="456"/>
                    </a:lnTo>
                    <a:lnTo>
                      <a:pt x="2833" y="434"/>
                    </a:lnTo>
                    <a:lnTo>
                      <a:pt x="2563" y="399"/>
                    </a:lnTo>
                    <a:lnTo>
                      <a:pt x="2382" y="382"/>
                    </a:lnTo>
                    <a:lnTo>
                      <a:pt x="2134" y="366"/>
                    </a:lnTo>
                    <a:lnTo>
                      <a:pt x="1944" y="358"/>
                    </a:lnTo>
                    <a:lnTo>
                      <a:pt x="1746" y="350"/>
                    </a:lnTo>
                    <a:lnTo>
                      <a:pt x="1529" y="350"/>
                    </a:lnTo>
                    <a:lnTo>
                      <a:pt x="1295" y="350"/>
                    </a:lnTo>
                    <a:lnTo>
                      <a:pt x="1047" y="355"/>
                    </a:lnTo>
                    <a:lnTo>
                      <a:pt x="853" y="363"/>
                    </a:lnTo>
                    <a:lnTo>
                      <a:pt x="654" y="374"/>
                    </a:lnTo>
                    <a:lnTo>
                      <a:pt x="468" y="388"/>
                    </a:lnTo>
                    <a:lnTo>
                      <a:pt x="296" y="404"/>
                    </a:lnTo>
                    <a:lnTo>
                      <a:pt x="150" y="423"/>
                    </a:lnTo>
                    <a:lnTo>
                      <a:pt x="13" y="445"/>
                    </a:lnTo>
                    <a:lnTo>
                      <a:pt x="0" y="122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7" name="Freeform 35"/>
              <p:cNvSpPr>
                <a:spLocks/>
              </p:cNvSpPr>
              <p:nvPr/>
            </p:nvSpPr>
            <p:spPr bwMode="ltGray">
              <a:xfrm>
                <a:off x="555" y="975"/>
                <a:ext cx="823" cy="431"/>
              </a:xfrm>
              <a:custGeom>
                <a:avLst/>
                <a:gdLst/>
                <a:ahLst/>
                <a:cxnLst>
                  <a:cxn ang="0">
                    <a:pos x="815" y="27"/>
                  </a:cxn>
                  <a:cxn ang="0">
                    <a:pos x="822" y="350"/>
                  </a:cxn>
                  <a:cxn ang="0">
                    <a:pos x="746" y="382"/>
                  </a:cxn>
                  <a:cxn ang="0">
                    <a:pos x="676" y="404"/>
                  </a:cxn>
                  <a:cxn ang="0">
                    <a:pos x="619" y="415"/>
                  </a:cxn>
                  <a:cxn ang="0">
                    <a:pos x="571" y="421"/>
                  </a:cxn>
                  <a:cxn ang="0">
                    <a:pos x="517" y="427"/>
                  </a:cxn>
                  <a:cxn ang="0">
                    <a:pos x="427" y="430"/>
                  </a:cxn>
                  <a:cxn ang="0">
                    <a:pos x="344" y="423"/>
                  </a:cxn>
                  <a:cxn ang="0">
                    <a:pos x="259" y="410"/>
                  </a:cxn>
                  <a:cxn ang="0">
                    <a:pos x="177" y="388"/>
                  </a:cxn>
                  <a:cxn ang="0">
                    <a:pos x="105" y="358"/>
                  </a:cxn>
                  <a:cxn ang="0">
                    <a:pos x="41" y="325"/>
                  </a:cxn>
                  <a:cxn ang="0">
                    <a:pos x="0" y="294"/>
                  </a:cxn>
                  <a:cxn ang="0">
                    <a:pos x="0" y="0"/>
                  </a:cxn>
                  <a:cxn ang="0">
                    <a:pos x="46" y="25"/>
                  </a:cxn>
                  <a:cxn ang="0">
                    <a:pos x="105" y="47"/>
                  </a:cxn>
                  <a:cxn ang="0">
                    <a:pos x="175" y="66"/>
                  </a:cxn>
                  <a:cxn ang="0">
                    <a:pos x="244" y="81"/>
                  </a:cxn>
                  <a:cxn ang="0">
                    <a:pos x="314" y="89"/>
                  </a:cxn>
                  <a:cxn ang="0">
                    <a:pos x="361" y="93"/>
                  </a:cxn>
                  <a:cxn ang="0">
                    <a:pos x="401" y="95"/>
                  </a:cxn>
                  <a:cxn ang="0">
                    <a:pos x="471" y="95"/>
                  </a:cxn>
                  <a:cxn ang="0">
                    <a:pos x="515" y="92"/>
                  </a:cxn>
                  <a:cxn ang="0">
                    <a:pos x="555" y="87"/>
                  </a:cxn>
                  <a:cxn ang="0">
                    <a:pos x="600" y="84"/>
                  </a:cxn>
                  <a:cxn ang="0">
                    <a:pos x="640" y="76"/>
                  </a:cxn>
                  <a:cxn ang="0">
                    <a:pos x="689" y="67"/>
                  </a:cxn>
                  <a:cxn ang="0">
                    <a:pos x="733" y="55"/>
                  </a:cxn>
                  <a:cxn ang="0">
                    <a:pos x="777" y="41"/>
                  </a:cxn>
                  <a:cxn ang="0">
                    <a:pos x="815" y="27"/>
                  </a:cxn>
                </a:cxnLst>
                <a:rect l="0" t="0" r="r" b="b"/>
                <a:pathLst>
                  <a:path w="823" h="431">
                    <a:moveTo>
                      <a:pt x="815" y="27"/>
                    </a:moveTo>
                    <a:lnTo>
                      <a:pt x="822" y="350"/>
                    </a:lnTo>
                    <a:lnTo>
                      <a:pt x="746" y="382"/>
                    </a:lnTo>
                    <a:lnTo>
                      <a:pt x="676" y="404"/>
                    </a:lnTo>
                    <a:lnTo>
                      <a:pt x="619" y="415"/>
                    </a:lnTo>
                    <a:lnTo>
                      <a:pt x="571" y="421"/>
                    </a:lnTo>
                    <a:lnTo>
                      <a:pt x="517" y="427"/>
                    </a:lnTo>
                    <a:lnTo>
                      <a:pt x="427" y="430"/>
                    </a:lnTo>
                    <a:lnTo>
                      <a:pt x="344" y="423"/>
                    </a:lnTo>
                    <a:lnTo>
                      <a:pt x="259" y="410"/>
                    </a:lnTo>
                    <a:lnTo>
                      <a:pt x="177" y="388"/>
                    </a:lnTo>
                    <a:lnTo>
                      <a:pt x="105" y="358"/>
                    </a:lnTo>
                    <a:lnTo>
                      <a:pt x="41" y="325"/>
                    </a:lnTo>
                    <a:lnTo>
                      <a:pt x="0" y="294"/>
                    </a:lnTo>
                    <a:lnTo>
                      <a:pt x="0" y="0"/>
                    </a:lnTo>
                    <a:lnTo>
                      <a:pt x="46" y="25"/>
                    </a:lnTo>
                    <a:lnTo>
                      <a:pt x="105" y="47"/>
                    </a:lnTo>
                    <a:lnTo>
                      <a:pt x="175" y="66"/>
                    </a:lnTo>
                    <a:lnTo>
                      <a:pt x="244" y="81"/>
                    </a:lnTo>
                    <a:lnTo>
                      <a:pt x="314" y="89"/>
                    </a:lnTo>
                    <a:lnTo>
                      <a:pt x="361" y="93"/>
                    </a:lnTo>
                    <a:lnTo>
                      <a:pt x="401" y="95"/>
                    </a:lnTo>
                    <a:lnTo>
                      <a:pt x="471" y="95"/>
                    </a:lnTo>
                    <a:lnTo>
                      <a:pt x="515" y="92"/>
                    </a:lnTo>
                    <a:lnTo>
                      <a:pt x="555" y="87"/>
                    </a:lnTo>
                    <a:lnTo>
                      <a:pt x="600" y="84"/>
                    </a:lnTo>
                    <a:lnTo>
                      <a:pt x="640" y="76"/>
                    </a:lnTo>
                    <a:lnTo>
                      <a:pt x="689" y="67"/>
                    </a:lnTo>
                    <a:lnTo>
                      <a:pt x="733" y="55"/>
                    </a:lnTo>
                    <a:lnTo>
                      <a:pt x="777" y="41"/>
                    </a:lnTo>
                    <a:lnTo>
                      <a:pt x="815" y="27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8" name="Freeform 36"/>
              <p:cNvSpPr>
                <a:spLocks/>
              </p:cNvSpPr>
              <p:nvPr/>
            </p:nvSpPr>
            <p:spPr bwMode="ltGray">
              <a:xfrm>
                <a:off x="102" y="1389"/>
                <a:ext cx="551" cy="340"/>
              </a:xfrm>
              <a:custGeom>
                <a:avLst/>
                <a:gdLst/>
                <a:ahLst/>
                <a:cxnLst>
                  <a:cxn ang="0">
                    <a:pos x="16" y="53"/>
                  </a:cxn>
                  <a:cxn ang="0">
                    <a:pos x="0" y="122"/>
                  </a:cxn>
                  <a:cxn ang="0">
                    <a:pos x="10" y="146"/>
                  </a:cxn>
                  <a:cxn ang="0">
                    <a:pos x="33" y="184"/>
                  </a:cxn>
                  <a:cxn ang="0">
                    <a:pos x="57" y="217"/>
                  </a:cxn>
                  <a:cxn ang="0">
                    <a:pos x="85" y="244"/>
                  </a:cxn>
                  <a:cxn ang="0">
                    <a:pos x="120" y="271"/>
                  </a:cxn>
                  <a:cxn ang="0">
                    <a:pos x="153" y="290"/>
                  </a:cxn>
                  <a:cxn ang="0">
                    <a:pos x="189" y="309"/>
                  </a:cxn>
                  <a:cxn ang="0">
                    <a:pos x="235" y="325"/>
                  </a:cxn>
                  <a:cxn ang="0">
                    <a:pos x="270" y="333"/>
                  </a:cxn>
                  <a:cxn ang="0">
                    <a:pos x="312" y="339"/>
                  </a:cxn>
                  <a:cxn ang="0">
                    <a:pos x="351" y="339"/>
                  </a:cxn>
                  <a:cxn ang="0">
                    <a:pos x="393" y="334"/>
                  </a:cxn>
                  <a:cxn ang="0">
                    <a:pos x="436" y="322"/>
                  </a:cxn>
                  <a:cxn ang="0">
                    <a:pos x="475" y="303"/>
                  </a:cxn>
                  <a:cxn ang="0">
                    <a:pos x="498" y="287"/>
                  </a:cxn>
                  <a:cxn ang="0">
                    <a:pos x="526" y="263"/>
                  </a:cxn>
                  <a:cxn ang="0">
                    <a:pos x="541" y="243"/>
                  </a:cxn>
                  <a:cxn ang="0">
                    <a:pos x="550" y="227"/>
                  </a:cxn>
                  <a:cxn ang="0">
                    <a:pos x="550" y="209"/>
                  </a:cxn>
                  <a:cxn ang="0">
                    <a:pos x="544" y="187"/>
                  </a:cxn>
                  <a:cxn ang="0">
                    <a:pos x="532" y="171"/>
                  </a:cxn>
                  <a:cxn ang="0">
                    <a:pos x="523" y="135"/>
                  </a:cxn>
                  <a:cxn ang="0">
                    <a:pos x="519" y="116"/>
                  </a:cxn>
                  <a:cxn ang="0">
                    <a:pos x="267" y="133"/>
                  </a:cxn>
                  <a:cxn ang="0">
                    <a:pos x="234" y="126"/>
                  </a:cxn>
                  <a:cxn ang="0">
                    <a:pos x="193" y="114"/>
                  </a:cxn>
                  <a:cxn ang="0">
                    <a:pos x="162" y="97"/>
                  </a:cxn>
                  <a:cxn ang="0">
                    <a:pos x="129" y="77"/>
                  </a:cxn>
                  <a:cxn ang="0">
                    <a:pos x="97" y="48"/>
                  </a:cxn>
                  <a:cxn ang="0">
                    <a:pos x="78" y="24"/>
                  </a:cxn>
                  <a:cxn ang="0">
                    <a:pos x="60" y="0"/>
                  </a:cxn>
                  <a:cxn ang="0">
                    <a:pos x="16" y="53"/>
                  </a:cxn>
                </a:cxnLst>
                <a:rect l="0" t="0" r="r" b="b"/>
                <a:pathLst>
                  <a:path w="551" h="340">
                    <a:moveTo>
                      <a:pt x="16" y="53"/>
                    </a:moveTo>
                    <a:lnTo>
                      <a:pt x="0" y="122"/>
                    </a:lnTo>
                    <a:lnTo>
                      <a:pt x="10" y="146"/>
                    </a:lnTo>
                    <a:lnTo>
                      <a:pt x="33" y="184"/>
                    </a:lnTo>
                    <a:lnTo>
                      <a:pt x="57" y="217"/>
                    </a:lnTo>
                    <a:lnTo>
                      <a:pt x="85" y="244"/>
                    </a:lnTo>
                    <a:lnTo>
                      <a:pt x="120" y="271"/>
                    </a:lnTo>
                    <a:lnTo>
                      <a:pt x="153" y="290"/>
                    </a:lnTo>
                    <a:lnTo>
                      <a:pt x="189" y="309"/>
                    </a:lnTo>
                    <a:lnTo>
                      <a:pt x="235" y="325"/>
                    </a:lnTo>
                    <a:lnTo>
                      <a:pt x="270" y="333"/>
                    </a:lnTo>
                    <a:lnTo>
                      <a:pt x="312" y="339"/>
                    </a:lnTo>
                    <a:lnTo>
                      <a:pt x="351" y="339"/>
                    </a:lnTo>
                    <a:lnTo>
                      <a:pt x="393" y="334"/>
                    </a:lnTo>
                    <a:lnTo>
                      <a:pt x="436" y="322"/>
                    </a:lnTo>
                    <a:lnTo>
                      <a:pt x="475" y="303"/>
                    </a:lnTo>
                    <a:lnTo>
                      <a:pt x="498" y="287"/>
                    </a:lnTo>
                    <a:lnTo>
                      <a:pt x="526" y="263"/>
                    </a:lnTo>
                    <a:lnTo>
                      <a:pt x="541" y="243"/>
                    </a:lnTo>
                    <a:lnTo>
                      <a:pt x="550" y="227"/>
                    </a:lnTo>
                    <a:lnTo>
                      <a:pt x="550" y="209"/>
                    </a:lnTo>
                    <a:lnTo>
                      <a:pt x="544" y="187"/>
                    </a:lnTo>
                    <a:lnTo>
                      <a:pt x="532" y="171"/>
                    </a:lnTo>
                    <a:lnTo>
                      <a:pt x="523" y="135"/>
                    </a:lnTo>
                    <a:lnTo>
                      <a:pt x="519" y="116"/>
                    </a:lnTo>
                    <a:lnTo>
                      <a:pt x="267" y="133"/>
                    </a:lnTo>
                    <a:lnTo>
                      <a:pt x="234" y="126"/>
                    </a:lnTo>
                    <a:lnTo>
                      <a:pt x="193" y="114"/>
                    </a:lnTo>
                    <a:lnTo>
                      <a:pt x="162" y="97"/>
                    </a:lnTo>
                    <a:lnTo>
                      <a:pt x="129" y="77"/>
                    </a:lnTo>
                    <a:lnTo>
                      <a:pt x="97" y="48"/>
                    </a:lnTo>
                    <a:lnTo>
                      <a:pt x="78" y="24"/>
                    </a:lnTo>
                    <a:lnTo>
                      <a:pt x="60" y="0"/>
                    </a:lnTo>
                    <a:lnTo>
                      <a:pt x="16" y="53"/>
                    </a:lnTo>
                  </a:path>
                </a:pathLst>
              </a:custGeom>
              <a:gradFill rotWithShape="0">
                <a:gsLst>
                  <a:gs pos="0">
                    <a:schemeClr val="hlink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9" name="Freeform 37"/>
              <p:cNvSpPr>
                <a:spLocks/>
              </p:cNvSpPr>
              <p:nvPr/>
            </p:nvSpPr>
            <p:spPr bwMode="ltGray">
              <a:xfrm>
                <a:off x="82" y="976"/>
                <a:ext cx="475" cy="552"/>
              </a:xfrm>
              <a:custGeom>
                <a:avLst/>
                <a:gdLst/>
                <a:ahLst/>
                <a:cxnLst>
                  <a:cxn ang="0">
                    <a:pos x="474" y="0"/>
                  </a:cxn>
                  <a:cxn ang="0">
                    <a:pos x="474" y="294"/>
                  </a:cxn>
                  <a:cxn ang="0">
                    <a:pos x="446" y="291"/>
                  </a:cxn>
                  <a:cxn ang="0">
                    <a:pos x="411" y="293"/>
                  </a:cxn>
                  <a:cxn ang="0">
                    <a:pos x="353" y="299"/>
                  </a:cxn>
                  <a:cxn ang="0">
                    <a:pos x="296" y="310"/>
                  </a:cxn>
                  <a:cxn ang="0">
                    <a:pos x="243" y="323"/>
                  </a:cxn>
                  <a:cxn ang="0">
                    <a:pos x="200" y="339"/>
                  </a:cxn>
                  <a:cxn ang="0">
                    <a:pos x="149" y="364"/>
                  </a:cxn>
                  <a:cxn ang="0">
                    <a:pos x="110" y="390"/>
                  </a:cxn>
                  <a:cxn ang="0">
                    <a:pos x="81" y="415"/>
                  </a:cxn>
                  <a:cxn ang="0">
                    <a:pos x="60" y="439"/>
                  </a:cxn>
                  <a:cxn ang="0">
                    <a:pos x="47" y="461"/>
                  </a:cxn>
                  <a:cxn ang="0">
                    <a:pos x="35" y="488"/>
                  </a:cxn>
                  <a:cxn ang="0">
                    <a:pos x="30" y="513"/>
                  </a:cxn>
                  <a:cxn ang="0">
                    <a:pos x="23" y="551"/>
                  </a:cxn>
                  <a:cxn ang="0">
                    <a:pos x="17" y="518"/>
                  </a:cxn>
                  <a:cxn ang="0">
                    <a:pos x="8" y="481"/>
                  </a:cxn>
                  <a:cxn ang="0">
                    <a:pos x="5" y="453"/>
                  </a:cxn>
                  <a:cxn ang="0">
                    <a:pos x="0" y="420"/>
                  </a:cxn>
                  <a:cxn ang="0">
                    <a:pos x="2" y="393"/>
                  </a:cxn>
                  <a:cxn ang="0">
                    <a:pos x="8" y="361"/>
                  </a:cxn>
                  <a:cxn ang="0">
                    <a:pos x="15" y="317"/>
                  </a:cxn>
                  <a:cxn ang="0">
                    <a:pos x="30" y="279"/>
                  </a:cxn>
                  <a:cxn ang="0">
                    <a:pos x="50" y="238"/>
                  </a:cxn>
                  <a:cxn ang="0">
                    <a:pos x="75" y="196"/>
                  </a:cxn>
                  <a:cxn ang="0">
                    <a:pos x="111" y="152"/>
                  </a:cxn>
                  <a:cxn ang="0">
                    <a:pos x="152" y="116"/>
                  </a:cxn>
                  <a:cxn ang="0">
                    <a:pos x="188" y="87"/>
                  </a:cxn>
                  <a:cxn ang="0">
                    <a:pos x="233" y="60"/>
                  </a:cxn>
                  <a:cxn ang="0">
                    <a:pos x="279" y="40"/>
                  </a:cxn>
                  <a:cxn ang="0">
                    <a:pos x="333" y="21"/>
                  </a:cxn>
                  <a:cxn ang="0">
                    <a:pos x="380" y="10"/>
                  </a:cxn>
                  <a:cxn ang="0">
                    <a:pos x="435" y="3"/>
                  </a:cxn>
                  <a:cxn ang="0">
                    <a:pos x="474" y="0"/>
                  </a:cxn>
                </a:cxnLst>
                <a:rect l="0" t="0" r="r" b="b"/>
                <a:pathLst>
                  <a:path w="475" h="552">
                    <a:moveTo>
                      <a:pt x="474" y="0"/>
                    </a:moveTo>
                    <a:lnTo>
                      <a:pt x="474" y="294"/>
                    </a:lnTo>
                    <a:lnTo>
                      <a:pt x="446" y="291"/>
                    </a:lnTo>
                    <a:lnTo>
                      <a:pt x="411" y="293"/>
                    </a:lnTo>
                    <a:lnTo>
                      <a:pt x="353" y="299"/>
                    </a:lnTo>
                    <a:lnTo>
                      <a:pt x="296" y="310"/>
                    </a:lnTo>
                    <a:lnTo>
                      <a:pt x="243" y="323"/>
                    </a:lnTo>
                    <a:lnTo>
                      <a:pt x="200" y="339"/>
                    </a:lnTo>
                    <a:lnTo>
                      <a:pt x="149" y="364"/>
                    </a:lnTo>
                    <a:lnTo>
                      <a:pt x="110" y="390"/>
                    </a:lnTo>
                    <a:lnTo>
                      <a:pt x="81" y="415"/>
                    </a:lnTo>
                    <a:lnTo>
                      <a:pt x="60" y="439"/>
                    </a:lnTo>
                    <a:lnTo>
                      <a:pt x="47" y="461"/>
                    </a:lnTo>
                    <a:lnTo>
                      <a:pt x="35" y="488"/>
                    </a:lnTo>
                    <a:lnTo>
                      <a:pt x="30" y="513"/>
                    </a:lnTo>
                    <a:lnTo>
                      <a:pt x="23" y="551"/>
                    </a:lnTo>
                    <a:lnTo>
                      <a:pt x="17" y="518"/>
                    </a:lnTo>
                    <a:lnTo>
                      <a:pt x="8" y="481"/>
                    </a:lnTo>
                    <a:lnTo>
                      <a:pt x="5" y="453"/>
                    </a:lnTo>
                    <a:lnTo>
                      <a:pt x="0" y="420"/>
                    </a:lnTo>
                    <a:lnTo>
                      <a:pt x="2" y="393"/>
                    </a:lnTo>
                    <a:lnTo>
                      <a:pt x="8" y="361"/>
                    </a:lnTo>
                    <a:lnTo>
                      <a:pt x="15" y="317"/>
                    </a:lnTo>
                    <a:lnTo>
                      <a:pt x="30" y="279"/>
                    </a:lnTo>
                    <a:lnTo>
                      <a:pt x="50" y="238"/>
                    </a:lnTo>
                    <a:lnTo>
                      <a:pt x="75" y="196"/>
                    </a:lnTo>
                    <a:lnTo>
                      <a:pt x="111" y="152"/>
                    </a:lnTo>
                    <a:lnTo>
                      <a:pt x="152" y="116"/>
                    </a:lnTo>
                    <a:lnTo>
                      <a:pt x="188" y="87"/>
                    </a:lnTo>
                    <a:lnTo>
                      <a:pt x="233" y="60"/>
                    </a:lnTo>
                    <a:lnTo>
                      <a:pt x="279" y="40"/>
                    </a:lnTo>
                    <a:lnTo>
                      <a:pt x="333" y="21"/>
                    </a:lnTo>
                    <a:lnTo>
                      <a:pt x="380" y="10"/>
                    </a:lnTo>
                    <a:lnTo>
                      <a:pt x="435" y="3"/>
                    </a:lnTo>
                    <a:lnTo>
                      <a:pt x="474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0" name="Freeform 38"/>
              <p:cNvSpPr>
                <a:spLocks/>
              </p:cNvSpPr>
              <p:nvPr/>
            </p:nvSpPr>
            <p:spPr bwMode="ltGray">
              <a:xfrm>
                <a:off x="370" y="1543"/>
                <a:ext cx="156" cy="118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21" y="19"/>
                  </a:cxn>
                  <a:cxn ang="0">
                    <a:pos x="3" y="46"/>
                  </a:cxn>
                  <a:cxn ang="0">
                    <a:pos x="0" y="70"/>
                  </a:cxn>
                  <a:cxn ang="0">
                    <a:pos x="0" y="84"/>
                  </a:cxn>
                  <a:cxn ang="0">
                    <a:pos x="9" y="100"/>
                  </a:cxn>
                  <a:cxn ang="0">
                    <a:pos x="29" y="108"/>
                  </a:cxn>
                  <a:cxn ang="0">
                    <a:pos x="50" y="114"/>
                  </a:cxn>
                  <a:cxn ang="0">
                    <a:pos x="69" y="117"/>
                  </a:cxn>
                  <a:cxn ang="0">
                    <a:pos x="86" y="117"/>
                  </a:cxn>
                  <a:cxn ang="0">
                    <a:pos x="114" y="112"/>
                  </a:cxn>
                  <a:cxn ang="0">
                    <a:pos x="134" y="107"/>
                  </a:cxn>
                  <a:cxn ang="0">
                    <a:pos x="146" y="98"/>
                  </a:cxn>
                  <a:cxn ang="0">
                    <a:pos x="153" y="90"/>
                  </a:cxn>
                  <a:cxn ang="0">
                    <a:pos x="155" y="78"/>
                  </a:cxn>
                  <a:cxn ang="0">
                    <a:pos x="153" y="60"/>
                  </a:cxn>
                  <a:cxn ang="0">
                    <a:pos x="146" y="11"/>
                  </a:cxn>
                  <a:cxn ang="0">
                    <a:pos x="72" y="0"/>
                  </a:cxn>
                </a:cxnLst>
                <a:rect l="0" t="0" r="r" b="b"/>
                <a:pathLst>
                  <a:path w="156" h="118">
                    <a:moveTo>
                      <a:pt x="72" y="0"/>
                    </a:moveTo>
                    <a:lnTo>
                      <a:pt x="21" y="19"/>
                    </a:lnTo>
                    <a:lnTo>
                      <a:pt x="3" y="46"/>
                    </a:lnTo>
                    <a:lnTo>
                      <a:pt x="0" y="70"/>
                    </a:lnTo>
                    <a:lnTo>
                      <a:pt x="0" y="84"/>
                    </a:lnTo>
                    <a:lnTo>
                      <a:pt x="9" y="100"/>
                    </a:lnTo>
                    <a:lnTo>
                      <a:pt x="29" y="108"/>
                    </a:lnTo>
                    <a:lnTo>
                      <a:pt x="50" y="114"/>
                    </a:lnTo>
                    <a:lnTo>
                      <a:pt x="69" y="117"/>
                    </a:lnTo>
                    <a:lnTo>
                      <a:pt x="86" y="117"/>
                    </a:lnTo>
                    <a:lnTo>
                      <a:pt x="114" y="112"/>
                    </a:lnTo>
                    <a:lnTo>
                      <a:pt x="134" y="107"/>
                    </a:lnTo>
                    <a:lnTo>
                      <a:pt x="146" y="98"/>
                    </a:lnTo>
                    <a:lnTo>
                      <a:pt x="153" y="90"/>
                    </a:lnTo>
                    <a:lnTo>
                      <a:pt x="155" y="78"/>
                    </a:lnTo>
                    <a:lnTo>
                      <a:pt x="153" y="60"/>
                    </a:lnTo>
                    <a:lnTo>
                      <a:pt x="146" y="11"/>
                    </a:lnTo>
                    <a:lnTo>
                      <a:pt x="72" y="0"/>
                    </a:lnTo>
                  </a:path>
                </a:pathLst>
              </a:custGeom>
              <a:gradFill rotWithShape="0">
                <a:gsLst>
                  <a:gs pos="0">
                    <a:schemeClr val="hlink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1" name="Freeform 39"/>
              <p:cNvSpPr>
                <a:spLocks/>
              </p:cNvSpPr>
              <p:nvPr/>
            </p:nvSpPr>
            <p:spPr bwMode="ltGray">
              <a:xfrm>
                <a:off x="442" y="1557"/>
                <a:ext cx="88" cy="74"/>
              </a:xfrm>
              <a:custGeom>
                <a:avLst/>
                <a:gdLst/>
                <a:ahLst/>
                <a:cxnLst>
                  <a:cxn ang="0">
                    <a:pos x="87" y="67"/>
                  </a:cxn>
                  <a:cxn ang="0">
                    <a:pos x="76" y="0"/>
                  </a:cxn>
                  <a:cxn ang="0">
                    <a:pos x="33" y="5"/>
                  </a:cxn>
                  <a:cxn ang="0">
                    <a:pos x="0" y="8"/>
                  </a:cxn>
                  <a:cxn ang="0">
                    <a:pos x="9" y="73"/>
                  </a:cxn>
                  <a:cxn ang="0">
                    <a:pos x="12" y="57"/>
                  </a:cxn>
                  <a:cxn ang="0">
                    <a:pos x="22" y="47"/>
                  </a:cxn>
                  <a:cxn ang="0">
                    <a:pos x="40" y="43"/>
                  </a:cxn>
                  <a:cxn ang="0">
                    <a:pos x="60" y="44"/>
                  </a:cxn>
                  <a:cxn ang="0">
                    <a:pos x="76" y="51"/>
                  </a:cxn>
                  <a:cxn ang="0">
                    <a:pos x="87" y="67"/>
                  </a:cxn>
                </a:cxnLst>
                <a:rect l="0" t="0" r="r" b="b"/>
                <a:pathLst>
                  <a:path w="88" h="74">
                    <a:moveTo>
                      <a:pt x="87" y="67"/>
                    </a:moveTo>
                    <a:lnTo>
                      <a:pt x="76" y="0"/>
                    </a:lnTo>
                    <a:lnTo>
                      <a:pt x="33" y="5"/>
                    </a:lnTo>
                    <a:lnTo>
                      <a:pt x="0" y="8"/>
                    </a:lnTo>
                    <a:lnTo>
                      <a:pt x="9" y="73"/>
                    </a:lnTo>
                    <a:lnTo>
                      <a:pt x="12" y="57"/>
                    </a:lnTo>
                    <a:lnTo>
                      <a:pt x="22" y="47"/>
                    </a:lnTo>
                    <a:lnTo>
                      <a:pt x="40" y="43"/>
                    </a:lnTo>
                    <a:lnTo>
                      <a:pt x="60" y="44"/>
                    </a:lnTo>
                    <a:lnTo>
                      <a:pt x="76" y="51"/>
                    </a:lnTo>
                    <a:lnTo>
                      <a:pt x="87" y="67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2" name="Freeform 40"/>
              <p:cNvSpPr>
                <a:spLocks/>
              </p:cNvSpPr>
              <p:nvPr/>
            </p:nvSpPr>
            <p:spPr bwMode="ltGray">
              <a:xfrm>
                <a:off x="334" y="1336"/>
                <a:ext cx="319" cy="286"/>
              </a:xfrm>
              <a:custGeom>
                <a:avLst/>
                <a:gdLst/>
                <a:ahLst/>
                <a:cxnLst>
                  <a:cxn ang="0">
                    <a:pos x="317" y="275"/>
                  </a:cxn>
                  <a:cxn ang="0">
                    <a:pos x="315" y="254"/>
                  </a:cxn>
                  <a:cxn ang="0">
                    <a:pos x="306" y="235"/>
                  </a:cxn>
                  <a:cxn ang="0">
                    <a:pos x="299" y="219"/>
                  </a:cxn>
                  <a:cxn ang="0">
                    <a:pos x="294" y="194"/>
                  </a:cxn>
                  <a:cxn ang="0">
                    <a:pos x="288" y="161"/>
                  </a:cxn>
                  <a:cxn ang="0">
                    <a:pos x="284" y="126"/>
                  </a:cxn>
                  <a:cxn ang="0">
                    <a:pos x="281" y="94"/>
                  </a:cxn>
                  <a:cxn ang="0">
                    <a:pos x="279" y="67"/>
                  </a:cxn>
                  <a:cxn ang="0">
                    <a:pos x="278" y="43"/>
                  </a:cxn>
                  <a:cxn ang="0">
                    <a:pos x="270" y="29"/>
                  </a:cxn>
                  <a:cxn ang="0">
                    <a:pos x="255" y="16"/>
                  </a:cxn>
                  <a:cxn ang="0">
                    <a:pos x="240" y="9"/>
                  </a:cxn>
                  <a:cxn ang="0">
                    <a:pos x="216" y="2"/>
                  </a:cxn>
                  <a:cxn ang="0">
                    <a:pos x="189" y="0"/>
                  </a:cxn>
                  <a:cxn ang="0">
                    <a:pos x="147" y="0"/>
                  </a:cxn>
                  <a:cxn ang="0">
                    <a:pos x="110" y="2"/>
                  </a:cxn>
                  <a:cxn ang="0">
                    <a:pos x="74" y="9"/>
                  </a:cxn>
                  <a:cxn ang="0">
                    <a:pos x="41" y="21"/>
                  </a:cxn>
                  <a:cxn ang="0">
                    <a:pos x="20" y="35"/>
                  </a:cxn>
                  <a:cxn ang="0">
                    <a:pos x="8" y="47"/>
                  </a:cxn>
                  <a:cxn ang="0">
                    <a:pos x="0" y="61"/>
                  </a:cxn>
                  <a:cxn ang="0">
                    <a:pos x="2" y="75"/>
                  </a:cxn>
                  <a:cxn ang="0">
                    <a:pos x="5" y="89"/>
                  </a:cxn>
                  <a:cxn ang="0">
                    <a:pos x="15" y="104"/>
                  </a:cxn>
                  <a:cxn ang="0">
                    <a:pos x="23" y="123"/>
                  </a:cxn>
                  <a:cxn ang="0">
                    <a:pos x="27" y="149"/>
                  </a:cxn>
                  <a:cxn ang="0">
                    <a:pos x="30" y="176"/>
                  </a:cxn>
                  <a:cxn ang="0">
                    <a:pos x="35" y="200"/>
                  </a:cxn>
                  <a:cxn ang="0">
                    <a:pos x="36" y="235"/>
                  </a:cxn>
                  <a:cxn ang="0">
                    <a:pos x="38" y="265"/>
                  </a:cxn>
                  <a:cxn ang="0">
                    <a:pos x="38" y="285"/>
                  </a:cxn>
                  <a:cxn ang="0">
                    <a:pos x="48" y="260"/>
                  </a:cxn>
                  <a:cxn ang="0">
                    <a:pos x="68" y="248"/>
                  </a:cxn>
                  <a:cxn ang="0">
                    <a:pos x="86" y="241"/>
                  </a:cxn>
                  <a:cxn ang="0">
                    <a:pos x="108" y="236"/>
                  </a:cxn>
                  <a:cxn ang="0">
                    <a:pos x="143" y="229"/>
                  </a:cxn>
                  <a:cxn ang="0">
                    <a:pos x="177" y="228"/>
                  </a:cxn>
                  <a:cxn ang="0">
                    <a:pos x="197" y="228"/>
                  </a:cxn>
                  <a:cxn ang="0">
                    <a:pos x="228" y="230"/>
                  </a:cxn>
                  <a:cxn ang="0">
                    <a:pos x="264" y="237"/>
                  </a:cxn>
                  <a:cxn ang="0">
                    <a:pos x="287" y="246"/>
                  </a:cxn>
                  <a:cxn ang="0">
                    <a:pos x="302" y="255"/>
                  </a:cxn>
                  <a:cxn ang="0">
                    <a:pos x="318" y="268"/>
                  </a:cxn>
                </a:cxnLst>
                <a:rect l="0" t="0" r="r" b="b"/>
                <a:pathLst>
                  <a:path w="319" h="286">
                    <a:moveTo>
                      <a:pt x="317" y="275"/>
                    </a:moveTo>
                    <a:lnTo>
                      <a:pt x="315" y="254"/>
                    </a:lnTo>
                    <a:lnTo>
                      <a:pt x="306" y="235"/>
                    </a:lnTo>
                    <a:lnTo>
                      <a:pt x="299" y="219"/>
                    </a:lnTo>
                    <a:lnTo>
                      <a:pt x="294" y="194"/>
                    </a:lnTo>
                    <a:lnTo>
                      <a:pt x="288" y="161"/>
                    </a:lnTo>
                    <a:lnTo>
                      <a:pt x="284" y="126"/>
                    </a:lnTo>
                    <a:lnTo>
                      <a:pt x="281" y="94"/>
                    </a:lnTo>
                    <a:lnTo>
                      <a:pt x="279" y="67"/>
                    </a:lnTo>
                    <a:lnTo>
                      <a:pt x="278" y="43"/>
                    </a:lnTo>
                    <a:lnTo>
                      <a:pt x="270" y="29"/>
                    </a:lnTo>
                    <a:lnTo>
                      <a:pt x="255" y="16"/>
                    </a:lnTo>
                    <a:lnTo>
                      <a:pt x="240" y="9"/>
                    </a:lnTo>
                    <a:lnTo>
                      <a:pt x="216" y="2"/>
                    </a:lnTo>
                    <a:lnTo>
                      <a:pt x="189" y="0"/>
                    </a:lnTo>
                    <a:lnTo>
                      <a:pt x="147" y="0"/>
                    </a:lnTo>
                    <a:lnTo>
                      <a:pt x="110" y="2"/>
                    </a:lnTo>
                    <a:lnTo>
                      <a:pt x="74" y="9"/>
                    </a:lnTo>
                    <a:lnTo>
                      <a:pt x="41" y="21"/>
                    </a:lnTo>
                    <a:lnTo>
                      <a:pt x="20" y="35"/>
                    </a:lnTo>
                    <a:lnTo>
                      <a:pt x="8" y="47"/>
                    </a:lnTo>
                    <a:lnTo>
                      <a:pt x="0" y="61"/>
                    </a:lnTo>
                    <a:lnTo>
                      <a:pt x="2" y="75"/>
                    </a:lnTo>
                    <a:lnTo>
                      <a:pt x="5" y="89"/>
                    </a:lnTo>
                    <a:lnTo>
                      <a:pt x="15" y="104"/>
                    </a:lnTo>
                    <a:lnTo>
                      <a:pt x="23" y="123"/>
                    </a:lnTo>
                    <a:lnTo>
                      <a:pt x="27" y="149"/>
                    </a:lnTo>
                    <a:lnTo>
                      <a:pt x="30" y="176"/>
                    </a:lnTo>
                    <a:lnTo>
                      <a:pt x="35" y="200"/>
                    </a:lnTo>
                    <a:lnTo>
                      <a:pt x="36" y="235"/>
                    </a:lnTo>
                    <a:lnTo>
                      <a:pt x="38" y="265"/>
                    </a:lnTo>
                    <a:lnTo>
                      <a:pt x="38" y="285"/>
                    </a:lnTo>
                    <a:lnTo>
                      <a:pt x="48" y="260"/>
                    </a:lnTo>
                    <a:lnTo>
                      <a:pt x="68" y="248"/>
                    </a:lnTo>
                    <a:lnTo>
                      <a:pt x="86" y="241"/>
                    </a:lnTo>
                    <a:lnTo>
                      <a:pt x="108" y="236"/>
                    </a:lnTo>
                    <a:lnTo>
                      <a:pt x="143" y="229"/>
                    </a:lnTo>
                    <a:lnTo>
                      <a:pt x="177" y="228"/>
                    </a:lnTo>
                    <a:lnTo>
                      <a:pt x="197" y="228"/>
                    </a:lnTo>
                    <a:lnTo>
                      <a:pt x="228" y="230"/>
                    </a:lnTo>
                    <a:lnTo>
                      <a:pt x="264" y="237"/>
                    </a:lnTo>
                    <a:lnTo>
                      <a:pt x="287" y="246"/>
                    </a:lnTo>
                    <a:lnTo>
                      <a:pt x="302" y="255"/>
                    </a:lnTo>
                    <a:lnTo>
                      <a:pt x="318" y="268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3" name="Freeform 41"/>
              <p:cNvSpPr>
                <a:spLocks/>
              </p:cNvSpPr>
              <p:nvPr/>
            </p:nvSpPr>
            <p:spPr bwMode="ltGray">
              <a:xfrm>
                <a:off x="5049" y="1394"/>
                <a:ext cx="551" cy="335"/>
              </a:xfrm>
              <a:custGeom>
                <a:avLst/>
                <a:gdLst/>
                <a:ahLst/>
                <a:cxnLst>
                  <a:cxn ang="0">
                    <a:pos x="534" y="48"/>
                  </a:cxn>
                  <a:cxn ang="0">
                    <a:pos x="550" y="117"/>
                  </a:cxn>
                  <a:cxn ang="0">
                    <a:pos x="540" y="142"/>
                  </a:cxn>
                  <a:cxn ang="0">
                    <a:pos x="517" y="179"/>
                  </a:cxn>
                  <a:cxn ang="0">
                    <a:pos x="493" y="212"/>
                  </a:cxn>
                  <a:cxn ang="0">
                    <a:pos x="465" y="239"/>
                  </a:cxn>
                  <a:cxn ang="0">
                    <a:pos x="430" y="267"/>
                  </a:cxn>
                  <a:cxn ang="0">
                    <a:pos x="397" y="286"/>
                  </a:cxn>
                  <a:cxn ang="0">
                    <a:pos x="361" y="304"/>
                  </a:cxn>
                  <a:cxn ang="0">
                    <a:pos x="315" y="320"/>
                  </a:cxn>
                  <a:cxn ang="0">
                    <a:pos x="280" y="328"/>
                  </a:cxn>
                  <a:cxn ang="0">
                    <a:pos x="238" y="334"/>
                  </a:cxn>
                  <a:cxn ang="0">
                    <a:pos x="199" y="334"/>
                  </a:cxn>
                  <a:cxn ang="0">
                    <a:pos x="157" y="329"/>
                  </a:cxn>
                  <a:cxn ang="0">
                    <a:pos x="114" y="317"/>
                  </a:cxn>
                  <a:cxn ang="0">
                    <a:pos x="75" y="298"/>
                  </a:cxn>
                  <a:cxn ang="0">
                    <a:pos x="52" y="282"/>
                  </a:cxn>
                  <a:cxn ang="0">
                    <a:pos x="24" y="258"/>
                  </a:cxn>
                  <a:cxn ang="0">
                    <a:pos x="9" y="238"/>
                  </a:cxn>
                  <a:cxn ang="0">
                    <a:pos x="0" y="222"/>
                  </a:cxn>
                  <a:cxn ang="0">
                    <a:pos x="0" y="204"/>
                  </a:cxn>
                  <a:cxn ang="0">
                    <a:pos x="6" y="182"/>
                  </a:cxn>
                  <a:cxn ang="0">
                    <a:pos x="18" y="166"/>
                  </a:cxn>
                  <a:cxn ang="0">
                    <a:pos x="27" y="131"/>
                  </a:cxn>
                  <a:cxn ang="0">
                    <a:pos x="31" y="112"/>
                  </a:cxn>
                  <a:cxn ang="0">
                    <a:pos x="283" y="128"/>
                  </a:cxn>
                  <a:cxn ang="0">
                    <a:pos x="316" y="122"/>
                  </a:cxn>
                  <a:cxn ang="0">
                    <a:pos x="357" y="109"/>
                  </a:cxn>
                  <a:cxn ang="0">
                    <a:pos x="388" y="93"/>
                  </a:cxn>
                  <a:cxn ang="0">
                    <a:pos x="421" y="73"/>
                  </a:cxn>
                  <a:cxn ang="0">
                    <a:pos x="453" y="44"/>
                  </a:cxn>
                  <a:cxn ang="0">
                    <a:pos x="472" y="19"/>
                  </a:cxn>
                  <a:cxn ang="0">
                    <a:pos x="486" y="0"/>
                  </a:cxn>
                  <a:cxn ang="0">
                    <a:pos x="534" y="48"/>
                  </a:cxn>
                </a:cxnLst>
                <a:rect l="0" t="0" r="r" b="b"/>
                <a:pathLst>
                  <a:path w="551" h="335">
                    <a:moveTo>
                      <a:pt x="534" y="48"/>
                    </a:moveTo>
                    <a:lnTo>
                      <a:pt x="550" y="117"/>
                    </a:lnTo>
                    <a:lnTo>
                      <a:pt x="540" y="142"/>
                    </a:lnTo>
                    <a:lnTo>
                      <a:pt x="517" y="179"/>
                    </a:lnTo>
                    <a:lnTo>
                      <a:pt x="493" y="212"/>
                    </a:lnTo>
                    <a:lnTo>
                      <a:pt x="465" y="239"/>
                    </a:lnTo>
                    <a:lnTo>
                      <a:pt x="430" y="267"/>
                    </a:lnTo>
                    <a:lnTo>
                      <a:pt x="397" y="286"/>
                    </a:lnTo>
                    <a:lnTo>
                      <a:pt x="361" y="304"/>
                    </a:lnTo>
                    <a:lnTo>
                      <a:pt x="315" y="320"/>
                    </a:lnTo>
                    <a:lnTo>
                      <a:pt x="280" y="328"/>
                    </a:lnTo>
                    <a:lnTo>
                      <a:pt x="238" y="334"/>
                    </a:lnTo>
                    <a:lnTo>
                      <a:pt x="199" y="334"/>
                    </a:lnTo>
                    <a:lnTo>
                      <a:pt x="157" y="329"/>
                    </a:lnTo>
                    <a:lnTo>
                      <a:pt x="114" y="317"/>
                    </a:lnTo>
                    <a:lnTo>
                      <a:pt x="75" y="298"/>
                    </a:lnTo>
                    <a:lnTo>
                      <a:pt x="52" y="282"/>
                    </a:lnTo>
                    <a:lnTo>
                      <a:pt x="24" y="258"/>
                    </a:lnTo>
                    <a:lnTo>
                      <a:pt x="9" y="238"/>
                    </a:lnTo>
                    <a:lnTo>
                      <a:pt x="0" y="222"/>
                    </a:lnTo>
                    <a:lnTo>
                      <a:pt x="0" y="204"/>
                    </a:lnTo>
                    <a:lnTo>
                      <a:pt x="6" y="182"/>
                    </a:lnTo>
                    <a:lnTo>
                      <a:pt x="18" y="166"/>
                    </a:lnTo>
                    <a:lnTo>
                      <a:pt x="27" y="131"/>
                    </a:lnTo>
                    <a:lnTo>
                      <a:pt x="31" y="112"/>
                    </a:lnTo>
                    <a:lnTo>
                      <a:pt x="283" y="128"/>
                    </a:lnTo>
                    <a:lnTo>
                      <a:pt x="316" y="122"/>
                    </a:lnTo>
                    <a:lnTo>
                      <a:pt x="357" y="109"/>
                    </a:lnTo>
                    <a:lnTo>
                      <a:pt x="388" y="93"/>
                    </a:lnTo>
                    <a:lnTo>
                      <a:pt x="421" y="73"/>
                    </a:lnTo>
                    <a:lnTo>
                      <a:pt x="453" y="44"/>
                    </a:lnTo>
                    <a:lnTo>
                      <a:pt x="472" y="19"/>
                    </a:lnTo>
                    <a:lnTo>
                      <a:pt x="486" y="0"/>
                    </a:lnTo>
                    <a:lnTo>
                      <a:pt x="534" y="48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100000">
                    <a:schemeClr val="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4" name="Freeform 42"/>
              <p:cNvSpPr>
                <a:spLocks/>
              </p:cNvSpPr>
              <p:nvPr/>
            </p:nvSpPr>
            <p:spPr bwMode="ltGray">
              <a:xfrm>
                <a:off x="5145" y="976"/>
                <a:ext cx="475" cy="55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94"/>
                  </a:cxn>
                  <a:cxn ang="0">
                    <a:pos x="28" y="291"/>
                  </a:cxn>
                  <a:cxn ang="0">
                    <a:pos x="63" y="293"/>
                  </a:cxn>
                  <a:cxn ang="0">
                    <a:pos x="121" y="299"/>
                  </a:cxn>
                  <a:cxn ang="0">
                    <a:pos x="178" y="310"/>
                  </a:cxn>
                  <a:cxn ang="0">
                    <a:pos x="231" y="323"/>
                  </a:cxn>
                  <a:cxn ang="0">
                    <a:pos x="274" y="339"/>
                  </a:cxn>
                  <a:cxn ang="0">
                    <a:pos x="325" y="364"/>
                  </a:cxn>
                  <a:cxn ang="0">
                    <a:pos x="364" y="390"/>
                  </a:cxn>
                  <a:cxn ang="0">
                    <a:pos x="393" y="415"/>
                  </a:cxn>
                  <a:cxn ang="0">
                    <a:pos x="414" y="439"/>
                  </a:cxn>
                  <a:cxn ang="0">
                    <a:pos x="427" y="461"/>
                  </a:cxn>
                  <a:cxn ang="0">
                    <a:pos x="439" y="488"/>
                  </a:cxn>
                  <a:cxn ang="0">
                    <a:pos x="444" y="513"/>
                  </a:cxn>
                  <a:cxn ang="0">
                    <a:pos x="451" y="551"/>
                  </a:cxn>
                  <a:cxn ang="0">
                    <a:pos x="457" y="518"/>
                  </a:cxn>
                  <a:cxn ang="0">
                    <a:pos x="466" y="481"/>
                  </a:cxn>
                  <a:cxn ang="0">
                    <a:pos x="469" y="453"/>
                  </a:cxn>
                  <a:cxn ang="0">
                    <a:pos x="474" y="420"/>
                  </a:cxn>
                  <a:cxn ang="0">
                    <a:pos x="472" y="393"/>
                  </a:cxn>
                  <a:cxn ang="0">
                    <a:pos x="466" y="361"/>
                  </a:cxn>
                  <a:cxn ang="0">
                    <a:pos x="459" y="317"/>
                  </a:cxn>
                  <a:cxn ang="0">
                    <a:pos x="444" y="279"/>
                  </a:cxn>
                  <a:cxn ang="0">
                    <a:pos x="424" y="238"/>
                  </a:cxn>
                  <a:cxn ang="0">
                    <a:pos x="399" y="196"/>
                  </a:cxn>
                  <a:cxn ang="0">
                    <a:pos x="363" y="152"/>
                  </a:cxn>
                  <a:cxn ang="0">
                    <a:pos x="322" y="116"/>
                  </a:cxn>
                  <a:cxn ang="0">
                    <a:pos x="286" y="87"/>
                  </a:cxn>
                  <a:cxn ang="0">
                    <a:pos x="241" y="60"/>
                  </a:cxn>
                  <a:cxn ang="0">
                    <a:pos x="195" y="40"/>
                  </a:cxn>
                  <a:cxn ang="0">
                    <a:pos x="141" y="21"/>
                  </a:cxn>
                  <a:cxn ang="0">
                    <a:pos x="94" y="10"/>
                  </a:cxn>
                  <a:cxn ang="0">
                    <a:pos x="39" y="3"/>
                  </a:cxn>
                  <a:cxn ang="0">
                    <a:pos x="0" y="0"/>
                  </a:cxn>
                </a:cxnLst>
                <a:rect l="0" t="0" r="r" b="b"/>
                <a:pathLst>
                  <a:path w="475" h="552">
                    <a:moveTo>
                      <a:pt x="0" y="0"/>
                    </a:moveTo>
                    <a:lnTo>
                      <a:pt x="0" y="294"/>
                    </a:lnTo>
                    <a:lnTo>
                      <a:pt x="28" y="291"/>
                    </a:lnTo>
                    <a:lnTo>
                      <a:pt x="63" y="293"/>
                    </a:lnTo>
                    <a:lnTo>
                      <a:pt x="121" y="299"/>
                    </a:lnTo>
                    <a:lnTo>
                      <a:pt x="178" y="310"/>
                    </a:lnTo>
                    <a:lnTo>
                      <a:pt x="231" y="323"/>
                    </a:lnTo>
                    <a:lnTo>
                      <a:pt x="274" y="339"/>
                    </a:lnTo>
                    <a:lnTo>
                      <a:pt x="325" y="364"/>
                    </a:lnTo>
                    <a:lnTo>
                      <a:pt x="364" y="390"/>
                    </a:lnTo>
                    <a:lnTo>
                      <a:pt x="393" y="415"/>
                    </a:lnTo>
                    <a:lnTo>
                      <a:pt x="414" y="439"/>
                    </a:lnTo>
                    <a:lnTo>
                      <a:pt x="427" y="461"/>
                    </a:lnTo>
                    <a:lnTo>
                      <a:pt x="439" y="488"/>
                    </a:lnTo>
                    <a:lnTo>
                      <a:pt x="444" y="513"/>
                    </a:lnTo>
                    <a:lnTo>
                      <a:pt x="451" y="551"/>
                    </a:lnTo>
                    <a:lnTo>
                      <a:pt x="457" y="518"/>
                    </a:lnTo>
                    <a:lnTo>
                      <a:pt x="466" y="481"/>
                    </a:lnTo>
                    <a:lnTo>
                      <a:pt x="469" y="453"/>
                    </a:lnTo>
                    <a:lnTo>
                      <a:pt x="474" y="420"/>
                    </a:lnTo>
                    <a:lnTo>
                      <a:pt x="472" y="393"/>
                    </a:lnTo>
                    <a:lnTo>
                      <a:pt x="466" y="361"/>
                    </a:lnTo>
                    <a:lnTo>
                      <a:pt x="459" y="317"/>
                    </a:lnTo>
                    <a:lnTo>
                      <a:pt x="444" y="279"/>
                    </a:lnTo>
                    <a:lnTo>
                      <a:pt x="424" y="238"/>
                    </a:lnTo>
                    <a:lnTo>
                      <a:pt x="399" y="196"/>
                    </a:lnTo>
                    <a:lnTo>
                      <a:pt x="363" y="152"/>
                    </a:lnTo>
                    <a:lnTo>
                      <a:pt x="322" y="116"/>
                    </a:lnTo>
                    <a:lnTo>
                      <a:pt x="286" y="87"/>
                    </a:lnTo>
                    <a:lnTo>
                      <a:pt x="241" y="60"/>
                    </a:lnTo>
                    <a:lnTo>
                      <a:pt x="195" y="40"/>
                    </a:lnTo>
                    <a:lnTo>
                      <a:pt x="141" y="21"/>
                    </a:lnTo>
                    <a:lnTo>
                      <a:pt x="94" y="10"/>
                    </a:lnTo>
                    <a:lnTo>
                      <a:pt x="39" y="3"/>
                    </a:lnTo>
                    <a:lnTo>
                      <a:pt x="0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5" name="Freeform 43"/>
              <p:cNvSpPr>
                <a:spLocks/>
              </p:cNvSpPr>
              <p:nvPr/>
            </p:nvSpPr>
            <p:spPr bwMode="ltGray">
              <a:xfrm>
                <a:off x="5176" y="1543"/>
                <a:ext cx="156" cy="118"/>
              </a:xfrm>
              <a:custGeom>
                <a:avLst/>
                <a:gdLst/>
                <a:ahLst/>
                <a:cxnLst>
                  <a:cxn ang="0">
                    <a:pos x="83" y="0"/>
                  </a:cxn>
                  <a:cxn ang="0">
                    <a:pos x="134" y="19"/>
                  </a:cxn>
                  <a:cxn ang="0">
                    <a:pos x="152" y="46"/>
                  </a:cxn>
                  <a:cxn ang="0">
                    <a:pos x="155" y="70"/>
                  </a:cxn>
                  <a:cxn ang="0">
                    <a:pos x="155" y="84"/>
                  </a:cxn>
                  <a:cxn ang="0">
                    <a:pos x="146" y="100"/>
                  </a:cxn>
                  <a:cxn ang="0">
                    <a:pos x="126" y="108"/>
                  </a:cxn>
                  <a:cxn ang="0">
                    <a:pos x="105" y="114"/>
                  </a:cxn>
                  <a:cxn ang="0">
                    <a:pos x="86" y="117"/>
                  </a:cxn>
                  <a:cxn ang="0">
                    <a:pos x="69" y="117"/>
                  </a:cxn>
                  <a:cxn ang="0">
                    <a:pos x="41" y="112"/>
                  </a:cxn>
                  <a:cxn ang="0">
                    <a:pos x="21" y="107"/>
                  </a:cxn>
                  <a:cxn ang="0">
                    <a:pos x="9" y="98"/>
                  </a:cxn>
                  <a:cxn ang="0">
                    <a:pos x="2" y="90"/>
                  </a:cxn>
                  <a:cxn ang="0">
                    <a:pos x="0" y="78"/>
                  </a:cxn>
                  <a:cxn ang="0">
                    <a:pos x="2" y="60"/>
                  </a:cxn>
                  <a:cxn ang="0">
                    <a:pos x="9" y="11"/>
                  </a:cxn>
                  <a:cxn ang="0">
                    <a:pos x="83" y="0"/>
                  </a:cxn>
                </a:cxnLst>
                <a:rect l="0" t="0" r="r" b="b"/>
                <a:pathLst>
                  <a:path w="156" h="118">
                    <a:moveTo>
                      <a:pt x="83" y="0"/>
                    </a:moveTo>
                    <a:lnTo>
                      <a:pt x="134" y="19"/>
                    </a:lnTo>
                    <a:lnTo>
                      <a:pt x="152" y="46"/>
                    </a:lnTo>
                    <a:lnTo>
                      <a:pt x="155" y="70"/>
                    </a:lnTo>
                    <a:lnTo>
                      <a:pt x="155" y="84"/>
                    </a:lnTo>
                    <a:lnTo>
                      <a:pt x="146" y="100"/>
                    </a:lnTo>
                    <a:lnTo>
                      <a:pt x="126" y="108"/>
                    </a:lnTo>
                    <a:lnTo>
                      <a:pt x="105" y="114"/>
                    </a:lnTo>
                    <a:lnTo>
                      <a:pt x="86" y="117"/>
                    </a:lnTo>
                    <a:lnTo>
                      <a:pt x="69" y="117"/>
                    </a:lnTo>
                    <a:lnTo>
                      <a:pt x="41" y="112"/>
                    </a:lnTo>
                    <a:lnTo>
                      <a:pt x="21" y="107"/>
                    </a:lnTo>
                    <a:lnTo>
                      <a:pt x="9" y="98"/>
                    </a:lnTo>
                    <a:lnTo>
                      <a:pt x="2" y="90"/>
                    </a:lnTo>
                    <a:lnTo>
                      <a:pt x="0" y="78"/>
                    </a:lnTo>
                    <a:lnTo>
                      <a:pt x="2" y="60"/>
                    </a:lnTo>
                    <a:lnTo>
                      <a:pt x="9" y="11"/>
                    </a:lnTo>
                    <a:lnTo>
                      <a:pt x="83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100000">
                    <a:schemeClr val="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6" name="Freeform 44"/>
              <p:cNvSpPr>
                <a:spLocks/>
              </p:cNvSpPr>
              <p:nvPr/>
            </p:nvSpPr>
            <p:spPr bwMode="ltGray">
              <a:xfrm>
                <a:off x="5172" y="1556"/>
                <a:ext cx="88" cy="74"/>
              </a:xfrm>
              <a:custGeom>
                <a:avLst/>
                <a:gdLst/>
                <a:ahLst/>
                <a:cxnLst>
                  <a:cxn ang="0">
                    <a:pos x="0" y="68"/>
                  </a:cxn>
                  <a:cxn ang="0">
                    <a:pos x="11" y="0"/>
                  </a:cxn>
                  <a:cxn ang="0">
                    <a:pos x="54" y="5"/>
                  </a:cxn>
                  <a:cxn ang="0">
                    <a:pos x="87" y="9"/>
                  </a:cxn>
                  <a:cxn ang="0">
                    <a:pos x="78" y="73"/>
                  </a:cxn>
                  <a:cxn ang="0">
                    <a:pos x="75" y="58"/>
                  </a:cxn>
                  <a:cxn ang="0">
                    <a:pos x="65" y="47"/>
                  </a:cxn>
                  <a:cxn ang="0">
                    <a:pos x="47" y="44"/>
                  </a:cxn>
                  <a:cxn ang="0">
                    <a:pos x="27" y="45"/>
                  </a:cxn>
                  <a:cxn ang="0">
                    <a:pos x="11" y="52"/>
                  </a:cxn>
                  <a:cxn ang="0">
                    <a:pos x="0" y="68"/>
                  </a:cxn>
                </a:cxnLst>
                <a:rect l="0" t="0" r="r" b="b"/>
                <a:pathLst>
                  <a:path w="88" h="74">
                    <a:moveTo>
                      <a:pt x="0" y="68"/>
                    </a:moveTo>
                    <a:lnTo>
                      <a:pt x="11" y="0"/>
                    </a:lnTo>
                    <a:lnTo>
                      <a:pt x="54" y="5"/>
                    </a:lnTo>
                    <a:lnTo>
                      <a:pt x="87" y="9"/>
                    </a:lnTo>
                    <a:lnTo>
                      <a:pt x="78" y="73"/>
                    </a:lnTo>
                    <a:lnTo>
                      <a:pt x="75" y="58"/>
                    </a:lnTo>
                    <a:lnTo>
                      <a:pt x="65" y="47"/>
                    </a:lnTo>
                    <a:lnTo>
                      <a:pt x="47" y="44"/>
                    </a:lnTo>
                    <a:lnTo>
                      <a:pt x="27" y="45"/>
                    </a:lnTo>
                    <a:lnTo>
                      <a:pt x="11" y="52"/>
                    </a:lnTo>
                    <a:lnTo>
                      <a:pt x="0" y="68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7" name="Freeform 45"/>
              <p:cNvSpPr>
                <a:spLocks/>
              </p:cNvSpPr>
              <p:nvPr/>
            </p:nvSpPr>
            <p:spPr bwMode="ltGray">
              <a:xfrm>
                <a:off x="5049" y="1336"/>
                <a:ext cx="319" cy="286"/>
              </a:xfrm>
              <a:custGeom>
                <a:avLst/>
                <a:gdLst/>
                <a:ahLst/>
                <a:cxnLst>
                  <a:cxn ang="0">
                    <a:pos x="1" y="275"/>
                  </a:cxn>
                  <a:cxn ang="0">
                    <a:pos x="3" y="254"/>
                  </a:cxn>
                  <a:cxn ang="0">
                    <a:pos x="12" y="235"/>
                  </a:cxn>
                  <a:cxn ang="0">
                    <a:pos x="19" y="219"/>
                  </a:cxn>
                  <a:cxn ang="0">
                    <a:pos x="24" y="194"/>
                  </a:cxn>
                  <a:cxn ang="0">
                    <a:pos x="30" y="161"/>
                  </a:cxn>
                  <a:cxn ang="0">
                    <a:pos x="34" y="126"/>
                  </a:cxn>
                  <a:cxn ang="0">
                    <a:pos x="37" y="94"/>
                  </a:cxn>
                  <a:cxn ang="0">
                    <a:pos x="39" y="67"/>
                  </a:cxn>
                  <a:cxn ang="0">
                    <a:pos x="40" y="43"/>
                  </a:cxn>
                  <a:cxn ang="0">
                    <a:pos x="48" y="29"/>
                  </a:cxn>
                  <a:cxn ang="0">
                    <a:pos x="63" y="16"/>
                  </a:cxn>
                  <a:cxn ang="0">
                    <a:pos x="78" y="9"/>
                  </a:cxn>
                  <a:cxn ang="0">
                    <a:pos x="102" y="2"/>
                  </a:cxn>
                  <a:cxn ang="0">
                    <a:pos x="129" y="0"/>
                  </a:cxn>
                  <a:cxn ang="0">
                    <a:pos x="171" y="0"/>
                  </a:cxn>
                  <a:cxn ang="0">
                    <a:pos x="208" y="2"/>
                  </a:cxn>
                  <a:cxn ang="0">
                    <a:pos x="244" y="9"/>
                  </a:cxn>
                  <a:cxn ang="0">
                    <a:pos x="277" y="21"/>
                  </a:cxn>
                  <a:cxn ang="0">
                    <a:pos x="298" y="35"/>
                  </a:cxn>
                  <a:cxn ang="0">
                    <a:pos x="310" y="47"/>
                  </a:cxn>
                  <a:cxn ang="0">
                    <a:pos x="318" y="61"/>
                  </a:cxn>
                  <a:cxn ang="0">
                    <a:pos x="316" y="75"/>
                  </a:cxn>
                  <a:cxn ang="0">
                    <a:pos x="313" y="89"/>
                  </a:cxn>
                  <a:cxn ang="0">
                    <a:pos x="303" y="104"/>
                  </a:cxn>
                  <a:cxn ang="0">
                    <a:pos x="295" y="123"/>
                  </a:cxn>
                  <a:cxn ang="0">
                    <a:pos x="291" y="149"/>
                  </a:cxn>
                  <a:cxn ang="0">
                    <a:pos x="288" y="176"/>
                  </a:cxn>
                  <a:cxn ang="0">
                    <a:pos x="283" y="200"/>
                  </a:cxn>
                  <a:cxn ang="0">
                    <a:pos x="282" y="235"/>
                  </a:cxn>
                  <a:cxn ang="0">
                    <a:pos x="280" y="265"/>
                  </a:cxn>
                  <a:cxn ang="0">
                    <a:pos x="280" y="285"/>
                  </a:cxn>
                  <a:cxn ang="0">
                    <a:pos x="270" y="260"/>
                  </a:cxn>
                  <a:cxn ang="0">
                    <a:pos x="250" y="248"/>
                  </a:cxn>
                  <a:cxn ang="0">
                    <a:pos x="232" y="241"/>
                  </a:cxn>
                  <a:cxn ang="0">
                    <a:pos x="210" y="236"/>
                  </a:cxn>
                  <a:cxn ang="0">
                    <a:pos x="175" y="229"/>
                  </a:cxn>
                  <a:cxn ang="0">
                    <a:pos x="141" y="228"/>
                  </a:cxn>
                  <a:cxn ang="0">
                    <a:pos x="121" y="228"/>
                  </a:cxn>
                  <a:cxn ang="0">
                    <a:pos x="90" y="230"/>
                  </a:cxn>
                  <a:cxn ang="0">
                    <a:pos x="54" y="237"/>
                  </a:cxn>
                  <a:cxn ang="0">
                    <a:pos x="31" y="246"/>
                  </a:cxn>
                  <a:cxn ang="0">
                    <a:pos x="16" y="255"/>
                  </a:cxn>
                  <a:cxn ang="0">
                    <a:pos x="0" y="268"/>
                  </a:cxn>
                </a:cxnLst>
                <a:rect l="0" t="0" r="r" b="b"/>
                <a:pathLst>
                  <a:path w="319" h="286">
                    <a:moveTo>
                      <a:pt x="1" y="275"/>
                    </a:moveTo>
                    <a:lnTo>
                      <a:pt x="3" y="254"/>
                    </a:lnTo>
                    <a:lnTo>
                      <a:pt x="12" y="235"/>
                    </a:lnTo>
                    <a:lnTo>
                      <a:pt x="19" y="219"/>
                    </a:lnTo>
                    <a:lnTo>
                      <a:pt x="24" y="194"/>
                    </a:lnTo>
                    <a:lnTo>
                      <a:pt x="30" y="161"/>
                    </a:lnTo>
                    <a:lnTo>
                      <a:pt x="34" y="126"/>
                    </a:lnTo>
                    <a:lnTo>
                      <a:pt x="37" y="94"/>
                    </a:lnTo>
                    <a:lnTo>
                      <a:pt x="39" y="67"/>
                    </a:lnTo>
                    <a:lnTo>
                      <a:pt x="40" y="43"/>
                    </a:lnTo>
                    <a:lnTo>
                      <a:pt x="48" y="29"/>
                    </a:lnTo>
                    <a:lnTo>
                      <a:pt x="63" y="16"/>
                    </a:lnTo>
                    <a:lnTo>
                      <a:pt x="78" y="9"/>
                    </a:lnTo>
                    <a:lnTo>
                      <a:pt x="102" y="2"/>
                    </a:lnTo>
                    <a:lnTo>
                      <a:pt x="129" y="0"/>
                    </a:lnTo>
                    <a:lnTo>
                      <a:pt x="171" y="0"/>
                    </a:lnTo>
                    <a:lnTo>
                      <a:pt x="208" y="2"/>
                    </a:lnTo>
                    <a:lnTo>
                      <a:pt x="244" y="9"/>
                    </a:lnTo>
                    <a:lnTo>
                      <a:pt x="277" y="21"/>
                    </a:lnTo>
                    <a:lnTo>
                      <a:pt x="298" y="35"/>
                    </a:lnTo>
                    <a:lnTo>
                      <a:pt x="310" y="47"/>
                    </a:lnTo>
                    <a:lnTo>
                      <a:pt x="318" y="61"/>
                    </a:lnTo>
                    <a:lnTo>
                      <a:pt x="316" y="75"/>
                    </a:lnTo>
                    <a:lnTo>
                      <a:pt x="313" y="89"/>
                    </a:lnTo>
                    <a:lnTo>
                      <a:pt x="303" y="104"/>
                    </a:lnTo>
                    <a:lnTo>
                      <a:pt x="295" y="123"/>
                    </a:lnTo>
                    <a:lnTo>
                      <a:pt x="291" y="149"/>
                    </a:lnTo>
                    <a:lnTo>
                      <a:pt x="288" y="176"/>
                    </a:lnTo>
                    <a:lnTo>
                      <a:pt x="283" y="200"/>
                    </a:lnTo>
                    <a:lnTo>
                      <a:pt x="282" y="235"/>
                    </a:lnTo>
                    <a:lnTo>
                      <a:pt x="280" y="265"/>
                    </a:lnTo>
                    <a:lnTo>
                      <a:pt x="280" y="285"/>
                    </a:lnTo>
                    <a:lnTo>
                      <a:pt x="270" y="260"/>
                    </a:lnTo>
                    <a:lnTo>
                      <a:pt x="250" y="248"/>
                    </a:lnTo>
                    <a:lnTo>
                      <a:pt x="232" y="241"/>
                    </a:lnTo>
                    <a:lnTo>
                      <a:pt x="210" y="236"/>
                    </a:lnTo>
                    <a:lnTo>
                      <a:pt x="175" y="229"/>
                    </a:lnTo>
                    <a:lnTo>
                      <a:pt x="141" y="228"/>
                    </a:lnTo>
                    <a:lnTo>
                      <a:pt x="121" y="228"/>
                    </a:lnTo>
                    <a:lnTo>
                      <a:pt x="90" y="230"/>
                    </a:lnTo>
                    <a:lnTo>
                      <a:pt x="54" y="237"/>
                    </a:lnTo>
                    <a:lnTo>
                      <a:pt x="31" y="246"/>
                    </a:lnTo>
                    <a:lnTo>
                      <a:pt x="16" y="255"/>
                    </a:lnTo>
                    <a:lnTo>
                      <a:pt x="0" y="268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8" name="Freeform 46"/>
              <p:cNvSpPr>
                <a:spLocks/>
              </p:cNvSpPr>
              <p:nvPr/>
            </p:nvSpPr>
            <p:spPr bwMode="ltGray">
              <a:xfrm>
                <a:off x="4319" y="976"/>
                <a:ext cx="832" cy="4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56"/>
                  </a:cxn>
                  <a:cxn ang="0">
                    <a:pos x="84" y="374"/>
                  </a:cxn>
                  <a:cxn ang="0">
                    <a:pos x="153" y="393"/>
                  </a:cxn>
                  <a:cxn ang="0">
                    <a:pos x="210" y="404"/>
                  </a:cxn>
                  <a:cxn ang="0">
                    <a:pos x="258" y="410"/>
                  </a:cxn>
                  <a:cxn ang="0">
                    <a:pos x="312" y="416"/>
                  </a:cxn>
                  <a:cxn ang="0">
                    <a:pos x="402" y="419"/>
                  </a:cxn>
                  <a:cxn ang="0">
                    <a:pos x="485" y="412"/>
                  </a:cxn>
                  <a:cxn ang="0">
                    <a:pos x="570" y="399"/>
                  </a:cxn>
                  <a:cxn ang="0">
                    <a:pos x="652" y="377"/>
                  </a:cxn>
                  <a:cxn ang="0">
                    <a:pos x="724" y="347"/>
                  </a:cxn>
                  <a:cxn ang="0">
                    <a:pos x="784" y="306"/>
                  </a:cxn>
                  <a:cxn ang="0">
                    <a:pos x="829" y="291"/>
                  </a:cxn>
                  <a:cxn ang="0">
                    <a:pos x="831" y="2"/>
                  </a:cxn>
                  <a:cxn ang="0">
                    <a:pos x="786" y="9"/>
                  </a:cxn>
                  <a:cxn ang="0">
                    <a:pos x="726" y="29"/>
                  </a:cxn>
                  <a:cxn ang="0">
                    <a:pos x="654" y="55"/>
                  </a:cxn>
                  <a:cxn ang="0">
                    <a:pos x="585" y="70"/>
                  </a:cxn>
                  <a:cxn ang="0">
                    <a:pos x="515" y="78"/>
                  </a:cxn>
                  <a:cxn ang="0">
                    <a:pos x="468" y="82"/>
                  </a:cxn>
                  <a:cxn ang="0">
                    <a:pos x="428" y="84"/>
                  </a:cxn>
                  <a:cxn ang="0">
                    <a:pos x="358" y="84"/>
                  </a:cxn>
                  <a:cxn ang="0">
                    <a:pos x="314" y="81"/>
                  </a:cxn>
                  <a:cxn ang="0">
                    <a:pos x="274" y="76"/>
                  </a:cxn>
                  <a:cxn ang="0">
                    <a:pos x="229" y="73"/>
                  </a:cxn>
                  <a:cxn ang="0">
                    <a:pos x="190" y="66"/>
                  </a:cxn>
                  <a:cxn ang="0">
                    <a:pos x="140" y="57"/>
                  </a:cxn>
                  <a:cxn ang="0">
                    <a:pos x="96" y="44"/>
                  </a:cxn>
                  <a:cxn ang="0">
                    <a:pos x="49" y="24"/>
                  </a:cxn>
                  <a:cxn ang="0">
                    <a:pos x="0" y="0"/>
                  </a:cxn>
                </a:cxnLst>
                <a:rect l="0" t="0" r="r" b="b"/>
                <a:pathLst>
                  <a:path w="832" h="420">
                    <a:moveTo>
                      <a:pt x="0" y="0"/>
                    </a:moveTo>
                    <a:lnTo>
                      <a:pt x="0" y="356"/>
                    </a:lnTo>
                    <a:lnTo>
                      <a:pt x="84" y="374"/>
                    </a:lnTo>
                    <a:lnTo>
                      <a:pt x="153" y="393"/>
                    </a:lnTo>
                    <a:lnTo>
                      <a:pt x="210" y="404"/>
                    </a:lnTo>
                    <a:lnTo>
                      <a:pt x="258" y="410"/>
                    </a:lnTo>
                    <a:lnTo>
                      <a:pt x="312" y="416"/>
                    </a:lnTo>
                    <a:lnTo>
                      <a:pt x="402" y="419"/>
                    </a:lnTo>
                    <a:lnTo>
                      <a:pt x="485" y="412"/>
                    </a:lnTo>
                    <a:lnTo>
                      <a:pt x="570" y="399"/>
                    </a:lnTo>
                    <a:lnTo>
                      <a:pt x="652" y="377"/>
                    </a:lnTo>
                    <a:lnTo>
                      <a:pt x="724" y="347"/>
                    </a:lnTo>
                    <a:lnTo>
                      <a:pt x="784" y="306"/>
                    </a:lnTo>
                    <a:lnTo>
                      <a:pt x="829" y="291"/>
                    </a:lnTo>
                    <a:lnTo>
                      <a:pt x="831" y="2"/>
                    </a:lnTo>
                    <a:lnTo>
                      <a:pt x="786" y="9"/>
                    </a:lnTo>
                    <a:lnTo>
                      <a:pt x="726" y="29"/>
                    </a:lnTo>
                    <a:lnTo>
                      <a:pt x="654" y="55"/>
                    </a:lnTo>
                    <a:lnTo>
                      <a:pt x="585" y="70"/>
                    </a:lnTo>
                    <a:lnTo>
                      <a:pt x="515" y="78"/>
                    </a:lnTo>
                    <a:lnTo>
                      <a:pt x="468" y="82"/>
                    </a:lnTo>
                    <a:lnTo>
                      <a:pt x="428" y="84"/>
                    </a:lnTo>
                    <a:lnTo>
                      <a:pt x="358" y="84"/>
                    </a:lnTo>
                    <a:lnTo>
                      <a:pt x="314" y="81"/>
                    </a:lnTo>
                    <a:lnTo>
                      <a:pt x="274" y="76"/>
                    </a:lnTo>
                    <a:lnTo>
                      <a:pt x="229" y="73"/>
                    </a:lnTo>
                    <a:lnTo>
                      <a:pt x="190" y="66"/>
                    </a:lnTo>
                    <a:lnTo>
                      <a:pt x="140" y="57"/>
                    </a:lnTo>
                    <a:lnTo>
                      <a:pt x="96" y="44"/>
                    </a:lnTo>
                    <a:lnTo>
                      <a:pt x="49" y="24"/>
                    </a:lnTo>
                    <a:lnTo>
                      <a:pt x="0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</p:grpSp>
      </p:grpSp>
      <p:sp>
        <p:nvSpPr>
          <p:cNvPr id="3121" name="Rectangle 49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22" name="Rectangle 5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" name="Rectangle 5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52" name="Rectangle 5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53" name="Rectangle 5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86117F-7378-437D-ADF0-222832E895EF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63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5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6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92363C-31F1-45C1-A502-F373DB18E285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6112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5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6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F04EA9-CA77-431E-9874-1F82B0BBC0CF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4586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914400" y="22860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22860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6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7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1FE061-B348-4BFF-9CF4-6B8E44ED7BFC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5384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8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9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D959BA-232A-4C1B-9DE0-7626244AB8A5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353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4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5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82AB76-C8A1-4BFB-B926-F95D4C512CD7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6541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3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4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E66AF7-F31C-46F3-AECD-589596BCE952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1041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6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7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DC75D5-44A6-46B0-AE2F-42CDDCC5AAAE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5204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6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7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D670B5-E150-4B53-A92D-482B89DDAFB6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50789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5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6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3B2882-50C5-4FF2-9350-2E69ED233A97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4492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686800" y="914400"/>
            <a:ext cx="2590800" cy="54864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7569200" cy="54864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5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6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B5924F-96E3-461D-9453-2C666988C558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9206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914400" y="914400"/>
            <a:ext cx="10363200" cy="54864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4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5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0FA709-A654-47F5-A2FE-EA71B176C726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0736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Заголовок, текст и кли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32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914400" y="2286000"/>
            <a:ext cx="5080000" cy="4114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Клип 3"/>
          <p:cNvSpPr>
            <a:spLocks noGrp="1"/>
          </p:cNvSpPr>
          <p:nvPr>
            <p:ph type="clipArt" sz="half" idx="2"/>
          </p:nvPr>
        </p:nvSpPr>
        <p:spPr>
          <a:xfrm>
            <a:off x="6197600" y="2286000"/>
            <a:ext cx="5080000" cy="4114800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5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6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7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058D8F-4637-464B-9A4E-D54C42DE5749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9871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339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339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1248CF-B506-4111-A7FA-78D6E5E6FA3F}" type="slidenum">
              <a:rPr lang="ru-RU"/>
              <a:pPr/>
              <a:t>‹#›</a:t>
            </a:fld>
            <a:endParaRPr lang="ru-RU"/>
          </a:p>
        </p:txBody>
      </p:sp>
      <p:sp>
        <p:nvSpPr>
          <p:cNvPr id="6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DBC7BD-4D1A-4B0C-ABE7-8F0691474510}" type="datetime1">
              <a:rPr lang="ru-RU"/>
              <a:pPr/>
              <a:t>09.04.2019</a:t>
            </a:fld>
            <a:endParaRPr lang="ru-RU"/>
          </a:p>
        </p:txBody>
      </p:sp>
      <p:sp>
        <p:nvSpPr>
          <p:cNvPr id="7" name="Rectangle 22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391414"/>
      </p:ext>
    </p:extLst>
  </p:cSld>
  <p:clrMapOvr>
    <a:masterClrMapping/>
  </p:clrMapOvr>
  <p:transition spd="med">
    <p:zo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CBD6FE-6848-4B55-B588-0429DE7702D6}" type="slidenum">
              <a:rPr lang="ru-RU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000000"/>
              </a:solidFill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7129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1" y="-17463"/>
            <a:ext cx="12238567" cy="6905626"/>
            <a:chOff x="0" y="-11"/>
            <a:chExt cx="5782" cy="4350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hidden">
            <a:xfrm>
              <a:off x="0" y="1824"/>
              <a:ext cx="5774" cy="2515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ru-RU" sz="2400">
                <a:solidFill>
                  <a:srgbClr val="F8F8F8"/>
                </a:solidFill>
              </a:endParaRPr>
            </a:p>
          </p:txBody>
        </p:sp>
        <p:sp>
          <p:nvSpPr>
            <p:cNvPr id="6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5759" cy="1824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ru-RU" sz="2400">
                <a:solidFill>
                  <a:srgbClr val="F8F8F8"/>
                </a:solidFill>
              </a:endParaRPr>
            </a:p>
          </p:txBody>
        </p:sp>
        <p:grpSp>
          <p:nvGrpSpPr>
            <p:cNvPr id="7" name="Group 6"/>
            <p:cNvGrpSpPr>
              <a:grpSpLocks/>
            </p:cNvGrpSpPr>
            <p:nvPr/>
          </p:nvGrpSpPr>
          <p:grpSpPr bwMode="auto">
            <a:xfrm>
              <a:off x="5301" y="-11"/>
              <a:ext cx="481" cy="4284"/>
              <a:chOff x="5301" y="-11"/>
              <a:chExt cx="481" cy="4284"/>
            </a:xfrm>
          </p:grpSpPr>
          <p:sp>
            <p:nvSpPr>
              <p:cNvPr id="49" name="Freeform 4"/>
              <p:cNvSpPr>
                <a:spLocks/>
              </p:cNvSpPr>
              <p:nvPr/>
            </p:nvSpPr>
            <p:spPr bwMode="ltGray">
              <a:xfrm>
                <a:off x="5301" y="-11"/>
                <a:ext cx="241" cy="4284"/>
              </a:xfrm>
              <a:custGeom>
                <a:avLst/>
                <a:gdLst/>
                <a:ahLst/>
                <a:cxnLst>
                  <a:cxn ang="0">
                    <a:pos x="0" y="4234"/>
                  </a:cxn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4234"/>
                  </a:cxn>
                  <a:cxn ang="0">
                    <a:pos x="192" y="4283"/>
                  </a:cxn>
                  <a:cxn ang="0">
                    <a:pos x="144" y="4281"/>
                  </a:cxn>
                  <a:cxn ang="0">
                    <a:pos x="112" y="4281"/>
                  </a:cxn>
                  <a:cxn ang="0">
                    <a:pos x="49" y="4281"/>
                  </a:cxn>
                  <a:cxn ang="0">
                    <a:pos x="0" y="4234"/>
                  </a:cxn>
                </a:cxnLst>
                <a:rect l="0" t="0" r="r" b="b"/>
                <a:pathLst>
                  <a:path w="241" h="4284">
                    <a:moveTo>
                      <a:pt x="0" y="4234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40" y="4234"/>
                    </a:lnTo>
                    <a:lnTo>
                      <a:pt x="192" y="4283"/>
                    </a:lnTo>
                    <a:lnTo>
                      <a:pt x="144" y="4281"/>
                    </a:lnTo>
                    <a:lnTo>
                      <a:pt x="112" y="4281"/>
                    </a:lnTo>
                    <a:lnTo>
                      <a:pt x="49" y="4281"/>
                    </a:lnTo>
                    <a:lnTo>
                      <a:pt x="0" y="4234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50" name="Freeform 5"/>
              <p:cNvSpPr>
                <a:spLocks/>
              </p:cNvSpPr>
              <p:nvPr/>
            </p:nvSpPr>
            <p:spPr bwMode="ltGray">
              <a:xfrm>
                <a:off x="5541" y="-11"/>
                <a:ext cx="241" cy="4284"/>
              </a:xfrm>
              <a:custGeom>
                <a:avLst/>
                <a:gdLst/>
                <a:ahLst/>
                <a:cxnLst>
                  <a:cxn ang="0">
                    <a:pos x="0" y="4234"/>
                  </a:cxn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4234"/>
                  </a:cxn>
                  <a:cxn ang="0">
                    <a:pos x="192" y="4283"/>
                  </a:cxn>
                  <a:cxn ang="0">
                    <a:pos x="144" y="4281"/>
                  </a:cxn>
                  <a:cxn ang="0">
                    <a:pos x="112" y="4281"/>
                  </a:cxn>
                  <a:cxn ang="0">
                    <a:pos x="49" y="4281"/>
                  </a:cxn>
                  <a:cxn ang="0">
                    <a:pos x="0" y="4234"/>
                  </a:cxn>
                </a:cxnLst>
                <a:rect l="0" t="0" r="r" b="b"/>
                <a:pathLst>
                  <a:path w="241" h="4284">
                    <a:moveTo>
                      <a:pt x="0" y="4234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40" y="4234"/>
                    </a:lnTo>
                    <a:lnTo>
                      <a:pt x="192" y="4283"/>
                    </a:lnTo>
                    <a:lnTo>
                      <a:pt x="144" y="4281"/>
                    </a:lnTo>
                    <a:lnTo>
                      <a:pt x="112" y="4281"/>
                    </a:lnTo>
                    <a:lnTo>
                      <a:pt x="49" y="4281"/>
                    </a:lnTo>
                    <a:lnTo>
                      <a:pt x="0" y="4234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</p:grpSp>
        <p:grpSp>
          <p:nvGrpSpPr>
            <p:cNvPr id="8" name="Group 9"/>
            <p:cNvGrpSpPr>
              <a:grpSpLocks/>
            </p:cNvGrpSpPr>
            <p:nvPr/>
          </p:nvGrpSpPr>
          <p:grpSpPr bwMode="auto">
            <a:xfrm>
              <a:off x="0" y="0"/>
              <a:ext cx="481" cy="4273"/>
              <a:chOff x="0" y="0"/>
              <a:chExt cx="481" cy="4273"/>
            </a:xfrm>
          </p:grpSpPr>
          <p:sp>
            <p:nvSpPr>
              <p:cNvPr id="47" name="Freeform 7"/>
              <p:cNvSpPr>
                <a:spLocks/>
              </p:cNvSpPr>
              <p:nvPr/>
            </p:nvSpPr>
            <p:spPr bwMode="ltGray">
              <a:xfrm>
                <a:off x="0" y="0"/>
                <a:ext cx="241" cy="4273"/>
              </a:xfrm>
              <a:custGeom>
                <a:avLst/>
                <a:gdLst/>
                <a:ahLst/>
                <a:cxnLst>
                  <a:cxn ang="0">
                    <a:pos x="0" y="4223"/>
                  </a:cxn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4223"/>
                  </a:cxn>
                  <a:cxn ang="0">
                    <a:pos x="192" y="4272"/>
                  </a:cxn>
                  <a:cxn ang="0">
                    <a:pos x="144" y="4270"/>
                  </a:cxn>
                  <a:cxn ang="0">
                    <a:pos x="112" y="4270"/>
                  </a:cxn>
                  <a:cxn ang="0">
                    <a:pos x="49" y="4270"/>
                  </a:cxn>
                  <a:cxn ang="0">
                    <a:pos x="0" y="4223"/>
                  </a:cxn>
                </a:cxnLst>
                <a:rect l="0" t="0" r="r" b="b"/>
                <a:pathLst>
                  <a:path w="241" h="4273">
                    <a:moveTo>
                      <a:pt x="0" y="4223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40" y="4223"/>
                    </a:lnTo>
                    <a:lnTo>
                      <a:pt x="192" y="4272"/>
                    </a:lnTo>
                    <a:lnTo>
                      <a:pt x="144" y="4270"/>
                    </a:lnTo>
                    <a:lnTo>
                      <a:pt x="112" y="4270"/>
                    </a:lnTo>
                    <a:lnTo>
                      <a:pt x="49" y="4270"/>
                    </a:lnTo>
                    <a:lnTo>
                      <a:pt x="0" y="4223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48" name="Freeform 8"/>
              <p:cNvSpPr>
                <a:spLocks/>
              </p:cNvSpPr>
              <p:nvPr/>
            </p:nvSpPr>
            <p:spPr bwMode="ltGray">
              <a:xfrm>
                <a:off x="240" y="0"/>
                <a:ext cx="241" cy="4273"/>
              </a:xfrm>
              <a:custGeom>
                <a:avLst/>
                <a:gdLst/>
                <a:ahLst/>
                <a:cxnLst>
                  <a:cxn ang="0">
                    <a:pos x="0" y="4223"/>
                  </a:cxn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4223"/>
                  </a:cxn>
                  <a:cxn ang="0">
                    <a:pos x="192" y="4272"/>
                  </a:cxn>
                  <a:cxn ang="0">
                    <a:pos x="144" y="4270"/>
                  </a:cxn>
                  <a:cxn ang="0">
                    <a:pos x="112" y="4270"/>
                  </a:cxn>
                  <a:cxn ang="0">
                    <a:pos x="49" y="4270"/>
                  </a:cxn>
                  <a:cxn ang="0">
                    <a:pos x="0" y="4223"/>
                  </a:cxn>
                </a:cxnLst>
                <a:rect l="0" t="0" r="r" b="b"/>
                <a:pathLst>
                  <a:path w="241" h="4273">
                    <a:moveTo>
                      <a:pt x="0" y="4223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40" y="4223"/>
                    </a:lnTo>
                    <a:lnTo>
                      <a:pt x="192" y="4272"/>
                    </a:lnTo>
                    <a:lnTo>
                      <a:pt x="144" y="4270"/>
                    </a:lnTo>
                    <a:lnTo>
                      <a:pt x="112" y="4270"/>
                    </a:lnTo>
                    <a:lnTo>
                      <a:pt x="49" y="4270"/>
                    </a:lnTo>
                    <a:lnTo>
                      <a:pt x="0" y="4223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</p:grpSp>
        <p:grpSp>
          <p:nvGrpSpPr>
            <p:cNvPr id="9" name="Group 47"/>
            <p:cNvGrpSpPr>
              <a:grpSpLocks/>
            </p:cNvGrpSpPr>
            <p:nvPr/>
          </p:nvGrpSpPr>
          <p:grpSpPr bwMode="auto">
            <a:xfrm>
              <a:off x="82" y="838"/>
              <a:ext cx="5590" cy="891"/>
              <a:chOff x="82" y="838"/>
              <a:chExt cx="5590" cy="891"/>
            </a:xfrm>
          </p:grpSpPr>
          <p:grpSp>
            <p:nvGrpSpPr>
              <p:cNvPr id="10" name="Group 28"/>
              <p:cNvGrpSpPr>
                <a:grpSpLocks/>
              </p:cNvGrpSpPr>
              <p:nvPr/>
            </p:nvGrpSpPr>
            <p:grpSpPr bwMode="auto">
              <a:xfrm>
                <a:off x="134" y="838"/>
                <a:ext cx="5538" cy="850"/>
                <a:chOff x="134" y="838"/>
                <a:chExt cx="5538" cy="850"/>
              </a:xfrm>
            </p:grpSpPr>
            <p:sp>
              <p:nvSpPr>
                <p:cNvPr id="29" name="Freeform 10"/>
                <p:cNvSpPr>
                  <a:spLocks/>
                </p:cNvSpPr>
                <p:nvPr/>
              </p:nvSpPr>
              <p:spPr bwMode="ltGray">
                <a:xfrm>
                  <a:off x="5269" y="1550"/>
                  <a:ext cx="156" cy="117"/>
                </a:xfrm>
                <a:custGeom>
                  <a:avLst/>
                  <a:gdLst/>
                  <a:ahLst/>
                  <a:cxnLst>
                    <a:cxn ang="0">
                      <a:pos x="83" y="0"/>
                    </a:cxn>
                    <a:cxn ang="0">
                      <a:pos x="134" y="19"/>
                    </a:cxn>
                    <a:cxn ang="0">
                      <a:pos x="152" y="45"/>
                    </a:cxn>
                    <a:cxn ang="0">
                      <a:pos x="155" y="70"/>
                    </a:cxn>
                    <a:cxn ang="0">
                      <a:pos x="155" y="83"/>
                    </a:cxn>
                    <a:cxn ang="0">
                      <a:pos x="146" y="99"/>
                    </a:cxn>
                    <a:cxn ang="0">
                      <a:pos x="126" y="107"/>
                    </a:cxn>
                    <a:cxn ang="0">
                      <a:pos x="105" y="113"/>
                    </a:cxn>
                    <a:cxn ang="0">
                      <a:pos x="86" y="116"/>
                    </a:cxn>
                    <a:cxn ang="0">
                      <a:pos x="69" y="116"/>
                    </a:cxn>
                    <a:cxn ang="0">
                      <a:pos x="41" y="111"/>
                    </a:cxn>
                    <a:cxn ang="0">
                      <a:pos x="21" y="106"/>
                    </a:cxn>
                    <a:cxn ang="0">
                      <a:pos x="9" y="98"/>
                    </a:cxn>
                    <a:cxn ang="0">
                      <a:pos x="2" y="89"/>
                    </a:cxn>
                    <a:cxn ang="0">
                      <a:pos x="0" y="78"/>
                    </a:cxn>
                    <a:cxn ang="0">
                      <a:pos x="2" y="60"/>
                    </a:cxn>
                    <a:cxn ang="0">
                      <a:pos x="9" y="11"/>
                    </a:cxn>
                    <a:cxn ang="0">
                      <a:pos x="83" y="0"/>
                    </a:cxn>
                  </a:cxnLst>
                  <a:rect l="0" t="0" r="r" b="b"/>
                  <a:pathLst>
                    <a:path w="156" h="117">
                      <a:moveTo>
                        <a:pt x="83" y="0"/>
                      </a:moveTo>
                      <a:lnTo>
                        <a:pt x="134" y="19"/>
                      </a:lnTo>
                      <a:lnTo>
                        <a:pt x="152" y="45"/>
                      </a:lnTo>
                      <a:lnTo>
                        <a:pt x="155" y="70"/>
                      </a:lnTo>
                      <a:lnTo>
                        <a:pt x="155" y="83"/>
                      </a:lnTo>
                      <a:lnTo>
                        <a:pt x="146" y="99"/>
                      </a:lnTo>
                      <a:lnTo>
                        <a:pt x="126" y="107"/>
                      </a:lnTo>
                      <a:lnTo>
                        <a:pt x="105" y="113"/>
                      </a:lnTo>
                      <a:lnTo>
                        <a:pt x="86" y="116"/>
                      </a:lnTo>
                      <a:lnTo>
                        <a:pt x="69" y="116"/>
                      </a:lnTo>
                      <a:lnTo>
                        <a:pt x="41" y="111"/>
                      </a:lnTo>
                      <a:lnTo>
                        <a:pt x="21" y="106"/>
                      </a:lnTo>
                      <a:lnTo>
                        <a:pt x="9" y="98"/>
                      </a:lnTo>
                      <a:lnTo>
                        <a:pt x="2" y="89"/>
                      </a:lnTo>
                      <a:lnTo>
                        <a:pt x="0" y="78"/>
                      </a:lnTo>
                      <a:lnTo>
                        <a:pt x="2" y="60"/>
                      </a:lnTo>
                      <a:lnTo>
                        <a:pt x="9" y="11"/>
                      </a:lnTo>
                      <a:lnTo>
                        <a:pt x="83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0" name="Freeform 11"/>
                <p:cNvSpPr>
                  <a:spLocks/>
                </p:cNvSpPr>
                <p:nvPr/>
              </p:nvSpPr>
              <p:spPr bwMode="ltGray">
                <a:xfrm>
                  <a:off x="5265" y="1562"/>
                  <a:ext cx="88" cy="75"/>
                </a:xfrm>
                <a:custGeom>
                  <a:avLst/>
                  <a:gdLst/>
                  <a:ahLst/>
                  <a:cxnLst>
                    <a:cxn ang="0">
                      <a:pos x="0" y="69"/>
                    </a:cxn>
                    <a:cxn ang="0">
                      <a:pos x="11" y="0"/>
                    </a:cxn>
                    <a:cxn ang="0">
                      <a:pos x="54" y="5"/>
                    </a:cxn>
                    <a:cxn ang="0">
                      <a:pos x="87" y="9"/>
                    </a:cxn>
                    <a:cxn ang="0">
                      <a:pos x="78" y="74"/>
                    </a:cxn>
                    <a:cxn ang="0">
                      <a:pos x="75" y="59"/>
                    </a:cxn>
                    <a:cxn ang="0">
                      <a:pos x="65" y="48"/>
                    </a:cxn>
                    <a:cxn ang="0">
                      <a:pos x="47" y="44"/>
                    </a:cxn>
                    <a:cxn ang="0">
                      <a:pos x="27" y="45"/>
                    </a:cxn>
                    <a:cxn ang="0">
                      <a:pos x="11" y="52"/>
                    </a:cxn>
                    <a:cxn ang="0">
                      <a:pos x="0" y="69"/>
                    </a:cxn>
                  </a:cxnLst>
                  <a:rect l="0" t="0" r="r" b="b"/>
                  <a:pathLst>
                    <a:path w="88" h="75">
                      <a:moveTo>
                        <a:pt x="0" y="69"/>
                      </a:moveTo>
                      <a:lnTo>
                        <a:pt x="11" y="0"/>
                      </a:lnTo>
                      <a:lnTo>
                        <a:pt x="54" y="5"/>
                      </a:lnTo>
                      <a:lnTo>
                        <a:pt x="87" y="9"/>
                      </a:lnTo>
                      <a:lnTo>
                        <a:pt x="78" y="74"/>
                      </a:lnTo>
                      <a:lnTo>
                        <a:pt x="75" y="59"/>
                      </a:lnTo>
                      <a:lnTo>
                        <a:pt x="65" y="48"/>
                      </a:lnTo>
                      <a:lnTo>
                        <a:pt x="47" y="44"/>
                      </a:lnTo>
                      <a:lnTo>
                        <a:pt x="27" y="45"/>
                      </a:lnTo>
                      <a:lnTo>
                        <a:pt x="11" y="52"/>
                      </a:lnTo>
                      <a:lnTo>
                        <a:pt x="0" y="69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1" name="Freeform 12"/>
                <p:cNvSpPr>
                  <a:spLocks/>
                </p:cNvSpPr>
                <p:nvPr/>
              </p:nvSpPr>
              <p:spPr bwMode="ltGray">
                <a:xfrm>
                  <a:off x="475" y="1541"/>
                  <a:ext cx="156" cy="117"/>
                </a:xfrm>
                <a:custGeom>
                  <a:avLst/>
                  <a:gdLst/>
                  <a:ahLst/>
                  <a:cxnLst>
                    <a:cxn ang="0">
                      <a:pos x="72" y="0"/>
                    </a:cxn>
                    <a:cxn ang="0">
                      <a:pos x="21" y="19"/>
                    </a:cxn>
                    <a:cxn ang="0">
                      <a:pos x="3" y="45"/>
                    </a:cxn>
                    <a:cxn ang="0">
                      <a:pos x="0" y="70"/>
                    </a:cxn>
                    <a:cxn ang="0">
                      <a:pos x="0" y="83"/>
                    </a:cxn>
                    <a:cxn ang="0">
                      <a:pos x="9" y="99"/>
                    </a:cxn>
                    <a:cxn ang="0">
                      <a:pos x="29" y="107"/>
                    </a:cxn>
                    <a:cxn ang="0">
                      <a:pos x="50" y="113"/>
                    </a:cxn>
                    <a:cxn ang="0">
                      <a:pos x="69" y="116"/>
                    </a:cxn>
                    <a:cxn ang="0">
                      <a:pos x="86" y="116"/>
                    </a:cxn>
                    <a:cxn ang="0">
                      <a:pos x="114" y="111"/>
                    </a:cxn>
                    <a:cxn ang="0">
                      <a:pos x="134" y="106"/>
                    </a:cxn>
                    <a:cxn ang="0">
                      <a:pos x="146" y="98"/>
                    </a:cxn>
                    <a:cxn ang="0">
                      <a:pos x="153" y="89"/>
                    </a:cxn>
                    <a:cxn ang="0">
                      <a:pos x="155" y="78"/>
                    </a:cxn>
                    <a:cxn ang="0">
                      <a:pos x="153" y="60"/>
                    </a:cxn>
                    <a:cxn ang="0">
                      <a:pos x="146" y="11"/>
                    </a:cxn>
                    <a:cxn ang="0">
                      <a:pos x="72" y="0"/>
                    </a:cxn>
                  </a:cxnLst>
                  <a:rect l="0" t="0" r="r" b="b"/>
                  <a:pathLst>
                    <a:path w="156" h="117">
                      <a:moveTo>
                        <a:pt x="72" y="0"/>
                      </a:moveTo>
                      <a:lnTo>
                        <a:pt x="21" y="19"/>
                      </a:lnTo>
                      <a:lnTo>
                        <a:pt x="3" y="45"/>
                      </a:lnTo>
                      <a:lnTo>
                        <a:pt x="0" y="70"/>
                      </a:lnTo>
                      <a:lnTo>
                        <a:pt x="0" y="83"/>
                      </a:lnTo>
                      <a:lnTo>
                        <a:pt x="9" y="99"/>
                      </a:lnTo>
                      <a:lnTo>
                        <a:pt x="29" y="107"/>
                      </a:lnTo>
                      <a:lnTo>
                        <a:pt x="50" y="113"/>
                      </a:lnTo>
                      <a:lnTo>
                        <a:pt x="69" y="116"/>
                      </a:lnTo>
                      <a:lnTo>
                        <a:pt x="86" y="116"/>
                      </a:lnTo>
                      <a:lnTo>
                        <a:pt x="114" y="111"/>
                      </a:lnTo>
                      <a:lnTo>
                        <a:pt x="134" y="106"/>
                      </a:lnTo>
                      <a:lnTo>
                        <a:pt x="146" y="98"/>
                      </a:lnTo>
                      <a:lnTo>
                        <a:pt x="153" y="89"/>
                      </a:lnTo>
                      <a:lnTo>
                        <a:pt x="155" y="78"/>
                      </a:lnTo>
                      <a:lnTo>
                        <a:pt x="153" y="60"/>
                      </a:lnTo>
                      <a:lnTo>
                        <a:pt x="146" y="11"/>
                      </a:lnTo>
                      <a:lnTo>
                        <a:pt x="72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2" name="Freeform 13"/>
                <p:cNvSpPr>
                  <a:spLocks/>
                </p:cNvSpPr>
                <p:nvPr/>
              </p:nvSpPr>
              <p:spPr bwMode="ltGray">
                <a:xfrm>
                  <a:off x="547" y="1554"/>
                  <a:ext cx="88" cy="75"/>
                </a:xfrm>
                <a:custGeom>
                  <a:avLst/>
                  <a:gdLst/>
                  <a:ahLst/>
                  <a:cxnLst>
                    <a:cxn ang="0">
                      <a:pos x="87" y="68"/>
                    </a:cxn>
                    <a:cxn ang="0">
                      <a:pos x="76" y="0"/>
                    </a:cxn>
                    <a:cxn ang="0">
                      <a:pos x="33" y="5"/>
                    </a:cxn>
                    <a:cxn ang="0">
                      <a:pos x="0" y="9"/>
                    </a:cxn>
                    <a:cxn ang="0">
                      <a:pos x="9" y="74"/>
                    </a:cxn>
                    <a:cxn ang="0">
                      <a:pos x="12" y="58"/>
                    </a:cxn>
                    <a:cxn ang="0">
                      <a:pos x="22" y="47"/>
                    </a:cxn>
                    <a:cxn ang="0">
                      <a:pos x="40" y="44"/>
                    </a:cxn>
                    <a:cxn ang="0">
                      <a:pos x="60" y="45"/>
                    </a:cxn>
                    <a:cxn ang="0">
                      <a:pos x="76" y="52"/>
                    </a:cxn>
                    <a:cxn ang="0">
                      <a:pos x="87" y="68"/>
                    </a:cxn>
                  </a:cxnLst>
                  <a:rect l="0" t="0" r="r" b="b"/>
                  <a:pathLst>
                    <a:path w="88" h="75">
                      <a:moveTo>
                        <a:pt x="87" y="68"/>
                      </a:moveTo>
                      <a:lnTo>
                        <a:pt x="76" y="0"/>
                      </a:lnTo>
                      <a:lnTo>
                        <a:pt x="33" y="5"/>
                      </a:lnTo>
                      <a:lnTo>
                        <a:pt x="0" y="9"/>
                      </a:lnTo>
                      <a:lnTo>
                        <a:pt x="9" y="74"/>
                      </a:lnTo>
                      <a:lnTo>
                        <a:pt x="12" y="58"/>
                      </a:lnTo>
                      <a:lnTo>
                        <a:pt x="22" y="47"/>
                      </a:lnTo>
                      <a:lnTo>
                        <a:pt x="40" y="44"/>
                      </a:lnTo>
                      <a:lnTo>
                        <a:pt x="60" y="45"/>
                      </a:lnTo>
                      <a:lnTo>
                        <a:pt x="76" y="52"/>
                      </a:lnTo>
                      <a:lnTo>
                        <a:pt x="87" y="68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3" name="Line 14"/>
                <p:cNvSpPr>
                  <a:spLocks noChangeShapeType="1"/>
                </p:cNvSpPr>
                <p:nvPr/>
              </p:nvSpPr>
              <p:spPr bwMode="ltGray">
                <a:xfrm flipV="1">
                  <a:off x="2020" y="1125"/>
                  <a:ext cx="192" cy="87"/>
                </a:xfrm>
                <a:prstGeom prst="line">
                  <a:avLst/>
                </a:prstGeom>
                <a:noFill/>
                <a:ln w="12700">
                  <a:solidFill>
                    <a:schemeClr val="hlink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4" name="Freeform 15"/>
                <p:cNvSpPr>
                  <a:spLocks/>
                </p:cNvSpPr>
                <p:nvPr/>
              </p:nvSpPr>
              <p:spPr bwMode="ltGray">
                <a:xfrm>
                  <a:off x="1408" y="838"/>
                  <a:ext cx="2967" cy="457"/>
                </a:xfrm>
                <a:custGeom>
                  <a:avLst/>
                  <a:gdLst/>
                  <a:ahLst/>
                  <a:cxnLst>
                    <a:cxn ang="0">
                      <a:pos x="0" y="122"/>
                    </a:cxn>
                    <a:cxn ang="0">
                      <a:pos x="207" y="78"/>
                    </a:cxn>
                    <a:cxn ang="0">
                      <a:pos x="442" y="48"/>
                    </a:cxn>
                    <a:cxn ang="0">
                      <a:pos x="640" y="32"/>
                    </a:cxn>
                    <a:cxn ang="0">
                      <a:pos x="897" y="16"/>
                    </a:cxn>
                    <a:cxn ang="0">
                      <a:pos x="1215" y="2"/>
                    </a:cxn>
                    <a:cxn ang="0">
                      <a:pos x="1392" y="0"/>
                    </a:cxn>
                    <a:cxn ang="0">
                      <a:pos x="1710" y="0"/>
                    </a:cxn>
                    <a:cxn ang="0">
                      <a:pos x="1997" y="10"/>
                    </a:cxn>
                    <a:cxn ang="0">
                      <a:pos x="2258" y="21"/>
                    </a:cxn>
                    <a:cxn ang="0">
                      <a:pos x="2493" y="38"/>
                    </a:cxn>
                    <a:cxn ang="0">
                      <a:pos x="2674" y="54"/>
                    </a:cxn>
                    <a:cxn ang="0">
                      <a:pos x="2828" y="73"/>
                    </a:cxn>
                    <a:cxn ang="0">
                      <a:pos x="2966" y="92"/>
                    </a:cxn>
                    <a:cxn ang="0">
                      <a:pos x="2966" y="456"/>
                    </a:cxn>
                    <a:cxn ang="0">
                      <a:pos x="2833" y="434"/>
                    </a:cxn>
                    <a:cxn ang="0">
                      <a:pos x="2563" y="399"/>
                    </a:cxn>
                    <a:cxn ang="0">
                      <a:pos x="2382" y="382"/>
                    </a:cxn>
                    <a:cxn ang="0">
                      <a:pos x="2134" y="366"/>
                    </a:cxn>
                    <a:cxn ang="0">
                      <a:pos x="1944" y="358"/>
                    </a:cxn>
                    <a:cxn ang="0">
                      <a:pos x="1746" y="350"/>
                    </a:cxn>
                    <a:cxn ang="0">
                      <a:pos x="1529" y="350"/>
                    </a:cxn>
                    <a:cxn ang="0">
                      <a:pos x="1295" y="350"/>
                    </a:cxn>
                    <a:cxn ang="0">
                      <a:pos x="1047" y="355"/>
                    </a:cxn>
                    <a:cxn ang="0">
                      <a:pos x="853" y="363"/>
                    </a:cxn>
                    <a:cxn ang="0">
                      <a:pos x="654" y="374"/>
                    </a:cxn>
                    <a:cxn ang="0">
                      <a:pos x="468" y="388"/>
                    </a:cxn>
                    <a:cxn ang="0">
                      <a:pos x="296" y="404"/>
                    </a:cxn>
                    <a:cxn ang="0">
                      <a:pos x="150" y="423"/>
                    </a:cxn>
                    <a:cxn ang="0">
                      <a:pos x="13" y="445"/>
                    </a:cxn>
                    <a:cxn ang="0">
                      <a:pos x="0" y="122"/>
                    </a:cxn>
                  </a:cxnLst>
                  <a:rect l="0" t="0" r="r" b="b"/>
                  <a:pathLst>
                    <a:path w="2967" h="457">
                      <a:moveTo>
                        <a:pt x="0" y="122"/>
                      </a:moveTo>
                      <a:lnTo>
                        <a:pt x="207" y="78"/>
                      </a:lnTo>
                      <a:lnTo>
                        <a:pt x="442" y="48"/>
                      </a:lnTo>
                      <a:lnTo>
                        <a:pt x="640" y="32"/>
                      </a:lnTo>
                      <a:lnTo>
                        <a:pt x="897" y="16"/>
                      </a:lnTo>
                      <a:lnTo>
                        <a:pt x="1215" y="2"/>
                      </a:lnTo>
                      <a:lnTo>
                        <a:pt x="1392" y="0"/>
                      </a:lnTo>
                      <a:lnTo>
                        <a:pt x="1710" y="0"/>
                      </a:lnTo>
                      <a:lnTo>
                        <a:pt x="1997" y="10"/>
                      </a:lnTo>
                      <a:lnTo>
                        <a:pt x="2258" y="21"/>
                      </a:lnTo>
                      <a:lnTo>
                        <a:pt x="2493" y="38"/>
                      </a:lnTo>
                      <a:lnTo>
                        <a:pt x="2674" y="54"/>
                      </a:lnTo>
                      <a:lnTo>
                        <a:pt x="2828" y="73"/>
                      </a:lnTo>
                      <a:lnTo>
                        <a:pt x="2966" y="92"/>
                      </a:lnTo>
                      <a:lnTo>
                        <a:pt x="2966" y="456"/>
                      </a:lnTo>
                      <a:lnTo>
                        <a:pt x="2833" y="434"/>
                      </a:lnTo>
                      <a:lnTo>
                        <a:pt x="2563" y="399"/>
                      </a:lnTo>
                      <a:lnTo>
                        <a:pt x="2382" y="382"/>
                      </a:lnTo>
                      <a:lnTo>
                        <a:pt x="2134" y="366"/>
                      </a:lnTo>
                      <a:lnTo>
                        <a:pt x="1944" y="358"/>
                      </a:lnTo>
                      <a:lnTo>
                        <a:pt x="1746" y="350"/>
                      </a:lnTo>
                      <a:lnTo>
                        <a:pt x="1529" y="350"/>
                      </a:lnTo>
                      <a:lnTo>
                        <a:pt x="1295" y="350"/>
                      </a:lnTo>
                      <a:lnTo>
                        <a:pt x="1047" y="355"/>
                      </a:lnTo>
                      <a:lnTo>
                        <a:pt x="853" y="363"/>
                      </a:lnTo>
                      <a:lnTo>
                        <a:pt x="654" y="374"/>
                      </a:lnTo>
                      <a:lnTo>
                        <a:pt x="468" y="388"/>
                      </a:lnTo>
                      <a:lnTo>
                        <a:pt x="296" y="404"/>
                      </a:lnTo>
                      <a:lnTo>
                        <a:pt x="150" y="423"/>
                      </a:lnTo>
                      <a:lnTo>
                        <a:pt x="13" y="445"/>
                      </a:lnTo>
                      <a:lnTo>
                        <a:pt x="0" y="122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5" name="Freeform 16"/>
                <p:cNvSpPr>
                  <a:spLocks/>
                </p:cNvSpPr>
                <p:nvPr/>
              </p:nvSpPr>
              <p:spPr bwMode="ltGray">
                <a:xfrm>
                  <a:off x="607" y="934"/>
                  <a:ext cx="823" cy="431"/>
                </a:xfrm>
                <a:custGeom>
                  <a:avLst/>
                  <a:gdLst/>
                  <a:ahLst/>
                  <a:cxnLst>
                    <a:cxn ang="0">
                      <a:pos x="815" y="27"/>
                    </a:cxn>
                    <a:cxn ang="0">
                      <a:pos x="822" y="350"/>
                    </a:cxn>
                    <a:cxn ang="0">
                      <a:pos x="746" y="382"/>
                    </a:cxn>
                    <a:cxn ang="0">
                      <a:pos x="676" y="404"/>
                    </a:cxn>
                    <a:cxn ang="0">
                      <a:pos x="619" y="415"/>
                    </a:cxn>
                    <a:cxn ang="0">
                      <a:pos x="571" y="421"/>
                    </a:cxn>
                    <a:cxn ang="0">
                      <a:pos x="517" y="427"/>
                    </a:cxn>
                    <a:cxn ang="0">
                      <a:pos x="427" y="430"/>
                    </a:cxn>
                    <a:cxn ang="0">
                      <a:pos x="344" y="423"/>
                    </a:cxn>
                    <a:cxn ang="0">
                      <a:pos x="259" y="410"/>
                    </a:cxn>
                    <a:cxn ang="0">
                      <a:pos x="177" y="388"/>
                    </a:cxn>
                    <a:cxn ang="0">
                      <a:pos x="105" y="358"/>
                    </a:cxn>
                    <a:cxn ang="0">
                      <a:pos x="41" y="325"/>
                    </a:cxn>
                    <a:cxn ang="0">
                      <a:pos x="0" y="294"/>
                    </a:cxn>
                    <a:cxn ang="0">
                      <a:pos x="0" y="0"/>
                    </a:cxn>
                    <a:cxn ang="0">
                      <a:pos x="46" y="25"/>
                    </a:cxn>
                    <a:cxn ang="0">
                      <a:pos x="105" y="47"/>
                    </a:cxn>
                    <a:cxn ang="0">
                      <a:pos x="175" y="66"/>
                    </a:cxn>
                    <a:cxn ang="0">
                      <a:pos x="244" y="81"/>
                    </a:cxn>
                    <a:cxn ang="0">
                      <a:pos x="314" y="89"/>
                    </a:cxn>
                    <a:cxn ang="0">
                      <a:pos x="361" y="93"/>
                    </a:cxn>
                    <a:cxn ang="0">
                      <a:pos x="401" y="95"/>
                    </a:cxn>
                    <a:cxn ang="0">
                      <a:pos x="471" y="95"/>
                    </a:cxn>
                    <a:cxn ang="0">
                      <a:pos x="515" y="92"/>
                    </a:cxn>
                    <a:cxn ang="0">
                      <a:pos x="555" y="87"/>
                    </a:cxn>
                    <a:cxn ang="0">
                      <a:pos x="600" y="84"/>
                    </a:cxn>
                    <a:cxn ang="0">
                      <a:pos x="640" y="76"/>
                    </a:cxn>
                    <a:cxn ang="0">
                      <a:pos x="689" y="67"/>
                    </a:cxn>
                    <a:cxn ang="0">
                      <a:pos x="733" y="55"/>
                    </a:cxn>
                    <a:cxn ang="0">
                      <a:pos x="777" y="41"/>
                    </a:cxn>
                    <a:cxn ang="0">
                      <a:pos x="815" y="27"/>
                    </a:cxn>
                  </a:cxnLst>
                  <a:rect l="0" t="0" r="r" b="b"/>
                  <a:pathLst>
                    <a:path w="823" h="431">
                      <a:moveTo>
                        <a:pt x="815" y="27"/>
                      </a:moveTo>
                      <a:lnTo>
                        <a:pt x="822" y="350"/>
                      </a:lnTo>
                      <a:lnTo>
                        <a:pt x="746" y="382"/>
                      </a:lnTo>
                      <a:lnTo>
                        <a:pt x="676" y="404"/>
                      </a:lnTo>
                      <a:lnTo>
                        <a:pt x="619" y="415"/>
                      </a:lnTo>
                      <a:lnTo>
                        <a:pt x="571" y="421"/>
                      </a:lnTo>
                      <a:lnTo>
                        <a:pt x="517" y="427"/>
                      </a:lnTo>
                      <a:lnTo>
                        <a:pt x="427" y="430"/>
                      </a:lnTo>
                      <a:lnTo>
                        <a:pt x="344" y="423"/>
                      </a:lnTo>
                      <a:lnTo>
                        <a:pt x="259" y="410"/>
                      </a:lnTo>
                      <a:lnTo>
                        <a:pt x="177" y="388"/>
                      </a:lnTo>
                      <a:lnTo>
                        <a:pt x="105" y="358"/>
                      </a:lnTo>
                      <a:lnTo>
                        <a:pt x="41" y="325"/>
                      </a:lnTo>
                      <a:lnTo>
                        <a:pt x="0" y="294"/>
                      </a:lnTo>
                      <a:lnTo>
                        <a:pt x="0" y="0"/>
                      </a:lnTo>
                      <a:lnTo>
                        <a:pt x="46" y="25"/>
                      </a:lnTo>
                      <a:lnTo>
                        <a:pt x="105" y="47"/>
                      </a:lnTo>
                      <a:lnTo>
                        <a:pt x="175" y="66"/>
                      </a:lnTo>
                      <a:lnTo>
                        <a:pt x="244" y="81"/>
                      </a:lnTo>
                      <a:lnTo>
                        <a:pt x="314" y="89"/>
                      </a:lnTo>
                      <a:lnTo>
                        <a:pt x="361" y="93"/>
                      </a:lnTo>
                      <a:lnTo>
                        <a:pt x="401" y="95"/>
                      </a:lnTo>
                      <a:lnTo>
                        <a:pt x="471" y="95"/>
                      </a:lnTo>
                      <a:lnTo>
                        <a:pt x="515" y="92"/>
                      </a:lnTo>
                      <a:lnTo>
                        <a:pt x="555" y="87"/>
                      </a:lnTo>
                      <a:lnTo>
                        <a:pt x="600" y="84"/>
                      </a:lnTo>
                      <a:lnTo>
                        <a:pt x="640" y="76"/>
                      </a:lnTo>
                      <a:lnTo>
                        <a:pt x="689" y="67"/>
                      </a:lnTo>
                      <a:lnTo>
                        <a:pt x="733" y="55"/>
                      </a:lnTo>
                      <a:lnTo>
                        <a:pt x="777" y="41"/>
                      </a:lnTo>
                      <a:lnTo>
                        <a:pt x="815" y="27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6" name="Freeform 17"/>
                <p:cNvSpPr>
                  <a:spLocks/>
                </p:cNvSpPr>
                <p:nvPr/>
              </p:nvSpPr>
              <p:spPr bwMode="ltGray">
                <a:xfrm>
                  <a:off x="154" y="1349"/>
                  <a:ext cx="551" cy="339"/>
                </a:xfrm>
                <a:custGeom>
                  <a:avLst/>
                  <a:gdLst/>
                  <a:ahLst/>
                  <a:cxnLst>
                    <a:cxn ang="0">
                      <a:pos x="16" y="53"/>
                    </a:cxn>
                    <a:cxn ang="0">
                      <a:pos x="0" y="122"/>
                    </a:cxn>
                    <a:cxn ang="0">
                      <a:pos x="10" y="146"/>
                    </a:cxn>
                    <a:cxn ang="0">
                      <a:pos x="33" y="183"/>
                    </a:cxn>
                    <a:cxn ang="0">
                      <a:pos x="57" y="216"/>
                    </a:cxn>
                    <a:cxn ang="0">
                      <a:pos x="85" y="244"/>
                    </a:cxn>
                    <a:cxn ang="0">
                      <a:pos x="120" y="271"/>
                    </a:cxn>
                    <a:cxn ang="0">
                      <a:pos x="153" y="290"/>
                    </a:cxn>
                    <a:cxn ang="0">
                      <a:pos x="189" y="308"/>
                    </a:cxn>
                    <a:cxn ang="0">
                      <a:pos x="235" y="324"/>
                    </a:cxn>
                    <a:cxn ang="0">
                      <a:pos x="270" y="332"/>
                    </a:cxn>
                    <a:cxn ang="0">
                      <a:pos x="312" y="338"/>
                    </a:cxn>
                    <a:cxn ang="0">
                      <a:pos x="351" y="338"/>
                    </a:cxn>
                    <a:cxn ang="0">
                      <a:pos x="393" y="333"/>
                    </a:cxn>
                    <a:cxn ang="0">
                      <a:pos x="436" y="321"/>
                    </a:cxn>
                    <a:cxn ang="0">
                      <a:pos x="475" y="302"/>
                    </a:cxn>
                    <a:cxn ang="0">
                      <a:pos x="498" y="286"/>
                    </a:cxn>
                    <a:cxn ang="0">
                      <a:pos x="526" y="262"/>
                    </a:cxn>
                    <a:cxn ang="0">
                      <a:pos x="541" y="243"/>
                    </a:cxn>
                    <a:cxn ang="0">
                      <a:pos x="550" y="226"/>
                    </a:cxn>
                    <a:cxn ang="0">
                      <a:pos x="550" y="208"/>
                    </a:cxn>
                    <a:cxn ang="0">
                      <a:pos x="544" y="187"/>
                    </a:cxn>
                    <a:cxn ang="0">
                      <a:pos x="532" y="170"/>
                    </a:cxn>
                    <a:cxn ang="0">
                      <a:pos x="523" y="135"/>
                    </a:cxn>
                    <a:cxn ang="0">
                      <a:pos x="519" y="116"/>
                    </a:cxn>
                    <a:cxn ang="0">
                      <a:pos x="267" y="132"/>
                    </a:cxn>
                    <a:cxn ang="0">
                      <a:pos x="234" y="126"/>
                    </a:cxn>
                    <a:cxn ang="0">
                      <a:pos x="193" y="113"/>
                    </a:cxn>
                    <a:cxn ang="0">
                      <a:pos x="162" y="97"/>
                    </a:cxn>
                    <a:cxn ang="0">
                      <a:pos x="129" y="77"/>
                    </a:cxn>
                    <a:cxn ang="0">
                      <a:pos x="97" y="48"/>
                    </a:cxn>
                    <a:cxn ang="0">
                      <a:pos x="78" y="24"/>
                    </a:cxn>
                    <a:cxn ang="0">
                      <a:pos x="60" y="0"/>
                    </a:cxn>
                    <a:cxn ang="0">
                      <a:pos x="16" y="53"/>
                    </a:cxn>
                  </a:cxnLst>
                  <a:rect l="0" t="0" r="r" b="b"/>
                  <a:pathLst>
                    <a:path w="551" h="339">
                      <a:moveTo>
                        <a:pt x="16" y="53"/>
                      </a:moveTo>
                      <a:lnTo>
                        <a:pt x="0" y="122"/>
                      </a:lnTo>
                      <a:lnTo>
                        <a:pt x="10" y="146"/>
                      </a:lnTo>
                      <a:lnTo>
                        <a:pt x="33" y="183"/>
                      </a:lnTo>
                      <a:lnTo>
                        <a:pt x="57" y="216"/>
                      </a:lnTo>
                      <a:lnTo>
                        <a:pt x="85" y="244"/>
                      </a:lnTo>
                      <a:lnTo>
                        <a:pt x="120" y="271"/>
                      </a:lnTo>
                      <a:lnTo>
                        <a:pt x="153" y="290"/>
                      </a:lnTo>
                      <a:lnTo>
                        <a:pt x="189" y="308"/>
                      </a:lnTo>
                      <a:lnTo>
                        <a:pt x="235" y="324"/>
                      </a:lnTo>
                      <a:lnTo>
                        <a:pt x="270" y="332"/>
                      </a:lnTo>
                      <a:lnTo>
                        <a:pt x="312" y="338"/>
                      </a:lnTo>
                      <a:lnTo>
                        <a:pt x="351" y="338"/>
                      </a:lnTo>
                      <a:lnTo>
                        <a:pt x="393" y="333"/>
                      </a:lnTo>
                      <a:lnTo>
                        <a:pt x="436" y="321"/>
                      </a:lnTo>
                      <a:lnTo>
                        <a:pt x="475" y="302"/>
                      </a:lnTo>
                      <a:lnTo>
                        <a:pt x="498" y="286"/>
                      </a:lnTo>
                      <a:lnTo>
                        <a:pt x="526" y="262"/>
                      </a:lnTo>
                      <a:lnTo>
                        <a:pt x="541" y="243"/>
                      </a:lnTo>
                      <a:lnTo>
                        <a:pt x="550" y="226"/>
                      </a:lnTo>
                      <a:lnTo>
                        <a:pt x="550" y="208"/>
                      </a:lnTo>
                      <a:lnTo>
                        <a:pt x="544" y="187"/>
                      </a:lnTo>
                      <a:lnTo>
                        <a:pt x="532" y="170"/>
                      </a:lnTo>
                      <a:lnTo>
                        <a:pt x="523" y="135"/>
                      </a:lnTo>
                      <a:lnTo>
                        <a:pt x="519" y="116"/>
                      </a:lnTo>
                      <a:lnTo>
                        <a:pt x="267" y="132"/>
                      </a:lnTo>
                      <a:lnTo>
                        <a:pt x="234" y="126"/>
                      </a:lnTo>
                      <a:lnTo>
                        <a:pt x="193" y="113"/>
                      </a:lnTo>
                      <a:lnTo>
                        <a:pt x="162" y="97"/>
                      </a:lnTo>
                      <a:lnTo>
                        <a:pt x="129" y="77"/>
                      </a:lnTo>
                      <a:lnTo>
                        <a:pt x="97" y="48"/>
                      </a:lnTo>
                      <a:lnTo>
                        <a:pt x="78" y="24"/>
                      </a:lnTo>
                      <a:lnTo>
                        <a:pt x="60" y="0"/>
                      </a:lnTo>
                      <a:lnTo>
                        <a:pt x="16" y="53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7" name="Freeform 18"/>
                <p:cNvSpPr>
                  <a:spLocks/>
                </p:cNvSpPr>
                <p:nvPr/>
              </p:nvSpPr>
              <p:spPr bwMode="ltGray">
                <a:xfrm>
                  <a:off x="134" y="935"/>
                  <a:ext cx="475" cy="552"/>
                </a:xfrm>
                <a:custGeom>
                  <a:avLst/>
                  <a:gdLst/>
                  <a:ahLst/>
                  <a:cxnLst>
                    <a:cxn ang="0">
                      <a:pos x="474" y="0"/>
                    </a:cxn>
                    <a:cxn ang="0">
                      <a:pos x="474" y="294"/>
                    </a:cxn>
                    <a:cxn ang="0">
                      <a:pos x="446" y="291"/>
                    </a:cxn>
                    <a:cxn ang="0">
                      <a:pos x="411" y="293"/>
                    </a:cxn>
                    <a:cxn ang="0">
                      <a:pos x="353" y="299"/>
                    </a:cxn>
                    <a:cxn ang="0">
                      <a:pos x="296" y="310"/>
                    </a:cxn>
                    <a:cxn ang="0">
                      <a:pos x="243" y="323"/>
                    </a:cxn>
                    <a:cxn ang="0">
                      <a:pos x="200" y="339"/>
                    </a:cxn>
                    <a:cxn ang="0">
                      <a:pos x="149" y="364"/>
                    </a:cxn>
                    <a:cxn ang="0">
                      <a:pos x="110" y="390"/>
                    </a:cxn>
                    <a:cxn ang="0">
                      <a:pos x="81" y="415"/>
                    </a:cxn>
                    <a:cxn ang="0">
                      <a:pos x="60" y="439"/>
                    </a:cxn>
                    <a:cxn ang="0">
                      <a:pos x="47" y="461"/>
                    </a:cxn>
                    <a:cxn ang="0">
                      <a:pos x="35" y="488"/>
                    </a:cxn>
                    <a:cxn ang="0">
                      <a:pos x="30" y="513"/>
                    </a:cxn>
                    <a:cxn ang="0">
                      <a:pos x="23" y="551"/>
                    </a:cxn>
                    <a:cxn ang="0">
                      <a:pos x="17" y="518"/>
                    </a:cxn>
                    <a:cxn ang="0">
                      <a:pos x="8" y="481"/>
                    </a:cxn>
                    <a:cxn ang="0">
                      <a:pos x="5" y="453"/>
                    </a:cxn>
                    <a:cxn ang="0">
                      <a:pos x="0" y="420"/>
                    </a:cxn>
                    <a:cxn ang="0">
                      <a:pos x="2" y="393"/>
                    </a:cxn>
                    <a:cxn ang="0">
                      <a:pos x="8" y="361"/>
                    </a:cxn>
                    <a:cxn ang="0">
                      <a:pos x="15" y="317"/>
                    </a:cxn>
                    <a:cxn ang="0">
                      <a:pos x="30" y="279"/>
                    </a:cxn>
                    <a:cxn ang="0">
                      <a:pos x="50" y="238"/>
                    </a:cxn>
                    <a:cxn ang="0">
                      <a:pos x="75" y="196"/>
                    </a:cxn>
                    <a:cxn ang="0">
                      <a:pos x="111" y="152"/>
                    </a:cxn>
                    <a:cxn ang="0">
                      <a:pos x="152" y="116"/>
                    </a:cxn>
                    <a:cxn ang="0">
                      <a:pos x="188" y="87"/>
                    </a:cxn>
                    <a:cxn ang="0">
                      <a:pos x="233" y="60"/>
                    </a:cxn>
                    <a:cxn ang="0">
                      <a:pos x="279" y="40"/>
                    </a:cxn>
                    <a:cxn ang="0">
                      <a:pos x="333" y="21"/>
                    </a:cxn>
                    <a:cxn ang="0">
                      <a:pos x="380" y="10"/>
                    </a:cxn>
                    <a:cxn ang="0">
                      <a:pos x="435" y="3"/>
                    </a:cxn>
                    <a:cxn ang="0">
                      <a:pos x="474" y="0"/>
                    </a:cxn>
                  </a:cxnLst>
                  <a:rect l="0" t="0" r="r" b="b"/>
                  <a:pathLst>
                    <a:path w="475" h="552">
                      <a:moveTo>
                        <a:pt x="474" y="0"/>
                      </a:moveTo>
                      <a:lnTo>
                        <a:pt x="474" y="294"/>
                      </a:lnTo>
                      <a:lnTo>
                        <a:pt x="446" y="291"/>
                      </a:lnTo>
                      <a:lnTo>
                        <a:pt x="411" y="293"/>
                      </a:lnTo>
                      <a:lnTo>
                        <a:pt x="353" y="299"/>
                      </a:lnTo>
                      <a:lnTo>
                        <a:pt x="296" y="310"/>
                      </a:lnTo>
                      <a:lnTo>
                        <a:pt x="243" y="323"/>
                      </a:lnTo>
                      <a:lnTo>
                        <a:pt x="200" y="339"/>
                      </a:lnTo>
                      <a:lnTo>
                        <a:pt x="149" y="364"/>
                      </a:lnTo>
                      <a:lnTo>
                        <a:pt x="110" y="390"/>
                      </a:lnTo>
                      <a:lnTo>
                        <a:pt x="81" y="415"/>
                      </a:lnTo>
                      <a:lnTo>
                        <a:pt x="60" y="439"/>
                      </a:lnTo>
                      <a:lnTo>
                        <a:pt x="47" y="461"/>
                      </a:lnTo>
                      <a:lnTo>
                        <a:pt x="35" y="488"/>
                      </a:lnTo>
                      <a:lnTo>
                        <a:pt x="30" y="513"/>
                      </a:lnTo>
                      <a:lnTo>
                        <a:pt x="23" y="551"/>
                      </a:lnTo>
                      <a:lnTo>
                        <a:pt x="17" y="518"/>
                      </a:lnTo>
                      <a:lnTo>
                        <a:pt x="8" y="481"/>
                      </a:lnTo>
                      <a:lnTo>
                        <a:pt x="5" y="453"/>
                      </a:lnTo>
                      <a:lnTo>
                        <a:pt x="0" y="420"/>
                      </a:lnTo>
                      <a:lnTo>
                        <a:pt x="2" y="393"/>
                      </a:lnTo>
                      <a:lnTo>
                        <a:pt x="8" y="361"/>
                      </a:lnTo>
                      <a:lnTo>
                        <a:pt x="15" y="317"/>
                      </a:lnTo>
                      <a:lnTo>
                        <a:pt x="30" y="279"/>
                      </a:lnTo>
                      <a:lnTo>
                        <a:pt x="50" y="238"/>
                      </a:lnTo>
                      <a:lnTo>
                        <a:pt x="75" y="196"/>
                      </a:lnTo>
                      <a:lnTo>
                        <a:pt x="111" y="152"/>
                      </a:lnTo>
                      <a:lnTo>
                        <a:pt x="152" y="116"/>
                      </a:lnTo>
                      <a:lnTo>
                        <a:pt x="188" y="87"/>
                      </a:lnTo>
                      <a:lnTo>
                        <a:pt x="233" y="60"/>
                      </a:lnTo>
                      <a:lnTo>
                        <a:pt x="279" y="40"/>
                      </a:lnTo>
                      <a:lnTo>
                        <a:pt x="333" y="21"/>
                      </a:lnTo>
                      <a:lnTo>
                        <a:pt x="380" y="10"/>
                      </a:lnTo>
                      <a:lnTo>
                        <a:pt x="435" y="3"/>
                      </a:lnTo>
                      <a:lnTo>
                        <a:pt x="474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8" name="Freeform 19"/>
                <p:cNvSpPr>
                  <a:spLocks/>
                </p:cNvSpPr>
                <p:nvPr/>
              </p:nvSpPr>
              <p:spPr bwMode="ltGray">
                <a:xfrm>
                  <a:off x="422" y="1503"/>
                  <a:ext cx="156" cy="117"/>
                </a:xfrm>
                <a:custGeom>
                  <a:avLst/>
                  <a:gdLst/>
                  <a:ahLst/>
                  <a:cxnLst>
                    <a:cxn ang="0">
                      <a:pos x="72" y="0"/>
                    </a:cxn>
                    <a:cxn ang="0">
                      <a:pos x="21" y="19"/>
                    </a:cxn>
                    <a:cxn ang="0">
                      <a:pos x="3" y="45"/>
                    </a:cxn>
                    <a:cxn ang="0">
                      <a:pos x="0" y="70"/>
                    </a:cxn>
                    <a:cxn ang="0">
                      <a:pos x="0" y="83"/>
                    </a:cxn>
                    <a:cxn ang="0">
                      <a:pos x="9" y="99"/>
                    </a:cxn>
                    <a:cxn ang="0">
                      <a:pos x="29" y="107"/>
                    </a:cxn>
                    <a:cxn ang="0">
                      <a:pos x="50" y="113"/>
                    </a:cxn>
                    <a:cxn ang="0">
                      <a:pos x="69" y="116"/>
                    </a:cxn>
                    <a:cxn ang="0">
                      <a:pos x="86" y="116"/>
                    </a:cxn>
                    <a:cxn ang="0">
                      <a:pos x="114" y="111"/>
                    </a:cxn>
                    <a:cxn ang="0">
                      <a:pos x="134" y="106"/>
                    </a:cxn>
                    <a:cxn ang="0">
                      <a:pos x="146" y="98"/>
                    </a:cxn>
                    <a:cxn ang="0">
                      <a:pos x="153" y="89"/>
                    </a:cxn>
                    <a:cxn ang="0">
                      <a:pos x="155" y="78"/>
                    </a:cxn>
                    <a:cxn ang="0">
                      <a:pos x="153" y="60"/>
                    </a:cxn>
                    <a:cxn ang="0">
                      <a:pos x="146" y="11"/>
                    </a:cxn>
                    <a:cxn ang="0">
                      <a:pos x="72" y="0"/>
                    </a:cxn>
                  </a:cxnLst>
                  <a:rect l="0" t="0" r="r" b="b"/>
                  <a:pathLst>
                    <a:path w="156" h="117">
                      <a:moveTo>
                        <a:pt x="72" y="0"/>
                      </a:moveTo>
                      <a:lnTo>
                        <a:pt x="21" y="19"/>
                      </a:lnTo>
                      <a:lnTo>
                        <a:pt x="3" y="45"/>
                      </a:lnTo>
                      <a:lnTo>
                        <a:pt x="0" y="70"/>
                      </a:lnTo>
                      <a:lnTo>
                        <a:pt x="0" y="83"/>
                      </a:lnTo>
                      <a:lnTo>
                        <a:pt x="9" y="99"/>
                      </a:lnTo>
                      <a:lnTo>
                        <a:pt x="29" y="107"/>
                      </a:lnTo>
                      <a:lnTo>
                        <a:pt x="50" y="113"/>
                      </a:lnTo>
                      <a:lnTo>
                        <a:pt x="69" y="116"/>
                      </a:lnTo>
                      <a:lnTo>
                        <a:pt x="86" y="116"/>
                      </a:lnTo>
                      <a:lnTo>
                        <a:pt x="114" y="111"/>
                      </a:lnTo>
                      <a:lnTo>
                        <a:pt x="134" y="106"/>
                      </a:lnTo>
                      <a:lnTo>
                        <a:pt x="146" y="98"/>
                      </a:lnTo>
                      <a:lnTo>
                        <a:pt x="153" y="89"/>
                      </a:lnTo>
                      <a:lnTo>
                        <a:pt x="155" y="78"/>
                      </a:lnTo>
                      <a:lnTo>
                        <a:pt x="153" y="60"/>
                      </a:lnTo>
                      <a:lnTo>
                        <a:pt x="146" y="11"/>
                      </a:lnTo>
                      <a:lnTo>
                        <a:pt x="72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9" name="Freeform 20"/>
                <p:cNvSpPr>
                  <a:spLocks/>
                </p:cNvSpPr>
                <p:nvPr/>
              </p:nvSpPr>
              <p:spPr bwMode="ltGray">
                <a:xfrm>
                  <a:off x="494" y="1516"/>
                  <a:ext cx="88" cy="74"/>
                </a:xfrm>
                <a:custGeom>
                  <a:avLst/>
                  <a:gdLst/>
                  <a:ahLst/>
                  <a:cxnLst>
                    <a:cxn ang="0">
                      <a:pos x="87" y="67"/>
                    </a:cxn>
                    <a:cxn ang="0">
                      <a:pos x="76" y="0"/>
                    </a:cxn>
                    <a:cxn ang="0">
                      <a:pos x="33" y="5"/>
                    </a:cxn>
                    <a:cxn ang="0">
                      <a:pos x="0" y="8"/>
                    </a:cxn>
                    <a:cxn ang="0">
                      <a:pos x="9" y="73"/>
                    </a:cxn>
                    <a:cxn ang="0">
                      <a:pos x="12" y="57"/>
                    </a:cxn>
                    <a:cxn ang="0">
                      <a:pos x="22" y="47"/>
                    </a:cxn>
                    <a:cxn ang="0">
                      <a:pos x="40" y="43"/>
                    </a:cxn>
                    <a:cxn ang="0">
                      <a:pos x="60" y="44"/>
                    </a:cxn>
                    <a:cxn ang="0">
                      <a:pos x="76" y="51"/>
                    </a:cxn>
                    <a:cxn ang="0">
                      <a:pos x="87" y="67"/>
                    </a:cxn>
                  </a:cxnLst>
                  <a:rect l="0" t="0" r="r" b="b"/>
                  <a:pathLst>
                    <a:path w="88" h="74">
                      <a:moveTo>
                        <a:pt x="87" y="67"/>
                      </a:moveTo>
                      <a:lnTo>
                        <a:pt x="76" y="0"/>
                      </a:lnTo>
                      <a:lnTo>
                        <a:pt x="33" y="5"/>
                      </a:lnTo>
                      <a:lnTo>
                        <a:pt x="0" y="8"/>
                      </a:lnTo>
                      <a:lnTo>
                        <a:pt x="9" y="73"/>
                      </a:lnTo>
                      <a:lnTo>
                        <a:pt x="12" y="57"/>
                      </a:lnTo>
                      <a:lnTo>
                        <a:pt x="22" y="47"/>
                      </a:lnTo>
                      <a:lnTo>
                        <a:pt x="40" y="43"/>
                      </a:lnTo>
                      <a:lnTo>
                        <a:pt x="60" y="44"/>
                      </a:lnTo>
                      <a:lnTo>
                        <a:pt x="76" y="51"/>
                      </a:lnTo>
                      <a:lnTo>
                        <a:pt x="87" y="67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40" name="Freeform 21"/>
                <p:cNvSpPr>
                  <a:spLocks/>
                </p:cNvSpPr>
                <p:nvPr/>
              </p:nvSpPr>
              <p:spPr bwMode="ltGray">
                <a:xfrm>
                  <a:off x="386" y="1295"/>
                  <a:ext cx="319" cy="286"/>
                </a:xfrm>
                <a:custGeom>
                  <a:avLst/>
                  <a:gdLst/>
                  <a:ahLst/>
                  <a:cxnLst>
                    <a:cxn ang="0">
                      <a:pos x="317" y="275"/>
                    </a:cxn>
                    <a:cxn ang="0">
                      <a:pos x="315" y="254"/>
                    </a:cxn>
                    <a:cxn ang="0">
                      <a:pos x="306" y="235"/>
                    </a:cxn>
                    <a:cxn ang="0">
                      <a:pos x="299" y="219"/>
                    </a:cxn>
                    <a:cxn ang="0">
                      <a:pos x="294" y="194"/>
                    </a:cxn>
                    <a:cxn ang="0">
                      <a:pos x="288" y="161"/>
                    </a:cxn>
                    <a:cxn ang="0">
                      <a:pos x="284" y="126"/>
                    </a:cxn>
                    <a:cxn ang="0">
                      <a:pos x="281" y="94"/>
                    </a:cxn>
                    <a:cxn ang="0">
                      <a:pos x="279" y="67"/>
                    </a:cxn>
                    <a:cxn ang="0">
                      <a:pos x="278" y="43"/>
                    </a:cxn>
                    <a:cxn ang="0">
                      <a:pos x="270" y="29"/>
                    </a:cxn>
                    <a:cxn ang="0">
                      <a:pos x="255" y="16"/>
                    </a:cxn>
                    <a:cxn ang="0">
                      <a:pos x="240" y="9"/>
                    </a:cxn>
                    <a:cxn ang="0">
                      <a:pos x="216" y="2"/>
                    </a:cxn>
                    <a:cxn ang="0">
                      <a:pos x="189" y="0"/>
                    </a:cxn>
                    <a:cxn ang="0">
                      <a:pos x="147" y="0"/>
                    </a:cxn>
                    <a:cxn ang="0">
                      <a:pos x="110" y="2"/>
                    </a:cxn>
                    <a:cxn ang="0">
                      <a:pos x="74" y="9"/>
                    </a:cxn>
                    <a:cxn ang="0">
                      <a:pos x="41" y="21"/>
                    </a:cxn>
                    <a:cxn ang="0">
                      <a:pos x="20" y="35"/>
                    </a:cxn>
                    <a:cxn ang="0">
                      <a:pos x="8" y="47"/>
                    </a:cxn>
                    <a:cxn ang="0">
                      <a:pos x="0" y="61"/>
                    </a:cxn>
                    <a:cxn ang="0">
                      <a:pos x="2" y="75"/>
                    </a:cxn>
                    <a:cxn ang="0">
                      <a:pos x="5" y="89"/>
                    </a:cxn>
                    <a:cxn ang="0">
                      <a:pos x="15" y="104"/>
                    </a:cxn>
                    <a:cxn ang="0">
                      <a:pos x="23" y="123"/>
                    </a:cxn>
                    <a:cxn ang="0">
                      <a:pos x="27" y="149"/>
                    </a:cxn>
                    <a:cxn ang="0">
                      <a:pos x="30" y="176"/>
                    </a:cxn>
                    <a:cxn ang="0">
                      <a:pos x="35" y="200"/>
                    </a:cxn>
                    <a:cxn ang="0">
                      <a:pos x="36" y="235"/>
                    </a:cxn>
                    <a:cxn ang="0">
                      <a:pos x="38" y="265"/>
                    </a:cxn>
                    <a:cxn ang="0">
                      <a:pos x="38" y="285"/>
                    </a:cxn>
                    <a:cxn ang="0">
                      <a:pos x="48" y="260"/>
                    </a:cxn>
                    <a:cxn ang="0">
                      <a:pos x="68" y="248"/>
                    </a:cxn>
                    <a:cxn ang="0">
                      <a:pos x="86" y="241"/>
                    </a:cxn>
                    <a:cxn ang="0">
                      <a:pos x="108" y="236"/>
                    </a:cxn>
                    <a:cxn ang="0">
                      <a:pos x="143" y="229"/>
                    </a:cxn>
                    <a:cxn ang="0">
                      <a:pos x="177" y="228"/>
                    </a:cxn>
                    <a:cxn ang="0">
                      <a:pos x="197" y="228"/>
                    </a:cxn>
                    <a:cxn ang="0">
                      <a:pos x="228" y="230"/>
                    </a:cxn>
                    <a:cxn ang="0">
                      <a:pos x="264" y="237"/>
                    </a:cxn>
                    <a:cxn ang="0">
                      <a:pos x="287" y="246"/>
                    </a:cxn>
                    <a:cxn ang="0">
                      <a:pos x="302" y="255"/>
                    </a:cxn>
                    <a:cxn ang="0">
                      <a:pos x="318" y="268"/>
                    </a:cxn>
                  </a:cxnLst>
                  <a:rect l="0" t="0" r="r" b="b"/>
                  <a:pathLst>
                    <a:path w="319" h="286">
                      <a:moveTo>
                        <a:pt x="317" y="275"/>
                      </a:moveTo>
                      <a:lnTo>
                        <a:pt x="315" y="254"/>
                      </a:lnTo>
                      <a:lnTo>
                        <a:pt x="306" y="235"/>
                      </a:lnTo>
                      <a:lnTo>
                        <a:pt x="299" y="219"/>
                      </a:lnTo>
                      <a:lnTo>
                        <a:pt x="294" y="194"/>
                      </a:lnTo>
                      <a:lnTo>
                        <a:pt x="288" y="161"/>
                      </a:lnTo>
                      <a:lnTo>
                        <a:pt x="284" y="126"/>
                      </a:lnTo>
                      <a:lnTo>
                        <a:pt x="281" y="94"/>
                      </a:lnTo>
                      <a:lnTo>
                        <a:pt x="279" y="67"/>
                      </a:lnTo>
                      <a:lnTo>
                        <a:pt x="278" y="43"/>
                      </a:lnTo>
                      <a:lnTo>
                        <a:pt x="270" y="29"/>
                      </a:lnTo>
                      <a:lnTo>
                        <a:pt x="255" y="16"/>
                      </a:lnTo>
                      <a:lnTo>
                        <a:pt x="240" y="9"/>
                      </a:lnTo>
                      <a:lnTo>
                        <a:pt x="216" y="2"/>
                      </a:lnTo>
                      <a:lnTo>
                        <a:pt x="189" y="0"/>
                      </a:lnTo>
                      <a:lnTo>
                        <a:pt x="147" y="0"/>
                      </a:lnTo>
                      <a:lnTo>
                        <a:pt x="110" y="2"/>
                      </a:lnTo>
                      <a:lnTo>
                        <a:pt x="74" y="9"/>
                      </a:lnTo>
                      <a:lnTo>
                        <a:pt x="41" y="21"/>
                      </a:lnTo>
                      <a:lnTo>
                        <a:pt x="20" y="35"/>
                      </a:lnTo>
                      <a:lnTo>
                        <a:pt x="8" y="47"/>
                      </a:lnTo>
                      <a:lnTo>
                        <a:pt x="0" y="61"/>
                      </a:lnTo>
                      <a:lnTo>
                        <a:pt x="2" y="75"/>
                      </a:lnTo>
                      <a:lnTo>
                        <a:pt x="5" y="89"/>
                      </a:lnTo>
                      <a:lnTo>
                        <a:pt x="15" y="104"/>
                      </a:lnTo>
                      <a:lnTo>
                        <a:pt x="23" y="123"/>
                      </a:lnTo>
                      <a:lnTo>
                        <a:pt x="27" y="149"/>
                      </a:lnTo>
                      <a:lnTo>
                        <a:pt x="30" y="176"/>
                      </a:lnTo>
                      <a:lnTo>
                        <a:pt x="35" y="200"/>
                      </a:lnTo>
                      <a:lnTo>
                        <a:pt x="36" y="235"/>
                      </a:lnTo>
                      <a:lnTo>
                        <a:pt x="38" y="265"/>
                      </a:lnTo>
                      <a:lnTo>
                        <a:pt x="38" y="285"/>
                      </a:lnTo>
                      <a:lnTo>
                        <a:pt x="48" y="260"/>
                      </a:lnTo>
                      <a:lnTo>
                        <a:pt x="68" y="248"/>
                      </a:lnTo>
                      <a:lnTo>
                        <a:pt x="86" y="241"/>
                      </a:lnTo>
                      <a:lnTo>
                        <a:pt x="108" y="236"/>
                      </a:lnTo>
                      <a:lnTo>
                        <a:pt x="143" y="229"/>
                      </a:lnTo>
                      <a:lnTo>
                        <a:pt x="177" y="228"/>
                      </a:lnTo>
                      <a:lnTo>
                        <a:pt x="197" y="228"/>
                      </a:lnTo>
                      <a:lnTo>
                        <a:pt x="228" y="230"/>
                      </a:lnTo>
                      <a:lnTo>
                        <a:pt x="264" y="237"/>
                      </a:lnTo>
                      <a:lnTo>
                        <a:pt x="287" y="246"/>
                      </a:lnTo>
                      <a:lnTo>
                        <a:pt x="302" y="255"/>
                      </a:lnTo>
                      <a:lnTo>
                        <a:pt x="318" y="268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41" name="Freeform 22"/>
                <p:cNvSpPr>
                  <a:spLocks/>
                </p:cNvSpPr>
                <p:nvPr/>
              </p:nvSpPr>
              <p:spPr bwMode="ltGray">
                <a:xfrm>
                  <a:off x="5101" y="1353"/>
                  <a:ext cx="551" cy="335"/>
                </a:xfrm>
                <a:custGeom>
                  <a:avLst/>
                  <a:gdLst/>
                  <a:ahLst/>
                  <a:cxnLst>
                    <a:cxn ang="0">
                      <a:pos x="534" y="48"/>
                    </a:cxn>
                    <a:cxn ang="0">
                      <a:pos x="550" y="117"/>
                    </a:cxn>
                    <a:cxn ang="0">
                      <a:pos x="540" y="142"/>
                    </a:cxn>
                    <a:cxn ang="0">
                      <a:pos x="517" y="179"/>
                    </a:cxn>
                    <a:cxn ang="0">
                      <a:pos x="493" y="212"/>
                    </a:cxn>
                    <a:cxn ang="0">
                      <a:pos x="465" y="239"/>
                    </a:cxn>
                    <a:cxn ang="0">
                      <a:pos x="430" y="267"/>
                    </a:cxn>
                    <a:cxn ang="0">
                      <a:pos x="397" y="286"/>
                    </a:cxn>
                    <a:cxn ang="0">
                      <a:pos x="361" y="304"/>
                    </a:cxn>
                    <a:cxn ang="0">
                      <a:pos x="315" y="320"/>
                    </a:cxn>
                    <a:cxn ang="0">
                      <a:pos x="280" y="328"/>
                    </a:cxn>
                    <a:cxn ang="0">
                      <a:pos x="238" y="334"/>
                    </a:cxn>
                    <a:cxn ang="0">
                      <a:pos x="199" y="334"/>
                    </a:cxn>
                    <a:cxn ang="0">
                      <a:pos x="157" y="329"/>
                    </a:cxn>
                    <a:cxn ang="0">
                      <a:pos x="114" y="317"/>
                    </a:cxn>
                    <a:cxn ang="0">
                      <a:pos x="75" y="298"/>
                    </a:cxn>
                    <a:cxn ang="0">
                      <a:pos x="52" y="282"/>
                    </a:cxn>
                    <a:cxn ang="0">
                      <a:pos x="24" y="258"/>
                    </a:cxn>
                    <a:cxn ang="0">
                      <a:pos x="9" y="238"/>
                    </a:cxn>
                    <a:cxn ang="0">
                      <a:pos x="0" y="222"/>
                    </a:cxn>
                    <a:cxn ang="0">
                      <a:pos x="0" y="204"/>
                    </a:cxn>
                    <a:cxn ang="0">
                      <a:pos x="6" y="182"/>
                    </a:cxn>
                    <a:cxn ang="0">
                      <a:pos x="18" y="166"/>
                    </a:cxn>
                    <a:cxn ang="0">
                      <a:pos x="27" y="131"/>
                    </a:cxn>
                    <a:cxn ang="0">
                      <a:pos x="31" y="112"/>
                    </a:cxn>
                    <a:cxn ang="0">
                      <a:pos x="283" y="128"/>
                    </a:cxn>
                    <a:cxn ang="0">
                      <a:pos x="316" y="122"/>
                    </a:cxn>
                    <a:cxn ang="0">
                      <a:pos x="357" y="109"/>
                    </a:cxn>
                    <a:cxn ang="0">
                      <a:pos x="388" y="93"/>
                    </a:cxn>
                    <a:cxn ang="0">
                      <a:pos x="421" y="73"/>
                    </a:cxn>
                    <a:cxn ang="0">
                      <a:pos x="453" y="44"/>
                    </a:cxn>
                    <a:cxn ang="0">
                      <a:pos x="472" y="19"/>
                    </a:cxn>
                    <a:cxn ang="0">
                      <a:pos x="486" y="0"/>
                    </a:cxn>
                    <a:cxn ang="0">
                      <a:pos x="534" y="48"/>
                    </a:cxn>
                  </a:cxnLst>
                  <a:rect l="0" t="0" r="r" b="b"/>
                  <a:pathLst>
                    <a:path w="551" h="335">
                      <a:moveTo>
                        <a:pt x="534" y="48"/>
                      </a:moveTo>
                      <a:lnTo>
                        <a:pt x="550" y="117"/>
                      </a:lnTo>
                      <a:lnTo>
                        <a:pt x="540" y="142"/>
                      </a:lnTo>
                      <a:lnTo>
                        <a:pt x="517" y="179"/>
                      </a:lnTo>
                      <a:lnTo>
                        <a:pt x="493" y="212"/>
                      </a:lnTo>
                      <a:lnTo>
                        <a:pt x="465" y="239"/>
                      </a:lnTo>
                      <a:lnTo>
                        <a:pt x="430" y="267"/>
                      </a:lnTo>
                      <a:lnTo>
                        <a:pt x="397" y="286"/>
                      </a:lnTo>
                      <a:lnTo>
                        <a:pt x="361" y="304"/>
                      </a:lnTo>
                      <a:lnTo>
                        <a:pt x="315" y="320"/>
                      </a:lnTo>
                      <a:lnTo>
                        <a:pt x="280" y="328"/>
                      </a:lnTo>
                      <a:lnTo>
                        <a:pt x="238" y="334"/>
                      </a:lnTo>
                      <a:lnTo>
                        <a:pt x="199" y="334"/>
                      </a:lnTo>
                      <a:lnTo>
                        <a:pt x="157" y="329"/>
                      </a:lnTo>
                      <a:lnTo>
                        <a:pt x="114" y="317"/>
                      </a:lnTo>
                      <a:lnTo>
                        <a:pt x="75" y="298"/>
                      </a:lnTo>
                      <a:lnTo>
                        <a:pt x="52" y="282"/>
                      </a:lnTo>
                      <a:lnTo>
                        <a:pt x="24" y="258"/>
                      </a:lnTo>
                      <a:lnTo>
                        <a:pt x="9" y="238"/>
                      </a:lnTo>
                      <a:lnTo>
                        <a:pt x="0" y="222"/>
                      </a:lnTo>
                      <a:lnTo>
                        <a:pt x="0" y="204"/>
                      </a:lnTo>
                      <a:lnTo>
                        <a:pt x="6" y="182"/>
                      </a:lnTo>
                      <a:lnTo>
                        <a:pt x="18" y="166"/>
                      </a:lnTo>
                      <a:lnTo>
                        <a:pt x="27" y="131"/>
                      </a:lnTo>
                      <a:lnTo>
                        <a:pt x="31" y="112"/>
                      </a:lnTo>
                      <a:lnTo>
                        <a:pt x="283" y="128"/>
                      </a:lnTo>
                      <a:lnTo>
                        <a:pt x="316" y="122"/>
                      </a:lnTo>
                      <a:lnTo>
                        <a:pt x="357" y="109"/>
                      </a:lnTo>
                      <a:lnTo>
                        <a:pt x="388" y="93"/>
                      </a:lnTo>
                      <a:lnTo>
                        <a:pt x="421" y="73"/>
                      </a:lnTo>
                      <a:lnTo>
                        <a:pt x="453" y="44"/>
                      </a:lnTo>
                      <a:lnTo>
                        <a:pt x="472" y="19"/>
                      </a:lnTo>
                      <a:lnTo>
                        <a:pt x="486" y="0"/>
                      </a:lnTo>
                      <a:lnTo>
                        <a:pt x="534" y="48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42" name="Freeform 23"/>
                <p:cNvSpPr>
                  <a:spLocks/>
                </p:cNvSpPr>
                <p:nvPr/>
              </p:nvSpPr>
              <p:spPr bwMode="ltGray">
                <a:xfrm>
                  <a:off x="5197" y="935"/>
                  <a:ext cx="475" cy="55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94"/>
                    </a:cxn>
                    <a:cxn ang="0">
                      <a:pos x="28" y="291"/>
                    </a:cxn>
                    <a:cxn ang="0">
                      <a:pos x="63" y="293"/>
                    </a:cxn>
                    <a:cxn ang="0">
                      <a:pos x="121" y="299"/>
                    </a:cxn>
                    <a:cxn ang="0">
                      <a:pos x="178" y="310"/>
                    </a:cxn>
                    <a:cxn ang="0">
                      <a:pos x="231" y="323"/>
                    </a:cxn>
                    <a:cxn ang="0">
                      <a:pos x="274" y="339"/>
                    </a:cxn>
                    <a:cxn ang="0">
                      <a:pos x="325" y="364"/>
                    </a:cxn>
                    <a:cxn ang="0">
                      <a:pos x="364" y="390"/>
                    </a:cxn>
                    <a:cxn ang="0">
                      <a:pos x="393" y="415"/>
                    </a:cxn>
                    <a:cxn ang="0">
                      <a:pos x="414" y="439"/>
                    </a:cxn>
                    <a:cxn ang="0">
                      <a:pos x="427" y="461"/>
                    </a:cxn>
                    <a:cxn ang="0">
                      <a:pos x="439" y="488"/>
                    </a:cxn>
                    <a:cxn ang="0">
                      <a:pos x="444" y="513"/>
                    </a:cxn>
                    <a:cxn ang="0">
                      <a:pos x="451" y="551"/>
                    </a:cxn>
                    <a:cxn ang="0">
                      <a:pos x="457" y="518"/>
                    </a:cxn>
                    <a:cxn ang="0">
                      <a:pos x="466" y="481"/>
                    </a:cxn>
                    <a:cxn ang="0">
                      <a:pos x="469" y="453"/>
                    </a:cxn>
                    <a:cxn ang="0">
                      <a:pos x="474" y="420"/>
                    </a:cxn>
                    <a:cxn ang="0">
                      <a:pos x="472" y="393"/>
                    </a:cxn>
                    <a:cxn ang="0">
                      <a:pos x="466" y="361"/>
                    </a:cxn>
                    <a:cxn ang="0">
                      <a:pos x="459" y="317"/>
                    </a:cxn>
                    <a:cxn ang="0">
                      <a:pos x="444" y="279"/>
                    </a:cxn>
                    <a:cxn ang="0">
                      <a:pos x="424" y="238"/>
                    </a:cxn>
                    <a:cxn ang="0">
                      <a:pos x="399" y="196"/>
                    </a:cxn>
                    <a:cxn ang="0">
                      <a:pos x="363" y="152"/>
                    </a:cxn>
                    <a:cxn ang="0">
                      <a:pos x="322" y="116"/>
                    </a:cxn>
                    <a:cxn ang="0">
                      <a:pos x="286" y="87"/>
                    </a:cxn>
                    <a:cxn ang="0">
                      <a:pos x="241" y="60"/>
                    </a:cxn>
                    <a:cxn ang="0">
                      <a:pos x="195" y="40"/>
                    </a:cxn>
                    <a:cxn ang="0">
                      <a:pos x="141" y="21"/>
                    </a:cxn>
                    <a:cxn ang="0">
                      <a:pos x="94" y="10"/>
                    </a:cxn>
                    <a:cxn ang="0">
                      <a:pos x="39" y="3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75" h="552">
                      <a:moveTo>
                        <a:pt x="0" y="0"/>
                      </a:moveTo>
                      <a:lnTo>
                        <a:pt x="0" y="294"/>
                      </a:lnTo>
                      <a:lnTo>
                        <a:pt x="28" y="291"/>
                      </a:lnTo>
                      <a:lnTo>
                        <a:pt x="63" y="293"/>
                      </a:lnTo>
                      <a:lnTo>
                        <a:pt x="121" y="299"/>
                      </a:lnTo>
                      <a:lnTo>
                        <a:pt x="178" y="310"/>
                      </a:lnTo>
                      <a:lnTo>
                        <a:pt x="231" y="323"/>
                      </a:lnTo>
                      <a:lnTo>
                        <a:pt x="274" y="339"/>
                      </a:lnTo>
                      <a:lnTo>
                        <a:pt x="325" y="364"/>
                      </a:lnTo>
                      <a:lnTo>
                        <a:pt x="364" y="390"/>
                      </a:lnTo>
                      <a:lnTo>
                        <a:pt x="393" y="415"/>
                      </a:lnTo>
                      <a:lnTo>
                        <a:pt x="414" y="439"/>
                      </a:lnTo>
                      <a:lnTo>
                        <a:pt x="427" y="461"/>
                      </a:lnTo>
                      <a:lnTo>
                        <a:pt x="439" y="488"/>
                      </a:lnTo>
                      <a:lnTo>
                        <a:pt x="444" y="513"/>
                      </a:lnTo>
                      <a:lnTo>
                        <a:pt x="451" y="551"/>
                      </a:lnTo>
                      <a:lnTo>
                        <a:pt x="457" y="518"/>
                      </a:lnTo>
                      <a:lnTo>
                        <a:pt x="466" y="481"/>
                      </a:lnTo>
                      <a:lnTo>
                        <a:pt x="469" y="453"/>
                      </a:lnTo>
                      <a:lnTo>
                        <a:pt x="474" y="420"/>
                      </a:lnTo>
                      <a:lnTo>
                        <a:pt x="472" y="393"/>
                      </a:lnTo>
                      <a:lnTo>
                        <a:pt x="466" y="361"/>
                      </a:lnTo>
                      <a:lnTo>
                        <a:pt x="459" y="317"/>
                      </a:lnTo>
                      <a:lnTo>
                        <a:pt x="444" y="279"/>
                      </a:lnTo>
                      <a:lnTo>
                        <a:pt x="424" y="238"/>
                      </a:lnTo>
                      <a:lnTo>
                        <a:pt x="399" y="196"/>
                      </a:lnTo>
                      <a:lnTo>
                        <a:pt x="363" y="152"/>
                      </a:lnTo>
                      <a:lnTo>
                        <a:pt x="322" y="116"/>
                      </a:lnTo>
                      <a:lnTo>
                        <a:pt x="286" y="87"/>
                      </a:lnTo>
                      <a:lnTo>
                        <a:pt x="241" y="60"/>
                      </a:lnTo>
                      <a:lnTo>
                        <a:pt x="195" y="40"/>
                      </a:lnTo>
                      <a:lnTo>
                        <a:pt x="141" y="21"/>
                      </a:lnTo>
                      <a:lnTo>
                        <a:pt x="94" y="10"/>
                      </a:lnTo>
                      <a:lnTo>
                        <a:pt x="39" y="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43" name="Freeform 24"/>
                <p:cNvSpPr>
                  <a:spLocks/>
                </p:cNvSpPr>
                <p:nvPr/>
              </p:nvSpPr>
              <p:spPr bwMode="ltGray">
                <a:xfrm>
                  <a:off x="5228" y="1503"/>
                  <a:ext cx="156" cy="117"/>
                </a:xfrm>
                <a:custGeom>
                  <a:avLst/>
                  <a:gdLst/>
                  <a:ahLst/>
                  <a:cxnLst>
                    <a:cxn ang="0">
                      <a:pos x="83" y="0"/>
                    </a:cxn>
                    <a:cxn ang="0">
                      <a:pos x="134" y="19"/>
                    </a:cxn>
                    <a:cxn ang="0">
                      <a:pos x="152" y="45"/>
                    </a:cxn>
                    <a:cxn ang="0">
                      <a:pos x="155" y="70"/>
                    </a:cxn>
                    <a:cxn ang="0">
                      <a:pos x="155" y="83"/>
                    </a:cxn>
                    <a:cxn ang="0">
                      <a:pos x="146" y="99"/>
                    </a:cxn>
                    <a:cxn ang="0">
                      <a:pos x="126" y="107"/>
                    </a:cxn>
                    <a:cxn ang="0">
                      <a:pos x="105" y="113"/>
                    </a:cxn>
                    <a:cxn ang="0">
                      <a:pos x="86" y="116"/>
                    </a:cxn>
                    <a:cxn ang="0">
                      <a:pos x="69" y="116"/>
                    </a:cxn>
                    <a:cxn ang="0">
                      <a:pos x="41" y="111"/>
                    </a:cxn>
                    <a:cxn ang="0">
                      <a:pos x="21" y="106"/>
                    </a:cxn>
                    <a:cxn ang="0">
                      <a:pos x="9" y="98"/>
                    </a:cxn>
                    <a:cxn ang="0">
                      <a:pos x="2" y="89"/>
                    </a:cxn>
                    <a:cxn ang="0">
                      <a:pos x="0" y="78"/>
                    </a:cxn>
                    <a:cxn ang="0">
                      <a:pos x="2" y="60"/>
                    </a:cxn>
                    <a:cxn ang="0">
                      <a:pos x="9" y="11"/>
                    </a:cxn>
                    <a:cxn ang="0">
                      <a:pos x="83" y="0"/>
                    </a:cxn>
                  </a:cxnLst>
                  <a:rect l="0" t="0" r="r" b="b"/>
                  <a:pathLst>
                    <a:path w="156" h="117">
                      <a:moveTo>
                        <a:pt x="83" y="0"/>
                      </a:moveTo>
                      <a:lnTo>
                        <a:pt x="134" y="19"/>
                      </a:lnTo>
                      <a:lnTo>
                        <a:pt x="152" y="45"/>
                      </a:lnTo>
                      <a:lnTo>
                        <a:pt x="155" y="70"/>
                      </a:lnTo>
                      <a:lnTo>
                        <a:pt x="155" y="83"/>
                      </a:lnTo>
                      <a:lnTo>
                        <a:pt x="146" y="99"/>
                      </a:lnTo>
                      <a:lnTo>
                        <a:pt x="126" y="107"/>
                      </a:lnTo>
                      <a:lnTo>
                        <a:pt x="105" y="113"/>
                      </a:lnTo>
                      <a:lnTo>
                        <a:pt x="86" y="116"/>
                      </a:lnTo>
                      <a:lnTo>
                        <a:pt x="69" y="116"/>
                      </a:lnTo>
                      <a:lnTo>
                        <a:pt x="41" y="111"/>
                      </a:lnTo>
                      <a:lnTo>
                        <a:pt x="21" y="106"/>
                      </a:lnTo>
                      <a:lnTo>
                        <a:pt x="9" y="98"/>
                      </a:lnTo>
                      <a:lnTo>
                        <a:pt x="2" y="89"/>
                      </a:lnTo>
                      <a:lnTo>
                        <a:pt x="0" y="78"/>
                      </a:lnTo>
                      <a:lnTo>
                        <a:pt x="2" y="60"/>
                      </a:lnTo>
                      <a:lnTo>
                        <a:pt x="9" y="11"/>
                      </a:lnTo>
                      <a:lnTo>
                        <a:pt x="83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44" name="Freeform 25"/>
                <p:cNvSpPr>
                  <a:spLocks/>
                </p:cNvSpPr>
                <p:nvPr/>
              </p:nvSpPr>
              <p:spPr bwMode="ltGray">
                <a:xfrm>
                  <a:off x="5224" y="1515"/>
                  <a:ext cx="88" cy="75"/>
                </a:xfrm>
                <a:custGeom>
                  <a:avLst/>
                  <a:gdLst/>
                  <a:ahLst/>
                  <a:cxnLst>
                    <a:cxn ang="0">
                      <a:pos x="0" y="69"/>
                    </a:cxn>
                    <a:cxn ang="0">
                      <a:pos x="11" y="0"/>
                    </a:cxn>
                    <a:cxn ang="0">
                      <a:pos x="54" y="5"/>
                    </a:cxn>
                    <a:cxn ang="0">
                      <a:pos x="87" y="9"/>
                    </a:cxn>
                    <a:cxn ang="0">
                      <a:pos x="78" y="74"/>
                    </a:cxn>
                    <a:cxn ang="0">
                      <a:pos x="75" y="59"/>
                    </a:cxn>
                    <a:cxn ang="0">
                      <a:pos x="65" y="48"/>
                    </a:cxn>
                    <a:cxn ang="0">
                      <a:pos x="47" y="44"/>
                    </a:cxn>
                    <a:cxn ang="0">
                      <a:pos x="27" y="45"/>
                    </a:cxn>
                    <a:cxn ang="0">
                      <a:pos x="11" y="52"/>
                    </a:cxn>
                    <a:cxn ang="0">
                      <a:pos x="0" y="69"/>
                    </a:cxn>
                  </a:cxnLst>
                  <a:rect l="0" t="0" r="r" b="b"/>
                  <a:pathLst>
                    <a:path w="88" h="75">
                      <a:moveTo>
                        <a:pt x="0" y="69"/>
                      </a:moveTo>
                      <a:lnTo>
                        <a:pt x="11" y="0"/>
                      </a:lnTo>
                      <a:lnTo>
                        <a:pt x="54" y="5"/>
                      </a:lnTo>
                      <a:lnTo>
                        <a:pt x="87" y="9"/>
                      </a:lnTo>
                      <a:lnTo>
                        <a:pt x="78" y="74"/>
                      </a:lnTo>
                      <a:lnTo>
                        <a:pt x="75" y="59"/>
                      </a:lnTo>
                      <a:lnTo>
                        <a:pt x="65" y="48"/>
                      </a:lnTo>
                      <a:lnTo>
                        <a:pt x="47" y="44"/>
                      </a:lnTo>
                      <a:lnTo>
                        <a:pt x="27" y="45"/>
                      </a:lnTo>
                      <a:lnTo>
                        <a:pt x="11" y="52"/>
                      </a:lnTo>
                      <a:lnTo>
                        <a:pt x="0" y="69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45" name="Freeform 26"/>
                <p:cNvSpPr>
                  <a:spLocks/>
                </p:cNvSpPr>
                <p:nvPr/>
              </p:nvSpPr>
              <p:spPr bwMode="ltGray">
                <a:xfrm>
                  <a:off x="5101" y="1295"/>
                  <a:ext cx="319" cy="286"/>
                </a:xfrm>
                <a:custGeom>
                  <a:avLst/>
                  <a:gdLst/>
                  <a:ahLst/>
                  <a:cxnLst>
                    <a:cxn ang="0">
                      <a:pos x="1" y="275"/>
                    </a:cxn>
                    <a:cxn ang="0">
                      <a:pos x="3" y="254"/>
                    </a:cxn>
                    <a:cxn ang="0">
                      <a:pos x="12" y="235"/>
                    </a:cxn>
                    <a:cxn ang="0">
                      <a:pos x="19" y="219"/>
                    </a:cxn>
                    <a:cxn ang="0">
                      <a:pos x="24" y="194"/>
                    </a:cxn>
                    <a:cxn ang="0">
                      <a:pos x="30" y="161"/>
                    </a:cxn>
                    <a:cxn ang="0">
                      <a:pos x="34" y="126"/>
                    </a:cxn>
                    <a:cxn ang="0">
                      <a:pos x="37" y="94"/>
                    </a:cxn>
                    <a:cxn ang="0">
                      <a:pos x="39" y="67"/>
                    </a:cxn>
                    <a:cxn ang="0">
                      <a:pos x="40" y="43"/>
                    </a:cxn>
                    <a:cxn ang="0">
                      <a:pos x="48" y="29"/>
                    </a:cxn>
                    <a:cxn ang="0">
                      <a:pos x="63" y="16"/>
                    </a:cxn>
                    <a:cxn ang="0">
                      <a:pos x="78" y="9"/>
                    </a:cxn>
                    <a:cxn ang="0">
                      <a:pos x="102" y="2"/>
                    </a:cxn>
                    <a:cxn ang="0">
                      <a:pos x="129" y="0"/>
                    </a:cxn>
                    <a:cxn ang="0">
                      <a:pos x="171" y="0"/>
                    </a:cxn>
                    <a:cxn ang="0">
                      <a:pos x="208" y="2"/>
                    </a:cxn>
                    <a:cxn ang="0">
                      <a:pos x="244" y="9"/>
                    </a:cxn>
                    <a:cxn ang="0">
                      <a:pos x="277" y="21"/>
                    </a:cxn>
                    <a:cxn ang="0">
                      <a:pos x="298" y="35"/>
                    </a:cxn>
                    <a:cxn ang="0">
                      <a:pos x="310" y="47"/>
                    </a:cxn>
                    <a:cxn ang="0">
                      <a:pos x="318" y="61"/>
                    </a:cxn>
                    <a:cxn ang="0">
                      <a:pos x="316" y="75"/>
                    </a:cxn>
                    <a:cxn ang="0">
                      <a:pos x="313" y="89"/>
                    </a:cxn>
                    <a:cxn ang="0">
                      <a:pos x="303" y="104"/>
                    </a:cxn>
                    <a:cxn ang="0">
                      <a:pos x="295" y="123"/>
                    </a:cxn>
                    <a:cxn ang="0">
                      <a:pos x="291" y="149"/>
                    </a:cxn>
                    <a:cxn ang="0">
                      <a:pos x="288" y="176"/>
                    </a:cxn>
                    <a:cxn ang="0">
                      <a:pos x="283" y="200"/>
                    </a:cxn>
                    <a:cxn ang="0">
                      <a:pos x="282" y="235"/>
                    </a:cxn>
                    <a:cxn ang="0">
                      <a:pos x="280" y="265"/>
                    </a:cxn>
                    <a:cxn ang="0">
                      <a:pos x="280" y="285"/>
                    </a:cxn>
                    <a:cxn ang="0">
                      <a:pos x="270" y="260"/>
                    </a:cxn>
                    <a:cxn ang="0">
                      <a:pos x="250" y="248"/>
                    </a:cxn>
                    <a:cxn ang="0">
                      <a:pos x="232" y="241"/>
                    </a:cxn>
                    <a:cxn ang="0">
                      <a:pos x="210" y="236"/>
                    </a:cxn>
                    <a:cxn ang="0">
                      <a:pos x="175" y="229"/>
                    </a:cxn>
                    <a:cxn ang="0">
                      <a:pos x="141" y="228"/>
                    </a:cxn>
                    <a:cxn ang="0">
                      <a:pos x="121" y="228"/>
                    </a:cxn>
                    <a:cxn ang="0">
                      <a:pos x="90" y="230"/>
                    </a:cxn>
                    <a:cxn ang="0">
                      <a:pos x="54" y="237"/>
                    </a:cxn>
                    <a:cxn ang="0">
                      <a:pos x="31" y="246"/>
                    </a:cxn>
                    <a:cxn ang="0">
                      <a:pos x="16" y="255"/>
                    </a:cxn>
                    <a:cxn ang="0">
                      <a:pos x="0" y="268"/>
                    </a:cxn>
                  </a:cxnLst>
                  <a:rect l="0" t="0" r="r" b="b"/>
                  <a:pathLst>
                    <a:path w="319" h="286">
                      <a:moveTo>
                        <a:pt x="1" y="275"/>
                      </a:moveTo>
                      <a:lnTo>
                        <a:pt x="3" y="254"/>
                      </a:lnTo>
                      <a:lnTo>
                        <a:pt x="12" y="235"/>
                      </a:lnTo>
                      <a:lnTo>
                        <a:pt x="19" y="219"/>
                      </a:lnTo>
                      <a:lnTo>
                        <a:pt x="24" y="194"/>
                      </a:lnTo>
                      <a:lnTo>
                        <a:pt x="30" y="161"/>
                      </a:lnTo>
                      <a:lnTo>
                        <a:pt x="34" y="126"/>
                      </a:lnTo>
                      <a:lnTo>
                        <a:pt x="37" y="94"/>
                      </a:lnTo>
                      <a:lnTo>
                        <a:pt x="39" y="67"/>
                      </a:lnTo>
                      <a:lnTo>
                        <a:pt x="40" y="43"/>
                      </a:lnTo>
                      <a:lnTo>
                        <a:pt x="48" y="29"/>
                      </a:lnTo>
                      <a:lnTo>
                        <a:pt x="63" y="16"/>
                      </a:lnTo>
                      <a:lnTo>
                        <a:pt x="78" y="9"/>
                      </a:lnTo>
                      <a:lnTo>
                        <a:pt x="102" y="2"/>
                      </a:lnTo>
                      <a:lnTo>
                        <a:pt x="129" y="0"/>
                      </a:lnTo>
                      <a:lnTo>
                        <a:pt x="171" y="0"/>
                      </a:lnTo>
                      <a:lnTo>
                        <a:pt x="208" y="2"/>
                      </a:lnTo>
                      <a:lnTo>
                        <a:pt x="244" y="9"/>
                      </a:lnTo>
                      <a:lnTo>
                        <a:pt x="277" y="21"/>
                      </a:lnTo>
                      <a:lnTo>
                        <a:pt x="298" y="35"/>
                      </a:lnTo>
                      <a:lnTo>
                        <a:pt x="310" y="47"/>
                      </a:lnTo>
                      <a:lnTo>
                        <a:pt x="318" y="61"/>
                      </a:lnTo>
                      <a:lnTo>
                        <a:pt x="316" y="75"/>
                      </a:lnTo>
                      <a:lnTo>
                        <a:pt x="313" y="89"/>
                      </a:lnTo>
                      <a:lnTo>
                        <a:pt x="303" y="104"/>
                      </a:lnTo>
                      <a:lnTo>
                        <a:pt x="295" y="123"/>
                      </a:lnTo>
                      <a:lnTo>
                        <a:pt x="291" y="149"/>
                      </a:lnTo>
                      <a:lnTo>
                        <a:pt x="288" y="176"/>
                      </a:lnTo>
                      <a:lnTo>
                        <a:pt x="283" y="200"/>
                      </a:lnTo>
                      <a:lnTo>
                        <a:pt x="282" y="235"/>
                      </a:lnTo>
                      <a:lnTo>
                        <a:pt x="280" y="265"/>
                      </a:lnTo>
                      <a:lnTo>
                        <a:pt x="280" y="285"/>
                      </a:lnTo>
                      <a:lnTo>
                        <a:pt x="270" y="260"/>
                      </a:lnTo>
                      <a:lnTo>
                        <a:pt x="250" y="248"/>
                      </a:lnTo>
                      <a:lnTo>
                        <a:pt x="232" y="241"/>
                      </a:lnTo>
                      <a:lnTo>
                        <a:pt x="210" y="236"/>
                      </a:lnTo>
                      <a:lnTo>
                        <a:pt x="175" y="229"/>
                      </a:lnTo>
                      <a:lnTo>
                        <a:pt x="141" y="228"/>
                      </a:lnTo>
                      <a:lnTo>
                        <a:pt x="121" y="228"/>
                      </a:lnTo>
                      <a:lnTo>
                        <a:pt x="90" y="230"/>
                      </a:lnTo>
                      <a:lnTo>
                        <a:pt x="54" y="237"/>
                      </a:lnTo>
                      <a:lnTo>
                        <a:pt x="31" y="246"/>
                      </a:lnTo>
                      <a:lnTo>
                        <a:pt x="16" y="255"/>
                      </a:lnTo>
                      <a:lnTo>
                        <a:pt x="0" y="268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46" name="Freeform 27"/>
                <p:cNvSpPr>
                  <a:spLocks/>
                </p:cNvSpPr>
                <p:nvPr/>
              </p:nvSpPr>
              <p:spPr bwMode="ltGray">
                <a:xfrm>
                  <a:off x="4371" y="935"/>
                  <a:ext cx="832" cy="42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356"/>
                    </a:cxn>
                    <a:cxn ang="0">
                      <a:pos x="84" y="374"/>
                    </a:cxn>
                    <a:cxn ang="0">
                      <a:pos x="153" y="393"/>
                    </a:cxn>
                    <a:cxn ang="0">
                      <a:pos x="210" y="404"/>
                    </a:cxn>
                    <a:cxn ang="0">
                      <a:pos x="258" y="410"/>
                    </a:cxn>
                    <a:cxn ang="0">
                      <a:pos x="312" y="416"/>
                    </a:cxn>
                    <a:cxn ang="0">
                      <a:pos x="402" y="419"/>
                    </a:cxn>
                    <a:cxn ang="0">
                      <a:pos x="485" y="412"/>
                    </a:cxn>
                    <a:cxn ang="0">
                      <a:pos x="570" y="399"/>
                    </a:cxn>
                    <a:cxn ang="0">
                      <a:pos x="652" y="377"/>
                    </a:cxn>
                    <a:cxn ang="0">
                      <a:pos x="724" y="347"/>
                    </a:cxn>
                    <a:cxn ang="0">
                      <a:pos x="784" y="306"/>
                    </a:cxn>
                    <a:cxn ang="0">
                      <a:pos x="829" y="291"/>
                    </a:cxn>
                    <a:cxn ang="0">
                      <a:pos x="831" y="2"/>
                    </a:cxn>
                    <a:cxn ang="0">
                      <a:pos x="786" y="9"/>
                    </a:cxn>
                    <a:cxn ang="0">
                      <a:pos x="726" y="29"/>
                    </a:cxn>
                    <a:cxn ang="0">
                      <a:pos x="654" y="55"/>
                    </a:cxn>
                    <a:cxn ang="0">
                      <a:pos x="585" y="70"/>
                    </a:cxn>
                    <a:cxn ang="0">
                      <a:pos x="515" y="78"/>
                    </a:cxn>
                    <a:cxn ang="0">
                      <a:pos x="468" y="82"/>
                    </a:cxn>
                    <a:cxn ang="0">
                      <a:pos x="428" y="84"/>
                    </a:cxn>
                    <a:cxn ang="0">
                      <a:pos x="358" y="84"/>
                    </a:cxn>
                    <a:cxn ang="0">
                      <a:pos x="314" y="81"/>
                    </a:cxn>
                    <a:cxn ang="0">
                      <a:pos x="274" y="76"/>
                    </a:cxn>
                    <a:cxn ang="0">
                      <a:pos x="229" y="73"/>
                    </a:cxn>
                    <a:cxn ang="0">
                      <a:pos x="190" y="66"/>
                    </a:cxn>
                    <a:cxn ang="0">
                      <a:pos x="140" y="57"/>
                    </a:cxn>
                    <a:cxn ang="0">
                      <a:pos x="96" y="44"/>
                    </a:cxn>
                    <a:cxn ang="0">
                      <a:pos x="49" y="24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832" h="420">
                      <a:moveTo>
                        <a:pt x="0" y="0"/>
                      </a:moveTo>
                      <a:lnTo>
                        <a:pt x="0" y="356"/>
                      </a:lnTo>
                      <a:lnTo>
                        <a:pt x="84" y="374"/>
                      </a:lnTo>
                      <a:lnTo>
                        <a:pt x="153" y="393"/>
                      </a:lnTo>
                      <a:lnTo>
                        <a:pt x="210" y="404"/>
                      </a:lnTo>
                      <a:lnTo>
                        <a:pt x="258" y="410"/>
                      </a:lnTo>
                      <a:lnTo>
                        <a:pt x="312" y="416"/>
                      </a:lnTo>
                      <a:lnTo>
                        <a:pt x="402" y="419"/>
                      </a:lnTo>
                      <a:lnTo>
                        <a:pt x="485" y="412"/>
                      </a:lnTo>
                      <a:lnTo>
                        <a:pt x="570" y="399"/>
                      </a:lnTo>
                      <a:lnTo>
                        <a:pt x="652" y="377"/>
                      </a:lnTo>
                      <a:lnTo>
                        <a:pt x="724" y="347"/>
                      </a:lnTo>
                      <a:lnTo>
                        <a:pt x="784" y="306"/>
                      </a:lnTo>
                      <a:lnTo>
                        <a:pt x="829" y="291"/>
                      </a:lnTo>
                      <a:lnTo>
                        <a:pt x="831" y="2"/>
                      </a:lnTo>
                      <a:lnTo>
                        <a:pt x="786" y="9"/>
                      </a:lnTo>
                      <a:lnTo>
                        <a:pt x="726" y="29"/>
                      </a:lnTo>
                      <a:lnTo>
                        <a:pt x="654" y="55"/>
                      </a:lnTo>
                      <a:lnTo>
                        <a:pt x="585" y="70"/>
                      </a:lnTo>
                      <a:lnTo>
                        <a:pt x="515" y="78"/>
                      </a:lnTo>
                      <a:lnTo>
                        <a:pt x="468" y="82"/>
                      </a:lnTo>
                      <a:lnTo>
                        <a:pt x="428" y="84"/>
                      </a:lnTo>
                      <a:lnTo>
                        <a:pt x="358" y="84"/>
                      </a:lnTo>
                      <a:lnTo>
                        <a:pt x="314" y="81"/>
                      </a:lnTo>
                      <a:lnTo>
                        <a:pt x="274" y="76"/>
                      </a:lnTo>
                      <a:lnTo>
                        <a:pt x="229" y="73"/>
                      </a:lnTo>
                      <a:lnTo>
                        <a:pt x="190" y="66"/>
                      </a:lnTo>
                      <a:lnTo>
                        <a:pt x="140" y="57"/>
                      </a:lnTo>
                      <a:lnTo>
                        <a:pt x="96" y="44"/>
                      </a:lnTo>
                      <a:lnTo>
                        <a:pt x="49" y="2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</p:grpSp>
          <p:sp>
            <p:nvSpPr>
              <p:cNvPr id="11" name="Freeform 29"/>
              <p:cNvSpPr>
                <a:spLocks/>
              </p:cNvSpPr>
              <p:nvPr/>
            </p:nvSpPr>
            <p:spPr bwMode="ltGray">
              <a:xfrm>
                <a:off x="5217" y="1590"/>
                <a:ext cx="156" cy="118"/>
              </a:xfrm>
              <a:custGeom>
                <a:avLst/>
                <a:gdLst/>
                <a:ahLst/>
                <a:cxnLst>
                  <a:cxn ang="0">
                    <a:pos x="83" y="0"/>
                  </a:cxn>
                  <a:cxn ang="0">
                    <a:pos x="134" y="19"/>
                  </a:cxn>
                  <a:cxn ang="0">
                    <a:pos x="152" y="46"/>
                  </a:cxn>
                  <a:cxn ang="0">
                    <a:pos x="155" y="70"/>
                  </a:cxn>
                  <a:cxn ang="0">
                    <a:pos x="155" y="84"/>
                  </a:cxn>
                  <a:cxn ang="0">
                    <a:pos x="146" y="100"/>
                  </a:cxn>
                  <a:cxn ang="0">
                    <a:pos x="126" y="108"/>
                  </a:cxn>
                  <a:cxn ang="0">
                    <a:pos x="105" y="114"/>
                  </a:cxn>
                  <a:cxn ang="0">
                    <a:pos x="86" y="117"/>
                  </a:cxn>
                  <a:cxn ang="0">
                    <a:pos x="69" y="117"/>
                  </a:cxn>
                  <a:cxn ang="0">
                    <a:pos x="41" y="112"/>
                  </a:cxn>
                  <a:cxn ang="0">
                    <a:pos x="21" y="107"/>
                  </a:cxn>
                  <a:cxn ang="0">
                    <a:pos x="9" y="98"/>
                  </a:cxn>
                  <a:cxn ang="0">
                    <a:pos x="2" y="90"/>
                  </a:cxn>
                  <a:cxn ang="0">
                    <a:pos x="0" y="78"/>
                  </a:cxn>
                  <a:cxn ang="0">
                    <a:pos x="2" y="60"/>
                  </a:cxn>
                  <a:cxn ang="0">
                    <a:pos x="9" y="11"/>
                  </a:cxn>
                  <a:cxn ang="0">
                    <a:pos x="83" y="0"/>
                  </a:cxn>
                </a:cxnLst>
                <a:rect l="0" t="0" r="r" b="b"/>
                <a:pathLst>
                  <a:path w="156" h="118">
                    <a:moveTo>
                      <a:pt x="83" y="0"/>
                    </a:moveTo>
                    <a:lnTo>
                      <a:pt x="134" y="19"/>
                    </a:lnTo>
                    <a:lnTo>
                      <a:pt x="152" y="46"/>
                    </a:lnTo>
                    <a:lnTo>
                      <a:pt x="155" y="70"/>
                    </a:lnTo>
                    <a:lnTo>
                      <a:pt x="155" y="84"/>
                    </a:lnTo>
                    <a:lnTo>
                      <a:pt x="146" y="100"/>
                    </a:lnTo>
                    <a:lnTo>
                      <a:pt x="126" y="108"/>
                    </a:lnTo>
                    <a:lnTo>
                      <a:pt x="105" y="114"/>
                    </a:lnTo>
                    <a:lnTo>
                      <a:pt x="86" y="117"/>
                    </a:lnTo>
                    <a:lnTo>
                      <a:pt x="69" y="117"/>
                    </a:lnTo>
                    <a:lnTo>
                      <a:pt x="41" y="112"/>
                    </a:lnTo>
                    <a:lnTo>
                      <a:pt x="21" y="107"/>
                    </a:lnTo>
                    <a:lnTo>
                      <a:pt x="9" y="98"/>
                    </a:lnTo>
                    <a:lnTo>
                      <a:pt x="2" y="90"/>
                    </a:lnTo>
                    <a:lnTo>
                      <a:pt x="0" y="78"/>
                    </a:lnTo>
                    <a:lnTo>
                      <a:pt x="2" y="60"/>
                    </a:lnTo>
                    <a:lnTo>
                      <a:pt x="9" y="11"/>
                    </a:lnTo>
                    <a:lnTo>
                      <a:pt x="83" y="0"/>
                    </a:lnTo>
                  </a:path>
                </a:pathLst>
              </a:custGeom>
              <a:solidFill>
                <a:schemeClr val="bg2">
                  <a:alpha val="50000"/>
                </a:schemeClr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2" name="Freeform 30"/>
              <p:cNvSpPr>
                <a:spLocks/>
              </p:cNvSpPr>
              <p:nvPr/>
            </p:nvSpPr>
            <p:spPr bwMode="ltGray">
              <a:xfrm>
                <a:off x="5213" y="1603"/>
                <a:ext cx="88" cy="74"/>
              </a:xfrm>
              <a:custGeom>
                <a:avLst/>
                <a:gdLst/>
                <a:ahLst/>
                <a:cxnLst>
                  <a:cxn ang="0">
                    <a:pos x="0" y="68"/>
                  </a:cxn>
                  <a:cxn ang="0">
                    <a:pos x="11" y="0"/>
                  </a:cxn>
                  <a:cxn ang="0">
                    <a:pos x="54" y="5"/>
                  </a:cxn>
                  <a:cxn ang="0">
                    <a:pos x="87" y="9"/>
                  </a:cxn>
                  <a:cxn ang="0">
                    <a:pos x="78" y="73"/>
                  </a:cxn>
                  <a:cxn ang="0">
                    <a:pos x="75" y="58"/>
                  </a:cxn>
                  <a:cxn ang="0">
                    <a:pos x="65" y="47"/>
                  </a:cxn>
                  <a:cxn ang="0">
                    <a:pos x="47" y="44"/>
                  </a:cxn>
                  <a:cxn ang="0">
                    <a:pos x="27" y="45"/>
                  </a:cxn>
                  <a:cxn ang="0">
                    <a:pos x="11" y="52"/>
                  </a:cxn>
                  <a:cxn ang="0">
                    <a:pos x="0" y="68"/>
                  </a:cxn>
                </a:cxnLst>
                <a:rect l="0" t="0" r="r" b="b"/>
                <a:pathLst>
                  <a:path w="88" h="74">
                    <a:moveTo>
                      <a:pt x="0" y="68"/>
                    </a:moveTo>
                    <a:lnTo>
                      <a:pt x="11" y="0"/>
                    </a:lnTo>
                    <a:lnTo>
                      <a:pt x="54" y="5"/>
                    </a:lnTo>
                    <a:lnTo>
                      <a:pt x="87" y="9"/>
                    </a:lnTo>
                    <a:lnTo>
                      <a:pt x="78" y="73"/>
                    </a:lnTo>
                    <a:lnTo>
                      <a:pt x="75" y="58"/>
                    </a:lnTo>
                    <a:lnTo>
                      <a:pt x="65" y="47"/>
                    </a:lnTo>
                    <a:lnTo>
                      <a:pt x="47" y="44"/>
                    </a:lnTo>
                    <a:lnTo>
                      <a:pt x="27" y="45"/>
                    </a:lnTo>
                    <a:lnTo>
                      <a:pt x="11" y="52"/>
                    </a:lnTo>
                    <a:lnTo>
                      <a:pt x="0" y="68"/>
                    </a:lnTo>
                  </a:path>
                </a:pathLst>
              </a:custGeom>
              <a:solidFill>
                <a:schemeClr val="bg2">
                  <a:alpha val="50000"/>
                </a:schemeClr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3" name="Freeform 31"/>
              <p:cNvSpPr>
                <a:spLocks/>
              </p:cNvSpPr>
              <p:nvPr/>
            </p:nvSpPr>
            <p:spPr bwMode="ltGray">
              <a:xfrm>
                <a:off x="423" y="1581"/>
                <a:ext cx="156" cy="118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21" y="19"/>
                  </a:cxn>
                  <a:cxn ang="0">
                    <a:pos x="3" y="46"/>
                  </a:cxn>
                  <a:cxn ang="0">
                    <a:pos x="0" y="70"/>
                  </a:cxn>
                  <a:cxn ang="0">
                    <a:pos x="0" y="84"/>
                  </a:cxn>
                  <a:cxn ang="0">
                    <a:pos x="9" y="100"/>
                  </a:cxn>
                  <a:cxn ang="0">
                    <a:pos x="29" y="108"/>
                  </a:cxn>
                  <a:cxn ang="0">
                    <a:pos x="50" y="114"/>
                  </a:cxn>
                  <a:cxn ang="0">
                    <a:pos x="69" y="117"/>
                  </a:cxn>
                  <a:cxn ang="0">
                    <a:pos x="86" y="117"/>
                  </a:cxn>
                  <a:cxn ang="0">
                    <a:pos x="114" y="112"/>
                  </a:cxn>
                  <a:cxn ang="0">
                    <a:pos x="134" y="107"/>
                  </a:cxn>
                  <a:cxn ang="0">
                    <a:pos x="146" y="98"/>
                  </a:cxn>
                  <a:cxn ang="0">
                    <a:pos x="153" y="90"/>
                  </a:cxn>
                  <a:cxn ang="0">
                    <a:pos x="155" y="78"/>
                  </a:cxn>
                  <a:cxn ang="0">
                    <a:pos x="153" y="60"/>
                  </a:cxn>
                  <a:cxn ang="0">
                    <a:pos x="146" y="11"/>
                  </a:cxn>
                  <a:cxn ang="0">
                    <a:pos x="72" y="0"/>
                  </a:cxn>
                </a:cxnLst>
                <a:rect l="0" t="0" r="r" b="b"/>
                <a:pathLst>
                  <a:path w="156" h="118">
                    <a:moveTo>
                      <a:pt x="72" y="0"/>
                    </a:moveTo>
                    <a:lnTo>
                      <a:pt x="21" y="19"/>
                    </a:lnTo>
                    <a:lnTo>
                      <a:pt x="3" y="46"/>
                    </a:lnTo>
                    <a:lnTo>
                      <a:pt x="0" y="70"/>
                    </a:lnTo>
                    <a:lnTo>
                      <a:pt x="0" y="84"/>
                    </a:lnTo>
                    <a:lnTo>
                      <a:pt x="9" y="100"/>
                    </a:lnTo>
                    <a:lnTo>
                      <a:pt x="29" y="108"/>
                    </a:lnTo>
                    <a:lnTo>
                      <a:pt x="50" y="114"/>
                    </a:lnTo>
                    <a:lnTo>
                      <a:pt x="69" y="117"/>
                    </a:lnTo>
                    <a:lnTo>
                      <a:pt x="86" y="117"/>
                    </a:lnTo>
                    <a:lnTo>
                      <a:pt x="114" y="112"/>
                    </a:lnTo>
                    <a:lnTo>
                      <a:pt x="134" y="107"/>
                    </a:lnTo>
                    <a:lnTo>
                      <a:pt x="146" y="98"/>
                    </a:lnTo>
                    <a:lnTo>
                      <a:pt x="153" y="90"/>
                    </a:lnTo>
                    <a:lnTo>
                      <a:pt x="155" y="78"/>
                    </a:lnTo>
                    <a:lnTo>
                      <a:pt x="153" y="60"/>
                    </a:lnTo>
                    <a:lnTo>
                      <a:pt x="146" y="11"/>
                    </a:lnTo>
                    <a:lnTo>
                      <a:pt x="72" y="0"/>
                    </a:lnTo>
                  </a:path>
                </a:pathLst>
              </a:custGeom>
              <a:solidFill>
                <a:schemeClr val="bg2">
                  <a:alpha val="50000"/>
                </a:schemeClr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4" name="Freeform 32"/>
              <p:cNvSpPr>
                <a:spLocks/>
              </p:cNvSpPr>
              <p:nvPr/>
            </p:nvSpPr>
            <p:spPr bwMode="ltGray">
              <a:xfrm>
                <a:off x="495" y="1595"/>
                <a:ext cx="88" cy="74"/>
              </a:xfrm>
              <a:custGeom>
                <a:avLst/>
                <a:gdLst/>
                <a:ahLst/>
                <a:cxnLst>
                  <a:cxn ang="0">
                    <a:pos x="87" y="67"/>
                  </a:cxn>
                  <a:cxn ang="0">
                    <a:pos x="76" y="0"/>
                  </a:cxn>
                  <a:cxn ang="0">
                    <a:pos x="33" y="5"/>
                  </a:cxn>
                  <a:cxn ang="0">
                    <a:pos x="0" y="8"/>
                  </a:cxn>
                  <a:cxn ang="0">
                    <a:pos x="9" y="73"/>
                  </a:cxn>
                  <a:cxn ang="0">
                    <a:pos x="12" y="57"/>
                  </a:cxn>
                  <a:cxn ang="0">
                    <a:pos x="22" y="47"/>
                  </a:cxn>
                  <a:cxn ang="0">
                    <a:pos x="40" y="43"/>
                  </a:cxn>
                  <a:cxn ang="0">
                    <a:pos x="60" y="44"/>
                  </a:cxn>
                  <a:cxn ang="0">
                    <a:pos x="76" y="51"/>
                  </a:cxn>
                  <a:cxn ang="0">
                    <a:pos x="87" y="67"/>
                  </a:cxn>
                </a:cxnLst>
                <a:rect l="0" t="0" r="r" b="b"/>
                <a:pathLst>
                  <a:path w="88" h="74">
                    <a:moveTo>
                      <a:pt x="87" y="67"/>
                    </a:moveTo>
                    <a:lnTo>
                      <a:pt x="76" y="0"/>
                    </a:lnTo>
                    <a:lnTo>
                      <a:pt x="33" y="5"/>
                    </a:lnTo>
                    <a:lnTo>
                      <a:pt x="0" y="8"/>
                    </a:lnTo>
                    <a:lnTo>
                      <a:pt x="9" y="73"/>
                    </a:lnTo>
                    <a:lnTo>
                      <a:pt x="12" y="57"/>
                    </a:lnTo>
                    <a:lnTo>
                      <a:pt x="22" y="47"/>
                    </a:lnTo>
                    <a:lnTo>
                      <a:pt x="40" y="43"/>
                    </a:lnTo>
                    <a:lnTo>
                      <a:pt x="60" y="44"/>
                    </a:lnTo>
                    <a:lnTo>
                      <a:pt x="76" y="51"/>
                    </a:lnTo>
                    <a:lnTo>
                      <a:pt x="87" y="67"/>
                    </a:lnTo>
                  </a:path>
                </a:pathLst>
              </a:custGeom>
              <a:solidFill>
                <a:schemeClr val="bg2">
                  <a:alpha val="50000"/>
                </a:schemeClr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5" name="Line 33"/>
              <p:cNvSpPr>
                <a:spLocks noChangeShapeType="1"/>
              </p:cNvSpPr>
              <p:nvPr/>
            </p:nvSpPr>
            <p:spPr bwMode="ltGray">
              <a:xfrm flipV="1">
                <a:off x="1968" y="1166"/>
                <a:ext cx="192" cy="87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6" name="Freeform 34"/>
              <p:cNvSpPr>
                <a:spLocks/>
              </p:cNvSpPr>
              <p:nvPr/>
            </p:nvSpPr>
            <p:spPr bwMode="ltGray">
              <a:xfrm>
                <a:off x="1356" y="879"/>
                <a:ext cx="2967" cy="457"/>
              </a:xfrm>
              <a:custGeom>
                <a:avLst/>
                <a:gdLst/>
                <a:ahLst/>
                <a:cxnLst>
                  <a:cxn ang="0">
                    <a:pos x="0" y="122"/>
                  </a:cxn>
                  <a:cxn ang="0">
                    <a:pos x="207" y="78"/>
                  </a:cxn>
                  <a:cxn ang="0">
                    <a:pos x="442" y="48"/>
                  </a:cxn>
                  <a:cxn ang="0">
                    <a:pos x="640" y="32"/>
                  </a:cxn>
                  <a:cxn ang="0">
                    <a:pos x="897" y="16"/>
                  </a:cxn>
                  <a:cxn ang="0">
                    <a:pos x="1215" y="2"/>
                  </a:cxn>
                  <a:cxn ang="0">
                    <a:pos x="1392" y="0"/>
                  </a:cxn>
                  <a:cxn ang="0">
                    <a:pos x="1710" y="0"/>
                  </a:cxn>
                  <a:cxn ang="0">
                    <a:pos x="1997" y="10"/>
                  </a:cxn>
                  <a:cxn ang="0">
                    <a:pos x="2258" y="21"/>
                  </a:cxn>
                  <a:cxn ang="0">
                    <a:pos x="2493" y="38"/>
                  </a:cxn>
                  <a:cxn ang="0">
                    <a:pos x="2674" y="54"/>
                  </a:cxn>
                  <a:cxn ang="0">
                    <a:pos x="2828" y="73"/>
                  </a:cxn>
                  <a:cxn ang="0">
                    <a:pos x="2966" y="92"/>
                  </a:cxn>
                  <a:cxn ang="0">
                    <a:pos x="2966" y="456"/>
                  </a:cxn>
                  <a:cxn ang="0">
                    <a:pos x="2833" y="434"/>
                  </a:cxn>
                  <a:cxn ang="0">
                    <a:pos x="2563" y="399"/>
                  </a:cxn>
                  <a:cxn ang="0">
                    <a:pos x="2382" y="382"/>
                  </a:cxn>
                  <a:cxn ang="0">
                    <a:pos x="2134" y="366"/>
                  </a:cxn>
                  <a:cxn ang="0">
                    <a:pos x="1944" y="358"/>
                  </a:cxn>
                  <a:cxn ang="0">
                    <a:pos x="1746" y="350"/>
                  </a:cxn>
                  <a:cxn ang="0">
                    <a:pos x="1529" y="350"/>
                  </a:cxn>
                  <a:cxn ang="0">
                    <a:pos x="1295" y="350"/>
                  </a:cxn>
                  <a:cxn ang="0">
                    <a:pos x="1047" y="355"/>
                  </a:cxn>
                  <a:cxn ang="0">
                    <a:pos x="853" y="363"/>
                  </a:cxn>
                  <a:cxn ang="0">
                    <a:pos x="654" y="374"/>
                  </a:cxn>
                  <a:cxn ang="0">
                    <a:pos x="468" y="388"/>
                  </a:cxn>
                  <a:cxn ang="0">
                    <a:pos x="296" y="404"/>
                  </a:cxn>
                  <a:cxn ang="0">
                    <a:pos x="150" y="423"/>
                  </a:cxn>
                  <a:cxn ang="0">
                    <a:pos x="13" y="445"/>
                  </a:cxn>
                  <a:cxn ang="0">
                    <a:pos x="0" y="122"/>
                  </a:cxn>
                </a:cxnLst>
                <a:rect l="0" t="0" r="r" b="b"/>
                <a:pathLst>
                  <a:path w="2967" h="457">
                    <a:moveTo>
                      <a:pt x="0" y="122"/>
                    </a:moveTo>
                    <a:lnTo>
                      <a:pt x="207" y="78"/>
                    </a:lnTo>
                    <a:lnTo>
                      <a:pt x="442" y="48"/>
                    </a:lnTo>
                    <a:lnTo>
                      <a:pt x="640" y="32"/>
                    </a:lnTo>
                    <a:lnTo>
                      <a:pt x="897" y="16"/>
                    </a:lnTo>
                    <a:lnTo>
                      <a:pt x="1215" y="2"/>
                    </a:lnTo>
                    <a:lnTo>
                      <a:pt x="1392" y="0"/>
                    </a:lnTo>
                    <a:lnTo>
                      <a:pt x="1710" y="0"/>
                    </a:lnTo>
                    <a:lnTo>
                      <a:pt x="1997" y="10"/>
                    </a:lnTo>
                    <a:lnTo>
                      <a:pt x="2258" y="21"/>
                    </a:lnTo>
                    <a:lnTo>
                      <a:pt x="2493" y="38"/>
                    </a:lnTo>
                    <a:lnTo>
                      <a:pt x="2674" y="54"/>
                    </a:lnTo>
                    <a:lnTo>
                      <a:pt x="2828" y="73"/>
                    </a:lnTo>
                    <a:lnTo>
                      <a:pt x="2966" y="92"/>
                    </a:lnTo>
                    <a:lnTo>
                      <a:pt x="2966" y="456"/>
                    </a:lnTo>
                    <a:lnTo>
                      <a:pt x="2833" y="434"/>
                    </a:lnTo>
                    <a:lnTo>
                      <a:pt x="2563" y="399"/>
                    </a:lnTo>
                    <a:lnTo>
                      <a:pt x="2382" y="382"/>
                    </a:lnTo>
                    <a:lnTo>
                      <a:pt x="2134" y="366"/>
                    </a:lnTo>
                    <a:lnTo>
                      <a:pt x="1944" y="358"/>
                    </a:lnTo>
                    <a:lnTo>
                      <a:pt x="1746" y="350"/>
                    </a:lnTo>
                    <a:lnTo>
                      <a:pt x="1529" y="350"/>
                    </a:lnTo>
                    <a:lnTo>
                      <a:pt x="1295" y="350"/>
                    </a:lnTo>
                    <a:lnTo>
                      <a:pt x="1047" y="355"/>
                    </a:lnTo>
                    <a:lnTo>
                      <a:pt x="853" y="363"/>
                    </a:lnTo>
                    <a:lnTo>
                      <a:pt x="654" y="374"/>
                    </a:lnTo>
                    <a:lnTo>
                      <a:pt x="468" y="388"/>
                    </a:lnTo>
                    <a:lnTo>
                      <a:pt x="296" y="404"/>
                    </a:lnTo>
                    <a:lnTo>
                      <a:pt x="150" y="423"/>
                    </a:lnTo>
                    <a:lnTo>
                      <a:pt x="13" y="445"/>
                    </a:lnTo>
                    <a:lnTo>
                      <a:pt x="0" y="122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7" name="Freeform 35"/>
              <p:cNvSpPr>
                <a:spLocks/>
              </p:cNvSpPr>
              <p:nvPr/>
            </p:nvSpPr>
            <p:spPr bwMode="ltGray">
              <a:xfrm>
                <a:off x="555" y="975"/>
                <a:ext cx="823" cy="431"/>
              </a:xfrm>
              <a:custGeom>
                <a:avLst/>
                <a:gdLst/>
                <a:ahLst/>
                <a:cxnLst>
                  <a:cxn ang="0">
                    <a:pos x="815" y="27"/>
                  </a:cxn>
                  <a:cxn ang="0">
                    <a:pos x="822" y="350"/>
                  </a:cxn>
                  <a:cxn ang="0">
                    <a:pos x="746" y="382"/>
                  </a:cxn>
                  <a:cxn ang="0">
                    <a:pos x="676" y="404"/>
                  </a:cxn>
                  <a:cxn ang="0">
                    <a:pos x="619" y="415"/>
                  </a:cxn>
                  <a:cxn ang="0">
                    <a:pos x="571" y="421"/>
                  </a:cxn>
                  <a:cxn ang="0">
                    <a:pos x="517" y="427"/>
                  </a:cxn>
                  <a:cxn ang="0">
                    <a:pos x="427" y="430"/>
                  </a:cxn>
                  <a:cxn ang="0">
                    <a:pos x="344" y="423"/>
                  </a:cxn>
                  <a:cxn ang="0">
                    <a:pos x="259" y="410"/>
                  </a:cxn>
                  <a:cxn ang="0">
                    <a:pos x="177" y="388"/>
                  </a:cxn>
                  <a:cxn ang="0">
                    <a:pos x="105" y="358"/>
                  </a:cxn>
                  <a:cxn ang="0">
                    <a:pos x="41" y="325"/>
                  </a:cxn>
                  <a:cxn ang="0">
                    <a:pos x="0" y="294"/>
                  </a:cxn>
                  <a:cxn ang="0">
                    <a:pos x="0" y="0"/>
                  </a:cxn>
                  <a:cxn ang="0">
                    <a:pos x="46" y="25"/>
                  </a:cxn>
                  <a:cxn ang="0">
                    <a:pos x="105" y="47"/>
                  </a:cxn>
                  <a:cxn ang="0">
                    <a:pos x="175" y="66"/>
                  </a:cxn>
                  <a:cxn ang="0">
                    <a:pos x="244" y="81"/>
                  </a:cxn>
                  <a:cxn ang="0">
                    <a:pos x="314" y="89"/>
                  </a:cxn>
                  <a:cxn ang="0">
                    <a:pos x="361" y="93"/>
                  </a:cxn>
                  <a:cxn ang="0">
                    <a:pos x="401" y="95"/>
                  </a:cxn>
                  <a:cxn ang="0">
                    <a:pos x="471" y="95"/>
                  </a:cxn>
                  <a:cxn ang="0">
                    <a:pos x="515" y="92"/>
                  </a:cxn>
                  <a:cxn ang="0">
                    <a:pos x="555" y="87"/>
                  </a:cxn>
                  <a:cxn ang="0">
                    <a:pos x="600" y="84"/>
                  </a:cxn>
                  <a:cxn ang="0">
                    <a:pos x="640" y="76"/>
                  </a:cxn>
                  <a:cxn ang="0">
                    <a:pos x="689" y="67"/>
                  </a:cxn>
                  <a:cxn ang="0">
                    <a:pos x="733" y="55"/>
                  </a:cxn>
                  <a:cxn ang="0">
                    <a:pos x="777" y="41"/>
                  </a:cxn>
                  <a:cxn ang="0">
                    <a:pos x="815" y="27"/>
                  </a:cxn>
                </a:cxnLst>
                <a:rect l="0" t="0" r="r" b="b"/>
                <a:pathLst>
                  <a:path w="823" h="431">
                    <a:moveTo>
                      <a:pt x="815" y="27"/>
                    </a:moveTo>
                    <a:lnTo>
                      <a:pt x="822" y="350"/>
                    </a:lnTo>
                    <a:lnTo>
                      <a:pt x="746" y="382"/>
                    </a:lnTo>
                    <a:lnTo>
                      <a:pt x="676" y="404"/>
                    </a:lnTo>
                    <a:lnTo>
                      <a:pt x="619" y="415"/>
                    </a:lnTo>
                    <a:lnTo>
                      <a:pt x="571" y="421"/>
                    </a:lnTo>
                    <a:lnTo>
                      <a:pt x="517" y="427"/>
                    </a:lnTo>
                    <a:lnTo>
                      <a:pt x="427" y="430"/>
                    </a:lnTo>
                    <a:lnTo>
                      <a:pt x="344" y="423"/>
                    </a:lnTo>
                    <a:lnTo>
                      <a:pt x="259" y="410"/>
                    </a:lnTo>
                    <a:lnTo>
                      <a:pt x="177" y="388"/>
                    </a:lnTo>
                    <a:lnTo>
                      <a:pt x="105" y="358"/>
                    </a:lnTo>
                    <a:lnTo>
                      <a:pt x="41" y="325"/>
                    </a:lnTo>
                    <a:lnTo>
                      <a:pt x="0" y="294"/>
                    </a:lnTo>
                    <a:lnTo>
                      <a:pt x="0" y="0"/>
                    </a:lnTo>
                    <a:lnTo>
                      <a:pt x="46" y="25"/>
                    </a:lnTo>
                    <a:lnTo>
                      <a:pt x="105" y="47"/>
                    </a:lnTo>
                    <a:lnTo>
                      <a:pt x="175" y="66"/>
                    </a:lnTo>
                    <a:lnTo>
                      <a:pt x="244" y="81"/>
                    </a:lnTo>
                    <a:lnTo>
                      <a:pt x="314" y="89"/>
                    </a:lnTo>
                    <a:lnTo>
                      <a:pt x="361" y="93"/>
                    </a:lnTo>
                    <a:lnTo>
                      <a:pt x="401" y="95"/>
                    </a:lnTo>
                    <a:lnTo>
                      <a:pt x="471" y="95"/>
                    </a:lnTo>
                    <a:lnTo>
                      <a:pt x="515" y="92"/>
                    </a:lnTo>
                    <a:lnTo>
                      <a:pt x="555" y="87"/>
                    </a:lnTo>
                    <a:lnTo>
                      <a:pt x="600" y="84"/>
                    </a:lnTo>
                    <a:lnTo>
                      <a:pt x="640" y="76"/>
                    </a:lnTo>
                    <a:lnTo>
                      <a:pt x="689" y="67"/>
                    </a:lnTo>
                    <a:lnTo>
                      <a:pt x="733" y="55"/>
                    </a:lnTo>
                    <a:lnTo>
                      <a:pt x="777" y="41"/>
                    </a:lnTo>
                    <a:lnTo>
                      <a:pt x="815" y="27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8" name="Freeform 36"/>
              <p:cNvSpPr>
                <a:spLocks/>
              </p:cNvSpPr>
              <p:nvPr/>
            </p:nvSpPr>
            <p:spPr bwMode="ltGray">
              <a:xfrm>
                <a:off x="102" y="1389"/>
                <a:ext cx="551" cy="340"/>
              </a:xfrm>
              <a:custGeom>
                <a:avLst/>
                <a:gdLst/>
                <a:ahLst/>
                <a:cxnLst>
                  <a:cxn ang="0">
                    <a:pos x="16" y="53"/>
                  </a:cxn>
                  <a:cxn ang="0">
                    <a:pos x="0" y="122"/>
                  </a:cxn>
                  <a:cxn ang="0">
                    <a:pos x="10" y="146"/>
                  </a:cxn>
                  <a:cxn ang="0">
                    <a:pos x="33" y="184"/>
                  </a:cxn>
                  <a:cxn ang="0">
                    <a:pos x="57" y="217"/>
                  </a:cxn>
                  <a:cxn ang="0">
                    <a:pos x="85" y="244"/>
                  </a:cxn>
                  <a:cxn ang="0">
                    <a:pos x="120" y="271"/>
                  </a:cxn>
                  <a:cxn ang="0">
                    <a:pos x="153" y="290"/>
                  </a:cxn>
                  <a:cxn ang="0">
                    <a:pos x="189" y="309"/>
                  </a:cxn>
                  <a:cxn ang="0">
                    <a:pos x="235" y="325"/>
                  </a:cxn>
                  <a:cxn ang="0">
                    <a:pos x="270" y="333"/>
                  </a:cxn>
                  <a:cxn ang="0">
                    <a:pos x="312" y="339"/>
                  </a:cxn>
                  <a:cxn ang="0">
                    <a:pos x="351" y="339"/>
                  </a:cxn>
                  <a:cxn ang="0">
                    <a:pos x="393" y="334"/>
                  </a:cxn>
                  <a:cxn ang="0">
                    <a:pos x="436" y="322"/>
                  </a:cxn>
                  <a:cxn ang="0">
                    <a:pos x="475" y="303"/>
                  </a:cxn>
                  <a:cxn ang="0">
                    <a:pos x="498" y="287"/>
                  </a:cxn>
                  <a:cxn ang="0">
                    <a:pos x="526" y="263"/>
                  </a:cxn>
                  <a:cxn ang="0">
                    <a:pos x="541" y="243"/>
                  </a:cxn>
                  <a:cxn ang="0">
                    <a:pos x="550" y="227"/>
                  </a:cxn>
                  <a:cxn ang="0">
                    <a:pos x="550" y="209"/>
                  </a:cxn>
                  <a:cxn ang="0">
                    <a:pos x="544" y="187"/>
                  </a:cxn>
                  <a:cxn ang="0">
                    <a:pos x="532" y="171"/>
                  </a:cxn>
                  <a:cxn ang="0">
                    <a:pos x="523" y="135"/>
                  </a:cxn>
                  <a:cxn ang="0">
                    <a:pos x="519" y="116"/>
                  </a:cxn>
                  <a:cxn ang="0">
                    <a:pos x="267" y="133"/>
                  </a:cxn>
                  <a:cxn ang="0">
                    <a:pos x="234" y="126"/>
                  </a:cxn>
                  <a:cxn ang="0">
                    <a:pos x="193" y="114"/>
                  </a:cxn>
                  <a:cxn ang="0">
                    <a:pos x="162" y="97"/>
                  </a:cxn>
                  <a:cxn ang="0">
                    <a:pos x="129" y="77"/>
                  </a:cxn>
                  <a:cxn ang="0">
                    <a:pos x="97" y="48"/>
                  </a:cxn>
                  <a:cxn ang="0">
                    <a:pos x="78" y="24"/>
                  </a:cxn>
                  <a:cxn ang="0">
                    <a:pos x="60" y="0"/>
                  </a:cxn>
                  <a:cxn ang="0">
                    <a:pos x="16" y="53"/>
                  </a:cxn>
                </a:cxnLst>
                <a:rect l="0" t="0" r="r" b="b"/>
                <a:pathLst>
                  <a:path w="551" h="340">
                    <a:moveTo>
                      <a:pt x="16" y="53"/>
                    </a:moveTo>
                    <a:lnTo>
                      <a:pt x="0" y="122"/>
                    </a:lnTo>
                    <a:lnTo>
                      <a:pt x="10" y="146"/>
                    </a:lnTo>
                    <a:lnTo>
                      <a:pt x="33" y="184"/>
                    </a:lnTo>
                    <a:lnTo>
                      <a:pt x="57" y="217"/>
                    </a:lnTo>
                    <a:lnTo>
                      <a:pt x="85" y="244"/>
                    </a:lnTo>
                    <a:lnTo>
                      <a:pt x="120" y="271"/>
                    </a:lnTo>
                    <a:lnTo>
                      <a:pt x="153" y="290"/>
                    </a:lnTo>
                    <a:lnTo>
                      <a:pt x="189" y="309"/>
                    </a:lnTo>
                    <a:lnTo>
                      <a:pt x="235" y="325"/>
                    </a:lnTo>
                    <a:lnTo>
                      <a:pt x="270" y="333"/>
                    </a:lnTo>
                    <a:lnTo>
                      <a:pt x="312" y="339"/>
                    </a:lnTo>
                    <a:lnTo>
                      <a:pt x="351" y="339"/>
                    </a:lnTo>
                    <a:lnTo>
                      <a:pt x="393" y="334"/>
                    </a:lnTo>
                    <a:lnTo>
                      <a:pt x="436" y="322"/>
                    </a:lnTo>
                    <a:lnTo>
                      <a:pt x="475" y="303"/>
                    </a:lnTo>
                    <a:lnTo>
                      <a:pt x="498" y="287"/>
                    </a:lnTo>
                    <a:lnTo>
                      <a:pt x="526" y="263"/>
                    </a:lnTo>
                    <a:lnTo>
                      <a:pt x="541" y="243"/>
                    </a:lnTo>
                    <a:lnTo>
                      <a:pt x="550" y="227"/>
                    </a:lnTo>
                    <a:lnTo>
                      <a:pt x="550" y="209"/>
                    </a:lnTo>
                    <a:lnTo>
                      <a:pt x="544" y="187"/>
                    </a:lnTo>
                    <a:lnTo>
                      <a:pt x="532" y="171"/>
                    </a:lnTo>
                    <a:lnTo>
                      <a:pt x="523" y="135"/>
                    </a:lnTo>
                    <a:lnTo>
                      <a:pt x="519" y="116"/>
                    </a:lnTo>
                    <a:lnTo>
                      <a:pt x="267" y="133"/>
                    </a:lnTo>
                    <a:lnTo>
                      <a:pt x="234" y="126"/>
                    </a:lnTo>
                    <a:lnTo>
                      <a:pt x="193" y="114"/>
                    </a:lnTo>
                    <a:lnTo>
                      <a:pt x="162" y="97"/>
                    </a:lnTo>
                    <a:lnTo>
                      <a:pt x="129" y="77"/>
                    </a:lnTo>
                    <a:lnTo>
                      <a:pt x="97" y="48"/>
                    </a:lnTo>
                    <a:lnTo>
                      <a:pt x="78" y="24"/>
                    </a:lnTo>
                    <a:lnTo>
                      <a:pt x="60" y="0"/>
                    </a:lnTo>
                    <a:lnTo>
                      <a:pt x="16" y="53"/>
                    </a:lnTo>
                  </a:path>
                </a:pathLst>
              </a:custGeom>
              <a:gradFill rotWithShape="0">
                <a:gsLst>
                  <a:gs pos="0">
                    <a:schemeClr val="hlink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9" name="Freeform 37"/>
              <p:cNvSpPr>
                <a:spLocks/>
              </p:cNvSpPr>
              <p:nvPr/>
            </p:nvSpPr>
            <p:spPr bwMode="ltGray">
              <a:xfrm>
                <a:off x="82" y="976"/>
                <a:ext cx="475" cy="552"/>
              </a:xfrm>
              <a:custGeom>
                <a:avLst/>
                <a:gdLst/>
                <a:ahLst/>
                <a:cxnLst>
                  <a:cxn ang="0">
                    <a:pos x="474" y="0"/>
                  </a:cxn>
                  <a:cxn ang="0">
                    <a:pos x="474" y="294"/>
                  </a:cxn>
                  <a:cxn ang="0">
                    <a:pos x="446" y="291"/>
                  </a:cxn>
                  <a:cxn ang="0">
                    <a:pos x="411" y="293"/>
                  </a:cxn>
                  <a:cxn ang="0">
                    <a:pos x="353" y="299"/>
                  </a:cxn>
                  <a:cxn ang="0">
                    <a:pos x="296" y="310"/>
                  </a:cxn>
                  <a:cxn ang="0">
                    <a:pos x="243" y="323"/>
                  </a:cxn>
                  <a:cxn ang="0">
                    <a:pos x="200" y="339"/>
                  </a:cxn>
                  <a:cxn ang="0">
                    <a:pos x="149" y="364"/>
                  </a:cxn>
                  <a:cxn ang="0">
                    <a:pos x="110" y="390"/>
                  </a:cxn>
                  <a:cxn ang="0">
                    <a:pos x="81" y="415"/>
                  </a:cxn>
                  <a:cxn ang="0">
                    <a:pos x="60" y="439"/>
                  </a:cxn>
                  <a:cxn ang="0">
                    <a:pos x="47" y="461"/>
                  </a:cxn>
                  <a:cxn ang="0">
                    <a:pos x="35" y="488"/>
                  </a:cxn>
                  <a:cxn ang="0">
                    <a:pos x="30" y="513"/>
                  </a:cxn>
                  <a:cxn ang="0">
                    <a:pos x="23" y="551"/>
                  </a:cxn>
                  <a:cxn ang="0">
                    <a:pos x="17" y="518"/>
                  </a:cxn>
                  <a:cxn ang="0">
                    <a:pos x="8" y="481"/>
                  </a:cxn>
                  <a:cxn ang="0">
                    <a:pos x="5" y="453"/>
                  </a:cxn>
                  <a:cxn ang="0">
                    <a:pos x="0" y="420"/>
                  </a:cxn>
                  <a:cxn ang="0">
                    <a:pos x="2" y="393"/>
                  </a:cxn>
                  <a:cxn ang="0">
                    <a:pos x="8" y="361"/>
                  </a:cxn>
                  <a:cxn ang="0">
                    <a:pos x="15" y="317"/>
                  </a:cxn>
                  <a:cxn ang="0">
                    <a:pos x="30" y="279"/>
                  </a:cxn>
                  <a:cxn ang="0">
                    <a:pos x="50" y="238"/>
                  </a:cxn>
                  <a:cxn ang="0">
                    <a:pos x="75" y="196"/>
                  </a:cxn>
                  <a:cxn ang="0">
                    <a:pos x="111" y="152"/>
                  </a:cxn>
                  <a:cxn ang="0">
                    <a:pos x="152" y="116"/>
                  </a:cxn>
                  <a:cxn ang="0">
                    <a:pos x="188" y="87"/>
                  </a:cxn>
                  <a:cxn ang="0">
                    <a:pos x="233" y="60"/>
                  </a:cxn>
                  <a:cxn ang="0">
                    <a:pos x="279" y="40"/>
                  </a:cxn>
                  <a:cxn ang="0">
                    <a:pos x="333" y="21"/>
                  </a:cxn>
                  <a:cxn ang="0">
                    <a:pos x="380" y="10"/>
                  </a:cxn>
                  <a:cxn ang="0">
                    <a:pos x="435" y="3"/>
                  </a:cxn>
                  <a:cxn ang="0">
                    <a:pos x="474" y="0"/>
                  </a:cxn>
                </a:cxnLst>
                <a:rect l="0" t="0" r="r" b="b"/>
                <a:pathLst>
                  <a:path w="475" h="552">
                    <a:moveTo>
                      <a:pt x="474" y="0"/>
                    </a:moveTo>
                    <a:lnTo>
                      <a:pt x="474" y="294"/>
                    </a:lnTo>
                    <a:lnTo>
                      <a:pt x="446" y="291"/>
                    </a:lnTo>
                    <a:lnTo>
                      <a:pt x="411" y="293"/>
                    </a:lnTo>
                    <a:lnTo>
                      <a:pt x="353" y="299"/>
                    </a:lnTo>
                    <a:lnTo>
                      <a:pt x="296" y="310"/>
                    </a:lnTo>
                    <a:lnTo>
                      <a:pt x="243" y="323"/>
                    </a:lnTo>
                    <a:lnTo>
                      <a:pt x="200" y="339"/>
                    </a:lnTo>
                    <a:lnTo>
                      <a:pt x="149" y="364"/>
                    </a:lnTo>
                    <a:lnTo>
                      <a:pt x="110" y="390"/>
                    </a:lnTo>
                    <a:lnTo>
                      <a:pt x="81" y="415"/>
                    </a:lnTo>
                    <a:lnTo>
                      <a:pt x="60" y="439"/>
                    </a:lnTo>
                    <a:lnTo>
                      <a:pt x="47" y="461"/>
                    </a:lnTo>
                    <a:lnTo>
                      <a:pt x="35" y="488"/>
                    </a:lnTo>
                    <a:lnTo>
                      <a:pt x="30" y="513"/>
                    </a:lnTo>
                    <a:lnTo>
                      <a:pt x="23" y="551"/>
                    </a:lnTo>
                    <a:lnTo>
                      <a:pt x="17" y="518"/>
                    </a:lnTo>
                    <a:lnTo>
                      <a:pt x="8" y="481"/>
                    </a:lnTo>
                    <a:lnTo>
                      <a:pt x="5" y="453"/>
                    </a:lnTo>
                    <a:lnTo>
                      <a:pt x="0" y="420"/>
                    </a:lnTo>
                    <a:lnTo>
                      <a:pt x="2" y="393"/>
                    </a:lnTo>
                    <a:lnTo>
                      <a:pt x="8" y="361"/>
                    </a:lnTo>
                    <a:lnTo>
                      <a:pt x="15" y="317"/>
                    </a:lnTo>
                    <a:lnTo>
                      <a:pt x="30" y="279"/>
                    </a:lnTo>
                    <a:lnTo>
                      <a:pt x="50" y="238"/>
                    </a:lnTo>
                    <a:lnTo>
                      <a:pt x="75" y="196"/>
                    </a:lnTo>
                    <a:lnTo>
                      <a:pt x="111" y="152"/>
                    </a:lnTo>
                    <a:lnTo>
                      <a:pt x="152" y="116"/>
                    </a:lnTo>
                    <a:lnTo>
                      <a:pt x="188" y="87"/>
                    </a:lnTo>
                    <a:lnTo>
                      <a:pt x="233" y="60"/>
                    </a:lnTo>
                    <a:lnTo>
                      <a:pt x="279" y="40"/>
                    </a:lnTo>
                    <a:lnTo>
                      <a:pt x="333" y="21"/>
                    </a:lnTo>
                    <a:lnTo>
                      <a:pt x="380" y="10"/>
                    </a:lnTo>
                    <a:lnTo>
                      <a:pt x="435" y="3"/>
                    </a:lnTo>
                    <a:lnTo>
                      <a:pt x="474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0" name="Freeform 38"/>
              <p:cNvSpPr>
                <a:spLocks/>
              </p:cNvSpPr>
              <p:nvPr/>
            </p:nvSpPr>
            <p:spPr bwMode="ltGray">
              <a:xfrm>
                <a:off x="370" y="1543"/>
                <a:ext cx="156" cy="118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21" y="19"/>
                  </a:cxn>
                  <a:cxn ang="0">
                    <a:pos x="3" y="46"/>
                  </a:cxn>
                  <a:cxn ang="0">
                    <a:pos x="0" y="70"/>
                  </a:cxn>
                  <a:cxn ang="0">
                    <a:pos x="0" y="84"/>
                  </a:cxn>
                  <a:cxn ang="0">
                    <a:pos x="9" y="100"/>
                  </a:cxn>
                  <a:cxn ang="0">
                    <a:pos x="29" y="108"/>
                  </a:cxn>
                  <a:cxn ang="0">
                    <a:pos x="50" y="114"/>
                  </a:cxn>
                  <a:cxn ang="0">
                    <a:pos x="69" y="117"/>
                  </a:cxn>
                  <a:cxn ang="0">
                    <a:pos x="86" y="117"/>
                  </a:cxn>
                  <a:cxn ang="0">
                    <a:pos x="114" y="112"/>
                  </a:cxn>
                  <a:cxn ang="0">
                    <a:pos x="134" y="107"/>
                  </a:cxn>
                  <a:cxn ang="0">
                    <a:pos x="146" y="98"/>
                  </a:cxn>
                  <a:cxn ang="0">
                    <a:pos x="153" y="90"/>
                  </a:cxn>
                  <a:cxn ang="0">
                    <a:pos x="155" y="78"/>
                  </a:cxn>
                  <a:cxn ang="0">
                    <a:pos x="153" y="60"/>
                  </a:cxn>
                  <a:cxn ang="0">
                    <a:pos x="146" y="11"/>
                  </a:cxn>
                  <a:cxn ang="0">
                    <a:pos x="72" y="0"/>
                  </a:cxn>
                </a:cxnLst>
                <a:rect l="0" t="0" r="r" b="b"/>
                <a:pathLst>
                  <a:path w="156" h="118">
                    <a:moveTo>
                      <a:pt x="72" y="0"/>
                    </a:moveTo>
                    <a:lnTo>
                      <a:pt x="21" y="19"/>
                    </a:lnTo>
                    <a:lnTo>
                      <a:pt x="3" y="46"/>
                    </a:lnTo>
                    <a:lnTo>
                      <a:pt x="0" y="70"/>
                    </a:lnTo>
                    <a:lnTo>
                      <a:pt x="0" y="84"/>
                    </a:lnTo>
                    <a:lnTo>
                      <a:pt x="9" y="100"/>
                    </a:lnTo>
                    <a:lnTo>
                      <a:pt x="29" y="108"/>
                    </a:lnTo>
                    <a:lnTo>
                      <a:pt x="50" y="114"/>
                    </a:lnTo>
                    <a:lnTo>
                      <a:pt x="69" y="117"/>
                    </a:lnTo>
                    <a:lnTo>
                      <a:pt x="86" y="117"/>
                    </a:lnTo>
                    <a:lnTo>
                      <a:pt x="114" y="112"/>
                    </a:lnTo>
                    <a:lnTo>
                      <a:pt x="134" y="107"/>
                    </a:lnTo>
                    <a:lnTo>
                      <a:pt x="146" y="98"/>
                    </a:lnTo>
                    <a:lnTo>
                      <a:pt x="153" y="90"/>
                    </a:lnTo>
                    <a:lnTo>
                      <a:pt x="155" y="78"/>
                    </a:lnTo>
                    <a:lnTo>
                      <a:pt x="153" y="60"/>
                    </a:lnTo>
                    <a:lnTo>
                      <a:pt x="146" y="11"/>
                    </a:lnTo>
                    <a:lnTo>
                      <a:pt x="72" y="0"/>
                    </a:lnTo>
                  </a:path>
                </a:pathLst>
              </a:custGeom>
              <a:gradFill rotWithShape="0">
                <a:gsLst>
                  <a:gs pos="0">
                    <a:schemeClr val="hlink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1" name="Freeform 39"/>
              <p:cNvSpPr>
                <a:spLocks/>
              </p:cNvSpPr>
              <p:nvPr/>
            </p:nvSpPr>
            <p:spPr bwMode="ltGray">
              <a:xfrm>
                <a:off x="442" y="1557"/>
                <a:ext cx="88" cy="74"/>
              </a:xfrm>
              <a:custGeom>
                <a:avLst/>
                <a:gdLst/>
                <a:ahLst/>
                <a:cxnLst>
                  <a:cxn ang="0">
                    <a:pos x="87" y="67"/>
                  </a:cxn>
                  <a:cxn ang="0">
                    <a:pos x="76" y="0"/>
                  </a:cxn>
                  <a:cxn ang="0">
                    <a:pos x="33" y="5"/>
                  </a:cxn>
                  <a:cxn ang="0">
                    <a:pos x="0" y="8"/>
                  </a:cxn>
                  <a:cxn ang="0">
                    <a:pos x="9" y="73"/>
                  </a:cxn>
                  <a:cxn ang="0">
                    <a:pos x="12" y="57"/>
                  </a:cxn>
                  <a:cxn ang="0">
                    <a:pos x="22" y="47"/>
                  </a:cxn>
                  <a:cxn ang="0">
                    <a:pos x="40" y="43"/>
                  </a:cxn>
                  <a:cxn ang="0">
                    <a:pos x="60" y="44"/>
                  </a:cxn>
                  <a:cxn ang="0">
                    <a:pos x="76" y="51"/>
                  </a:cxn>
                  <a:cxn ang="0">
                    <a:pos x="87" y="67"/>
                  </a:cxn>
                </a:cxnLst>
                <a:rect l="0" t="0" r="r" b="b"/>
                <a:pathLst>
                  <a:path w="88" h="74">
                    <a:moveTo>
                      <a:pt x="87" y="67"/>
                    </a:moveTo>
                    <a:lnTo>
                      <a:pt x="76" y="0"/>
                    </a:lnTo>
                    <a:lnTo>
                      <a:pt x="33" y="5"/>
                    </a:lnTo>
                    <a:lnTo>
                      <a:pt x="0" y="8"/>
                    </a:lnTo>
                    <a:lnTo>
                      <a:pt x="9" y="73"/>
                    </a:lnTo>
                    <a:lnTo>
                      <a:pt x="12" y="57"/>
                    </a:lnTo>
                    <a:lnTo>
                      <a:pt x="22" y="47"/>
                    </a:lnTo>
                    <a:lnTo>
                      <a:pt x="40" y="43"/>
                    </a:lnTo>
                    <a:lnTo>
                      <a:pt x="60" y="44"/>
                    </a:lnTo>
                    <a:lnTo>
                      <a:pt x="76" y="51"/>
                    </a:lnTo>
                    <a:lnTo>
                      <a:pt x="87" y="67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2" name="Freeform 40"/>
              <p:cNvSpPr>
                <a:spLocks/>
              </p:cNvSpPr>
              <p:nvPr/>
            </p:nvSpPr>
            <p:spPr bwMode="ltGray">
              <a:xfrm>
                <a:off x="334" y="1336"/>
                <a:ext cx="319" cy="286"/>
              </a:xfrm>
              <a:custGeom>
                <a:avLst/>
                <a:gdLst/>
                <a:ahLst/>
                <a:cxnLst>
                  <a:cxn ang="0">
                    <a:pos x="317" y="275"/>
                  </a:cxn>
                  <a:cxn ang="0">
                    <a:pos x="315" y="254"/>
                  </a:cxn>
                  <a:cxn ang="0">
                    <a:pos x="306" y="235"/>
                  </a:cxn>
                  <a:cxn ang="0">
                    <a:pos x="299" y="219"/>
                  </a:cxn>
                  <a:cxn ang="0">
                    <a:pos x="294" y="194"/>
                  </a:cxn>
                  <a:cxn ang="0">
                    <a:pos x="288" y="161"/>
                  </a:cxn>
                  <a:cxn ang="0">
                    <a:pos x="284" y="126"/>
                  </a:cxn>
                  <a:cxn ang="0">
                    <a:pos x="281" y="94"/>
                  </a:cxn>
                  <a:cxn ang="0">
                    <a:pos x="279" y="67"/>
                  </a:cxn>
                  <a:cxn ang="0">
                    <a:pos x="278" y="43"/>
                  </a:cxn>
                  <a:cxn ang="0">
                    <a:pos x="270" y="29"/>
                  </a:cxn>
                  <a:cxn ang="0">
                    <a:pos x="255" y="16"/>
                  </a:cxn>
                  <a:cxn ang="0">
                    <a:pos x="240" y="9"/>
                  </a:cxn>
                  <a:cxn ang="0">
                    <a:pos x="216" y="2"/>
                  </a:cxn>
                  <a:cxn ang="0">
                    <a:pos x="189" y="0"/>
                  </a:cxn>
                  <a:cxn ang="0">
                    <a:pos x="147" y="0"/>
                  </a:cxn>
                  <a:cxn ang="0">
                    <a:pos x="110" y="2"/>
                  </a:cxn>
                  <a:cxn ang="0">
                    <a:pos x="74" y="9"/>
                  </a:cxn>
                  <a:cxn ang="0">
                    <a:pos x="41" y="21"/>
                  </a:cxn>
                  <a:cxn ang="0">
                    <a:pos x="20" y="35"/>
                  </a:cxn>
                  <a:cxn ang="0">
                    <a:pos x="8" y="47"/>
                  </a:cxn>
                  <a:cxn ang="0">
                    <a:pos x="0" y="61"/>
                  </a:cxn>
                  <a:cxn ang="0">
                    <a:pos x="2" y="75"/>
                  </a:cxn>
                  <a:cxn ang="0">
                    <a:pos x="5" y="89"/>
                  </a:cxn>
                  <a:cxn ang="0">
                    <a:pos x="15" y="104"/>
                  </a:cxn>
                  <a:cxn ang="0">
                    <a:pos x="23" y="123"/>
                  </a:cxn>
                  <a:cxn ang="0">
                    <a:pos x="27" y="149"/>
                  </a:cxn>
                  <a:cxn ang="0">
                    <a:pos x="30" y="176"/>
                  </a:cxn>
                  <a:cxn ang="0">
                    <a:pos x="35" y="200"/>
                  </a:cxn>
                  <a:cxn ang="0">
                    <a:pos x="36" y="235"/>
                  </a:cxn>
                  <a:cxn ang="0">
                    <a:pos x="38" y="265"/>
                  </a:cxn>
                  <a:cxn ang="0">
                    <a:pos x="38" y="285"/>
                  </a:cxn>
                  <a:cxn ang="0">
                    <a:pos x="48" y="260"/>
                  </a:cxn>
                  <a:cxn ang="0">
                    <a:pos x="68" y="248"/>
                  </a:cxn>
                  <a:cxn ang="0">
                    <a:pos x="86" y="241"/>
                  </a:cxn>
                  <a:cxn ang="0">
                    <a:pos x="108" y="236"/>
                  </a:cxn>
                  <a:cxn ang="0">
                    <a:pos x="143" y="229"/>
                  </a:cxn>
                  <a:cxn ang="0">
                    <a:pos x="177" y="228"/>
                  </a:cxn>
                  <a:cxn ang="0">
                    <a:pos x="197" y="228"/>
                  </a:cxn>
                  <a:cxn ang="0">
                    <a:pos x="228" y="230"/>
                  </a:cxn>
                  <a:cxn ang="0">
                    <a:pos x="264" y="237"/>
                  </a:cxn>
                  <a:cxn ang="0">
                    <a:pos x="287" y="246"/>
                  </a:cxn>
                  <a:cxn ang="0">
                    <a:pos x="302" y="255"/>
                  </a:cxn>
                  <a:cxn ang="0">
                    <a:pos x="318" y="268"/>
                  </a:cxn>
                </a:cxnLst>
                <a:rect l="0" t="0" r="r" b="b"/>
                <a:pathLst>
                  <a:path w="319" h="286">
                    <a:moveTo>
                      <a:pt x="317" y="275"/>
                    </a:moveTo>
                    <a:lnTo>
                      <a:pt x="315" y="254"/>
                    </a:lnTo>
                    <a:lnTo>
                      <a:pt x="306" y="235"/>
                    </a:lnTo>
                    <a:lnTo>
                      <a:pt x="299" y="219"/>
                    </a:lnTo>
                    <a:lnTo>
                      <a:pt x="294" y="194"/>
                    </a:lnTo>
                    <a:lnTo>
                      <a:pt x="288" y="161"/>
                    </a:lnTo>
                    <a:lnTo>
                      <a:pt x="284" y="126"/>
                    </a:lnTo>
                    <a:lnTo>
                      <a:pt x="281" y="94"/>
                    </a:lnTo>
                    <a:lnTo>
                      <a:pt x="279" y="67"/>
                    </a:lnTo>
                    <a:lnTo>
                      <a:pt x="278" y="43"/>
                    </a:lnTo>
                    <a:lnTo>
                      <a:pt x="270" y="29"/>
                    </a:lnTo>
                    <a:lnTo>
                      <a:pt x="255" y="16"/>
                    </a:lnTo>
                    <a:lnTo>
                      <a:pt x="240" y="9"/>
                    </a:lnTo>
                    <a:lnTo>
                      <a:pt x="216" y="2"/>
                    </a:lnTo>
                    <a:lnTo>
                      <a:pt x="189" y="0"/>
                    </a:lnTo>
                    <a:lnTo>
                      <a:pt x="147" y="0"/>
                    </a:lnTo>
                    <a:lnTo>
                      <a:pt x="110" y="2"/>
                    </a:lnTo>
                    <a:lnTo>
                      <a:pt x="74" y="9"/>
                    </a:lnTo>
                    <a:lnTo>
                      <a:pt x="41" y="21"/>
                    </a:lnTo>
                    <a:lnTo>
                      <a:pt x="20" y="35"/>
                    </a:lnTo>
                    <a:lnTo>
                      <a:pt x="8" y="47"/>
                    </a:lnTo>
                    <a:lnTo>
                      <a:pt x="0" y="61"/>
                    </a:lnTo>
                    <a:lnTo>
                      <a:pt x="2" y="75"/>
                    </a:lnTo>
                    <a:lnTo>
                      <a:pt x="5" y="89"/>
                    </a:lnTo>
                    <a:lnTo>
                      <a:pt x="15" y="104"/>
                    </a:lnTo>
                    <a:lnTo>
                      <a:pt x="23" y="123"/>
                    </a:lnTo>
                    <a:lnTo>
                      <a:pt x="27" y="149"/>
                    </a:lnTo>
                    <a:lnTo>
                      <a:pt x="30" y="176"/>
                    </a:lnTo>
                    <a:lnTo>
                      <a:pt x="35" y="200"/>
                    </a:lnTo>
                    <a:lnTo>
                      <a:pt x="36" y="235"/>
                    </a:lnTo>
                    <a:lnTo>
                      <a:pt x="38" y="265"/>
                    </a:lnTo>
                    <a:lnTo>
                      <a:pt x="38" y="285"/>
                    </a:lnTo>
                    <a:lnTo>
                      <a:pt x="48" y="260"/>
                    </a:lnTo>
                    <a:lnTo>
                      <a:pt x="68" y="248"/>
                    </a:lnTo>
                    <a:lnTo>
                      <a:pt x="86" y="241"/>
                    </a:lnTo>
                    <a:lnTo>
                      <a:pt x="108" y="236"/>
                    </a:lnTo>
                    <a:lnTo>
                      <a:pt x="143" y="229"/>
                    </a:lnTo>
                    <a:lnTo>
                      <a:pt x="177" y="228"/>
                    </a:lnTo>
                    <a:lnTo>
                      <a:pt x="197" y="228"/>
                    </a:lnTo>
                    <a:lnTo>
                      <a:pt x="228" y="230"/>
                    </a:lnTo>
                    <a:lnTo>
                      <a:pt x="264" y="237"/>
                    </a:lnTo>
                    <a:lnTo>
                      <a:pt x="287" y="246"/>
                    </a:lnTo>
                    <a:lnTo>
                      <a:pt x="302" y="255"/>
                    </a:lnTo>
                    <a:lnTo>
                      <a:pt x="318" y="268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3" name="Freeform 41"/>
              <p:cNvSpPr>
                <a:spLocks/>
              </p:cNvSpPr>
              <p:nvPr/>
            </p:nvSpPr>
            <p:spPr bwMode="ltGray">
              <a:xfrm>
                <a:off x="5049" y="1394"/>
                <a:ext cx="551" cy="335"/>
              </a:xfrm>
              <a:custGeom>
                <a:avLst/>
                <a:gdLst/>
                <a:ahLst/>
                <a:cxnLst>
                  <a:cxn ang="0">
                    <a:pos x="534" y="48"/>
                  </a:cxn>
                  <a:cxn ang="0">
                    <a:pos x="550" y="117"/>
                  </a:cxn>
                  <a:cxn ang="0">
                    <a:pos x="540" y="142"/>
                  </a:cxn>
                  <a:cxn ang="0">
                    <a:pos x="517" y="179"/>
                  </a:cxn>
                  <a:cxn ang="0">
                    <a:pos x="493" y="212"/>
                  </a:cxn>
                  <a:cxn ang="0">
                    <a:pos x="465" y="239"/>
                  </a:cxn>
                  <a:cxn ang="0">
                    <a:pos x="430" y="267"/>
                  </a:cxn>
                  <a:cxn ang="0">
                    <a:pos x="397" y="286"/>
                  </a:cxn>
                  <a:cxn ang="0">
                    <a:pos x="361" y="304"/>
                  </a:cxn>
                  <a:cxn ang="0">
                    <a:pos x="315" y="320"/>
                  </a:cxn>
                  <a:cxn ang="0">
                    <a:pos x="280" y="328"/>
                  </a:cxn>
                  <a:cxn ang="0">
                    <a:pos x="238" y="334"/>
                  </a:cxn>
                  <a:cxn ang="0">
                    <a:pos x="199" y="334"/>
                  </a:cxn>
                  <a:cxn ang="0">
                    <a:pos x="157" y="329"/>
                  </a:cxn>
                  <a:cxn ang="0">
                    <a:pos x="114" y="317"/>
                  </a:cxn>
                  <a:cxn ang="0">
                    <a:pos x="75" y="298"/>
                  </a:cxn>
                  <a:cxn ang="0">
                    <a:pos x="52" y="282"/>
                  </a:cxn>
                  <a:cxn ang="0">
                    <a:pos x="24" y="258"/>
                  </a:cxn>
                  <a:cxn ang="0">
                    <a:pos x="9" y="238"/>
                  </a:cxn>
                  <a:cxn ang="0">
                    <a:pos x="0" y="222"/>
                  </a:cxn>
                  <a:cxn ang="0">
                    <a:pos x="0" y="204"/>
                  </a:cxn>
                  <a:cxn ang="0">
                    <a:pos x="6" y="182"/>
                  </a:cxn>
                  <a:cxn ang="0">
                    <a:pos x="18" y="166"/>
                  </a:cxn>
                  <a:cxn ang="0">
                    <a:pos x="27" y="131"/>
                  </a:cxn>
                  <a:cxn ang="0">
                    <a:pos x="31" y="112"/>
                  </a:cxn>
                  <a:cxn ang="0">
                    <a:pos x="283" y="128"/>
                  </a:cxn>
                  <a:cxn ang="0">
                    <a:pos x="316" y="122"/>
                  </a:cxn>
                  <a:cxn ang="0">
                    <a:pos x="357" y="109"/>
                  </a:cxn>
                  <a:cxn ang="0">
                    <a:pos x="388" y="93"/>
                  </a:cxn>
                  <a:cxn ang="0">
                    <a:pos x="421" y="73"/>
                  </a:cxn>
                  <a:cxn ang="0">
                    <a:pos x="453" y="44"/>
                  </a:cxn>
                  <a:cxn ang="0">
                    <a:pos x="472" y="19"/>
                  </a:cxn>
                  <a:cxn ang="0">
                    <a:pos x="486" y="0"/>
                  </a:cxn>
                  <a:cxn ang="0">
                    <a:pos x="534" y="48"/>
                  </a:cxn>
                </a:cxnLst>
                <a:rect l="0" t="0" r="r" b="b"/>
                <a:pathLst>
                  <a:path w="551" h="335">
                    <a:moveTo>
                      <a:pt x="534" y="48"/>
                    </a:moveTo>
                    <a:lnTo>
                      <a:pt x="550" y="117"/>
                    </a:lnTo>
                    <a:lnTo>
                      <a:pt x="540" y="142"/>
                    </a:lnTo>
                    <a:lnTo>
                      <a:pt x="517" y="179"/>
                    </a:lnTo>
                    <a:lnTo>
                      <a:pt x="493" y="212"/>
                    </a:lnTo>
                    <a:lnTo>
                      <a:pt x="465" y="239"/>
                    </a:lnTo>
                    <a:lnTo>
                      <a:pt x="430" y="267"/>
                    </a:lnTo>
                    <a:lnTo>
                      <a:pt x="397" y="286"/>
                    </a:lnTo>
                    <a:lnTo>
                      <a:pt x="361" y="304"/>
                    </a:lnTo>
                    <a:lnTo>
                      <a:pt x="315" y="320"/>
                    </a:lnTo>
                    <a:lnTo>
                      <a:pt x="280" y="328"/>
                    </a:lnTo>
                    <a:lnTo>
                      <a:pt x="238" y="334"/>
                    </a:lnTo>
                    <a:lnTo>
                      <a:pt x="199" y="334"/>
                    </a:lnTo>
                    <a:lnTo>
                      <a:pt x="157" y="329"/>
                    </a:lnTo>
                    <a:lnTo>
                      <a:pt x="114" y="317"/>
                    </a:lnTo>
                    <a:lnTo>
                      <a:pt x="75" y="298"/>
                    </a:lnTo>
                    <a:lnTo>
                      <a:pt x="52" y="282"/>
                    </a:lnTo>
                    <a:lnTo>
                      <a:pt x="24" y="258"/>
                    </a:lnTo>
                    <a:lnTo>
                      <a:pt x="9" y="238"/>
                    </a:lnTo>
                    <a:lnTo>
                      <a:pt x="0" y="222"/>
                    </a:lnTo>
                    <a:lnTo>
                      <a:pt x="0" y="204"/>
                    </a:lnTo>
                    <a:lnTo>
                      <a:pt x="6" y="182"/>
                    </a:lnTo>
                    <a:lnTo>
                      <a:pt x="18" y="166"/>
                    </a:lnTo>
                    <a:lnTo>
                      <a:pt x="27" y="131"/>
                    </a:lnTo>
                    <a:lnTo>
                      <a:pt x="31" y="112"/>
                    </a:lnTo>
                    <a:lnTo>
                      <a:pt x="283" y="128"/>
                    </a:lnTo>
                    <a:lnTo>
                      <a:pt x="316" y="122"/>
                    </a:lnTo>
                    <a:lnTo>
                      <a:pt x="357" y="109"/>
                    </a:lnTo>
                    <a:lnTo>
                      <a:pt x="388" y="93"/>
                    </a:lnTo>
                    <a:lnTo>
                      <a:pt x="421" y="73"/>
                    </a:lnTo>
                    <a:lnTo>
                      <a:pt x="453" y="44"/>
                    </a:lnTo>
                    <a:lnTo>
                      <a:pt x="472" y="19"/>
                    </a:lnTo>
                    <a:lnTo>
                      <a:pt x="486" y="0"/>
                    </a:lnTo>
                    <a:lnTo>
                      <a:pt x="534" y="48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100000">
                    <a:schemeClr val="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4" name="Freeform 42"/>
              <p:cNvSpPr>
                <a:spLocks/>
              </p:cNvSpPr>
              <p:nvPr/>
            </p:nvSpPr>
            <p:spPr bwMode="ltGray">
              <a:xfrm>
                <a:off x="5145" y="976"/>
                <a:ext cx="475" cy="55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94"/>
                  </a:cxn>
                  <a:cxn ang="0">
                    <a:pos x="28" y="291"/>
                  </a:cxn>
                  <a:cxn ang="0">
                    <a:pos x="63" y="293"/>
                  </a:cxn>
                  <a:cxn ang="0">
                    <a:pos x="121" y="299"/>
                  </a:cxn>
                  <a:cxn ang="0">
                    <a:pos x="178" y="310"/>
                  </a:cxn>
                  <a:cxn ang="0">
                    <a:pos x="231" y="323"/>
                  </a:cxn>
                  <a:cxn ang="0">
                    <a:pos x="274" y="339"/>
                  </a:cxn>
                  <a:cxn ang="0">
                    <a:pos x="325" y="364"/>
                  </a:cxn>
                  <a:cxn ang="0">
                    <a:pos x="364" y="390"/>
                  </a:cxn>
                  <a:cxn ang="0">
                    <a:pos x="393" y="415"/>
                  </a:cxn>
                  <a:cxn ang="0">
                    <a:pos x="414" y="439"/>
                  </a:cxn>
                  <a:cxn ang="0">
                    <a:pos x="427" y="461"/>
                  </a:cxn>
                  <a:cxn ang="0">
                    <a:pos x="439" y="488"/>
                  </a:cxn>
                  <a:cxn ang="0">
                    <a:pos x="444" y="513"/>
                  </a:cxn>
                  <a:cxn ang="0">
                    <a:pos x="451" y="551"/>
                  </a:cxn>
                  <a:cxn ang="0">
                    <a:pos x="457" y="518"/>
                  </a:cxn>
                  <a:cxn ang="0">
                    <a:pos x="466" y="481"/>
                  </a:cxn>
                  <a:cxn ang="0">
                    <a:pos x="469" y="453"/>
                  </a:cxn>
                  <a:cxn ang="0">
                    <a:pos x="474" y="420"/>
                  </a:cxn>
                  <a:cxn ang="0">
                    <a:pos x="472" y="393"/>
                  </a:cxn>
                  <a:cxn ang="0">
                    <a:pos x="466" y="361"/>
                  </a:cxn>
                  <a:cxn ang="0">
                    <a:pos x="459" y="317"/>
                  </a:cxn>
                  <a:cxn ang="0">
                    <a:pos x="444" y="279"/>
                  </a:cxn>
                  <a:cxn ang="0">
                    <a:pos x="424" y="238"/>
                  </a:cxn>
                  <a:cxn ang="0">
                    <a:pos x="399" y="196"/>
                  </a:cxn>
                  <a:cxn ang="0">
                    <a:pos x="363" y="152"/>
                  </a:cxn>
                  <a:cxn ang="0">
                    <a:pos x="322" y="116"/>
                  </a:cxn>
                  <a:cxn ang="0">
                    <a:pos x="286" y="87"/>
                  </a:cxn>
                  <a:cxn ang="0">
                    <a:pos x="241" y="60"/>
                  </a:cxn>
                  <a:cxn ang="0">
                    <a:pos x="195" y="40"/>
                  </a:cxn>
                  <a:cxn ang="0">
                    <a:pos x="141" y="21"/>
                  </a:cxn>
                  <a:cxn ang="0">
                    <a:pos x="94" y="10"/>
                  </a:cxn>
                  <a:cxn ang="0">
                    <a:pos x="39" y="3"/>
                  </a:cxn>
                  <a:cxn ang="0">
                    <a:pos x="0" y="0"/>
                  </a:cxn>
                </a:cxnLst>
                <a:rect l="0" t="0" r="r" b="b"/>
                <a:pathLst>
                  <a:path w="475" h="552">
                    <a:moveTo>
                      <a:pt x="0" y="0"/>
                    </a:moveTo>
                    <a:lnTo>
                      <a:pt x="0" y="294"/>
                    </a:lnTo>
                    <a:lnTo>
                      <a:pt x="28" y="291"/>
                    </a:lnTo>
                    <a:lnTo>
                      <a:pt x="63" y="293"/>
                    </a:lnTo>
                    <a:lnTo>
                      <a:pt x="121" y="299"/>
                    </a:lnTo>
                    <a:lnTo>
                      <a:pt x="178" y="310"/>
                    </a:lnTo>
                    <a:lnTo>
                      <a:pt x="231" y="323"/>
                    </a:lnTo>
                    <a:lnTo>
                      <a:pt x="274" y="339"/>
                    </a:lnTo>
                    <a:lnTo>
                      <a:pt x="325" y="364"/>
                    </a:lnTo>
                    <a:lnTo>
                      <a:pt x="364" y="390"/>
                    </a:lnTo>
                    <a:lnTo>
                      <a:pt x="393" y="415"/>
                    </a:lnTo>
                    <a:lnTo>
                      <a:pt x="414" y="439"/>
                    </a:lnTo>
                    <a:lnTo>
                      <a:pt x="427" y="461"/>
                    </a:lnTo>
                    <a:lnTo>
                      <a:pt x="439" y="488"/>
                    </a:lnTo>
                    <a:lnTo>
                      <a:pt x="444" y="513"/>
                    </a:lnTo>
                    <a:lnTo>
                      <a:pt x="451" y="551"/>
                    </a:lnTo>
                    <a:lnTo>
                      <a:pt x="457" y="518"/>
                    </a:lnTo>
                    <a:lnTo>
                      <a:pt x="466" y="481"/>
                    </a:lnTo>
                    <a:lnTo>
                      <a:pt x="469" y="453"/>
                    </a:lnTo>
                    <a:lnTo>
                      <a:pt x="474" y="420"/>
                    </a:lnTo>
                    <a:lnTo>
                      <a:pt x="472" y="393"/>
                    </a:lnTo>
                    <a:lnTo>
                      <a:pt x="466" y="361"/>
                    </a:lnTo>
                    <a:lnTo>
                      <a:pt x="459" y="317"/>
                    </a:lnTo>
                    <a:lnTo>
                      <a:pt x="444" y="279"/>
                    </a:lnTo>
                    <a:lnTo>
                      <a:pt x="424" y="238"/>
                    </a:lnTo>
                    <a:lnTo>
                      <a:pt x="399" y="196"/>
                    </a:lnTo>
                    <a:lnTo>
                      <a:pt x="363" y="152"/>
                    </a:lnTo>
                    <a:lnTo>
                      <a:pt x="322" y="116"/>
                    </a:lnTo>
                    <a:lnTo>
                      <a:pt x="286" y="87"/>
                    </a:lnTo>
                    <a:lnTo>
                      <a:pt x="241" y="60"/>
                    </a:lnTo>
                    <a:lnTo>
                      <a:pt x="195" y="40"/>
                    </a:lnTo>
                    <a:lnTo>
                      <a:pt x="141" y="21"/>
                    </a:lnTo>
                    <a:lnTo>
                      <a:pt x="94" y="10"/>
                    </a:lnTo>
                    <a:lnTo>
                      <a:pt x="39" y="3"/>
                    </a:lnTo>
                    <a:lnTo>
                      <a:pt x="0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5" name="Freeform 43"/>
              <p:cNvSpPr>
                <a:spLocks/>
              </p:cNvSpPr>
              <p:nvPr/>
            </p:nvSpPr>
            <p:spPr bwMode="ltGray">
              <a:xfrm>
                <a:off x="5176" y="1543"/>
                <a:ext cx="156" cy="118"/>
              </a:xfrm>
              <a:custGeom>
                <a:avLst/>
                <a:gdLst/>
                <a:ahLst/>
                <a:cxnLst>
                  <a:cxn ang="0">
                    <a:pos x="83" y="0"/>
                  </a:cxn>
                  <a:cxn ang="0">
                    <a:pos x="134" y="19"/>
                  </a:cxn>
                  <a:cxn ang="0">
                    <a:pos x="152" y="46"/>
                  </a:cxn>
                  <a:cxn ang="0">
                    <a:pos x="155" y="70"/>
                  </a:cxn>
                  <a:cxn ang="0">
                    <a:pos x="155" y="84"/>
                  </a:cxn>
                  <a:cxn ang="0">
                    <a:pos x="146" y="100"/>
                  </a:cxn>
                  <a:cxn ang="0">
                    <a:pos x="126" y="108"/>
                  </a:cxn>
                  <a:cxn ang="0">
                    <a:pos x="105" y="114"/>
                  </a:cxn>
                  <a:cxn ang="0">
                    <a:pos x="86" y="117"/>
                  </a:cxn>
                  <a:cxn ang="0">
                    <a:pos x="69" y="117"/>
                  </a:cxn>
                  <a:cxn ang="0">
                    <a:pos x="41" y="112"/>
                  </a:cxn>
                  <a:cxn ang="0">
                    <a:pos x="21" y="107"/>
                  </a:cxn>
                  <a:cxn ang="0">
                    <a:pos x="9" y="98"/>
                  </a:cxn>
                  <a:cxn ang="0">
                    <a:pos x="2" y="90"/>
                  </a:cxn>
                  <a:cxn ang="0">
                    <a:pos x="0" y="78"/>
                  </a:cxn>
                  <a:cxn ang="0">
                    <a:pos x="2" y="60"/>
                  </a:cxn>
                  <a:cxn ang="0">
                    <a:pos x="9" y="11"/>
                  </a:cxn>
                  <a:cxn ang="0">
                    <a:pos x="83" y="0"/>
                  </a:cxn>
                </a:cxnLst>
                <a:rect l="0" t="0" r="r" b="b"/>
                <a:pathLst>
                  <a:path w="156" h="118">
                    <a:moveTo>
                      <a:pt x="83" y="0"/>
                    </a:moveTo>
                    <a:lnTo>
                      <a:pt x="134" y="19"/>
                    </a:lnTo>
                    <a:lnTo>
                      <a:pt x="152" y="46"/>
                    </a:lnTo>
                    <a:lnTo>
                      <a:pt x="155" y="70"/>
                    </a:lnTo>
                    <a:lnTo>
                      <a:pt x="155" y="84"/>
                    </a:lnTo>
                    <a:lnTo>
                      <a:pt x="146" y="100"/>
                    </a:lnTo>
                    <a:lnTo>
                      <a:pt x="126" y="108"/>
                    </a:lnTo>
                    <a:lnTo>
                      <a:pt x="105" y="114"/>
                    </a:lnTo>
                    <a:lnTo>
                      <a:pt x="86" y="117"/>
                    </a:lnTo>
                    <a:lnTo>
                      <a:pt x="69" y="117"/>
                    </a:lnTo>
                    <a:lnTo>
                      <a:pt x="41" y="112"/>
                    </a:lnTo>
                    <a:lnTo>
                      <a:pt x="21" y="107"/>
                    </a:lnTo>
                    <a:lnTo>
                      <a:pt x="9" y="98"/>
                    </a:lnTo>
                    <a:lnTo>
                      <a:pt x="2" y="90"/>
                    </a:lnTo>
                    <a:lnTo>
                      <a:pt x="0" y="78"/>
                    </a:lnTo>
                    <a:lnTo>
                      <a:pt x="2" y="60"/>
                    </a:lnTo>
                    <a:lnTo>
                      <a:pt x="9" y="11"/>
                    </a:lnTo>
                    <a:lnTo>
                      <a:pt x="83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100000">
                    <a:schemeClr val="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6" name="Freeform 44"/>
              <p:cNvSpPr>
                <a:spLocks/>
              </p:cNvSpPr>
              <p:nvPr/>
            </p:nvSpPr>
            <p:spPr bwMode="ltGray">
              <a:xfrm>
                <a:off x="5172" y="1556"/>
                <a:ext cx="88" cy="74"/>
              </a:xfrm>
              <a:custGeom>
                <a:avLst/>
                <a:gdLst/>
                <a:ahLst/>
                <a:cxnLst>
                  <a:cxn ang="0">
                    <a:pos x="0" y="68"/>
                  </a:cxn>
                  <a:cxn ang="0">
                    <a:pos x="11" y="0"/>
                  </a:cxn>
                  <a:cxn ang="0">
                    <a:pos x="54" y="5"/>
                  </a:cxn>
                  <a:cxn ang="0">
                    <a:pos x="87" y="9"/>
                  </a:cxn>
                  <a:cxn ang="0">
                    <a:pos x="78" y="73"/>
                  </a:cxn>
                  <a:cxn ang="0">
                    <a:pos x="75" y="58"/>
                  </a:cxn>
                  <a:cxn ang="0">
                    <a:pos x="65" y="47"/>
                  </a:cxn>
                  <a:cxn ang="0">
                    <a:pos x="47" y="44"/>
                  </a:cxn>
                  <a:cxn ang="0">
                    <a:pos x="27" y="45"/>
                  </a:cxn>
                  <a:cxn ang="0">
                    <a:pos x="11" y="52"/>
                  </a:cxn>
                  <a:cxn ang="0">
                    <a:pos x="0" y="68"/>
                  </a:cxn>
                </a:cxnLst>
                <a:rect l="0" t="0" r="r" b="b"/>
                <a:pathLst>
                  <a:path w="88" h="74">
                    <a:moveTo>
                      <a:pt x="0" y="68"/>
                    </a:moveTo>
                    <a:lnTo>
                      <a:pt x="11" y="0"/>
                    </a:lnTo>
                    <a:lnTo>
                      <a:pt x="54" y="5"/>
                    </a:lnTo>
                    <a:lnTo>
                      <a:pt x="87" y="9"/>
                    </a:lnTo>
                    <a:lnTo>
                      <a:pt x="78" y="73"/>
                    </a:lnTo>
                    <a:lnTo>
                      <a:pt x="75" y="58"/>
                    </a:lnTo>
                    <a:lnTo>
                      <a:pt x="65" y="47"/>
                    </a:lnTo>
                    <a:lnTo>
                      <a:pt x="47" y="44"/>
                    </a:lnTo>
                    <a:lnTo>
                      <a:pt x="27" y="45"/>
                    </a:lnTo>
                    <a:lnTo>
                      <a:pt x="11" y="52"/>
                    </a:lnTo>
                    <a:lnTo>
                      <a:pt x="0" y="68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7" name="Freeform 45"/>
              <p:cNvSpPr>
                <a:spLocks/>
              </p:cNvSpPr>
              <p:nvPr/>
            </p:nvSpPr>
            <p:spPr bwMode="ltGray">
              <a:xfrm>
                <a:off x="5049" y="1336"/>
                <a:ext cx="319" cy="286"/>
              </a:xfrm>
              <a:custGeom>
                <a:avLst/>
                <a:gdLst/>
                <a:ahLst/>
                <a:cxnLst>
                  <a:cxn ang="0">
                    <a:pos x="1" y="275"/>
                  </a:cxn>
                  <a:cxn ang="0">
                    <a:pos x="3" y="254"/>
                  </a:cxn>
                  <a:cxn ang="0">
                    <a:pos x="12" y="235"/>
                  </a:cxn>
                  <a:cxn ang="0">
                    <a:pos x="19" y="219"/>
                  </a:cxn>
                  <a:cxn ang="0">
                    <a:pos x="24" y="194"/>
                  </a:cxn>
                  <a:cxn ang="0">
                    <a:pos x="30" y="161"/>
                  </a:cxn>
                  <a:cxn ang="0">
                    <a:pos x="34" y="126"/>
                  </a:cxn>
                  <a:cxn ang="0">
                    <a:pos x="37" y="94"/>
                  </a:cxn>
                  <a:cxn ang="0">
                    <a:pos x="39" y="67"/>
                  </a:cxn>
                  <a:cxn ang="0">
                    <a:pos x="40" y="43"/>
                  </a:cxn>
                  <a:cxn ang="0">
                    <a:pos x="48" y="29"/>
                  </a:cxn>
                  <a:cxn ang="0">
                    <a:pos x="63" y="16"/>
                  </a:cxn>
                  <a:cxn ang="0">
                    <a:pos x="78" y="9"/>
                  </a:cxn>
                  <a:cxn ang="0">
                    <a:pos x="102" y="2"/>
                  </a:cxn>
                  <a:cxn ang="0">
                    <a:pos x="129" y="0"/>
                  </a:cxn>
                  <a:cxn ang="0">
                    <a:pos x="171" y="0"/>
                  </a:cxn>
                  <a:cxn ang="0">
                    <a:pos x="208" y="2"/>
                  </a:cxn>
                  <a:cxn ang="0">
                    <a:pos x="244" y="9"/>
                  </a:cxn>
                  <a:cxn ang="0">
                    <a:pos x="277" y="21"/>
                  </a:cxn>
                  <a:cxn ang="0">
                    <a:pos x="298" y="35"/>
                  </a:cxn>
                  <a:cxn ang="0">
                    <a:pos x="310" y="47"/>
                  </a:cxn>
                  <a:cxn ang="0">
                    <a:pos x="318" y="61"/>
                  </a:cxn>
                  <a:cxn ang="0">
                    <a:pos x="316" y="75"/>
                  </a:cxn>
                  <a:cxn ang="0">
                    <a:pos x="313" y="89"/>
                  </a:cxn>
                  <a:cxn ang="0">
                    <a:pos x="303" y="104"/>
                  </a:cxn>
                  <a:cxn ang="0">
                    <a:pos x="295" y="123"/>
                  </a:cxn>
                  <a:cxn ang="0">
                    <a:pos x="291" y="149"/>
                  </a:cxn>
                  <a:cxn ang="0">
                    <a:pos x="288" y="176"/>
                  </a:cxn>
                  <a:cxn ang="0">
                    <a:pos x="283" y="200"/>
                  </a:cxn>
                  <a:cxn ang="0">
                    <a:pos x="282" y="235"/>
                  </a:cxn>
                  <a:cxn ang="0">
                    <a:pos x="280" y="265"/>
                  </a:cxn>
                  <a:cxn ang="0">
                    <a:pos x="280" y="285"/>
                  </a:cxn>
                  <a:cxn ang="0">
                    <a:pos x="270" y="260"/>
                  </a:cxn>
                  <a:cxn ang="0">
                    <a:pos x="250" y="248"/>
                  </a:cxn>
                  <a:cxn ang="0">
                    <a:pos x="232" y="241"/>
                  </a:cxn>
                  <a:cxn ang="0">
                    <a:pos x="210" y="236"/>
                  </a:cxn>
                  <a:cxn ang="0">
                    <a:pos x="175" y="229"/>
                  </a:cxn>
                  <a:cxn ang="0">
                    <a:pos x="141" y="228"/>
                  </a:cxn>
                  <a:cxn ang="0">
                    <a:pos x="121" y="228"/>
                  </a:cxn>
                  <a:cxn ang="0">
                    <a:pos x="90" y="230"/>
                  </a:cxn>
                  <a:cxn ang="0">
                    <a:pos x="54" y="237"/>
                  </a:cxn>
                  <a:cxn ang="0">
                    <a:pos x="31" y="246"/>
                  </a:cxn>
                  <a:cxn ang="0">
                    <a:pos x="16" y="255"/>
                  </a:cxn>
                  <a:cxn ang="0">
                    <a:pos x="0" y="268"/>
                  </a:cxn>
                </a:cxnLst>
                <a:rect l="0" t="0" r="r" b="b"/>
                <a:pathLst>
                  <a:path w="319" h="286">
                    <a:moveTo>
                      <a:pt x="1" y="275"/>
                    </a:moveTo>
                    <a:lnTo>
                      <a:pt x="3" y="254"/>
                    </a:lnTo>
                    <a:lnTo>
                      <a:pt x="12" y="235"/>
                    </a:lnTo>
                    <a:lnTo>
                      <a:pt x="19" y="219"/>
                    </a:lnTo>
                    <a:lnTo>
                      <a:pt x="24" y="194"/>
                    </a:lnTo>
                    <a:lnTo>
                      <a:pt x="30" y="161"/>
                    </a:lnTo>
                    <a:lnTo>
                      <a:pt x="34" y="126"/>
                    </a:lnTo>
                    <a:lnTo>
                      <a:pt x="37" y="94"/>
                    </a:lnTo>
                    <a:lnTo>
                      <a:pt x="39" y="67"/>
                    </a:lnTo>
                    <a:lnTo>
                      <a:pt x="40" y="43"/>
                    </a:lnTo>
                    <a:lnTo>
                      <a:pt x="48" y="29"/>
                    </a:lnTo>
                    <a:lnTo>
                      <a:pt x="63" y="16"/>
                    </a:lnTo>
                    <a:lnTo>
                      <a:pt x="78" y="9"/>
                    </a:lnTo>
                    <a:lnTo>
                      <a:pt x="102" y="2"/>
                    </a:lnTo>
                    <a:lnTo>
                      <a:pt x="129" y="0"/>
                    </a:lnTo>
                    <a:lnTo>
                      <a:pt x="171" y="0"/>
                    </a:lnTo>
                    <a:lnTo>
                      <a:pt x="208" y="2"/>
                    </a:lnTo>
                    <a:lnTo>
                      <a:pt x="244" y="9"/>
                    </a:lnTo>
                    <a:lnTo>
                      <a:pt x="277" y="21"/>
                    </a:lnTo>
                    <a:lnTo>
                      <a:pt x="298" y="35"/>
                    </a:lnTo>
                    <a:lnTo>
                      <a:pt x="310" y="47"/>
                    </a:lnTo>
                    <a:lnTo>
                      <a:pt x="318" y="61"/>
                    </a:lnTo>
                    <a:lnTo>
                      <a:pt x="316" y="75"/>
                    </a:lnTo>
                    <a:lnTo>
                      <a:pt x="313" y="89"/>
                    </a:lnTo>
                    <a:lnTo>
                      <a:pt x="303" y="104"/>
                    </a:lnTo>
                    <a:lnTo>
                      <a:pt x="295" y="123"/>
                    </a:lnTo>
                    <a:lnTo>
                      <a:pt x="291" y="149"/>
                    </a:lnTo>
                    <a:lnTo>
                      <a:pt x="288" y="176"/>
                    </a:lnTo>
                    <a:lnTo>
                      <a:pt x="283" y="200"/>
                    </a:lnTo>
                    <a:lnTo>
                      <a:pt x="282" y="235"/>
                    </a:lnTo>
                    <a:lnTo>
                      <a:pt x="280" y="265"/>
                    </a:lnTo>
                    <a:lnTo>
                      <a:pt x="280" y="285"/>
                    </a:lnTo>
                    <a:lnTo>
                      <a:pt x="270" y="260"/>
                    </a:lnTo>
                    <a:lnTo>
                      <a:pt x="250" y="248"/>
                    </a:lnTo>
                    <a:lnTo>
                      <a:pt x="232" y="241"/>
                    </a:lnTo>
                    <a:lnTo>
                      <a:pt x="210" y="236"/>
                    </a:lnTo>
                    <a:lnTo>
                      <a:pt x="175" y="229"/>
                    </a:lnTo>
                    <a:lnTo>
                      <a:pt x="141" y="228"/>
                    </a:lnTo>
                    <a:lnTo>
                      <a:pt x="121" y="228"/>
                    </a:lnTo>
                    <a:lnTo>
                      <a:pt x="90" y="230"/>
                    </a:lnTo>
                    <a:lnTo>
                      <a:pt x="54" y="237"/>
                    </a:lnTo>
                    <a:lnTo>
                      <a:pt x="31" y="246"/>
                    </a:lnTo>
                    <a:lnTo>
                      <a:pt x="16" y="255"/>
                    </a:lnTo>
                    <a:lnTo>
                      <a:pt x="0" y="268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8" name="Freeform 46"/>
              <p:cNvSpPr>
                <a:spLocks/>
              </p:cNvSpPr>
              <p:nvPr/>
            </p:nvSpPr>
            <p:spPr bwMode="ltGray">
              <a:xfrm>
                <a:off x="4319" y="976"/>
                <a:ext cx="832" cy="4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56"/>
                  </a:cxn>
                  <a:cxn ang="0">
                    <a:pos x="84" y="374"/>
                  </a:cxn>
                  <a:cxn ang="0">
                    <a:pos x="153" y="393"/>
                  </a:cxn>
                  <a:cxn ang="0">
                    <a:pos x="210" y="404"/>
                  </a:cxn>
                  <a:cxn ang="0">
                    <a:pos x="258" y="410"/>
                  </a:cxn>
                  <a:cxn ang="0">
                    <a:pos x="312" y="416"/>
                  </a:cxn>
                  <a:cxn ang="0">
                    <a:pos x="402" y="419"/>
                  </a:cxn>
                  <a:cxn ang="0">
                    <a:pos x="485" y="412"/>
                  </a:cxn>
                  <a:cxn ang="0">
                    <a:pos x="570" y="399"/>
                  </a:cxn>
                  <a:cxn ang="0">
                    <a:pos x="652" y="377"/>
                  </a:cxn>
                  <a:cxn ang="0">
                    <a:pos x="724" y="347"/>
                  </a:cxn>
                  <a:cxn ang="0">
                    <a:pos x="784" y="306"/>
                  </a:cxn>
                  <a:cxn ang="0">
                    <a:pos x="829" y="291"/>
                  </a:cxn>
                  <a:cxn ang="0">
                    <a:pos x="831" y="2"/>
                  </a:cxn>
                  <a:cxn ang="0">
                    <a:pos x="786" y="9"/>
                  </a:cxn>
                  <a:cxn ang="0">
                    <a:pos x="726" y="29"/>
                  </a:cxn>
                  <a:cxn ang="0">
                    <a:pos x="654" y="55"/>
                  </a:cxn>
                  <a:cxn ang="0">
                    <a:pos x="585" y="70"/>
                  </a:cxn>
                  <a:cxn ang="0">
                    <a:pos x="515" y="78"/>
                  </a:cxn>
                  <a:cxn ang="0">
                    <a:pos x="468" y="82"/>
                  </a:cxn>
                  <a:cxn ang="0">
                    <a:pos x="428" y="84"/>
                  </a:cxn>
                  <a:cxn ang="0">
                    <a:pos x="358" y="84"/>
                  </a:cxn>
                  <a:cxn ang="0">
                    <a:pos x="314" y="81"/>
                  </a:cxn>
                  <a:cxn ang="0">
                    <a:pos x="274" y="76"/>
                  </a:cxn>
                  <a:cxn ang="0">
                    <a:pos x="229" y="73"/>
                  </a:cxn>
                  <a:cxn ang="0">
                    <a:pos x="190" y="66"/>
                  </a:cxn>
                  <a:cxn ang="0">
                    <a:pos x="140" y="57"/>
                  </a:cxn>
                  <a:cxn ang="0">
                    <a:pos x="96" y="44"/>
                  </a:cxn>
                  <a:cxn ang="0">
                    <a:pos x="49" y="24"/>
                  </a:cxn>
                  <a:cxn ang="0">
                    <a:pos x="0" y="0"/>
                  </a:cxn>
                </a:cxnLst>
                <a:rect l="0" t="0" r="r" b="b"/>
                <a:pathLst>
                  <a:path w="832" h="420">
                    <a:moveTo>
                      <a:pt x="0" y="0"/>
                    </a:moveTo>
                    <a:lnTo>
                      <a:pt x="0" y="356"/>
                    </a:lnTo>
                    <a:lnTo>
                      <a:pt x="84" y="374"/>
                    </a:lnTo>
                    <a:lnTo>
                      <a:pt x="153" y="393"/>
                    </a:lnTo>
                    <a:lnTo>
                      <a:pt x="210" y="404"/>
                    </a:lnTo>
                    <a:lnTo>
                      <a:pt x="258" y="410"/>
                    </a:lnTo>
                    <a:lnTo>
                      <a:pt x="312" y="416"/>
                    </a:lnTo>
                    <a:lnTo>
                      <a:pt x="402" y="419"/>
                    </a:lnTo>
                    <a:lnTo>
                      <a:pt x="485" y="412"/>
                    </a:lnTo>
                    <a:lnTo>
                      <a:pt x="570" y="399"/>
                    </a:lnTo>
                    <a:lnTo>
                      <a:pt x="652" y="377"/>
                    </a:lnTo>
                    <a:lnTo>
                      <a:pt x="724" y="347"/>
                    </a:lnTo>
                    <a:lnTo>
                      <a:pt x="784" y="306"/>
                    </a:lnTo>
                    <a:lnTo>
                      <a:pt x="829" y="291"/>
                    </a:lnTo>
                    <a:lnTo>
                      <a:pt x="831" y="2"/>
                    </a:lnTo>
                    <a:lnTo>
                      <a:pt x="786" y="9"/>
                    </a:lnTo>
                    <a:lnTo>
                      <a:pt x="726" y="29"/>
                    </a:lnTo>
                    <a:lnTo>
                      <a:pt x="654" y="55"/>
                    </a:lnTo>
                    <a:lnTo>
                      <a:pt x="585" y="70"/>
                    </a:lnTo>
                    <a:lnTo>
                      <a:pt x="515" y="78"/>
                    </a:lnTo>
                    <a:lnTo>
                      <a:pt x="468" y="82"/>
                    </a:lnTo>
                    <a:lnTo>
                      <a:pt x="428" y="84"/>
                    </a:lnTo>
                    <a:lnTo>
                      <a:pt x="358" y="84"/>
                    </a:lnTo>
                    <a:lnTo>
                      <a:pt x="314" y="81"/>
                    </a:lnTo>
                    <a:lnTo>
                      <a:pt x="274" y="76"/>
                    </a:lnTo>
                    <a:lnTo>
                      <a:pt x="229" y="73"/>
                    </a:lnTo>
                    <a:lnTo>
                      <a:pt x="190" y="66"/>
                    </a:lnTo>
                    <a:lnTo>
                      <a:pt x="140" y="57"/>
                    </a:lnTo>
                    <a:lnTo>
                      <a:pt x="96" y="44"/>
                    </a:lnTo>
                    <a:lnTo>
                      <a:pt x="49" y="24"/>
                    </a:lnTo>
                    <a:lnTo>
                      <a:pt x="0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</p:grpSp>
      </p:grpSp>
      <p:sp>
        <p:nvSpPr>
          <p:cNvPr id="3121" name="Rectangle 49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22" name="Rectangle 5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" name="Rectangle 5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52" name="Rectangle 5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53" name="Rectangle 5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86117F-7378-437D-ADF0-222832E895EF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804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5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6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92363C-31F1-45C1-A502-F373DB18E285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2312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5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6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F04EA9-CA77-431E-9874-1F82B0BBC0CF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23655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914400" y="22860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22860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6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7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1FE061-B348-4BFF-9CF4-6B8E44ED7BFC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5906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8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9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D959BA-232A-4C1B-9DE0-7626244AB8A5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2927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4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5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82AB76-C8A1-4BFB-B926-F95D4C512CD7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63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3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4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E66AF7-F31C-46F3-AECD-589596BCE952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4311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6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7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DC75D5-44A6-46B0-AE2F-42CDDCC5AAAE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03952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6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7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D670B5-E150-4B53-A92D-482B89DDAFB6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80447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5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6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3B2882-50C5-4FF2-9350-2E69ED233A97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555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686800" y="914400"/>
            <a:ext cx="2590800" cy="54864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7569200" cy="54864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5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6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B5924F-96E3-461D-9453-2C666988C558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1942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914400" y="914400"/>
            <a:ext cx="10363200" cy="54864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4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5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0FA709-A654-47F5-A2FE-EA71B176C726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45995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Заголовок, текст и кли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32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914400" y="2286000"/>
            <a:ext cx="5080000" cy="4114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Клип 3"/>
          <p:cNvSpPr>
            <a:spLocks noGrp="1"/>
          </p:cNvSpPr>
          <p:nvPr>
            <p:ph type="clipArt" sz="half" idx="2"/>
          </p:nvPr>
        </p:nvSpPr>
        <p:spPr>
          <a:xfrm>
            <a:off x="6197600" y="2286000"/>
            <a:ext cx="5080000" cy="4114800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5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6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7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058D8F-4637-464B-9A4E-D54C42DE5749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4867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1" y="-17463"/>
            <a:ext cx="12238567" cy="6905626"/>
            <a:chOff x="0" y="-11"/>
            <a:chExt cx="5782" cy="4350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hidden">
            <a:xfrm>
              <a:off x="0" y="1824"/>
              <a:ext cx="5774" cy="2515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ru-RU" sz="2400">
                <a:solidFill>
                  <a:srgbClr val="F8F8F8"/>
                </a:solidFill>
              </a:endParaRPr>
            </a:p>
          </p:txBody>
        </p:sp>
        <p:sp>
          <p:nvSpPr>
            <p:cNvPr id="6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5759" cy="1824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ru-RU" sz="2400">
                <a:solidFill>
                  <a:srgbClr val="F8F8F8"/>
                </a:solidFill>
              </a:endParaRPr>
            </a:p>
          </p:txBody>
        </p:sp>
        <p:grpSp>
          <p:nvGrpSpPr>
            <p:cNvPr id="7" name="Group 6"/>
            <p:cNvGrpSpPr>
              <a:grpSpLocks/>
            </p:cNvGrpSpPr>
            <p:nvPr/>
          </p:nvGrpSpPr>
          <p:grpSpPr bwMode="auto">
            <a:xfrm>
              <a:off x="5301" y="-11"/>
              <a:ext cx="481" cy="4284"/>
              <a:chOff x="5301" y="-11"/>
              <a:chExt cx="481" cy="4284"/>
            </a:xfrm>
          </p:grpSpPr>
          <p:sp>
            <p:nvSpPr>
              <p:cNvPr id="49" name="Freeform 4"/>
              <p:cNvSpPr>
                <a:spLocks/>
              </p:cNvSpPr>
              <p:nvPr/>
            </p:nvSpPr>
            <p:spPr bwMode="ltGray">
              <a:xfrm>
                <a:off x="5301" y="-11"/>
                <a:ext cx="241" cy="4284"/>
              </a:xfrm>
              <a:custGeom>
                <a:avLst/>
                <a:gdLst/>
                <a:ahLst/>
                <a:cxnLst>
                  <a:cxn ang="0">
                    <a:pos x="0" y="4234"/>
                  </a:cxn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4234"/>
                  </a:cxn>
                  <a:cxn ang="0">
                    <a:pos x="192" y="4283"/>
                  </a:cxn>
                  <a:cxn ang="0">
                    <a:pos x="144" y="4281"/>
                  </a:cxn>
                  <a:cxn ang="0">
                    <a:pos x="112" y="4281"/>
                  </a:cxn>
                  <a:cxn ang="0">
                    <a:pos x="49" y="4281"/>
                  </a:cxn>
                  <a:cxn ang="0">
                    <a:pos x="0" y="4234"/>
                  </a:cxn>
                </a:cxnLst>
                <a:rect l="0" t="0" r="r" b="b"/>
                <a:pathLst>
                  <a:path w="241" h="4284">
                    <a:moveTo>
                      <a:pt x="0" y="4234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40" y="4234"/>
                    </a:lnTo>
                    <a:lnTo>
                      <a:pt x="192" y="4283"/>
                    </a:lnTo>
                    <a:lnTo>
                      <a:pt x="144" y="4281"/>
                    </a:lnTo>
                    <a:lnTo>
                      <a:pt x="112" y="4281"/>
                    </a:lnTo>
                    <a:lnTo>
                      <a:pt x="49" y="4281"/>
                    </a:lnTo>
                    <a:lnTo>
                      <a:pt x="0" y="4234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50" name="Freeform 5"/>
              <p:cNvSpPr>
                <a:spLocks/>
              </p:cNvSpPr>
              <p:nvPr/>
            </p:nvSpPr>
            <p:spPr bwMode="ltGray">
              <a:xfrm>
                <a:off x="5541" y="-11"/>
                <a:ext cx="241" cy="4284"/>
              </a:xfrm>
              <a:custGeom>
                <a:avLst/>
                <a:gdLst/>
                <a:ahLst/>
                <a:cxnLst>
                  <a:cxn ang="0">
                    <a:pos x="0" y="4234"/>
                  </a:cxn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4234"/>
                  </a:cxn>
                  <a:cxn ang="0">
                    <a:pos x="192" y="4283"/>
                  </a:cxn>
                  <a:cxn ang="0">
                    <a:pos x="144" y="4281"/>
                  </a:cxn>
                  <a:cxn ang="0">
                    <a:pos x="112" y="4281"/>
                  </a:cxn>
                  <a:cxn ang="0">
                    <a:pos x="49" y="4281"/>
                  </a:cxn>
                  <a:cxn ang="0">
                    <a:pos x="0" y="4234"/>
                  </a:cxn>
                </a:cxnLst>
                <a:rect l="0" t="0" r="r" b="b"/>
                <a:pathLst>
                  <a:path w="241" h="4284">
                    <a:moveTo>
                      <a:pt x="0" y="4234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40" y="4234"/>
                    </a:lnTo>
                    <a:lnTo>
                      <a:pt x="192" y="4283"/>
                    </a:lnTo>
                    <a:lnTo>
                      <a:pt x="144" y="4281"/>
                    </a:lnTo>
                    <a:lnTo>
                      <a:pt x="112" y="4281"/>
                    </a:lnTo>
                    <a:lnTo>
                      <a:pt x="49" y="4281"/>
                    </a:lnTo>
                    <a:lnTo>
                      <a:pt x="0" y="4234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</p:grpSp>
        <p:grpSp>
          <p:nvGrpSpPr>
            <p:cNvPr id="8" name="Group 9"/>
            <p:cNvGrpSpPr>
              <a:grpSpLocks/>
            </p:cNvGrpSpPr>
            <p:nvPr/>
          </p:nvGrpSpPr>
          <p:grpSpPr bwMode="auto">
            <a:xfrm>
              <a:off x="0" y="0"/>
              <a:ext cx="481" cy="4273"/>
              <a:chOff x="0" y="0"/>
              <a:chExt cx="481" cy="4273"/>
            </a:xfrm>
          </p:grpSpPr>
          <p:sp>
            <p:nvSpPr>
              <p:cNvPr id="47" name="Freeform 7"/>
              <p:cNvSpPr>
                <a:spLocks/>
              </p:cNvSpPr>
              <p:nvPr/>
            </p:nvSpPr>
            <p:spPr bwMode="ltGray">
              <a:xfrm>
                <a:off x="0" y="0"/>
                <a:ext cx="241" cy="4273"/>
              </a:xfrm>
              <a:custGeom>
                <a:avLst/>
                <a:gdLst/>
                <a:ahLst/>
                <a:cxnLst>
                  <a:cxn ang="0">
                    <a:pos x="0" y="4223"/>
                  </a:cxn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4223"/>
                  </a:cxn>
                  <a:cxn ang="0">
                    <a:pos x="192" y="4272"/>
                  </a:cxn>
                  <a:cxn ang="0">
                    <a:pos x="144" y="4270"/>
                  </a:cxn>
                  <a:cxn ang="0">
                    <a:pos x="112" y="4270"/>
                  </a:cxn>
                  <a:cxn ang="0">
                    <a:pos x="49" y="4270"/>
                  </a:cxn>
                  <a:cxn ang="0">
                    <a:pos x="0" y="4223"/>
                  </a:cxn>
                </a:cxnLst>
                <a:rect l="0" t="0" r="r" b="b"/>
                <a:pathLst>
                  <a:path w="241" h="4273">
                    <a:moveTo>
                      <a:pt x="0" y="4223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40" y="4223"/>
                    </a:lnTo>
                    <a:lnTo>
                      <a:pt x="192" y="4272"/>
                    </a:lnTo>
                    <a:lnTo>
                      <a:pt x="144" y="4270"/>
                    </a:lnTo>
                    <a:lnTo>
                      <a:pt x="112" y="4270"/>
                    </a:lnTo>
                    <a:lnTo>
                      <a:pt x="49" y="4270"/>
                    </a:lnTo>
                    <a:lnTo>
                      <a:pt x="0" y="4223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48" name="Freeform 8"/>
              <p:cNvSpPr>
                <a:spLocks/>
              </p:cNvSpPr>
              <p:nvPr/>
            </p:nvSpPr>
            <p:spPr bwMode="ltGray">
              <a:xfrm>
                <a:off x="240" y="0"/>
                <a:ext cx="241" cy="4273"/>
              </a:xfrm>
              <a:custGeom>
                <a:avLst/>
                <a:gdLst/>
                <a:ahLst/>
                <a:cxnLst>
                  <a:cxn ang="0">
                    <a:pos x="0" y="4223"/>
                  </a:cxn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4223"/>
                  </a:cxn>
                  <a:cxn ang="0">
                    <a:pos x="192" y="4272"/>
                  </a:cxn>
                  <a:cxn ang="0">
                    <a:pos x="144" y="4270"/>
                  </a:cxn>
                  <a:cxn ang="0">
                    <a:pos x="112" y="4270"/>
                  </a:cxn>
                  <a:cxn ang="0">
                    <a:pos x="49" y="4270"/>
                  </a:cxn>
                  <a:cxn ang="0">
                    <a:pos x="0" y="4223"/>
                  </a:cxn>
                </a:cxnLst>
                <a:rect l="0" t="0" r="r" b="b"/>
                <a:pathLst>
                  <a:path w="241" h="4273">
                    <a:moveTo>
                      <a:pt x="0" y="4223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40" y="4223"/>
                    </a:lnTo>
                    <a:lnTo>
                      <a:pt x="192" y="4272"/>
                    </a:lnTo>
                    <a:lnTo>
                      <a:pt x="144" y="4270"/>
                    </a:lnTo>
                    <a:lnTo>
                      <a:pt x="112" y="4270"/>
                    </a:lnTo>
                    <a:lnTo>
                      <a:pt x="49" y="4270"/>
                    </a:lnTo>
                    <a:lnTo>
                      <a:pt x="0" y="4223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</p:grpSp>
        <p:grpSp>
          <p:nvGrpSpPr>
            <p:cNvPr id="9" name="Group 47"/>
            <p:cNvGrpSpPr>
              <a:grpSpLocks/>
            </p:cNvGrpSpPr>
            <p:nvPr/>
          </p:nvGrpSpPr>
          <p:grpSpPr bwMode="auto">
            <a:xfrm>
              <a:off x="82" y="838"/>
              <a:ext cx="5590" cy="891"/>
              <a:chOff x="82" y="838"/>
              <a:chExt cx="5590" cy="891"/>
            </a:xfrm>
          </p:grpSpPr>
          <p:grpSp>
            <p:nvGrpSpPr>
              <p:cNvPr id="10" name="Group 28"/>
              <p:cNvGrpSpPr>
                <a:grpSpLocks/>
              </p:cNvGrpSpPr>
              <p:nvPr/>
            </p:nvGrpSpPr>
            <p:grpSpPr bwMode="auto">
              <a:xfrm>
                <a:off x="134" y="838"/>
                <a:ext cx="5538" cy="850"/>
                <a:chOff x="134" y="838"/>
                <a:chExt cx="5538" cy="850"/>
              </a:xfrm>
            </p:grpSpPr>
            <p:sp>
              <p:nvSpPr>
                <p:cNvPr id="29" name="Freeform 10"/>
                <p:cNvSpPr>
                  <a:spLocks/>
                </p:cNvSpPr>
                <p:nvPr/>
              </p:nvSpPr>
              <p:spPr bwMode="ltGray">
                <a:xfrm>
                  <a:off x="5269" y="1550"/>
                  <a:ext cx="156" cy="117"/>
                </a:xfrm>
                <a:custGeom>
                  <a:avLst/>
                  <a:gdLst/>
                  <a:ahLst/>
                  <a:cxnLst>
                    <a:cxn ang="0">
                      <a:pos x="83" y="0"/>
                    </a:cxn>
                    <a:cxn ang="0">
                      <a:pos x="134" y="19"/>
                    </a:cxn>
                    <a:cxn ang="0">
                      <a:pos x="152" y="45"/>
                    </a:cxn>
                    <a:cxn ang="0">
                      <a:pos x="155" y="70"/>
                    </a:cxn>
                    <a:cxn ang="0">
                      <a:pos x="155" y="83"/>
                    </a:cxn>
                    <a:cxn ang="0">
                      <a:pos x="146" y="99"/>
                    </a:cxn>
                    <a:cxn ang="0">
                      <a:pos x="126" y="107"/>
                    </a:cxn>
                    <a:cxn ang="0">
                      <a:pos x="105" y="113"/>
                    </a:cxn>
                    <a:cxn ang="0">
                      <a:pos x="86" y="116"/>
                    </a:cxn>
                    <a:cxn ang="0">
                      <a:pos x="69" y="116"/>
                    </a:cxn>
                    <a:cxn ang="0">
                      <a:pos x="41" y="111"/>
                    </a:cxn>
                    <a:cxn ang="0">
                      <a:pos x="21" y="106"/>
                    </a:cxn>
                    <a:cxn ang="0">
                      <a:pos x="9" y="98"/>
                    </a:cxn>
                    <a:cxn ang="0">
                      <a:pos x="2" y="89"/>
                    </a:cxn>
                    <a:cxn ang="0">
                      <a:pos x="0" y="78"/>
                    </a:cxn>
                    <a:cxn ang="0">
                      <a:pos x="2" y="60"/>
                    </a:cxn>
                    <a:cxn ang="0">
                      <a:pos x="9" y="11"/>
                    </a:cxn>
                    <a:cxn ang="0">
                      <a:pos x="83" y="0"/>
                    </a:cxn>
                  </a:cxnLst>
                  <a:rect l="0" t="0" r="r" b="b"/>
                  <a:pathLst>
                    <a:path w="156" h="117">
                      <a:moveTo>
                        <a:pt x="83" y="0"/>
                      </a:moveTo>
                      <a:lnTo>
                        <a:pt x="134" y="19"/>
                      </a:lnTo>
                      <a:lnTo>
                        <a:pt x="152" y="45"/>
                      </a:lnTo>
                      <a:lnTo>
                        <a:pt x="155" y="70"/>
                      </a:lnTo>
                      <a:lnTo>
                        <a:pt x="155" y="83"/>
                      </a:lnTo>
                      <a:lnTo>
                        <a:pt x="146" y="99"/>
                      </a:lnTo>
                      <a:lnTo>
                        <a:pt x="126" y="107"/>
                      </a:lnTo>
                      <a:lnTo>
                        <a:pt x="105" y="113"/>
                      </a:lnTo>
                      <a:lnTo>
                        <a:pt x="86" y="116"/>
                      </a:lnTo>
                      <a:lnTo>
                        <a:pt x="69" y="116"/>
                      </a:lnTo>
                      <a:lnTo>
                        <a:pt x="41" y="111"/>
                      </a:lnTo>
                      <a:lnTo>
                        <a:pt x="21" y="106"/>
                      </a:lnTo>
                      <a:lnTo>
                        <a:pt x="9" y="98"/>
                      </a:lnTo>
                      <a:lnTo>
                        <a:pt x="2" y="89"/>
                      </a:lnTo>
                      <a:lnTo>
                        <a:pt x="0" y="78"/>
                      </a:lnTo>
                      <a:lnTo>
                        <a:pt x="2" y="60"/>
                      </a:lnTo>
                      <a:lnTo>
                        <a:pt x="9" y="11"/>
                      </a:lnTo>
                      <a:lnTo>
                        <a:pt x="83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0" name="Freeform 11"/>
                <p:cNvSpPr>
                  <a:spLocks/>
                </p:cNvSpPr>
                <p:nvPr/>
              </p:nvSpPr>
              <p:spPr bwMode="ltGray">
                <a:xfrm>
                  <a:off x="5265" y="1562"/>
                  <a:ext cx="88" cy="75"/>
                </a:xfrm>
                <a:custGeom>
                  <a:avLst/>
                  <a:gdLst/>
                  <a:ahLst/>
                  <a:cxnLst>
                    <a:cxn ang="0">
                      <a:pos x="0" y="69"/>
                    </a:cxn>
                    <a:cxn ang="0">
                      <a:pos x="11" y="0"/>
                    </a:cxn>
                    <a:cxn ang="0">
                      <a:pos x="54" y="5"/>
                    </a:cxn>
                    <a:cxn ang="0">
                      <a:pos x="87" y="9"/>
                    </a:cxn>
                    <a:cxn ang="0">
                      <a:pos x="78" y="74"/>
                    </a:cxn>
                    <a:cxn ang="0">
                      <a:pos x="75" y="59"/>
                    </a:cxn>
                    <a:cxn ang="0">
                      <a:pos x="65" y="48"/>
                    </a:cxn>
                    <a:cxn ang="0">
                      <a:pos x="47" y="44"/>
                    </a:cxn>
                    <a:cxn ang="0">
                      <a:pos x="27" y="45"/>
                    </a:cxn>
                    <a:cxn ang="0">
                      <a:pos x="11" y="52"/>
                    </a:cxn>
                    <a:cxn ang="0">
                      <a:pos x="0" y="69"/>
                    </a:cxn>
                  </a:cxnLst>
                  <a:rect l="0" t="0" r="r" b="b"/>
                  <a:pathLst>
                    <a:path w="88" h="75">
                      <a:moveTo>
                        <a:pt x="0" y="69"/>
                      </a:moveTo>
                      <a:lnTo>
                        <a:pt x="11" y="0"/>
                      </a:lnTo>
                      <a:lnTo>
                        <a:pt x="54" y="5"/>
                      </a:lnTo>
                      <a:lnTo>
                        <a:pt x="87" y="9"/>
                      </a:lnTo>
                      <a:lnTo>
                        <a:pt x="78" y="74"/>
                      </a:lnTo>
                      <a:lnTo>
                        <a:pt x="75" y="59"/>
                      </a:lnTo>
                      <a:lnTo>
                        <a:pt x="65" y="48"/>
                      </a:lnTo>
                      <a:lnTo>
                        <a:pt x="47" y="44"/>
                      </a:lnTo>
                      <a:lnTo>
                        <a:pt x="27" y="45"/>
                      </a:lnTo>
                      <a:lnTo>
                        <a:pt x="11" y="52"/>
                      </a:lnTo>
                      <a:lnTo>
                        <a:pt x="0" y="69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1" name="Freeform 12"/>
                <p:cNvSpPr>
                  <a:spLocks/>
                </p:cNvSpPr>
                <p:nvPr/>
              </p:nvSpPr>
              <p:spPr bwMode="ltGray">
                <a:xfrm>
                  <a:off x="475" y="1541"/>
                  <a:ext cx="156" cy="117"/>
                </a:xfrm>
                <a:custGeom>
                  <a:avLst/>
                  <a:gdLst/>
                  <a:ahLst/>
                  <a:cxnLst>
                    <a:cxn ang="0">
                      <a:pos x="72" y="0"/>
                    </a:cxn>
                    <a:cxn ang="0">
                      <a:pos x="21" y="19"/>
                    </a:cxn>
                    <a:cxn ang="0">
                      <a:pos x="3" y="45"/>
                    </a:cxn>
                    <a:cxn ang="0">
                      <a:pos x="0" y="70"/>
                    </a:cxn>
                    <a:cxn ang="0">
                      <a:pos x="0" y="83"/>
                    </a:cxn>
                    <a:cxn ang="0">
                      <a:pos x="9" y="99"/>
                    </a:cxn>
                    <a:cxn ang="0">
                      <a:pos x="29" y="107"/>
                    </a:cxn>
                    <a:cxn ang="0">
                      <a:pos x="50" y="113"/>
                    </a:cxn>
                    <a:cxn ang="0">
                      <a:pos x="69" y="116"/>
                    </a:cxn>
                    <a:cxn ang="0">
                      <a:pos x="86" y="116"/>
                    </a:cxn>
                    <a:cxn ang="0">
                      <a:pos x="114" y="111"/>
                    </a:cxn>
                    <a:cxn ang="0">
                      <a:pos x="134" y="106"/>
                    </a:cxn>
                    <a:cxn ang="0">
                      <a:pos x="146" y="98"/>
                    </a:cxn>
                    <a:cxn ang="0">
                      <a:pos x="153" y="89"/>
                    </a:cxn>
                    <a:cxn ang="0">
                      <a:pos x="155" y="78"/>
                    </a:cxn>
                    <a:cxn ang="0">
                      <a:pos x="153" y="60"/>
                    </a:cxn>
                    <a:cxn ang="0">
                      <a:pos x="146" y="11"/>
                    </a:cxn>
                    <a:cxn ang="0">
                      <a:pos x="72" y="0"/>
                    </a:cxn>
                  </a:cxnLst>
                  <a:rect l="0" t="0" r="r" b="b"/>
                  <a:pathLst>
                    <a:path w="156" h="117">
                      <a:moveTo>
                        <a:pt x="72" y="0"/>
                      </a:moveTo>
                      <a:lnTo>
                        <a:pt x="21" y="19"/>
                      </a:lnTo>
                      <a:lnTo>
                        <a:pt x="3" y="45"/>
                      </a:lnTo>
                      <a:lnTo>
                        <a:pt x="0" y="70"/>
                      </a:lnTo>
                      <a:lnTo>
                        <a:pt x="0" y="83"/>
                      </a:lnTo>
                      <a:lnTo>
                        <a:pt x="9" y="99"/>
                      </a:lnTo>
                      <a:lnTo>
                        <a:pt x="29" y="107"/>
                      </a:lnTo>
                      <a:lnTo>
                        <a:pt x="50" y="113"/>
                      </a:lnTo>
                      <a:lnTo>
                        <a:pt x="69" y="116"/>
                      </a:lnTo>
                      <a:lnTo>
                        <a:pt x="86" y="116"/>
                      </a:lnTo>
                      <a:lnTo>
                        <a:pt x="114" y="111"/>
                      </a:lnTo>
                      <a:lnTo>
                        <a:pt x="134" y="106"/>
                      </a:lnTo>
                      <a:lnTo>
                        <a:pt x="146" y="98"/>
                      </a:lnTo>
                      <a:lnTo>
                        <a:pt x="153" y="89"/>
                      </a:lnTo>
                      <a:lnTo>
                        <a:pt x="155" y="78"/>
                      </a:lnTo>
                      <a:lnTo>
                        <a:pt x="153" y="60"/>
                      </a:lnTo>
                      <a:lnTo>
                        <a:pt x="146" y="11"/>
                      </a:lnTo>
                      <a:lnTo>
                        <a:pt x="72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2" name="Freeform 13"/>
                <p:cNvSpPr>
                  <a:spLocks/>
                </p:cNvSpPr>
                <p:nvPr/>
              </p:nvSpPr>
              <p:spPr bwMode="ltGray">
                <a:xfrm>
                  <a:off x="547" y="1554"/>
                  <a:ext cx="88" cy="75"/>
                </a:xfrm>
                <a:custGeom>
                  <a:avLst/>
                  <a:gdLst/>
                  <a:ahLst/>
                  <a:cxnLst>
                    <a:cxn ang="0">
                      <a:pos x="87" y="68"/>
                    </a:cxn>
                    <a:cxn ang="0">
                      <a:pos x="76" y="0"/>
                    </a:cxn>
                    <a:cxn ang="0">
                      <a:pos x="33" y="5"/>
                    </a:cxn>
                    <a:cxn ang="0">
                      <a:pos x="0" y="9"/>
                    </a:cxn>
                    <a:cxn ang="0">
                      <a:pos x="9" y="74"/>
                    </a:cxn>
                    <a:cxn ang="0">
                      <a:pos x="12" y="58"/>
                    </a:cxn>
                    <a:cxn ang="0">
                      <a:pos x="22" y="47"/>
                    </a:cxn>
                    <a:cxn ang="0">
                      <a:pos x="40" y="44"/>
                    </a:cxn>
                    <a:cxn ang="0">
                      <a:pos x="60" y="45"/>
                    </a:cxn>
                    <a:cxn ang="0">
                      <a:pos x="76" y="52"/>
                    </a:cxn>
                    <a:cxn ang="0">
                      <a:pos x="87" y="68"/>
                    </a:cxn>
                  </a:cxnLst>
                  <a:rect l="0" t="0" r="r" b="b"/>
                  <a:pathLst>
                    <a:path w="88" h="75">
                      <a:moveTo>
                        <a:pt x="87" y="68"/>
                      </a:moveTo>
                      <a:lnTo>
                        <a:pt x="76" y="0"/>
                      </a:lnTo>
                      <a:lnTo>
                        <a:pt x="33" y="5"/>
                      </a:lnTo>
                      <a:lnTo>
                        <a:pt x="0" y="9"/>
                      </a:lnTo>
                      <a:lnTo>
                        <a:pt x="9" y="74"/>
                      </a:lnTo>
                      <a:lnTo>
                        <a:pt x="12" y="58"/>
                      </a:lnTo>
                      <a:lnTo>
                        <a:pt x="22" y="47"/>
                      </a:lnTo>
                      <a:lnTo>
                        <a:pt x="40" y="44"/>
                      </a:lnTo>
                      <a:lnTo>
                        <a:pt x="60" y="45"/>
                      </a:lnTo>
                      <a:lnTo>
                        <a:pt x="76" y="52"/>
                      </a:lnTo>
                      <a:lnTo>
                        <a:pt x="87" y="68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3" name="Line 14"/>
                <p:cNvSpPr>
                  <a:spLocks noChangeShapeType="1"/>
                </p:cNvSpPr>
                <p:nvPr/>
              </p:nvSpPr>
              <p:spPr bwMode="ltGray">
                <a:xfrm flipV="1">
                  <a:off x="2020" y="1125"/>
                  <a:ext cx="192" cy="87"/>
                </a:xfrm>
                <a:prstGeom prst="line">
                  <a:avLst/>
                </a:prstGeom>
                <a:noFill/>
                <a:ln w="12700">
                  <a:solidFill>
                    <a:schemeClr val="hlink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4" name="Freeform 15"/>
                <p:cNvSpPr>
                  <a:spLocks/>
                </p:cNvSpPr>
                <p:nvPr/>
              </p:nvSpPr>
              <p:spPr bwMode="ltGray">
                <a:xfrm>
                  <a:off x="1408" y="838"/>
                  <a:ext cx="2967" cy="457"/>
                </a:xfrm>
                <a:custGeom>
                  <a:avLst/>
                  <a:gdLst/>
                  <a:ahLst/>
                  <a:cxnLst>
                    <a:cxn ang="0">
                      <a:pos x="0" y="122"/>
                    </a:cxn>
                    <a:cxn ang="0">
                      <a:pos x="207" y="78"/>
                    </a:cxn>
                    <a:cxn ang="0">
                      <a:pos x="442" y="48"/>
                    </a:cxn>
                    <a:cxn ang="0">
                      <a:pos x="640" y="32"/>
                    </a:cxn>
                    <a:cxn ang="0">
                      <a:pos x="897" y="16"/>
                    </a:cxn>
                    <a:cxn ang="0">
                      <a:pos x="1215" y="2"/>
                    </a:cxn>
                    <a:cxn ang="0">
                      <a:pos x="1392" y="0"/>
                    </a:cxn>
                    <a:cxn ang="0">
                      <a:pos x="1710" y="0"/>
                    </a:cxn>
                    <a:cxn ang="0">
                      <a:pos x="1997" y="10"/>
                    </a:cxn>
                    <a:cxn ang="0">
                      <a:pos x="2258" y="21"/>
                    </a:cxn>
                    <a:cxn ang="0">
                      <a:pos x="2493" y="38"/>
                    </a:cxn>
                    <a:cxn ang="0">
                      <a:pos x="2674" y="54"/>
                    </a:cxn>
                    <a:cxn ang="0">
                      <a:pos x="2828" y="73"/>
                    </a:cxn>
                    <a:cxn ang="0">
                      <a:pos x="2966" y="92"/>
                    </a:cxn>
                    <a:cxn ang="0">
                      <a:pos x="2966" y="456"/>
                    </a:cxn>
                    <a:cxn ang="0">
                      <a:pos x="2833" y="434"/>
                    </a:cxn>
                    <a:cxn ang="0">
                      <a:pos x="2563" y="399"/>
                    </a:cxn>
                    <a:cxn ang="0">
                      <a:pos x="2382" y="382"/>
                    </a:cxn>
                    <a:cxn ang="0">
                      <a:pos x="2134" y="366"/>
                    </a:cxn>
                    <a:cxn ang="0">
                      <a:pos x="1944" y="358"/>
                    </a:cxn>
                    <a:cxn ang="0">
                      <a:pos x="1746" y="350"/>
                    </a:cxn>
                    <a:cxn ang="0">
                      <a:pos x="1529" y="350"/>
                    </a:cxn>
                    <a:cxn ang="0">
                      <a:pos x="1295" y="350"/>
                    </a:cxn>
                    <a:cxn ang="0">
                      <a:pos x="1047" y="355"/>
                    </a:cxn>
                    <a:cxn ang="0">
                      <a:pos x="853" y="363"/>
                    </a:cxn>
                    <a:cxn ang="0">
                      <a:pos x="654" y="374"/>
                    </a:cxn>
                    <a:cxn ang="0">
                      <a:pos x="468" y="388"/>
                    </a:cxn>
                    <a:cxn ang="0">
                      <a:pos x="296" y="404"/>
                    </a:cxn>
                    <a:cxn ang="0">
                      <a:pos x="150" y="423"/>
                    </a:cxn>
                    <a:cxn ang="0">
                      <a:pos x="13" y="445"/>
                    </a:cxn>
                    <a:cxn ang="0">
                      <a:pos x="0" y="122"/>
                    </a:cxn>
                  </a:cxnLst>
                  <a:rect l="0" t="0" r="r" b="b"/>
                  <a:pathLst>
                    <a:path w="2967" h="457">
                      <a:moveTo>
                        <a:pt x="0" y="122"/>
                      </a:moveTo>
                      <a:lnTo>
                        <a:pt x="207" y="78"/>
                      </a:lnTo>
                      <a:lnTo>
                        <a:pt x="442" y="48"/>
                      </a:lnTo>
                      <a:lnTo>
                        <a:pt x="640" y="32"/>
                      </a:lnTo>
                      <a:lnTo>
                        <a:pt x="897" y="16"/>
                      </a:lnTo>
                      <a:lnTo>
                        <a:pt x="1215" y="2"/>
                      </a:lnTo>
                      <a:lnTo>
                        <a:pt x="1392" y="0"/>
                      </a:lnTo>
                      <a:lnTo>
                        <a:pt x="1710" y="0"/>
                      </a:lnTo>
                      <a:lnTo>
                        <a:pt x="1997" y="10"/>
                      </a:lnTo>
                      <a:lnTo>
                        <a:pt x="2258" y="21"/>
                      </a:lnTo>
                      <a:lnTo>
                        <a:pt x="2493" y="38"/>
                      </a:lnTo>
                      <a:lnTo>
                        <a:pt x="2674" y="54"/>
                      </a:lnTo>
                      <a:lnTo>
                        <a:pt x="2828" y="73"/>
                      </a:lnTo>
                      <a:lnTo>
                        <a:pt x="2966" y="92"/>
                      </a:lnTo>
                      <a:lnTo>
                        <a:pt x="2966" y="456"/>
                      </a:lnTo>
                      <a:lnTo>
                        <a:pt x="2833" y="434"/>
                      </a:lnTo>
                      <a:lnTo>
                        <a:pt x="2563" y="399"/>
                      </a:lnTo>
                      <a:lnTo>
                        <a:pt x="2382" y="382"/>
                      </a:lnTo>
                      <a:lnTo>
                        <a:pt x="2134" y="366"/>
                      </a:lnTo>
                      <a:lnTo>
                        <a:pt x="1944" y="358"/>
                      </a:lnTo>
                      <a:lnTo>
                        <a:pt x="1746" y="350"/>
                      </a:lnTo>
                      <a:lnTo>
                        <a:pt x="1529" y="350"/>
                      </a:lnTo>
                      <a:lnTo>
                        <a:pt x="1295" y="350"/>
                      </a:lnTo>
                      <a:lnTo>
                        <a:pt x="1047" y="355"/>
                      </a:lnTo>
                      <a:lnTo>
                        <a:pt x="853" y="363"/>
                      </a:lnTo>
                      <a:lnTo>
                        <a:pt x="654" y="374"/>
                      </a:lnTo>
                      <a:lnTo>
                        <a:pt x="468" y="388"/>
                      </a:lnTo>
                      <a:lnTo>
                        <a:pt x="296" y="404"/>
                      </a:lnTo>
                      <a:lnTo>
                        <a:pt x="150" y="423"/>
                      </a:lnTo>
                      <a:lnTo>
                        <a:pt x="13" y="445"/>
                      </a:lnTo>
                      <a:lnTo>
                        <a:pt x="0" y="122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5" name="Freeform 16"/>
                <p:cNvSpPr>
                  <a:spLocks/>
                </p:cNvSpPr>
                <p:nvPr/>
              </p:nvSpPr>
              <p:spPr bwMode="ltGray">
                <a:xfrm>
                  <a:off x="607" y="934"/>
                  <a:ext cx="823" cy="431"/>
                </a:xfrm>
                <a:custGeom>
                  <a:avLst/>
                  <a:gdLst/>
                  <a:ahLst/>
                  <a:cxnLst>
                    <a:cxn ang="0">
                      <a:pos x="815" y="27"/>
                    </a:cxn>
                    <a:cxn ang="0">
                      <a:pos x="822" y="350"/>
                    </a:cxn>
                    <a:cxn ang="0">
                      <a:pos x="746" y="382"/>
                    </a:cxn>
                    <a:cxn ang="0">
                      <a:pos x="676" y="404"/>
                    </a:cxn>
                    <a:cxn ang="0">
                      <a:pos x="619" y="415"/>
                    </a:cxn>
                    <a:cxn ang="0">
                      <a:pos x="571" y="421"/>
                    </a:cxn>
                    <a:cxn ang="0">
                      <a:pos x="517" y="427"/>
                    </a:cxn>
                    <a:cxn ang="0">
                      <a:pos x="427" y="430"/>
                    </a:cxn>
                    <a:cxn ang="0">
                      <a:pos x="344" y="423"/>
                    </a:cxn>
                    <a:cxn ang="0">
                      <a:pos x="259" y="410"/>
                    </a:cxn>
                    <a:cxn ang="0">
                      <a:pos x="177" y="388"/>
                    </a:cxn>
                    <a:cxn ang="0">
                      <a:pos x="105" y="358"/>
                    </a:cxn>
                    <a:cxn ang="0">
                      <a:pos x="41" y="325"/>
                    </a:cxn>
                    <a:cxn ang="0">
                      <a:pos x="0" y="294"/>
                    </a:cxn>
                    <a:cxn ang="0">
                      <a:pos x="0" y="0"/>
                    </a:cxn>
                    <a:cxn ang="0">
                      <a:pos x="46" y="25"/>
                    </a:cxn>
                    <a:cxn ang="0">
                      <a:pos x="105" y="47"/>
                    </a:cxn>
                    <a:cxn ang="0">
                      <a:pos x="175" y="66"/>
                    </a:cxn>
                    <a:cxn ang="0">
                      <a:pos x="244" y="81"/>
                    </a:cxn>
                    <a:cxn ang="0">
                      <a:pos x="314" y="89"/>
                    </a:cxn>
                    <a:cxn ang="0">
                      <a:pos x="361" y="93"/>
                    </a:cxn>
                    <a:cxn ang="0">
                      <a:pos x="401" y="95"/>
                    </a:cxn>
                    <a:cxn ang="0">
                      <a:pos x="471" y="95"/>
                    </a:cxn>
                    <a:cxn ang="0">
                      <a:pos x="515" y="92"/>
                    </a:cxn>
                    <a:cxn ang="0">
                      <a:pos x="555" y="87"/>
                    </a:cxn>
                    <a:cxn ang="0">
                      <a:pos x="600" y="84"/>
                    </a:cxn>
                    <a:cxn ang="0">
                      <a:pos x="640" y="76"/>
                    </a:cxn>
                    <a:cxn ang="0">
                      <a:pos x="689" y="67"/>
                    </a:cxn>
                    <a:cxn ang="0">
                      <a:pos x="733" y="55"/>
                    </a:cxn>
                    <a:cxn ang="0">
                      <a:pos x="777" y="41"/>
                    </a:cxn>
                    <a:cxn ang="0">
                      <a:pos x="815" y="27"/>
                    </a:cxn>
                  </a:cxnLst>
                  <a:rect l="0" t="0" r="r" b="b"/>
                  <a:pathLst>
                    <a:path w="823" h="431">
                      <a:moveTo>
                        <a:pt x="815" y="27"/>
                      </a:moveTo>
                      <a:lnTo>
                        <a:pt x="822" y="350"/>
                      </a:lnTo>
                      <a:lnTo>
                        <a:pt x="746" y="382"/>
                      </a:lnTo>
                      <a:lnTo>
                        <a:pt x="676" y="404"/>
                      </a:lnTo>
                      <a:lnTo>
                        <a:pt x="619" y="415"/>
                      </a:lnTo>
                      <a:lnTo>
                        <a:pt x="571" y="421"/>
                      </a:lnTo>
                      <a:lnTo>
                        <a:pt x="517" y="427"/>
                      </a:lnTo>
                      <a:lnTo>
                        <a:pt x="427" y="430"/>
                      </a:lnTo>
                      <a:lnTo>
                        <a:pt x="344" y="423"/>
                      </a:lnTo>
                      <a:lnTo>
                        <a:pt x="259" y="410"/>
                      </a:lnTo>
                      <a:lnTo>
                        <a:pt x="177" y="388"/>
                      </a:lnTo>
                      <a:lnTo>
                        <a:pt x="105" y="358"/>
                      </a:lnTo>
                      <a:lnTo>
                        <a:pt x="41" y="325"/>
                      </a:lnTo>
                      <a:lnTo>
                        <a:pt x="0" y="294"/>
                      </a:lnTo>
                      <a:lnTo>
                        <a:pt x="0" y="0"/>
                      </a:lnTo>
                      <a:lnTo>
                        <a:pt x="46" y="25"/>
                      </a:lnTo>
                      <a:lnTo>
                        <a:pt x="105" y="47"/>
                      </a:lnTo>
                      <a:lnTo>
                        <a:pt x="175" y="66"/>
                      </a:lnTo>
                      <a:lnTo>
                        <a:pt x="244" y="81"/>
                      </a:lnTo>
                      <a:lnTo>
                        <a:pt x="314" y="89"/>
                      </a:lnTo>
                      <a:lnTo>
                        <a:pt x="361" y="93"/>
                      </a:lnTo>
                      <a:lnTo>
                        <a:pt x="401" y="95"/>
                      </a:lnTo>
                      <a:lnTo>
                        <a:pt x="471" y="95"/>
                      </a:lnTo>
                      <a:lnTo>
                        <a:pt x="515" y="92"/>
                      </a:lnTo>
                      <a:lnTo>
                        <a:pt x="555" y="87"/>
                      </a:lnTo>
                      <a:lnTo>
                        <a:pt x="600" y="84"/>
                      </a:lnTo>
                      <a:lnTo>
                        <a:pt x="640" y="76"/>
                      </a:lnTo>
                      <a:lnTo>
                        <a:pt x="689" y="67"/>
                      </a:lnTo>
                      <a:lnTo>
                        <a:pt x="733" y="55"/>
                      </a:lnTo>
                      <a:lnTo>
                        <a:pt x="777" y="41"/>
                      </a:lnTo>
                      <a:lnTo>
                        <a:pt x="815" y="27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6" name="Freeform 17"/>
                <p:cNvSpPr>
                  <a:spLocks/>
                </p:cNvSpPr>
                <p:nvPr/>
              </p:nvSpPr>
              <p:spPr bwMode="ltGray">
                <a:xfrm>
                  <a:off x="154" y="1349"/>
                  <a:ext cx="551" cy="339"/>
                </a:xfrm>
                <a:custGeom>
                  <a:avLst/>
                  <a:gdLst/>
                  <a:ahLst/>
                  <a:cxnLst>
                    <a:cxn ang="0">
                      <a:pos x="16" y="53"/>
                    </a:cxn>
                    <a:cxn ang="0">
                      <a:pos x="0" y="122"/>
                    </a:cxn>
                    <a:cxn ang="0">
                      <a:pos x="10" y="146"/>
                    </a:cxn>
                    <a:cxn ang="0">
                      <a:pos x="33" y="183"/>
                    </a:cxn>
                    <a:cxn ang="0">
                      <a:pos x="57" y="216"/>
                    </a:cxn>
                    <a:cxn ang="0">
                      <a:pos x="85" y="244"/>
                    </a:cxn>
                    <a:cxn ang="0">
                      <a:pos x="120" y="271"/>
                    </a:cxn>
                    <a:cxn ang="0">
                      <a:pos x="153" y="290"/>
                    </a:cxn>
                    <a:cxn ang="0">
                      <a:pos x="189" y="308"/>
                    </a:cxn>
                    <a:cxn ang="0">
                      <a:pos x="235" y="324"/>
                    </a:cxn>
                    <a:cxn ang="0">
                      <a:pos x="270" y="332"/>
                    </a:cxn>
                    <a:cxn ang="0">
                      <a:pos x="312" y="338"/>
                    </a:cxn>
                    <a:cxn ang="0">
                      <a:pos x="351" y="338"/>
                    </a:cxn>
                    <a:cxn ang="0">
                      <a:pos x="393" y="333"/>
                    </a:cxn>
                    <a:cxn ang="0">
                      <a:pos x="436" y="321"/>
                    </a:cxn>
                    <a:cxn ang="0">
                      <a:pos x="475" y="302"/>
                    </a:cxn>
                    <a:cxn ang="0">
                      <a:pos x="498" y="286"/>
                    </a:cxn>
                    <a:cxn ang="0">
                      <a:pos x="526" y="262"/>
                    </a:cxn>
                    <a:cxn ang="0">
                      <a:pos x="541" y="243"/>
                    </a:cxn>
                    <a:cxn ang="0">
                      <a:pos x="550" y="226"/>
                    </a:cxn>
                    <a:cxn ang="0">
                      <a:pos x="550" y="208"/>
                    </a:cxn>
                    <a:cxn ang="0">
                      <a:pos x="544" y="187"/>
                    </a:cxn>
                    <a:cxn ang="0">
                      <a:pos x="532" y="170"/>
                    </a:cxn>
                    <a:cxn ang="0">
                      <a:pos x="523" y="135"/>
                    </a:cxn>
                    <a:cxn ang="0">
                      <a:pos x="519" y="116"/>
                    </a:cxn>
                    <a:cxn ang="0">
                      <a:pos x="267" y="132"/>
                    </a:cxn>
                    <a:cxn ang="0">
                      <a:pos x="234" y="126"/>
                    </a:cxn>
                    <a:cxn ang="0">
                      <a:pos x="193" y="113"/>
                    </a:cxn>
                    <a:cxn ang="0">
                      <a:pos x="162" y="97"/>
                    </a:cxn>
                    <a:cxn ang="0">
                      <a:pos x="129" y="77"/>
                    </a:cxn>
                    <a:cxn ang="0">
                      <a:pos x="97" y="48"/>
                    </a:cxn>
                    <a:cxn ang="0">
                      <a:pos x="78" y="24"/>
                    </a:cxn>
                    <a:cxn ang="0">
                      <a:pos x="60" y="0"/>
                    </a:cxn>
                    <a:cxn ang="0">
                      <a:pos x="16" y="53"/>
                    </a:cxn>
                  </a:cxnLst>
                  <a:rect l="0" t="0" r="r" b="b"/>
                  <a:pathLst>
                    <a:path w="551" h="339">
                      <a:moveTo>
                        <a:pt x="16" y="53"/>
                      </a:moveTo>
                      <a:lnTo>
                        <a:pt x="0" y="122"/>
                      </a:lnTo>
                      <a:lnTo>
                        <a:pt x="10" y="146"/>
                      </a:lnTo>
                      <a:lnTo>
                        <a:pt x="33" y="183"/>
                      </a:lnTo>
                      <a:lnTo>
                        <a:pt x="57" y="216"/>
                      </a:lnTo>
                      <a:lnTo>
                        <a:pt x="85" y="244"/>
                      </a:lnTo>
                      <a:lnTo>
                        <a:pt x="120" y="271"/>
                      </a:lnTo>
                      <a:lnTo>
                        <a:pt x="153" y="290"/>
                      </a:lnTo>
                      <a:lnTo>
                        <a:pt x="189" y="308"/>
                      </a:lnTo>
                      <a:lnTo>
                        <a:pt x="235" y="324"/>
                      </a:lnTo>
                      <a:lnTo>
                        <a:pt x="270" y="332"/>
                      </a:lnTo>
                      <a:lnTo>
                        <a:pt x="312" y="338"/>
                      </a:lnTo>
                      <a:lnTo>
                        <a:pt x="351" y="338"/>
                      </a:lnTo>
                      <a:lnTo>
                        <a:pt x="393" y="333"/>
                      </a:lnTo>
                      <a:lnTo>
                        <a:pt x="436" y="321"/>
                      </a:lnTo>
                      <a:lnTo>
                        <a:pt x="475" y="302"/>
                      </a:lnTo>
                      <a:lnTo>
                        <a:pt x="498" y="286"/>
                      </a:lnTo>
                      <a:lnTo>
                        <a:pt x="526" y="262"/>
                      </a:lnTo>
                      <a:lnTo>
                        <a:pt x="541" y="243"/>
                      </a:lnTo>
                      <a:lnTo>
                        <a:pt x="550" y="226"/>
                      </a:lnTo>
                      <a:lnTo>
                        <a:pt x="550" y="208"/>
                      </a:lnTo>
                      <a:lnTo>
                        <a:pt x="544" y="187"/>
                      </a:lnTo>
                      <a:lnTo>
                        <a:pt x="532" y="170"/>
                      </a:lnTo>
                      <a:lnTo>
                        <a:pt x="523" y="135"/>
                      </a:lnTo>
                      <a:lnTo>
                        <a:pt x="519" y="116"/>
                      </a:lnTo>
                      <a:lnTo>
                        <a:pt x="267" y="132"/>
                      </a:lnTo>
                      <a:lnTo>
                        <a:pt x="234" y="126"/>
                      </a:lnTo>
                      <a:lnTo>
                        <a:pt x="193" y="113"/>
                      </a:lnTo>
                      <a:lnTo>
                        <a:pt x="162" y="97"/>
                      </a:lnTo>
                      <a:lnTo>
                        <a:pt x="129" y="77"/>
                      </a:lnTo>
                      <a:lnTo>
                        <a:pt x="97" y="48"/>
                      </a:lnTo>
                      <a:lnTo>
                        <a:pt x="78" y="24"/>
                      </a:lnTo>
                      <a:lnTo>
                        <a:pt x="60" y="0"/>
                      </a:lnTo>
                      <a:lnTo>
                        <a:pt x="16" y="53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7" name="Freeform 18"/>
                <p:cNvSpPr>
                  <a:spLocks/>
                </p:cNvSpPr>
                <p:nvPr/>
              </p:nvSpPr>
              <p:spPr bwMode="ltGray">
                <a:xfrm>
                  <a:off x="134" y="935"/>
                  <a:ext cx="475" cy="552"/>
                </a:xfrm>
                <a:custGeom>
                  <a:avLst/>
                  <a:gdLst/>
                  <a:ahLst/>
                  <a:cxnLst>
                    <a:cxn ang="0">
                      <a:pos x="474" y="0"/>
                    </a:cxn>
                    <a:cxn ang="0">
                      <a:pos x="474" y="294"/>
                    </a:cxn>
                    <a:cxn ang="0">
                      <a:pos x="446" y="291"/>
                    </a:cxn>
                    <a:cxn ang="0">
                      <a:pos x="411" y="293"/>
                    </a:cxn>
                    <a:cxn ang="0">
                      <a:pos x="353" y="299"/>
                    </a:cxn>
                    <a:cxn ang="0">
                      <a:pos x="296" y="310"/>
                    </a:cxn>
                    <a:cxn ang="0">
                      <a:pos x="243" y="323"/>
                    </a:cxn>
                    <a:cxn ang="0">
                      <a:pos x="200" y="339"/>
                    </a:cxn>
                    <a:cxn ang="0">
                      <a:pos x="149" y="364"/>
                    </a:cxn>
                    <a:cxn ang="0">
                      <a:pos x="110" y="390"/>
                    </a:cxn>
                    <a:cxn ang="0">
                      <a:pos x="81" y="415"/>
                    </a:cxn>
                    <a:cxn ang="0">
                      <a:pos x="60" y="439"/>
                    </a:cxn>
                    <a:cxn ang="0">
                      <a:pos x="47" y="461"/>
                    </a:cxn>
                    <a:cxn ang="0">
                      <a:pos x="35" y="488"/>
                    </a:cxn>
                    <a:cxn ang="0">
                      <a:pos x="30" y="513"/>
                    </a:cxn>
                    <a:cxn ang="0">
                      <a:pos x="23" y="551"/>
                    </a:cxn>
                    <a:cxn ang="0">
                      <a:pos x="17" y="518"/>
                    </a:cxn>
                    <a:cxn ang="0">
                      <a:pos x="8" y="481"/>
                    </a:cxn>
                    <a:cxn ang="0">
                      <a:pos x="5" y="453"/>
                    </a:cxn>
                    <a:cxn ang="0">
                      <a:pos x="0" y="420"/>
                    </a:cxn>
                    <a:cxn ang="0">
                      <a:pos x="2" y="393"/>
                    </a:cxn>
                    <a:cxn ang="0">
                      <a:pos x="8" y="361"/>
                    </a:cxn>
                    <a:cxn ang="0">
                      <a:pos x="15" y="317"/>
                    </a:cxn>
                    <a:cxn ang="0">
                      <a:pos x="30" y="279"/>
                    </a:cxn>
                    <a:cxn ang="0">
                      <a:pos x="50" y="238"/>
                    </a:cxn>
                    <a:cxn ang="0">
                      <a:pos x="75" y="196"/>
                    </a:cxn>
                    <a:cxn ang="0">
                      <a:pos x="111" y="152"/>
                    </a:cxn>
                    <a:cxn ang="0">
                      <a:pos x="152" y="116"/>
                    </a:cxn>
                    <a:cxn ang="0">
                      <a:pos x="188" y="87"/>
                    </a:cxn>
                    <a:cxn ang="0">
                      <a:pos x="233" y="60"/>
                    </a:cxn>
                    <a:cxn ang="0">
                      <a:pos x="279" y="40"/>
                    </a:cxn>
                    <a:cxn ang="0">
                      <a:pos x="333" y="21"/>
                    </a:cxn>
                    <a:cxn ang="0">
                      <a:pos x="380" y="10"/>
                    </a:cxn>
                    <a:cxn ang="0">
                      <a:pos x="435" y="3"/>
                    </a:cxn>
                    <a:cxn ang="0">
                      <a:pos x="474" y="0"/>
                    </a:cxn>
                  </a:cxnLst>
                  <a:rect l="0" t="0" r="r" b="b"/>
                  <a:pathLst>
                    <a:path w="475" h="552">
                      <a:moveTo>
                        <a:pt x="474" y="0"/>
                      </a:moveTo>
                      <a:lnTo>
                        <a:pt x="474" y="294"/>
                      </a:lnTo>
                      <a:lnTo>
                        <a:pt x="446" y="291"/>
                      </a:lnTo>
                      <a:lnTo>
                        <a:pt x="411" y="293"/>
                      </a:lnTo>
                      <a:lnTo>
                        <a:pt x="353" y="299"/>
                      </a:lnTo>
                      <a:lnTo>
                        <a:pt x="296" y="310"/>
                      </a:lnTo>
                      <a:lnTo>
                        <a:pt x="243" y="323"/>
                      </a:lnTo>
                      <a:lnTo>
                        <a:pt x="200" y="339"/>
                      </a:lnTo>
                      <a:lnTo>
                        <a:pt x="149" y="364"/>
                      </a:lnTo>
                      <a:lnTo>
                        <a:pt x="110" y="390"/>
                      </a:lnTo>
                      <a:lnTo>
                        <a:pt x="81" y="415"/>
                      </a:lnTo>
                      <a:lnTo>
                        <a:pt x="60" y="439"/>
                      </a:lnTo>
                      <a:lnTo>
                        <a:pt x="47" y="461"/>
                      </a:lnTo>
                      <a:lnTo>
                        <a:pt x="35" y="488"/>
                      </a:lnTo>
                      <a:lnTo>
                        <a:pt x="30" y="513"/>
                      </a:lnTo>
                      <a:lnTo>
                        <a:pt x="23" y="551"/>
                      </a:lnTo>
                      <a:lnTo>
                        <a:pt x="17" y="518"/>
                      </a:lnTo>
                      <a:lnTo>
                        <a:pt x="8" y="481"/>
                      </a:lnTo>
                      <a:lnTo>
                        <a:pt x="5" y="453"/>
                      </a:lnTo>
                      <a:lnTo>
                        <a:pt x="0" y="420"/>
                      </a:lnTo>
                      <a:lnTo>
                        <a:pt x="2" y="393"/>
                      </a:lnTo>
                      <a:lnTo>
                        <a:pt x="8" y="361"/>
                      </a:lnTo>
                      <a:lnTo>
                        <a:pt x="15" y="317"/>
                      </a:lnTo>
                      <a:lnTo>
                        <a:pt x="30" y="279"/>
                      </a:lnTo>
                      <a:lnTo>
                        <a:pt x="50" y="238"/>
                      </a:lnTo>
                      <a:lnTo>
                        <a:pt x="75" y="196"/>
                      </a:lnTo>
                      <a:lnTo>
                        <a:pt x="111" y="152"/>
                      </a:lnTo>
                      <a:lnTo>
                        <a:pt x="152" y="116"/>
                      </a:lnTo>
                      <a:lnTo>
                        <a:pt x="188" y="87"/>
                      </a:lnTo>
                      <a:lnTo>
                        <a:pt x="233" y="60"/>
                      </a:lnTo>
                      <a:lnTo>
                        <a:pt x="279" y="40"/>
                      </a:lnTo>
                      <a:lnTo>
                        <a:pt x="333" y="21"/>
                      </a:lnTo>
                      <a:lnTo>
                        <a:pt x="380" y="10"/>
                      </a:lnTo>
                      <a:lnTo>
                        <a:pt x="435" y="3"/>
                      </a:lnTo>
                      <a:lnTo>
                        <a:pt x="474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8" name="Freeform 19"/>
                <p:cNvSpPr>
                  <a:spLocks/>
                </p:cNvSpPr>
                <p:nvPr/>
              </p:nvSpPr>
              <p:spPr bwMode="ltGray">
                <a:xfrm>
                  <a:off x="422" y="1503"/>
                  <a:ext cx="156" cy="117"/>
                </a:xfrm>
                <a:custGeom>
                  <a:avLst/>
                  <a:gdLst/>
                  <a:ahLst/>
                  <a:cxnLst>
                    <a:cxn ang="0">
                      <a:pos x="72" y="0"/>
                    </a:cxn>
                    <a:cxn ang="0">
                      <a:pos x="21" y="19"/>
                    </a:cxn>
                    <a:cxn ang="0">
                      <a:pos x="3" y="45"/>
                    </a:cxn>
                    <a:cxn ang="0">
                      <a:pos x="0" y="70"/>
                    </a:cxn>
                    <a:cxn ang="0">
                      <a:pos x="0" y="83"/>
                    </a:cxn>
                    <a:cxn ang="0">
                      <a:pos x="9" y="99"/>
                    </a:cxn>
                    <a:cxn ang="0">
                      <a:pos x="29" y="107"/>
                    </a:cxn>
                    <a:cxn ang="0">
                      <a:pos x="50" y="113"/>
                    </a:cxn>
                    <a:cxn ang="0">
                      <a:pos x="69" y="116"/>
                    </a:cxn>
                    <a:cxn ang="0">
                      <a:pos x="86" y="116"/>
                    </a:cxn>
                    <a:cxn ang="0">
                      <a:pos x="114" y="111"/>
                    </a:cxn>
                    <a:cxn ang="0">
                      <a:pos x="134" y="106"/>
                    </a:cxn>
                    <a:cxn ang="0">
                      <a:pos x="146" y="98"/>
                    </a:cxn>
                    <a:cxn ang="0">
                      <a:pos x="153" y="89"/>
                    </a:cxn>
                    <a:cxn ang="0">
                      <a:pos x="155" y="78"/>
                    </a:cxn>
                    <a:cxn ang="0">
                      <a:pos x="153" y="60"/>
                    </a:cxn>
                    <a:cxn ang="0">
                      <a:pos x="146" y="11"/>
                    </a:cxn>
                    <a:cxn ang="0">
                      <a:pos x="72" y="0"/>
                    </a:cxn>
                  </a:cxnLst>
                  <a:rect l="0" t="0" r="r" b="b"/>
                  <a:pathLst>
                    <a:path w="156" h="117">
                      <a:moveTo>
                        <a:pt x="72" y="0"/>
                      </a:moveTo>
                      <a:lnTo>
                        <a:pt x="21" y="19"/>
                      </a:lnTo>
                      <a:lnTo>
                        <a:pt x="3" y="45"/>
                      </a:lnTo>
                      <a:lnTo>
                        <a:pt x="0" y="70"/>
                      </a:lnTo>
                      <a:lnTo>
                        <a:pt x="0" y="83"/>
                      </a:lnTo>
                      <a:lnTo>
                        <a:pt x="9" y="99"/>
                      </a:lnTo>
                      <a:lnTo>
                        <a:pt x="29" y="107"/>
                      </a:lnTo>
                      <a:lnTo>
                        <a:pt x="50" y="113"/>
                      </a:lnTo>
                      <a:lnTo>
                        <a:pt x="69" y="116"/>
                      </a:lnTo>
                      <a:lnTo>
                        <a:pt x="86" y="116"/>
                      </a:lnTo>
                      <a:lnTo>
                        <a:pt x="114" y="111"/>
                      </a:lnTo>
                      <a:lnTo>
                        <a:pt x="134" y="106"/>
                      </a:lnTo>
                      <a:lnTo>
                        <a:pt x="146" y="98"/>
                      </a:lnTo>
                      <a:lnTo>
                        <a:pt x="153" y="89"/>
                      </a:lnTo>
                      <a:lnTo>
                        <a:pt x="155" y="78"/>
                      </a:lnTo>
                      <a:lnTo>
                        <a:pt x="153" y="60"/>
                      </a:lnTo>
                      <a:lnTo>
                        <a:pt x="146" y="11"/>
                      </a:lnTo>
                      <a:lnTo>
                        <a:pt x="72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39" name="Freeform 20"/>
                <p:cNvSpPr>
                  <a:spLocks/>
                </p:cNvSpPr>
                <p:nvPr/>
              </p:nvSpPr>
              <p:spPr bwMode="ltGray">
                <a:xfrm>
                  <a:off x="494" y="1516"/>
                  <a:ext cx="88" cy="74"/>
                </a:xfrm>
                <a:custGeom>
                  <a:avLst/>
                  <a:gdLst/>
                  <a:ahLst/>
                  <a:cxnLst>
                    <a:cxn ang="0">
                      <a:pos x="87" y="67"/>
                    </a:cxn>
                    <a:cxn ang="0">
                      <a:pos x="76" y="0"/>
                    </a:cxn>
                    <a:cxn ang="0">
                      <a:pos x="33" y="5"/>
                    </a:cxn>
                    <a:cxn ang="0">
                      <a:pos x="0" y="8"/>
                    </a:cxn>
                    <a:cxn ang="0">
                      <a:pos x="9" y="73"/>
                    </a:cxn>
                    <a:cxn ang="0">
                      <a:pos x="12" y="57"/>
                    </a:cxn>
                    <a:cxn ang="0">
                      <a:pos x="22" y="47"/>
                    </a:cxn>
                    <a:cxn ang="0">
                      <a:pos x="40" y="43"/>
                    </a:cxn>
                    <a:cxn ang="0">
                      <a:pos x="60" y="44"/>
                    </a:cxn>
                    <a:cxn ang="0">
                      <a:pos x="76" y="51"/>
                    </a:cxn>
                    <a:cxn ang="0">
                      <a:pos x="87" y="67"/>
                    </a:cxn>
                  </a:cxnLst>
                  <a:rect l="0" t="0" r="r" b="b"/>
                  <a:pathLst>
                    <a:path w="88" h="74">
                      <a:moveTo>
                        <a:pt x="87" y="67"/>
                      </a:moveTo>
                      <a:lnTo>
                        <a:pt x="76" y="0"/>
                      </a:lnTo>
                      <a:lnTo>
                        <a:pt x="33" y="5"/>
                      </a:lnTo>
                      <a:lnTo>
                        <a:pt x="0" y="8"/>
                      </a:lnTo>
                      <a:lnTo>
                        <a:pt x="9" y="73"/>
                      </a:lnTo>
                      <a:lnTo>
                        <a:pt x="12" y="57"/>
                      </a:lnTo>
                      <a:lnTo>
                        <a:pt x="22" y="47"/>
                      </a:lnTo>
                      <a:lnTo>
                        <a:pt x="40" y="43"/>
                      </a:lnTo>
                      <a:lnTo>
                        <a:pt x="60" y="44"/>
                      </a:lnTo>
                      <a:lnTo>
                        <a:pt x="76" y="51"/>
                      </a:lnTo>
                      <a:lnTo>
                        <a:pt x="87" y="67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40" name="Freeform 21"/>
                <p:cNvSpPr>
                  <a:spLocks/>
                </p:cNvSpPr>
                <p:nvPr/>
              </p:nvSpPr>
              <p:spPr bwMode="ltGray">
                <a:xfrm>
                  <a:off x="386" y="1295"/>
                  <a:ext cx="319" cy="286"/>
                </a:xfrm>
                <a:custGeom>
                  <a:avLst/>
                  <a:gdLst/>
                  <a:ahLst/>
                  <a:cxnLst>
                    <a:cxn ang="0">
                      <a:pos x="317" y="275"/>
                    </a:cxn>
                    <a:cxn ang="0">
                      <a:pos x="315" y="254"/>
                    </a:cxn>
                    <a:cxn ang="0">
                      <a:pos x="306" y="235"/>
                    </a:cxn>
                    <a:cxn ang="0">
                      <a:pos x="299" y="219"/>
                    </a:cxn>
                    <a:cxn ang="0">
                      <a:pos x="294" y="194"/>
                    </a:cxn>
                    <a:cxn ang="0">
                      <a:pos x="288" y="161"/>
                    </a:cxn>
                    <a:cxn ang="0">
                      <a:pos x="284" y="126"/>
                    </a:cxn>
                    <a:cxn ang="0">
                      <a:pos x="281" y="94"/>
                    </a:cxn>
                    <a:cxn ang="0">
                      <a:pos x="279" y="67"/>
                    </a:cxn>
                    <a:cxn ang="0">
                      <a:pos x="278" y="43"/>
                    </a:cxn>
                    <a:cxn ang="0">
                      <a:pos x="270" y="29"/>
                    </a:cxn>
                    <a:cxn ang="0">
                      <a:pos x="255" y="16"/>
                    </a:cxn>
                    <a:cxn ang="0">
                      <a:pos x="240" y="9"/>
                    </a:cxn>
                    <a:cxn ang="0">
                      <a:pos x="216" y="2"/>
                    </a:cxn>
                    <a:cxn ang="0">
                      <a:pos x="189" y="0"/>
                    </a:cxn>
                    <a:cxn ang="0">
                      <a:pos x="147" y="0"/>
                    </a:cxn>
                    <a:cxn ang="0">
                      <a:pos x="110" y="2"/>
                    </a:cxn>
                    <a:cxn ang="0">
                      <a:pos x="74" y="9"/>
                    </a:cxn>
                    <a:cxn ang="0">
                      <a:pos x="41" y="21"/>
                    </a:cxn>
                    <a:cxn ang="0">
                      <a:pos x="20" y="35"/>
                    </a:cxn>
                    <a:cxn ang="0">
                      <a:pos x="8" y="47"/>
                    </a:cxn>
                    <a:cxn ang="0">
                      <a:pos x="0" y="61"/>
                    </a:cxn>
                    <a:cxn ang="0">
                      <a:pos x="2" y="75"/>
                    </a:cxn>
                    <a:cxn ang="0">
                      <a:pos x="5" y="89"/>
                    </a:cxn>
                    <a:cxn ang="0">
                      <a:pos x="15" y="104"/>
                    </a:cxn>
                    <a:cxn ang="0">
                      <a:pos x="23" y="123"/>
                    </a:cxn>
                    <a:cxn ang="0">
                      <a:pos x="27" y="149"/>
                    </a:cxn>
                    <a:cxn ang="0">
                      <a:pos x="30" y="176"/>
                    </a:cxn>
                    <a:cxn ang="0">
                      <a:pos x="35" y="200"/>
                    </a:cxn>
                    <a:cxn ang="0">
                      <a:pos x="36" y="235"/>
                    </a:cxn>
                    <a:cxn ang="0">
                      <a:pos x="38" y="265"/>
                    </a:cxn>
                    <a:cxn ang="0">
                      <a:pos x="38" y="285"/>
                    </a:cxn>
                    <a:cxn ang="0">
                      <a:pos x="48" y="260"/>
                    </a:cxn>
                    <a:cxn ang="0">
                      <a:pos x="68" y="248"/>
                    </a:cxn>
                    <a:cxn ang="0">
                      <a:pos x="86" y="241"/>
                    </a:cxn>
                    <a:cxn ang="0">
                      <a:pos x="108" y="236"/>
                    </a:cxn>
                    <a:cxn ang="0">
                      <a:pos x="143" y="229"/>
                    </a:cxn>
                    <a:cxn ang="0">
                      <a:pos x="177" y="228"/>
                    </a:cxn>
                    <a:cxn ang="0">
                      <a:pos x="197" y="228"/>
                    </a:cxn>
                    <a:cxn ang="0">
                      <a:pos x="228" y="230"/>
                    </a:cxn>
                    <a:cxn ang="0">
                      <a:pos x="264" y="237"/>
                    </a:cxn>
                    <a:cxn ang="0">
                      <a:pos x="287" y="246"/>
                    </a:cxn>
                    <a:cxn ang="0">
                      <a:pos x="302" y="255"/>
                    </a:cxn>
                    <a:cxn ang="0">
                      <a:pos x="318" y="268"/>
                    </a:cxn>
                  </a:cxnLst>
                  <a:rect l="0" t="0" r="r" b="b"/>
                  <a:pathLst>
                    <a:path w="319" h="286">
                      <a:moveTo>
                        <a:pt x="317" y="275"/>
                      </a:moveTo>
                      <a:lnTo>
                        <a:pt x="315" y="254"/>
                      </a:lnTo>
                      <a:lnTo>
                        <a:pt x="306" y="235"/>
                      </a:lnTo>
                      <a:lnTo>
                        <a:pt x="299" y="219"/>
                      </a:lnTo>
                      <a:lnTo>
                        <a:pt x="294" y="194"/>
                      </a:lnTo>
                      <a:lnTo>
                        <a:pt x="288" y="161"/>
                      </a:lnTo>
                      <a:lnTo>
                        <a:pt x="284" y="126"/>
                      </a:lnTo>
                      <a:lnTo>
                        <a:pt x="281" y="94"/>
                      </a:lnTo>
                      <a:lnTo>
                        <a:pt x="279" y="67"/>
                      </a:lnTo>
                      <a:lnTo>
                        <a:pt x="278" y="43"/>
                      </a:lnTo>
                      <a:lnTo>
                        <a:pt x="270" y="29"/>
                      </a:lnTo>
                      <a:lnTo>
                        <a:pt x="255" y="16"/>
                      </a:lnTo>
                      <a:lnTo>
                        <a:pt x="240" y="9"/>
                      </a:lnTo>
                      <a:lnTo>
                        <a:pt x="216" y="2"/>
                      </a:lnTo>
                      <a:lnTo>
                        <a:pt x="189" y="0"/>
                      </a:lnTo>
                      <a:lnTo>
                        <a:pt x="147" y="0"/>
                      </a:lnTo>
                      <a:lnTo>
                        <a:pt x="110" y="2"/>
                      </a:lnTo>
                      <a:lnTo>
                        <a:pt x="74" y="9"/>
                      </a:lnTo>
                      <a:lnTo>
                        <a:pt x="41" y="21"/>
                      </a:lnTo>
                      <a:lnTo>
                        <a:pt x="20" y="35"/>
                      </a:lnTo>
                      <a:lnTo>
                        <a:pt x="8" y="47"/>
                      </a:lnTo>
                      <a:lnTo>
                        <a:pt x="0" y="61"/>
                      </a:lnTo>
                      <a:lnTo>
                        <a:pt x="2" y="75"/>
                      </a:lnTo>
                      <a:lnTo>
                        <a:pt x="5" y="89"/>
                      </a:lnTo>
                      <a:lnTo>
                        <a:pt x="15" y="104"/>
                      </a:lnTo>
                      <a:lnTo>
                        <a:pt x="23" y="123"/>
                      </a:lnTo>
                      <a:lnTo>
                        <a:pt x="27" y="149"/>
                      </a:lnTo>
                      <a:lnTo>
                        <a:pt x="30" y="176"/>
                      </a:lnTo>
                      <a:lnTo>
                        <a:pt x="35" y="200"/>
                      </a:lnTo>
                      <a:lnTo>
                        <a:pt x="36" y="235"/>
                      </a:lnTo>
                      <a:lnTo>
                        <a:pt x="38" y="265"/>
                      </a:lnTo>
                      <a:lnTo>
                        <a:pt x="38" y="285"/>
                      </a:lnTo>
                      <a:lnTo>
                        <a:pt x="48" y="260"/>
                      </a:lnTo>
                      <a:lnTo>
                        <a:pt x="68" y="248"/>
                      </a:lnTo>
                      <a:lnTo>
                        <a:pt x="86" y="241"/>
                      </a:lnTo>
                      <a:lnTo>
                        <a:pt x="108" y="236"/>
                      </a:lnTo>
                      <a:lnTo>
                        <a:pt x="143" y="229"/>
                      </a:lnTo>
                      <a:lnTo>
                        <a:pt x="177" y="228"/>
                      </a:lnTo>
                      <a:lnTo>
                        <a:pt x="197" y="228"/>
                      </a:lnTo>
                      <a:lnTo>
                        <a:pt x="228" y="230"/>
                      </a:lnTo>
                      <a:lnTo>
                        <a:pt x="264" y="237"/>
                      </a:lnTo>
                      <a:lnTo>
                        <a:pt x="287" y="246"/>
                      </a:lnTo>
                      <a:lnTo>
                        <a:pt x="302" y="255"/>
                      </a:lnTo>
                      <a:lnTo>
                        <a:pt x="318" y="268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41" name="Freeform 22"/>
                <p:cNvSpPr>
                  <a:spLocks/>
                </p:cNvSpPr>
                <p:nvPr/>
              </p:nvSpPr>
              <p:spPr bwMode="ltGray">
                <a:xfrm>
                  <a:off x="5101" y="1353"/>
                  <a:ext cx="551" cy="335"/>
                </a:xfrm>
                <a:custGeom>
                  <a:avLst/>
                  <a:gdLst/>
                  <a:ahLst/>
                  <a:cxnLst>
                    <a:cxn ang="0">
                      <a:pos x="534" y="48"/>
                    </a:cxn>
                    <a:cxn ang="0">
                      <a:pos x="550" y="117"/>
                    </a:cxn>
                    <a:cxn ang="0">
                      <a:pos x="540" y="142"/>
                    </a:cxn>
                    <a:cxn ang="0">
                      <a:pos x="517" y="179"/>
                    </a:cxn>
                    <a:cxn ang="0">
                      <a:pos x="493" y="212"/>
                    </a:cxn>
                    <a:cxn ang="0">
                      <a:pos x="465" y="239"/>
                    </a:cxn>
                    <a:cxn ang="0">
                      <a:pos x="430" y="267"/>
                    </a:cxn>
                    <a:cxn ang="0">
                      <a:pos x="397" y="286"/>
                    </a:cxn>
                    <a:cxn ang="0">
                      <a:pos x="361" y="304"/>
                    </a:cxn>
                    <a:cxn ang="0">
                      <a:pos x="315" y="320"/>
                    </a:cxn>
                    <a:cxn ang="0">
                      <a:pos x="280" y="328"/>
                    </a:cxn>
                    <a:cxn ang="0">
                      <a:pos x="238" y="334"/>
                    </a:cxn>
                    <a:cxn ang="0">
                      <a:pos x="199" y="334"/>
                    </a:cxn>
                    <a:cxn ang="0">
                      <a:pos x="157" y="329"/>
                    </a:cxn>
                    <a:cxn ang="0">
                      <a:pos x="114" y="317"/>
                    </a:cxn>
                    <a:cxn ang="0">
                      <a:pos x="75" y="298"/>
                    </a:cxn>
                    <a:cxn ang="0">
                      <a:pos x="52" y="282"/>
                    </a:cxn>
                    <a:cxn ang="0">
                      <a:pos x="24" y="258"/>
                    </a:cxn>
                    <a:cxn ang="0">
                      <a:pos x="9" y="238"/>
                    </a:cxn>
                    <a:cxn ang="0">
                      <a:pos x="0" y="222"/>
                    </a:cxn>
                    <a:cxn ang="0">
                      <a:pos x="0" y="204"/>
                    </a:cxn>
                    <a:cxn ang="0">
                      <a:pos x="6" y="182"/>
                    </a:cxn>
                    <a:cxn ang="0">
                      <a:pos x="18" y="166"/>
                    </a:cxn>
                    <a:cxn ang="0">
                      <a:pos x="27" y="131"/>
                    </a:cxn>
                    <a:cxn ang="0">
                      <a:pos x="31" y="112"/>
                    </a:cxn>
                    <a:cxn ang="0">
                      <a:pos x="283" y="128"/>
                    </a:cxn>
                    <a:cxn ang="0">
                      <a:pos x="316" y="122"/>
                    </a:cxn>
                    <a:cxn ang="0">
                      <a:pos x="357" y="109"/>
                    </a:cxn>
                    <a:cxn ang="0">
                      <a:pos x="388" y="93"/>
                    </a:cxn>
                    <a:cxn ang="0">
                      <a:pos x="421" y="73"/>
                    </a:cxn>
                    <a:cxn ang="0">
                      <a:pos x="453" y="44"/>
                    </a:cxn>
                    <a:cxn ang="0">
                      <a:pos x="472" y="19"/>
                    </a:cxn>
                    <a:cxn ang="0">
                      <a:pos x="486" y="0"/>
                    </a:cxn>
                    <a:cxn ang="0">
                      <a:pos x="534" y="48"/>
                    </a:cxn>
                  </a:cxnLst>
                  <a:rect l="0" t="0" r="r" b="b"/>
                  <a:pathLst>
                    <a:path w="551" h="335">
                      <a:moveTo>
                        <a:pt x="534" y="48"/>
                      </a:moveTo>
                      <a:lnTo>
                        <a:pt x="550" y="117"/>
                      </a:lnTo>
                      <a:lnTo>
                        <a:pt x="540" y="142"/>
                      </a:lnTo>
                      <a:lnTo>
                        <a:pt x="517" y="179"/>
                      </a:lnTo>
                      <a:lnTo>
                        <a:pt x="493" y="212"/>
                      </a:lnTo>
                      <a:lnTo>
                        <a:pt x="465" y="239"/>
                      </a:lnTo>
                      <a:lnTo>
                        <a:pt x="430" y="267"/>
                      </a:lnTo>
                      <a:lnTo>
                        <a:pt x="397" y="286"/>
                      </a:lnTo>
                      <a:lnTo>
                        <a:pt x="361" y="304"/>
                      </a:lnTo>
                      <a:lnTo>
                        <a:pt x="315" y="320"/>
                      </a:lnTo>
                      <a:lnTo>
                        <a:pt x="280" y="328"/>
                      </a:lnTo>
                      <a:lnTo>
                        <a:pt x="238" y="334"/>
                      </a:lnTo>
                      <a:lnTo>
                        <a:pt x="199" y="334"/>
                      </a:lnTo>
                      <a:lnTo>
                        <a:pt x="157" y="329"/>
                      </a:lnTo>
                      <a:lnTo>
                        <a:pt x="114" y="317"/>
                      </a:lnTo>
                      <a:lnTo>
                        <a:pt x="75" y="298"/>
                      </a:lnTo>
                      <a:lnTo>
                        <a:pt x="52" y="282"/>
                      </a:lnTo>
                      <a:lnTo>
                        <a:pt x="24" y="258"/>
                      </a:lnTo>
                      <a:lnTo>
                        <a:pt x="9" y="238"/>
                      </a:lnTo>
                      <a:lnTo>
                        <a:pt x="0" y="222"/>
                      </a:lnTo>
                      <a:lnTo>
                        <a:pt x="0" y="204"/>
                      </a:lnTo>
                      <a:lnTo>
                        <a:pt x="6" y="182"/>
                      </a:lnTo>
                      <a:lnTo>
                        <a:pt x="18" y="166"/>
                      </a:lnTo>
                      <a:lnTo>
                        <a:pt x="27" y="131"/>
                      </a:lnTo>
                      <a:lnTo>
                        <a:pt x="31" y="112"/>
                      </a:lnTo>
                      <a:lnTo>
                        <a:pt x="283" y="128"/>
                      </a:lnTo>
                      <a:lnTo>
                        <a:pt x="316" y="122"/>
                      </a:lnTo>
                      <a:lnTo>
                        <a:pt x="357" y="109"/>
                      </a:lnTo>
                      <a:lnTo>
                        <a:pt x="388" y="93"/>
                      </a:lnTo>
                      <a:lnTo>
                        <a:pt x="421" y="73"/>
                      </a:lnTo>
                      <a:lnTo>
                        <a:pt x="453" y="44"/>
                      </a:lnTo>
                      <a:lnTo>
                        <a:pt x="472" y="19"/>
                      </a:lnTo>
                      <a:lnTo>
                        <a:pt x="486" y="0"/>
                      </a:lnTo>
                      <a:lnTo>
                        <a:pt x="534" y="48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42" name="Freeform 23"/>
                <p:cNvSpPr>
                  <a:spLocks/>
                </p:cNvSpPr>
                <p:nvPr/>
              </p:nvSpPr>
              <p:spPr bwMode="ltGray">
                <a:xfrm>
                  <a:off x="5197" y="935"/>
                  <a:ext cx="475" cy="55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94"/>
                    </a:cxn>
                    <a:cxn ang="0">
                      <a:pos x="28" y="291"/>
                    </a:cxn>
                    <a:cxn ang="0">
                      <a:pos x="63" y="293"/>
                    </a:cxn>
                    <a:cxn ang="0">
                      <a:pos x="121" y="299"/>
                    </a:cxn>
                    <a:cxn ang="0">
                      <a:pos x="178" y="310"/>
                    </a:cxn>
                    <a:cxn ang="0">
                      <a:pos x="231" y="323"/>
                    </a:cxn>
                    <a:cxn ang="0">
                      <a:pos x="274" y="339"/>
                    </a:cxn>
                    <a:cxn ang="0">
                      <a:pos x="325" y="364"/>
                    </a:cxn>
                    <a:cxn ang="0">
                      <a:pos x="364" y="390"/>
                    </a:cxn>
                    <a:cxn ang="0">
                      <a:pos x="393" y="415"/>
                    </a:cxn>
                    <a:cxn ang="0">
                      <a:pos x="414" y="439"/>
                    </a:cxn>
                    <a:cxn ang="0">
                      <a:pos x="427" y="461"/>
                    </a:cxn>
                    <a:cxn ang="0">
                      <a:pos x="439" y="488"/>
                    </a:cxn>
                    <a:cxn ang="0">
                      <a:pos x="444" y="513"/>
                    </a:cxn>
                    <a:cxn ang="0">
                      <a:pos x="451" y="551"/>
                    </a:cxn>
                    <a:cxn ang="0">
                      <a:pos x="457" y="518"/>
                    </a:cxn>
                    <a:cxn ang="0">
                      <a:pos x="466" y="481"/>
                    </a:cxn>
                    <a:cxn ang="0">
                      <a:pos x="469" y="453"/>
                    </a:cxn>
                    <a:cxn ang="0">
                      <a:pos x="474" y="420"/>
                    </a:cxn>
                    <a:cxn ang="0">
                      <a:pos x="472" y="393"/>
                    </a:cxn>
                    <a:cxn ang="0">
                      <a:pos x="466" y="361"/>
                    </a:cxn>
                    <a:cxn ang="0">
                      <a:pos x="459" y="317"/>
                    </a:cxn>
                    <a:cxn ang="0">
                      <a:pos x="444" y="279"/>
                    </a:cxn>
                    <a:cxn ang="0">
                      <a:pos x="424" y="238"/>
                    </a:cxn>
                    <a:cxn ang="0">
                      <a:pos x="399" y="196"/>
                    </a:cxn>
                    <a:cxn ang="0">
                      <a:pos x="363" y="152"/>
                    </a:cxn>
                    <a:cxn ang="0">
                      <a:pos x="322" y="116"/>
                    </a:cxn>
                    <a:cxn ang="0">
                      <a:pos x="286" y="87"/>
                    </a:cxn>
                    <a:cxn ang="0">
                      <a:pos x="241" y="60"/>
                    </a:cxn>
                    <a:cxn ang="0">
                      <a:pos x="195" y="40"/>
                    </a:cxn>
                    <a:cxn ang="0">
                      <a:pos x="141" y="21"/>
                    </a:cxn>
                    <a:cxn ang="0">
                      <a:pos x="94" y="10"/>
                    </a:cxn>
                    <a:cxn ang="0">
                      <a:pos x="39" y="3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75" h="552">
                      <a:moveTo>
                        <a:pt x="0" y="0"/>
                      </a:moveTo>
                      <a:lnTo>
                        <a:pt x="0" y="294"/>
                      </a:lnTo>
                      <a:lnTo>
                        <a:pt x="28" y="291"/>
                      </a:lnTo>
                      <a:lnTo>
                        <a:pt x="63" y="293"/>
                      </a:lnTo>
                      <a:lnTo>
                        <a:pt x="121" y="299"/>
                      </a:lnTo>
                      <a:lnTo>
                        <a:pt x="178" y="310"/>
                      </a:lnTo>
                      <a:lnTo>
                        <a:pt x="231" y="323"/>
                      </a:lnTo>
                      <a:lnTo>
                        <a:pt x="274" y="339"/>
                      </a:lnTo>
                      <a:lnTo>
                        <a:pt x="325" y="364"/>
                      </a:lnTo>
                      <a:lnTo>
                        <a:pt x="364" y="390"/>
                      </a:lnTo>
                      <a:lnTo>
                        <a:pt x="393" y="415"/>
                      </a:lnTo>
                      <a:lnTo>
                        <a:pt x="414" y="439"/>
                      </a:lnTo>
                      <a:lnTo>
                        <a:pt x="427" y="461"/>
                      </a:lnTo>
                      <a:lnTo>
                        <a:pt x="439" y="488"/>
                      </a:lnTo>
                      <a:lnTo>
                        <a:pt x="444" y="513"/>
                      </a:lnTo>
                      <a:lnTo>
                        <a:pt x="451" y="551"/>
                      </a:lnTo>
                      <a:lnTo>
                        <a:pt x="457" y="518"/>
                      </a:lnTo>
                      <a:lnTo>
                        <a:pt x="466" y="481"/>
                      </a:lnTo>
                      <a:lnTo>
                        <a:pt x="469" y="453"/>
                      </a:lnTo>
                      <a:lnTo>
                        <a:pt x="474" y="420"/>
                      </a:lnTo>
                      <a:lnTo>
                        <a:pt x="472" y="393"/>
                      </a:lnTo>
                      <a:lnTo>
                        <a:pt x="466" y="361"/>
                      </a:lnTo>
                      <a:lnTo>
                        <a:pt x="459" y="317"/>
                      </a:lnTo>
                      <a:lnTo>
                        <a:pt x="444" y="279"/>
                      </a:lnTo>
                      <a:lnTo>
                        <a:pt x="424" y="238"/>
                      </a:lnTo>
                      <a:lnTo>
                        <a:pt x="399" y="196"/>
                      </a:lnTo>
                      <a:lnTo>
                        <a:pt x="363" y="152"/>
                      </a:lnTo>
                      <a:lnTo>
                        <a:pt x="322" y="116"/>
                      </a:lnTo>
                      <a:lnTo>
                        <a:pt x="286" y="87"/>
                      </a:lnTo>
                      <a:lnTo>
                        <a:pt x="241" y="60"/>
                      </a:lnTo>
                      <a:lnTo>
                        <a:pt x="195" y="40"/>
                      </a:lnTo>
                      <a:lnTo>
                        <a:pt x="141" y="21"/>
                      </a:lnTo>
                      <a:lnTo>
                        <a:pt x="94" y="10"/>
                      </a:lnTo>
                      <a:lnTo>
                        <a:pt x="39" y="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43" name="Freeform 24"/>
                <p:cNvSpPr>
                  <a:spLocks/>
                </p:cNvSpPr>
                <p:nvPr/>
              </p:nvSpPr>
              <p:spPr bwMode="ltGray">
                <a:xfrm>
                  <a:off x="5228" y="1503"/>
                  <a:ext cx="156" cy="117"/>
                </a:xfrm>
                <a:custGeom>
                  <a:avLst/>
                  <a:gdLst/>
                  <a:ahLst/>
                  <a:cxnLst>
                    <a:cxn ang="0">
                      <a:pos x="83" y="0"/>
                    </a:cxn>
                    <a:cxn ang="0">
                      <a:pos x="134" y="19"/>
                    </a:cxn>
                    <a:cxn ang="0">
                      <a:pos x="152" y="45"/>
                    </a:cxn>
                    <a:cxn ang="0">
                      <a:pos x="155" y="70"/>
                    </a:cxn>
                    <a:cxn ang="0">
                      <a:pos x="155" y="83"/>
                    </a:cxn>
                    <a:cxn ang="0">
                      <a:pos x="146" y="99"/>
                    </a:cxn>
                    <a:cxn ang="0">
                      <a:pos x="126" y="107"/>
                    </a:cxn>
                    <a:cxn ang="0">
                      <a:pos x="105" y="113"/>
                    </a:cxn>
                    <a:cxn ang="0">
                      <a:pos x="86" y="116"/>
                    </a:cxn>
                    <a:cxn ang="0">
                      <a:pos x="69" y="116"/>
                    </a:cxn>
                    <a:cxn ang="0">
                      <a:pos x="41" y="111"/>
                    </a:cxn>
                    <a:cxn ang="0">
                      <a:pos x="21" y="106"/>
                    </a:cxn>
                    <a:cxn ang="0">
                      <a:pos x="9" y="98"/>
                    </a:cxn>
                    <a:cxn ang="0">
                      <a:pos x="2" y="89"/>
                    </a:cxn>
                    <a:cxn ang="0">
                      <a:pos x="0" y="78"/>
                    </a:cxn>
                    <a:cxn ang="0">
                      <a:pos x="2" y="60"/>
                    </a:cxn>
                    <a:cxn ang="0">
                      <a:pos x="9" y="11"/>
                    </a:cxn>
                    <a:cxn ang="0">
                      <a:pos x="83" y="0"/>
                    </a:cxn>
                  </a:cxnLst>
                  <a:rect l="0" t="0" r="r" b="b"/>
                  <a:pathLst>
                    <a:path w="156" h="117">
                      <a:moveTo>
                        <a:pt x="83" y="0"/>
                      </a:moveTo>
                      <a:lnTo>
                        <a:pt x="134" y="19"/>
                      </a:lnTo>
                      <a:lnTo>
                        <a:pt x="152" y="45"/>
                      </a:lnTo>
                      <a:lnTo>
                        <a:pt x="155" y="70"/>
                      </a:lnTo>
                      <a:lnTo>
                        <a:pt x="155" y="83"/>
                      </a:lnTo>
                      <a:lnTo>
                        <a:pt x="146" y="99"/>
                      </a:lnTo>
                      <a:lnTo>
                        <a:pt x="126" y="107"/>
                      </a:lnTo>
                      <a:lnTo>
                        <a:pt x="105" y="113"/>
                      </a:lnTo>
                      <a:lnTo>
                        <a:pt x="86" y="116"/>
                      </a:lnTo>
                      <a:lnTo>
                        <a:pt x="69" y="116"/>
                      </a:lnTo>
                      <a:lnTo>
                        <a:pt x="41" y="111"/>
                      </a:lnTo>
                      <a:lnTo>
                        <a:pt x="21" y="106"/>
                      </a:lnTo>
                      <a:lnTo>
                        <a:pt x="9" y="98"/>
                      </a:lnTo>
                      <a:lnTo>
                        <a:pt x="2" y="89"/>
                      </a:lnTo>
                      <a:lnTo>
                        <a:pt x="0" y="78"/>
                      </a:lnTo>
                      <a:lnTo>
                        <a:pt x="2" y="60"/>
                      </a:lnTo>
                      <a:lnTo>
                        <a:pt x="9" y="11"/>
                      </a:lnTo>
                      <a:lnTo>
                        <a:pt x="83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44" name="Freeform 25"/>
                <p:cNvSpPr>
                  <a:spLocks/>
                </p:cNvSpPr>
                <p:nvPr/>
              </p:nvSpPr>
              <p:spPr bwMode="ltGray">
                <a:xfrm>
                  <a:off x="5224" y="1515"/>
                  <a:ext cx="88" cy="75"/>
                </a:xfrm>
                <a:custGeom>
                  <a:avLst/>
                  <a:gdLst/>
                  <a:ahLst/>
                  <a:cxnLst>
                    <a:cxn ang="0">
                      <a:pos x="0" y="69"/>
                    </a:cxn>
                    <a:cxn ang="0">
                      <a:pos x="11" y="0"/>
                    </a:cxn>
                    <a:cxn ang="0">
                      <a:pos x="54" y="5"/>
                    </a:cxn>
                    <a:cxn ang="0">
                      <a:pos x="87" y="9"/>
                    </a:cxn>
                    <a:cxn ang="0">
                      <a:pos x="78" y="74"/>
                    </a:cxn>
                    <a:cxn ang="0">
                      <a:pos x="75" y="59"/>
                    </a:cxn>
                    <a:cxn ang="0">
                      <a:pos x="65" y="48"/>
                    </a:cxn>
                    <a:cxn ang="0">
                      <a:pos x="47" y="44"/>
                    </a:cxn>
                    <a:cxn ang="0">
                      <a:pos x="27" y="45"/>
                    </a:cxn>
                    <a:cxn ang="0">
                      <a:pos x="11" y="52"/>
                    </a:cxn>
                    <a:cxn ang="0">
                      <a:pos x="0" y="69"/>
                    </a:cxn>
                  </a:cxnLst>
                  <a:rect l="0" t="0" r="r" b="b"/>
                  <a:pathLst>
                    <a:path w="88" h="75">
                      <a:moveTo>
                        <a:pt x="0" y="69"/>
                      </a:moveTo>
                      <a:lnTo>
                        <a:pt x="11" y="0"/>
                      </a:lnTo>
                      <a:lnTo>
                        <a:pt x="54" y="5"/>
                      </a:lnTo>
                      <a:lnTo>
                        <a:pt x="87" y="9"/>
                      </a:lnTo>
                      <a:lnTo>
                        <a:pt x="78" y="74"/>
                      </a:lnTo>
                      <a:lnTo>
                        <a:pt x="75" y="59"/>
                      </a:lnTo>
                      <a:lnTo>
                        <a:pt x="65" y="48"/>
                      </a:lnTo>
                      <a:lnTo>
                        <a:pt x="47" y="44"/>
                      </a:lnTo>
                      <a:lnTo>
                        <a:pt x="27" y="45"/>
                      </a:lnTo>
                      <a:lnTo>
                        <a:pt x="11" y="52"/>
                      </a:lnTo>
                      <a:lnTo>
                        <a:pt x="0" y="69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45" name="Freeform 26"/>
                <p:cNvSpPr>
                  <a:spLocks/>
                </p:cNvSpPr>
                <p:nvPr/>
              </p:nvSpPr>
              <p:spPr bwMode="ltGray">
                <a:xfrm>
                  <a:off x="5101" y="1295"/>
                  <a:ext cx="319" cy="286"/>
                </a:xfrm>
                <a:custGeom>
                  <a:avLst/>
                  <a:gdLst/>
                  <a:ahLst/>
                  <a:cxnLst>
                    <a:cxn ang="0">
                      <a:pos x="1" y="275"/>
                    </a:cxn>
                    <a:cxn ang="0">
                      <a:pos x="3" y="254"/>
                    </a:cxn>
                    <a:cxn ang="0">
                      <a:pos x="12" y="235"/>
                    </a:cxn>
                    <a:cxn ang="0">
                      <a:pos x="19" y="219"/>
                    </a:cxn>
                    <a:cxn ang="0">
                      <a:pos x="24" y="194"/>
                    </a:cxn>
                    <a:cxn ang="0">
                      <a:pos x="30" y="161"/>
                    </a:cxn>
                    <a:cxn ang="0">
                      <a:pos x="34" y="126"/>
                    </a:cxn>
                    <a:cxn ang="0">
                      <a:pos x="37" y="94"/>
                    </a:cxn>
                    <a:cxn ang="0">
                      <a:pos x="39" y="67"/>
                    </a:cxn>
                    <a:cxn ang="0">
                      <a:pos x="40" y="43"/>
                    </a:cxn>
                    <a:cxn ang="0">
                      <a:pos x="48" y="29"/>
                    </a:cxn>
                    <a:cxn ang="0">
                      <a:pos x="63" y="16"/>
                    </a:cxn>
                    <a:cxn ang="0">
                      <a:pos x="78" y="9"/>
                    </a:cxn>
                    <a:cxn ang="0">
                      <a:pos x="102" y="2"/>
                    </a:cxn>
                    <a:cxn ang="0">
                      <a:pos x="129" y="0"/>
                    </a:cxn>
                    <a:cxn ang="0">
                      <a:pos x="171" y="0"/>
                    </a:cxn>
                    <a:cxn ang="0">
                      <a:pos x="208" y="2"/>
                    </a:cxn>
                    <a:cxn ang="0">
                      <a:pos x="244" y="9"/>
                    </a:cxn>
                    <a:cxn ang="0">
                      <a:pos x="277" y="21"/>
                    </a:cxn>
                    <a:cxn ang="0">
                      <a:pos x="298" y="35"/>
                    </a:cxn>
                    <a:cxn ang="0">
                      <a:pos x="310" y="47"/>
                    </a:cxn>
                    <a:cxn ang="0">
                      <a:pos x="318" y="61"/>
                    </a:cxn>
                    <a:cxn ang="0">
                      <a:pos x="316" y="75"/>
                    </a:cxn>
                    <a:cxn ang="0">
                      <a:pos x="313" y="89"/>
                    </a:cxn>
                    <a:cxn ang="0">
                      <a:pos x="303" y="104"/>
                    </a:cxn>
                    <a:cxn ang="0">
                      <a:pos x="295" y="123"/>
                    </a:cxn>
                    <a:cxn ang="0">
                      <a:pos x="291" y="149"/>
                    </a:cxn>
                    <a:cxn ang="0">
                      <a:pos x="288" y="176"/>
                    </a:cxn>
                    <a:cxn ang="0">
                      <a:pos x="283" y="200"/>
                    </a:cxn>
                    <a:cxn ang="0">
                      <a:pos x="282" y="235"/>
                    </a:cxn>
                    <a:cxn ang="0">
                      <a:pos x="280" y="265"/>
                    </a:cxn>
                    <a:cxn ang="0">
                      <a:pos x="280" y="285"/>
                    </a:cxn>
                    <a:cxn ang="0">
                      <a:pos x="270" y="260"/>
                    </a:cxn>
                    <a:cxn ang="0">
                      <a:pos x="250" y="248"/>
                    </a:cxn>
                    <a:cxn ang="0">
                      <a:pos x="232" y="241"/>
                    </a:cxn>
                    <a:cxn ang="0">
                      <a:pos x="210" y="236"/>
                    </a:cxn>
                    <a:cxn ang="0">
                      <a:pos x="175" y="229"/>
                    </a:cxn>
                    <a:cxn ang="0">
                      <a:pos x="141" y="228"/>
                    </a:cxn>
                    <a:cxn ang="0">
                      <a:pos x="121" y="228"/>
                    </a:cxn>
                    <a:cxn ang="0">
                      <a:pos x="90" y="230"/>
                    </a:cxn>
                    <a:cxn ang="0">
                      <a:pos x="54" y="237"/>
                    </a:cxn>
                    <a:cxn ang="0">
                      <a:pos x="31" y="246"/>
                    </a:cxn>
                    <a:cxn ang="0">
                      <a:pos x="16" y="255"/>
                    </a:cxn>
                    <a:cxn ang="0">
                      <a:pos x="0" y="268"/>
                    </a:cxn>
                  </a:cxnLst>
                  <a:rect l="0" t="0" r="r" b="b"/>
                  <a:pathLst>
                    <a:path w="319" h="286">
                      <a:moveTo>
                        <a:pt x="1" y="275"/>
                      </a:moveTo>
                      <a:lnTo>
                        <a:pt x="3" y="254"/>
                      </a:lnTo>
                      <a:lnTo>
                        <a:pt x="12" y="235"/>
                      </a:lnTo>
                      <a:lnTo>
                        <a:pt x="19" y="219"/>
                      </a:lnTo>
                      <a:lnTo>
                        <a:pt x="24" y="194"/>
                      </a:lnTo>
                      <a:lnTo>
                        <a:pt x="30" y="161"/>
                      </a:lnTo>
                      <a:lnTo>
                        <a:pt x="34" y="126"/>
                      </a:lnTo>
                      <a:lnTo>
                        <a:pt x="37" y="94"/>
                      </a:lnTo>
                      <a:lnTo>
                        <a:pt x="39" y="67"/>
                      </a:lnTo>
                      <a:lnTo>
                        <a:pt x="40" y="43"/>
                      </a:lnTo>
                      <a:lnTo>
                        <a:pt x="48" y="29"/>
                      </a:lnTo>
                      <a:lnTo>
                        <a:pt x="63" y="16"/>
                      </a:lnTo>
                      <a:lnTo>
                        <a:pt x="78" y="9"/>
                      </a:lnTo>
                      <a:lnTo>
                        <a:pt x="102" y="2"/>
                      </a:lnTo>
                      <a:lnTo>
                        <a:pt x="129" y="0"/>
                      </a:lnTo>
                      <a:lnTo>
                        <a:pt x="171" y="0"/>
                      </a:lnTo>
                      <a:lnTo>
                        <a:pt x="208" y="2"/>
                      </a:lnTo>
                      <a:lnTo>
                        <a:pt x="244" y="9"/>
                      </a:lnTo>
                      <a:lnTo>
                        <a:pt x="277" y="21"/>
                      </a:lnTo>
                      <a:lnTo>
                        <a:pt x="298" y="35"/>
                      </a:lnTo>
                      <a:lnTo>
                        <a:pt x="310" y="47"/>
                      </a:lnTo>
                      <a:lnTo>
                        <a:pt x="318" y="61"/>
                      </a:lnTo>
                      <a:lnTo>
                        <a:pt x="316" y="75"/>
                      </a:lnTo>
                      <a:lnTo>
                        <a:pt x="313" y="89"/>
                      </a:lnTo>
                      <a:lnTo>
                        <a:pt x="303" y="104"/>
                      </a:lnTo>
                      <a:lnTo>
                        <a:pt x="295" y="123"/>
                      </a:lnTo>
                      <a:lnTo>
                        <a:pt x="291" y="149"/>
                      </a:lnTo>
                      <a:lnTo>
                        <a:pt x="288" y="176"/>
                      </a:lnTo>
                      <a:lnTo>
                        <a:pt x="283" y="200"/>
                      </a:lnTo>
                      <a:lnTo>
                        <a:pt x="282" y="235"/>
                      </a:lnTo>
                      <a:lnTo>
                        <a:pt x="280" y="265"/>
                      </a:lnTo>
                      <a:lnTo>
                        <a:pt x="280" y="285"/>
                      </a:lnTo>
                      <a:lnTo>
                        <a:pt x="270" y="260"/>
                      </a:lnTo>
                      <a:lnTo>
                        <a:pt x="250" y="248"/>
                      </a:lnTo>
                      <a:lnTo>
                        <a:pt x="232" y="241"/>
                      </a:lnTo>
                      <a:lnTo>
                        <a:pt x="210" y="236"/>
                      </a:lnTo>
                      <a:lnTo>
                        <a:pt x="175" y="229"/>
                      </a:lnTo>
                      <a:lnTo>
                        <a:pt x="141" y="228"/>
                      </a:lnTo>
                      <a:lnTo>
                        <a:pt x="121" y="228"/>
                      </a:lnTo>
                      <a:lnTo>
                        <a:pt x="90" y="230"/>
                      </a:lnTo>
                      <a:lnTo>
                        <a:pt x="54" y="237"/>
                      </a:lnTo>
                      <a:lnTo>
                        <a:pt x="31" y="246"/>
                      </a:lnTo>
                      <a:lnTo>
                        <a:pt x="16" y="255"/>
                      </a:lnTo>
                      <a:lnTo>
                        <a:pt x="0" y="268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46" name="Freeform 27"/>
                <p:cNvSpPr>
                  <a:spLocks/>
                </p:cNvSpPr>
                <p:nvPr/>
              </p:nvSpPr>
              <p:spPr bwMode="ltGray">
                <a:xfrm>
                  <a:off x="4371" y="935"/>
                  <a:ext cx="832" cy="42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356"/>
                    </a:cxn>
                    <a:cxn ang="0">
                      <a:pos x="84" y="374"/>
                    </a:cxn>
                    <a:cxn ang="0">
                      <a:pos x="153" y="393"/>
                    </a:cxn>
                    <a:cxn ang="0">
                      <a:pos x="210" y="404"/>
                    </a:cxn>
                    <a:cxn ang="0">
                      <a:pos x="258" y="410"/>
                    </a:cxn>
                    <a:cxn ang="0">
                      <a:pos x="312" y="416"/>
                    </a:cxn>
                    <a:cxn ang="0">
                      <a:pos x="402" y="419"/>
                    </a:cxn>
                    <a:cxn ang="0">
                      <a:pos x="485" y="412"/>
                    </a:cxn>
                    <a:cxn ang="0">
                      <a:pos x="570" y="399"/>
                    </a:cxn>
                    <a:cxn ang="0">
                      <a:pos x="652" y="377"/>
                    </a:cxn>
                    <a:cxn ang="0">
                      <a:pos x="724" y="347"/>
                    </a:cxn>
                    <a:cxn ang="0">
                      <a:pos x="784" y="306"/>
                    </a:cxn>
                    <a:cxn ang="0">
                      <a:pos x="829" y="291"/>
                    </a:cxn>
                    <a:cxn ang="0">
                      <a:pos x="831" y="2"/>
                    </a:cxn>
                    <a:cxn ang="0">
                      <a:pos x="786" y="9"/>
                    </a:cxn>
                    <a:cxn ang="0">
                      <a:pos x="726" y="29"/>
                    </a:cxn>
                    <a:cxn ang="0">
                      <a:pos x="654" y="55"/>
                    </a:cxn>
                    <a:cxn ang="0">
                      <a:pos x="585" y="70"/>
                    </a:cxn>
                    <a:cxn ang="0">
                      <a:pos x="515" y="78"/>
                    </a:cxn>
                    <a:cxn ang="0">
                      <a:pos x="468" y="82"/>
                    </a:cxn>
                    <a:cxn ang="0">
                      <a:pos x="428" y="84"/>
                    </a:cxn>
                    <a:cxn ang="0">
                      <a:pos x="358" y="84"/>
                    </a:cxn>
                    <a:cxn ang="0">
                      <a:pos x="314" y="81"/>
                    </a:cxn>
                    <a:cxn ang="0">
                      <a:pos x="274" y="76"/>
                    </a:cxn>
                    <a:cxn ang="0">
                      <a:pos x="229" y="73"/>
                    </a:cxn>
                    <a:cxn ang="0">
                      <a:pos x="190" y="66"/>
                    </a:cxn>
                    <a:cxn ang="0">
                      <a:pos x="140" y="57"/>
                    </a:cxn>
                    <a:cxn ang="0">
                      <a:pos x="96" y="44"/>
                    </a:cxn>
                    <a:cxn ang="0">
                      <a:pos x="49" y="24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832" h="420">
                      <a:moveTo>
                        <a:pt x="0" y="0"/>
                      </a:moveTo>
                      <a:lnTo>
                        <a:pt x="0" y="356"/>
                      </a:lnTo>
                      <a:lnTo>
                        <a:pt x="84" y="374"/>
                      </a:lnTo>
                      <a:lnTo>
                        <a:pt x="153" y="393"/>
                      </a:lnTo>
                      <a:lnTo>
                        <a:pt x="210" y="404"/>
                      </a:lnTo>
                      <a:lnTo>
                        <a:pt x="258" y="410"/>
                      </a:lnTo>
                      <a:lnTo>
                        <a:pt x="312" y="416"/>
                      </a:lnTo>
                      <a:lnTo>
                        <a:pt x="402" y="419"/>
                      </a:lnTo>
                      <a:lnTo>
                        <a:pt x="485" y="412"/>
                      </a:lnTo>
                      <a:lnTo>
                        <a:pt x="570" y="399"/>
                      </a:lnTo>
                      <a:lnTo>
                        <a:pt x="652" y="377"/>
                      </a:lnTo>
                      <a:lnTo>
                        <a:pt x="724" y="347"/>
                      </a:lnTo>
                      <a:lnTo>
                        <a:pt x="784" y="306"/>
                      </a:lnTo>
                      <a:lnTo>
                        <a:pt x="829" y="291"/>
                      </a:lnTo>
                      <a:lnTo>
                        <a:pt x="831" y="2"/>
                      </a:lnTo>
                      <a:lnTo>
                        <a:pt x="786" y="9"/>
                      </a:lnTo>
                      <a:lnTo>
                        <a:pt x="726" y="29"/>
                      </a:lnTo>
                      <a:lnTo>
                        <a:pt x="654" y="55"/>
                      </a:lnTo>
                      <a:lnTo>
                        <a:pt x="585" y="70"/>
                      </a:lnTo>
                      <a:lnTo>
                        <a:pt x="515" y="78"/>
                      </a:lnTo>
                      <a:lnTo>
                        <a:pt x="468" y="82"/>
                      </a:lnTo>
                      <a:lnTo>
                        <a:pt x="428" y="84"/>
                      </a:lnTo>
                      <a:lnTo>
                        <a:pt x="358" y="84"/>
                      </a:lnTo>
                      <a:lnTo>
                        <a:pt x="314" y="81"/>
                      </a:lnTo>
                      <a:lnTo>
                        <a:pt x="274" y="76"/>
                      </a:lnTo>
                      <a:lnTo>
                        <a:pt x="229" y="73"/>
                      </a:lnTo>
                      <a:lnTo>
                        <a:pt x="190" y="66"/>
                      </a:lnTo>
                      <a:lnTo>
                        <a:pt x="140" y="57"/>
                      </a:lnTo>
                      <a:lnTo>
                        <a:pt x="96" y="44"/>
                      </a:lnTo>
                      <a:lnTo>
                        <a:pt x="49" y="2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</p:grpSp>
          <p:sp>
            <p:nvSpPr>
              <p:cNvPr id="11" name="Freeform 29"/>
              <p:cNvSpPr>
                <a:spLocks/>
              </p:cNvSpPr>
              <p:nvPr/>
            </p:nvSpPr>
            <p:spPr bwMode="ltGray">
              <a:xfrm>
                <a:off x="5217" y="1590"/>
                <a:ext cx="156" cy="118"/>
              </a:xfrm>
              <a:custGeom>
                <a:avLst/>
                <a:gdLst/>
                <a:ahLst/>
                <a:cxnLst>
                  <a:cxn ang="0">
                    <a:pos x="83" y="0"/>
                  </a:cxn>
                  <a:cxn ang="0">
                    <a:pos x="134" y="19"/>
                  </a:cxn>
                  <a:cxn ang="0">
                    <a:pos x="152" y="46"/>
                  </a:cxn>
                  <a:cxn ang="0">
                    <a:pos x="155" y="70"/>
                  </a:cxn>
                  <a:cxn ang="0">
                    <a:pos x="155" y="84"/>
                  </a:cxn>
                  <a:cxn ang="0">
                    <a:pos x="146" y="100"/>
                  </a:cxn>
                  <a:cxn ang="0">
                    <a:pos x="126" y="108"/>
                  </a:cxn>
                  <a:cxn ang="0">
                    <a:pos x="105" y="114"/>
                  </a:cxn>
                  <a:cxn ang="0">
                    <a:pos x="86" y="117"/>
                  </a:cxn>
                  <a:cxn ang="0">
                    <a:pos x="69" y="117"/>
                  </a:cxn>
                  <a:cxn ang="0">
                    <a:pos x="41" y="112"/>
                  </a:cxn>
                  <a:cxn ang="0">
                    <a:pos x="21" y="107"/>
                  </a:cxn>
                  <a:cxn ang="0">
                    <a:pos x="9" y="98"/>
                  </a:cxn>
                  <a:cxn ang="0">
                    <a:pos x="2" y="90"/>
                  </a:cxn>
                  <a:cxn ang="0">
                    <a:pos x="0" y="78"/>
                  </a:cxn>
                  <a:cxn ang="0">
                    <a:pos x="2" y="60"/>
                  </a:cxn>
                  <a:cxn ang="0">
                    <a:pos x="9" y="11"/>
                  </a:cxn>
                  <a:cxn ang="0">
                    <a:pos x="83" y="0"/>
                  </a:cxn>
                </a:cxnLst>
                <a:rect l="0" t="0" r="r" b="b"/>
                <a:pathLst>
                  <a:path w="156" h="118">
                    <a:moveTo>
                      <a:pt x="83" y="0"/>
                    </a:moveTo>
                    <a:lnTo>
                      <a:pt x="134" y="19"/>
                    </a:lnTo>
                    <a:lnTo>
                      <a:pt x="152" y="46"/>
                    </a:lnTo>
                    <a:lnTo>
                      <a:pt x="155" y="70"/>
                    </a:lnTo>
                    <a:lnTo>
                      <a:pt x="155" y="84"/>
                    </a:lnTo>
                    <a:lnTo>
                      <a:pt x="146" y="100"/>
                    </a:lnTo>
                    <a:lnTo>
                      <a:pt x="126" y="108"/>
                    </a:lnTo>
                    <a:lnTo>
                      <a:pt x="105" y="114"/>
                    </a:lnTo>
                    <a:lnTo>
                      <a:pt x="86" y="117"/>
                    </a:lnTo>
                    <a:lnTo>
                      <a:pt x="69" y="117"/>
                    </a:lnTo>
                    <a:lnTo>
                      <a:pt x="41" y="112"/>
                    </a:lnTo>
                    <a:lnTo>
                      <a:pt x="21" y="107"/>
                    </a:lnTo>
                    <a:lnTo>
                      <a:pt x="9" y="98"/>
                    </a:lnTo>
                    <a:lnTo>
                      <a:pt x="2" y="90"/>
                    </a:lnTo>
                    <a:lnTo>
                      <a:pt x="0" y="78"/>
                    </a:lnTo>
                    <a:lnTo>
                      <a:pt x="2" y="60"/>
                    </a:lnTo>
                    <a:lnTo>
                      <a:pt x="9" y="11"/>
                    </a:lnTo>
                    <a:lnTo>
                      <a:pt x="83" y="0"/>
                    </a:lnTo>
                  </a:path>
                </a:pathLst>
              </a:custGeom>
              <a:solidFill>
                <a:schemeClr val="bg2">
                  <a:alpha val="50000"/>
                </a:schemeClr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2" name="Freeform 30"/>
              <p:cNvSpPr>
                <a:spLocks/>
              </p:cNvSpPr>
              <p:nvPr/>
            </p:nvSpPr>
            <p:spPr bwMode="ltGray">
              <a:xfrm>
                <a:off x="5213" y="1603"/>
                <a:ext cx="88" cy="74"/>
              </a:xfrm>
              <a:custGeom>
                <a:avLst/>
                <a:gdLst/>
                <a:ahLst/>
                <a:cxnLst>
                  <a:cxn ang="0">
                    <a:pos x="0" y="68"/>
                  </a:cxn>
                  <a:cxn ang="0">
                    <a:pos x="11" y="0"/>
                  </a:cxn>
                  <a:cxn ang="0">
                    <a:pos x="54" y="5"/>
                  </a:cxn>
                  <a:cxn ang="0">
                    <a:pos x="87" y="9"/>
                  </a:cxn>
                  <a:cxn ang="0">
                    <a:pos x="78" y="73"/>
                  </a:cxn>
                  <a:cxn ang="0">
                    <a:pos x="75" y="58"/>
                  </a:cxn>
                  <a:cxn ang="0">
                    <a:pos x="65" y="47"/>
                  </a:cxn>
                  <a:cxn ang="0">
                    <a:pos x="47" y="44"/>
                  </a:cxn>
                  <a:cxn ang="0">
                    <a:pos x="27" y="45"/>
                  </a:cxn>
                  <a:cxn ang="0">
                    <a:pos x="11" y="52"/>
                  </a:cxn>
                  <a:cxn ang="0">
                    <a:pos x="0" y="68"/>
                  </a:cxn>
                </a:cxnLst>
                <a:rect l="0" t="0" r="r" b="b"/>
                <a:pathLst>
                  <a:path w="88" h="74">
                    <a:moveTo>
                      <a:pt x="0" y="68"/>
                    </a:moveTo>
                    <a:lnTo>
                      <a:pt x="11" y="0"/>
                    </a:lnTo>
                    <a:lnTo>
                      <a:pt x="54" y="5"/>
                    </a:lnTo>
                    <a:lnTo>
                      <a:pt x="87" y="9"/>
                    </a:lnTo>
                    <a:lnTo>
                      <a:pt x="78" y="73"/>
                    </a:lnTo>
                    <a:lnTo>
                      <a:pt x="75" y="58"/>
                    </a:lnTo>
                    <a:lnTo>
                      <a:pt x="65" y="47"/>
                    </a:lnTo>
                    <a:lnTo>
                      <a:pt x="47" y="44"/>
                    </a:lnTo>
                    <a:lnTo>
                      <a:pt x="27" y="45"/>
                    </a:lnTo>
                    <a:lnTo>
                      <a:pt x="11" y="52"/>
                    </a:lnTo>
                    <a:lnTo>
                      <a:pt x="0" y="68"/>
                    </a:lnTo>
                  </a:path>
                </a:pathLst>
              </a:custGeom>
              <a:solidFill>
                <a:schemeClr val="bg2">
                  <a:alpha val="50000"/>
                </a:schemeClr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3" name="Freeform 31"/>
              <p:cNvSpPr>
                <a:spLocks/>
              </p:cNvSpPr>
              <p:nvPr/>
            </p:nvSpPr>
            <p:spPr bwMode="ltGray">
              <a:xfrm>
                <a:off x="423" y="1581"/>
                <a:ext cx="156" cy="118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21" y="19"/>
                  </a:cxn>
                  <a:cxn ang="0">
                    <a:pos x="3" y="46"/>
                  </a:cxn>
                  <a:cxn ang="0">
                    <a:pos x="0" y="70"/>
                  </a:cxn>
                  <a:cxn ang="0">
                    <a:pos x="0" y="84"/>
                  </a:cxn>
                  <a:cxn ang="0">
                    <a:pos x="9" y="100"/>
                  </a:cxn>
                  <a:cxn ang="0">
                    <a:pos x="29" y="108"/>
                  </a:cxn>
                  <a:cxn ang="0">
                    <a:pos x="50" y="114"/>
                  </a:cxn>
                  <a:cxn ang="0">
                    <a:pos x="69" y="117"/>
                  </a:cxn>
                  <a:cxn ang="0">
                    <a:pos x="86" y="117"/>
                  </a:cxn>
                  <a:cxn ang="0">
                    <a:pos x="114" y="112"/>
                  </a:cxn>
                  <a:cxn ang="0">
                    <a:pos x="134" y="107"/>
                  </a:cxn>
                  <a:cxn ang="0">
                    <a:pos x="146" y="98"/>
                  </a:cxn>
                  <a:cxn ang="0">
                    <a:pos x="153" y="90"/>
                  </a:cxn>
                  <a:cxn ang="0">
                    <a:pos x="155" y="78"/>
                  </a:cxn>
                  <a:cxn ang="0">
                    <a:pos x="153" y="60"/>
                  </a:cxn>
                  <a:cxn ang="0">
                    <a:pos x="146" y="11"/>
                  </a:cxn>
                  <a:cxn ang="0">
                    <a:pos x="72" y="0"/>
                  </a:cxn>
                </a:cxnLst>
                <a:rect l="0" t="0" r="r" b="b"/>
                <a:pathLst>
                  <a:path w="156" h="118">
                    <a:moveTo>
                      <a:pt x="72" y="0"/>
                    </a:moveTo>
                    <a:lnTo>
                      <a:pt x="21" y="19"/>
                    </a:lnTo>
                    <a:lnTo>
                      <a:pt x="3" y="46"/>
                    </a:lnTo>
                    <a:lnTo>
                      <a:pt x="0" y="70"/>
                    </a:lnTo>
                    <a:lnTo>
                      <a:pt x="0" y="84"/>
                    </a:lnTo>
                    <a:lnTo>
                      <a:pt x="9" y="100"/>
                    </a:lnTo>
                    <a:lnTo>
                      <a:pt x="29" y="108"/>
                    </a:lnTo>
                    <a:lnTo>
                      <a:pt x="50" y="114"/>
                    </a:lnTo>
                    <a:lnTo>
                      <a:pt x="69" y="117"/>
                    </a:lnTo>
                    <a:lnTo>
                      <a:pt x="86" y="117"/>
                    </a:lnTo>
                    <a:lnTo>
                      <a:pt x="114" y="112"/>
                    </a:lnTo>
                    <a:lnTo>
                      <a:pt x="134" y="107"/>
                    </a:lnTo>
                    <a:lnTo>
                      <a:pt x="146" y="98"/>
                    </a:lnTo>
                    <a:lnTo>
                      <a:pt x="153" y="90"/>
                    </a:lnTo>
                    <a:lnTo>
                      <a:pt x="155" y="78"/>
                    </a:lnTo>
                    <a:lnTo>
                      <a:pt x="153" y="60"/>
                    </a:lnTo>
                    <a:lnTo>
                      <a:pt x="146" y="11"/>
                    </a:lnTo>
                    <a:lnTo>
                      <a:pt x="72" y="0"/>
                    </a:lnTo>
                  </a:path>
                </a:pathLst>
              </a:custGeom>
              <a:solidFill>
                <a:schemeClr val="bg2">
                  <a:alpha val="50000"/>
                </a:schemeClr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4" name="Freeform 32"/>
              <p:cNvSpPr>
                <a:spLocks/>
              </p:cNvSpPr>
              <p:nvPr/>
            </p:nvSpPr>
            <p:spPr bwMode="ltGray">
              <a:xfrm>
                <a:off x="495" y="1595"/>
                <a:ext cx="88" cy="74"/>
              </a:xfrm>
              <a:custGeom>
                <a:avLst/>
                <a:gdLst/>
                <a:ahLst/>
                <a:cxnLst>
                  <a:cxn ang="0">
                    <a:pos x="87" y="67"/>
                  </a:cxn>
                  <a:cxn ang="0">
                    <a:pos x="76" y="0"/>
                  </a:cxn>
                  <a:cxn ang="0">
                    <a:pos x="33" y="5"/>
                  </a:cxn>
                  <a:cxn ang="0">
                    <a:pos x="0" y="8"/>
                  </a:cxn>
                  <a:cxn ang="0">
                    <a:pos x="9" y="73"/>
                  </a:cxn>
                  <a:cxn ang="0">
                    <a:pos x="12" y="57"/>
                  </a:cxn>
                  <a:cxn ang="0">
                    <a:pos x="22" y="47"/>
                  </a:cxn>
                  <a:cxn ang="0">
                    <a:pos x="40" y="43"/>
                  </a:cxn>
                  <a:cxn ang="0">
                    <a:pos x="60" y="44"/>
                  </a:cxn>
                  <a:cxn ang="0">
                    <a:pos x="76" y="51"/>
                  </a:cxn>
                  <a:cxn ang="0">
                    <a:pos x="87" y="67"/>
                  </a:cxn>
                </a:cxnLst>
                <a:rect l="0" t="0" r="r" b="b"/>
                <a:pathLst>
                  <a:path w="88" h="74">
                    <a:moveTo>
                      <a:pt x="87" y="67"/>
                    </a:moveTo>
                    <a:lnTo>
                      <a:pt x="76" y="0"/>
                    </a:lnTo>
                    <a:lnTo>
                      <a:pt x="33" y="5"/>
                    </a:lnTo>
                    <a:lnTo>
                      <a:pt x="0" y="8"/>
                    </a:lnTo>
                    <a:lnTo>
                      <a:pt x="9" y="73"/>
                    </a:lnTo>
                    <a:lnTo>
                      <a:pt x="12" y="57"/>
                    </a:lnTo>
                    <a:lnTo>
                      <a:pt x="22" y="47"/>
                    </a:lnTo>
                    <a:lnTo>
                      <a:pt x="40" y="43"/>
                    </a:lnTo>
                    <a:lnTo>
                      <a:pt x="60" y="44"/>
                    </a:lnTo>
                    <a:lnTo>
                      <a:pt x="76" y="51"/>
                    </a:lnTo>
                    <a:lnTo>
                      <a:pt x="87" y="67"/>
                    </a:lnTo>
                  </a:path>
                </a:pathLst>
              </a:custGeom>
              <a:solidFill>
                <a:schemeClr val="bg2">
                  <a:alpha val="50000"/>
                </a:schemeClr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5" name="Line 33"/>
              <p:cNvSpPr>
                <a:spLocks noChangeShapeType="1"/>
              </p:cNvSpPr>
              <p:nvPr/>
            </p:nvSpPr>
            <p:spPr bwMode="ltGray">
              <a:xfrm flipV="1">
                <a:off x="1968" y="1166"/>
                <a:ext cx="192" cy="87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6" name="Freeform 34"/>
              <p:cNvSpPr>
                <a:spLocks/>
              </p:cNvSpPr>
              <p:nvPr/>
            </p:nvSpPr>
            <p:spPr bwMode="ltGray">
              <a:xfrm>
                <a:off x="1356" y="879"/>
                <a:ext cx="2967" cy="457"/>
              </a:xfrm>
              <a:custGeom>
                <a:avLst/>
                <a:gdLst/>
                <a:ahLst/>
                <a:cxnLst>
                  <a:cxn ang="0">
                    <a:pos x="0" y="122"/>
                  </a:cxn>
                  <a:cxn ang="0">
                    <a:pos x="207" y="78"/>
                  </a:cxn>
                  <a:cxn ang="0">
                    <a:pos x="442" y="48"/>
                  </a:cxn>
                  <a:cxn ang="0">
                    <a:pos x="640" y="32"/>
                  </a:cxn>
                  <a:cxn ang="0">
                    <a:pos x="897" y="16"/>
                  </a:cxn>
                  <a:cxn ang="0">
                    <a:pos x="1215" y="2"/>
                  </a:cxn>
                  <a:cxn ang="0">
                    <a:pos x="1392" y="0"/>
                  </a:cxn>
                  <a:cxn ang="0">
                    <a:pos x="1710" y="0"/>
                  </a:cxn>
                  <a:cxn ang="0">
                    <a:pos x="1997" y="10"/>
                  </a:cxn>
                  <a:cxn ang="0">
                    <a:pos x="2258" y="21"/>
                  </a:cxn>
                  <a:cxn ang="0">
                    <a:pos x="2493" y="38"/>
                  </a:cxn>
                  <a:cxn ang="0">
                    <a:pos x="2674" y="54"/>
                  </a:cxn>
                  <a:cxn ang="0">
                    <a:pos x="2828" y="73"/>
                  </a:cxn>
                  <a:cxn ang="0">
                    <a:pos x="2966" y="92"/>
                  </a:cxn>
                  <a:cxn ang="0">
                    <a:pos x="2966" y="456"/>
                  </a:cxn>
                  <a:cxn ang="0">
                    <a:pos x="2833" y="434"/>
                  </a:cxn>
                  <a:cxn ang="0">
                    <a:pos x="2563" y="399"/>
                  </a:cxn>
                  <a:cxn ang="0">
                    <a:pos x="2382" y="382"/>
                  </a:cxn>
                  <a:cxn ang="0">
                    <a:pos x="2134" y="366"/>
                  </a:cxn>
                  <a:cxn ang="0">
                    <a:pos x="1944" y="358"/>
                  </a:cxn>
                  <a:cxn ang="0">
                    <a:pos x="1746" y="350"/>
                  </a:cxn>
                  <a:cxn ang="0">
                    <a:pos x="1529" y="350"/>
                  </a:cxn>
                  <a:cxn ang="0">
                    <a:pos x="1295" y="350"/>
                  </a:cxn>
                  <a:cxn ang="0">
                    <a:pos x="1047" y="355"/>
                  </a:cxn>
                  <a:cxn ang="0">
                    <a:pos x="853" y="363"/>
                  </a:cxn>
                  <a:cxn ang="0">
                    <a:pos x="654" y="374"/>
                  </a:cxn>
                  <a:cxn ang="0">
                    <a:pos x="468" y="388"/>
                  </a:cxn>
                  <a:cxn ang="0">
                    <a:pos x="296" y="404"/>
                  </a:cxn>
                  <a:cxn ang="0">
                    <a:pos x="150" y="423"/>
                  </a:cxn>
                  <a:cxn ang="0">
                    <a:pos x="13" y="445"/>
                  </a:cxn>
                  <a:cxn ang="0">
                    <a:pos x="0" y="122"/>
                  </a:cxn>
                </a:cxnLst>
                <a:rect l="0" t="0" r="r" b="b"/>
                <a:pathLst>
                  <a:path w="2967" h="457">
                    <a:moveTo>
                      <a:pt x="0" y="122"/>
                    </a:moveTo>
                    <a:lnTo>
                      <a:pt x="207" y="78"/>
                    </a:lnTo>
                    <a:lnTo>
                      <a:pt x="442" y="48"/>
                    </a:lnTo>
                    <a:lnTo>
                      <a:pt x="640" y="32"/>
                    </a:lnTo>
                    <a:lnTo>
                      <a:pt x="897" y="16"/>
                    </a:lnTo>
                    <a:lnTo>
                      <a:pt x="1215" y="2"/>
                    </a:lnTo>
                    <a:lnTo>
                      <a:pt x="1392" y="0"/>
                    </a:lnTo>
                    <a:lnTo>
                      <a:pt x="1710" y="0"/>
                    </a:lnTo>
                    <a:lnTo>
                      <a:pt x="1997" y="10"/>
                    </a:lnTo>
                    <a:lnTo>
                      <a:pt x="2258" y="21"/>
                    </a:lnTo>
                    <a:lnTo>
                      <a:pt x="2493" y="38"/>
                    </a:lnTo>
                    <a:lnTo>
                      <a:pt x="2674" y="54"/>
                    </a:lnTo>
                    <a:lnTo>
                      <a:pt x="2828" y="73"/>
                    </a:lnTo>
                    <a:lnTo>
                      <a:pt x="2966" y="92"/>
                    </a:lnTo>
                    <a:lnTo>
                      <a:pt x="2966" y="456"/>
                    </a:lnTo>
                    <a:lnTo>
                      <a:pt x="2833" y="434"/>
                    </a:lnTo>
                    <a:lnTo>
                      <a:pt x="2563" y="399"/>
                    </a:lnTo>
                    <a:lnTo>
                      <a:pt x="2382" y="382"/>
                    </a:lnTo>
                    <a:lnTo>
                      <a:pt x="2134" y="366"/>
                    </a:lnTo>
                    <a:lnTo>
                      <a:pt x="1944" y="358"/>
                    </a:lnTo>
                    <a:lnTo>
                      <a:pt x="1746" y="350"/>
                    </a:lnTo>
                    <a:lnTo>
                      <a:pt x="1529" y="350"/>
                    </a:lnTo>
                    <a:lnTo>
                      <a:pt x="1295" y="350"/>
                    </a:lnTo>
                    <a:lnTo>
                      <a:pt x="1047" y="355"/>
                    </a:lnTo>
                    <a:lnTo>
                      <a:pt x="853" y="363"/>
                    </a:lnTo>
                    <a:lnTo>
                      <a:pt x="654" y="374"/>
                    </a:lnTo>
                    <a:lnTo>
                      <a:pt x="468" y="388"/>
                    </a:lnTo>
                    <a:lnTo>
                      <a:pt x="296" y="404"/>
                    </a:lnTo>
                    <a:lnTo>
                      <a:pt x="150" y="423"/>
                    </a:lnTo>
                    <a:lnTo>
                      <a:pt x="13" y="445"/>
                    </a:lnTo>
                    <a:lnTo>
                      <a:pt x="0" y="122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7" name="Freeform 35"/>
              <p:cNvSpPr>
                <a:spLocks/>
              </p:cNvSpPr>
              <p:nvPr/>
            </p:nvSpPr>
            <p:spPr bwMode="ltGray">
              <a:xfrm>
                <a:off x="555" y="975"/>
                <a:ext cx="823" cy="431"/>
              </a:xfrm>
              <a:custGeom>
                <a:avLst/>
                <a:gdLst/>
                <a:ahLst/>
                <a:cxnLst>
                  <a:cxn ang="0">
                    <a:pos x="815" y="27"/>
                  </a:cxn>
                  <a:cxn ang="0">
                    <a:pos x="822" y="350"/>
                  </a:cxn>
                  <a:cxn ang="0">
                    <a:pos x="746" y="382"/>
                  </a:cxn>
                  <a:cxn ang="0">
                    <a:pos x="676" y="404"/>
                  </a:cxn>
                  <a:cxn ang="0">
                    <a:pos x="619" y="415"/>
                  </a:cxn>
                  <a:cxn ang="0">
                    <a:pos x="571" y="421"/>
                  </a:cxn>
                  <a:cxn ang="0">
                    <a:pos x="517" y="427"/>
                  </a:cxn>
                  <a:cxn ang="0">
                    <a:pos x="427" y="430"/>
                  </a:cxn>
                  <a:cxn ang="0">
                    <a:pos x="344" y="423"/>
                  </a:cxn>
                  <a:cxn ang="0">
                    <a:pos x="259" y="410"/>
                  </a:cxn>
                  <a:cxn ang="0">
                    <a:pos x="177" y="388"/>
                  </a:cxn>
                  <a:cxn ang="0">
                    <a:pos x="105" y="358"/>
                  </a:cxn>
                  <a:cxn ang="0">
                    <a:pos x="41" y="325"/>
                  </a:cxn>
                  <a:cxn ang="0">
                    <a:pos x="0" y="294"/>
                  </a:cxn>
                  <a:cxn ang="0">
                    <a:pos x="0" y="0"/>
                  </a:cxn>
                  <a:cxn ang="0">
                    <a:pos x="46" y="25"/>
                  </a:cxn>
                  <a:cxn ang="0">
                    <a:pos x="105" y="47"/>
                  </a:cxn>
                  <a:cxn ang="0">
                    <a:pos x="175" y="66"/>
                  </a:cxn>
                  <a:cxn ang="0">
                    <a:pos x="244" y="81"/>
                  </a:cxn>
                  <a:cxn ang="0">
                    <a:pos x="314" y="89"/>
                  </a:cxn>
                  <a:cxn ang="0">
                    <a:pos x="361" y="93"/>
                  </a:cxn>
                  <a:cxn ang="0">
                    <a:pos x="401" y="95"/>
                  </a:cxn>
                  <a:cxn ang="0">
                    <a:pos x="471" y="95"/>
                  </a:cxn>
                  <a:cxn ang="0">
                    <a:pos x="515" y="92"/>
                  </a:cxn>
                  <a:cxn ang="0">
                    <a:pos x="555" y="87"/>
                  </a:cxn>
                  <a:cxn ang="0">
                    <a:pos x="600" y="84"/>
                  </a:cxn>
                  <a:cxn ang="0">
                    <a:pos x="640" y="76"/>
                  </a:cxn>
                  <a:cxn ang="0">
                    <a:pos x="689" y="67"/>
                  </a:cxn>
                  <a:cxn ang="0">
                    <a:pos x="733" y="55"/>
                  </a:cxn>
                  <a:cxn ang="0">
                    <a:pos x="777" y="41"/>
                  </a:cxn>
                  <a:cxn ang="0">
                    <a:pos x="815" y="27"/>
                  </a:cxn>
                </a:cxnLst>
                <a:rect l="0" t="0" r="r" b="b"/>
                <a:pathLst>
                  <a:path w="823" h="431">
                    <a:moveTo>
                      <a:pt x="815" y="27"/>
                    </a:moveTo>
                    <a:lnTo>
                      <a:pt x="822" y="350"/>
                    </a:lnTo>
                    <a:lnTo>
                      <a:pt x="746" y="382"/>
                    </a:lnTo>
                    <a:lnTo>
                      <a:pt x="676" y="404"/>
                    </a:lnTo>
                    <a:lnTo>
                      <a:pt x="619" y="415"/>
                    </a:lnTo>
                    <a:lnTo>
                      <a:pt x="571" y="421"/>
                    </a:lnTo>
                    <a:lnTo>
                      <a:pt x="517" y="427"/>
                    </a:lnTo>
                    <a:lnTo>
                      <a:pt x="427" y="430"/>
                    </a:lnTo>
                    <a:lnTo>
                      <a:pt x="344" y="423"/>
                    </a:lnTo>
                    <a:lnTo>
                      <a:pt x="259" y="410"/>
                    </a:lnTo>
                    <a:lnTo>
                      <a:pt x="177" y="388"/>
                    </a:lnTo>
                    <a:lnTo>
                      <a:pt x="105" y="358"/>
                    </a:lnTo>
                    <a:lnTo>
                      <a:pt x="41" y="325"/>
                    </a:lnTo>
                    <a:lnTo>
                      <a:pt x="0" y="294"/>
                    </a:lnTo>
                    <a:lnTo>
                      <a:pt x="0" y="0"/>
                    </a:lnTo>
                    <a:lnTo>
                      <a:pt x="46" y="25"/>
                    </a:lnTo>
                    <a:lnTo>
                      <a:pt x="105" y="47"/>
                    </a:lnTo>
                    <a:lnTo>
                      <a:pt x="175" y="66"/>
                    </a:lnTo>
                    <a:lnTo>
                      <a:pt x="244" y="81"/>
                    </a:lnTo>
                    <a:lnTo>
                      <a:pt x="314" y="89"/>
                    </a:lnTo>
                    <a:lnTo>
                      <a:pt x="361" y="93"/>
                    </a:lnTo>
                    <a:lnTo>
                      <a:pt x="401" y="95"/>
                    </a:lnTo>
                    <a:lnTo>
                      <a:pt x="471" y="95"/>
                    </a:lnTo>
                    <a:lnTo>
                      <a:pt x="515" y="92"/>
                    </a:lnTo>
                    <a:lnTo>
                      <a:pt x="555" y="87"/>
                    </a:lnTo>
                    <a:lnTo>
                      <a:pt x="600" y="84"/>
                    </a:lnTo>
                    <a:lnTo>
                      <a:pt x="640" y="76"/>
                    </a:lnTo>
                    <a:lnTo>
                      <a:pt x="689" y="67"/>
                    </a:lnTo>
                    <a:lnTo>
                      <a:pt x="733" y="55"/>
                    </a:lnTo>
                    <a:lnTo>
                      <a:pt x="777" y="41"/>
                    </a:lnTo>
                    <a:lnTo>
                      <a:pt x="815" y="27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8" name="Freeform 36"/>
              <p:cNvSpPr>
                <a:spLocks/>
              </p:cNvSpPr>
              <p:nvPr/>
            </p:nvSpPr>
            <p:spPr bwMode="ltGray">
              <a:xfrm>
                <a:off x="102" y="1389"/>
                <a:ext cx="551" cy="340"/>
              </a:xfrm>
              <a:custGeom>
                <a:avLst/>
                <a:gdLst/>
                <a:ahLst/>
                <a:cxnLst>
                  <a:cxn ang="0">
                    <a:pos x="16" y="53"/>
                  </a:cxn>
                  <a:cxn ang="0">
                    <a:pos x="0" y="122"/>
                  </a:cxn>
                  <a:cxn ang="0">
                    <a:pos x="10" y="146"/>
                  </a:cxn>
                  <a:cxn ang="0">
                    <a:pos x="33" y="184"/>
                  </a:cxn>
                  <a:cxn ang="0">
                    <a:pos x="57" y="217"/>
                  </a:cxn>
                  <a:cxn ang="0">
                    <a:pos x="85" y="244"/>
                  </a:cxn>
                  <a:cxn ang="0">
                    <a:pos x="120" y="271"/>
                  </a:cxn>
                  <a:cxn ang="0">
                    <a:pos x="153" y="290"/>
                  </a:cxn>
                  <a:cxn ang="0">
                    <a:pos x="189" y="309"/>
                  </a:cxn>
                  <a:cxn ang="0">
                    <a:pos x="235" y="325"/>
                  </a:cxn>
                  <a:cxn ang="0">
                    <a:pos x="270" y="333"/>
                  </a:cxn>
                  <a:cxn ang="0">
                    <a:pos x="312" y="339"/>
                  </a:cxn>
                  <a:cxn ang="0">
                    <a:pos x="351" y="339"/>
                  </a:cxn>
                  <a:cxn ang="0">
                    <a:pos x="393" y="334"/>
                  </a:cxn>
                  <a:cxn ang="0">
                    <a:pos x="436" y="322"/>
                  </a:cxn>
                  <a:cxn ang="0">
                    <a:pos x="475" y="303"/>
                  </a:cxn>
                  <a:cxn ang="0">
                    <a:pos x="498" y="287"/>
                  </a:cxn>
                  <a:cxn ang="0">
                    <a:pos x="526" y="263"/>
                  </a:cxn>
                  <a:cxn ang="0">
                    <a:pos x="541" y="243"/>
                  </a:cxn>
                  <a:cxn ang="0">
                    <a:pos x="550" y="227"/>
                  </a:cxn>
                  <a:cxn ang="0">
                    <a:pos x="550" y="209"/>
                  </a:cxn>
                  <a:cxn ang="0">
                    <a:pos x="544" y="187"/>
                  </a:cxn>
                  <a:cxn ang="0">
                    <a:pos x="532" y="171"/>
                  </a:cxn>
                  <a:cxn ang="0">
                    <a:pos x="523" y="135"/>
                  </a:cxn>
                  <a:cxn ang="0">
                    <a:pos x="519" y="116"/>
                  </a:cxn>
                  <a:cxn ang="0">
                    <a:pos x="267" y="133"/>
                  </a:cxn>
                  <a:cxn ang="0">
                    <a:pos x="234" y="126"/>
                  </a:cxn>
                  <a:cxn ang="0">
                    <a:pos x="193" y="114"/>
                  </a:cxn>
                  <a:cxn ang="0">
                    <a:pos x="162" y="97"/>
                  </a:cxn>
                  <a:cxn ang="0">
                    <a:pos x="129" y="77"/>
                  </a:cxn>
                  <a:cxn ang="0">
                    <a:pos x="97" y="48"/>
                  </a:cxn>
                  <a:cxn ang="0">
                    <a:pos x="78" y="24"/>
                  </a:cxn>
                  <a:cxn ang="0">
                    <a:pos x="60" y="0"/>
                  </a:cxn>
                  <a:cxn ang="0">
                    <a:pos x="16" y="53"/>
                  </a:cxn>
                </a:cxnLst>
                <a:rect l="0" t="0" r="r" b="b"/>
                <a:pathLst>
                  <a:path w="551" h="340">
                    <a:moveTo>
                      <a:pt x="16" y="53"/>
                    </a:moveTo>
                    <a:lnTo>
                      <a:pt x="0" y="122"/>
                    </a:lnTo>
                    <a:lnTo>
                      <a:pt x="10" y="146"/>
                    </a:lnTo>
                    <a:lnTo>
                      <a:pt x="33" y="184"/>
                    </a:lnTo>
                    <a:lnTo>
                      <a:pt x="57" y="217"/>
                    </a:lnTo>
                    <a:lnTo>
                      <a:pt x="85" y="244"/>
                    </a:lnTo>
                    <a:lnTo>
                      <a:pt x="120" y="271"/>
                    </a:lnTo>
                    <a:lnTo>
                      <a:pt x="153" y="290"/>
                    </a:lnTo>
                    <a:lnTo>
                      <a:pt x="189" y="309"/>
                    </a:lnTo>
                    <a:lnTo>
                      <a:pt x="235" y="325"/>
                    </a:lnTo>
                    <a:lnTo>
                      <a:pt x="270" y="333"/>
                    </a:lnTo>
                    <a:lnTo>
                      <a:pt x="312" y="339"/>
                    </a:lnTo>
                    <a:lnTo>
                      <a:pt x="351" y="339"/>
                    </a:lnTo>
                    <a:lnTo>
                      <a:pt x="393" y="334"/>
                    </a:lnTo>
                    <a:lnTo>
                      <a:pt x="436" y="322"/>
                    </a:lnTo>
                    <a:lnTo>
                      <a:pt x="475" y="303"/>
                    </a:lnTo>
                    <a:lnTo>
                      <a:pt x="498" y="287"/>
                    </a:lnTo>
                    <a:lnTo>
                      <a:pt x="526" y="263"/>
                    </a:lnTo>
                    <a:lnTo>
                      <a:pt x="541" y="243"/>
                    </a:lnTo>
                    <a:lnTo>
                      <a:pt x="550" y="227"/>
                    </a:lnTo>
                    <a:lnTo>
                      <a:pt x="550" y="209"/>
                    </a:lnTo>
                    <a:lnTo>
                      <a:pt x="544" y="187"/>
                    </a:lnTo>
                    <a:lnTo>
                      <a:pt x="532" y="171"/>
                    </a:lnTo>
                    <a:lnTo>
                      <a:pt x="523" y="135"/>
                    </a:lnTo>
                    <a:lnTo>
                      <a:pt x="519" y="116"/>
                    </a:lnTo>
                    <a:lnTo>
                      <a:pt x="267" y="133"/>
                    </a:lnTo>
                    <a:lnTo>
                      <a:pt x="234" y="126"/>
                    </a:lnTo>
                    <a:lnTo>
                      <a:pt x="193" y="114"/>
                    </a:lnTo>
                    <a:lnTo>
                      <a:pt x="162" y="97"/>
                    </a:lnTo>
                    <a:lnTo>
                      <a:pt x="129" y="77"/>
                    </a:lnTo>
                    <a:lnTo>
                      <a:pt x="97" y="48"/>
                    </a:lnTo>
                    <a:lnTo>
                      <a:pt x="78" y="24"/>
                    </a:lnTo>
                    <a:lnTo>
                      <a:pt x="60" y="0"/>
                    </a:lnTo>
                    <a:lnTo>
                      <a:pt x="16" y="53"/>
                    </a:lnTo>
                  </a:path>
                </a:pathLst>
              </a:custGeom>
              <a:gradFill rotWithShape="0">
                <a:gsLst>
                  <a:gs pos="0">
                    <a:schemeClr val="hlink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9" name="Freeform 37"/>
              <p:cNvSpPr>
                <a:spLocks/>
              </p:cNvSpPr>
              <p:nvPr/>
            </p:nvSpPr>
            <p:spPr bwMode="ltGray">
              <a:xfrm>
                <a:off x="82" y="976"/>
                <a:ext cx="475" cy="552"/>
              </a:xfrm>
              <a:custGeom>
                <a:avLst/>
                <a:gdLst/>
                <a:ahLst/>
                <a:cxnLst>
                  <a:cxn ang="0">
                    <a:pos x="474" y="0"/>
                  </a:cxn>
                  <a:cxn ang="0">
                    <a:pos x="474" y="294"/>
                  </a:cxn>
                  <a:cxn ang="0">
                    <a:pos x="446" y="291"/>
                  </a:cxn>
                  <a:cxn ang="0">
                    <a:pos x="411" y="293"/>
                  </a:cxn>
                  <a:cxn ang="0">
                    <a:pos x="353" y="299"/>
                  </a:cxn>
                  <a:cxn ang="0">
                    <a:pos x="296" y="310"/>
                  </a:cxn>
                  <a:cxn ang="0">
                    <a:pos x="243" y="323"/>
                  </a:cxn>
                  <a:cxn ang="0">
                    <a:pos x="200" y="339"/>
                  </a:cxn>
                  <a:cxn ang="0">
                    <a:pos x="149" y="364"/>
                  </a:cxn>
                  <a:cxn ang="0">
                    <a:pos x="110" y="390"/>
                  </a:cxn>
                  <a:cxn ang="0">
                    <a:pos x="81" y="415"/>
                  </a:cxn>
                  <a:cxn ang="0">
                    <a:pos x="60" y="439"/>
                  </a:cxn>
                  <a:cxn ang="0">
                    <a:pos x="47" y="461"/>
                  </a:cxn>
                  <a:cxn ang="0">
                    <a:pos x="35" y="488"/>
                  </a:cxn>
                  <a:cxn ang="0">
                    <a:pos x="30" y="513"/>
                  </a:cxn>
                  <a:cxn ang="0">
                    <a:pos x="23" y="551"/>
                  </a:cxn>
                  <a:cxn ang="0">
                    <a:pos x="17" y="518"/>
                  </a:cxn>
                  <a:cxn ang="0">
                    <a:pos x="8" y="481"/>
                  </a:cxn>
                  <a:cxn ang="0">
                    <a:pos x="5" y="453"/>
                  </a:cxn>
                  <a:cxn ang="0">
                    <a:pos x="0" y="420"/>
                  </a:cxn>
                  <a:cxn ang="0">
                    <a:pos x="2" y="393"/>
                  </a:cxn>
                  <a:cxn ang="0">
                    <a:pos x="8" y="361"/>
                  </a:cxn>
                  <a:cxn ang="0">
                    <a:pos x="15" y="317"/>
                  </a:cxn>
                  <a:cxn ang="0">
                    <a:pos x="30" y="279"/>
                  </a:cxn>
                  <a:cxn ang="0">
                    <a:pos x="50" y="238"/>
                  </a:cxn>
                  <a:cxn ang="0">
                    <a:pos x="75" y="196"/>
                  </a:cxn>
                  <a:cxn ang="0">
                    <a:pos x="111" y="152"/>
                  </a:cxn>
                  <a:cxn ang="0">
                    <a:pos x="152" y="116"/>
                  </a:cxn>
                  <a:cxn ang="0">
                    <a:pos x="188" y="87"/>
                  </a:cxn>
                  <a:cxn ang="0">
                    <a:pos x="233" y="60"/>
                  </a:cxn>
                  <a:cxn ang="0">
                    <a:pos x="279" y="40"/>
                  </a:cxn>
                  <a:cxn ang="0">
                    <a:pos x="333" y="21"/>
                  </a:cxn>
                  <a:cxn ang="0">
                    <a:pos x="380" y="10"/>
                  </a:cxn>
                  <a:cxn ang="0">
                    <a:pos x="435" y="3"/>
                  </a:cxn>
                  <a:cxn ang="0">
                    <a:pos x="474" y="0"/>
                  </a:cxn>
                </a:cxnLst>
                <a:rect l="0" t="0" r="r" b="b"/>
                <a:pathLst>
                  <a:path w="475" h="552">
                    <a:moveTo>
                      <a:pt x="474" y="0"/>
                    </a:moveTo>
                    <a:lnTo>
                      <a:pt x="474" y="294"/>
                    </a:lnTo>
                    <a:lnTo>
                      <a:pt x="446" y="291"/>
                    </a:lnTo>
                    <a:lnTo>
                      <a:pt x="411" y="293"/>
                    </a:lnTo>
                    <a:lnTo>
                      <a:pt x="353" y="299"/>
                    </a:lnTo>
                    <a:lnTo>
                      <a:pt x="296" y="310"/>
                    </a:lnTo>
                    <a:lnTo>
                      <a:pt x="243" y="323"/>
                    </a:lnTo>
                    <a:lnTo>
                      <a:pt x="200" y="339"/>
                    </a:lnTo>
                    <a:lnTo>
                      <a:pt x="149" y="364"/>
                    </a:lnTo>
                    <a:lnTo>
                      <a:pt x="110" y="390"/>
                    </a:lnTo>
                    <a:lnTo>
                      <a:pt x="81" y="415"/>
                    </a:lnTo>
                    <a:lnTo>
                      <a:pt x="60" y="439"/>
                    </a:lnTo>
                    <a:lnTo>
                      <a:pt x="47" y="461"/>
                    </a:lnTo>
                    <a:lnTo>
                      <a:pt x="35" y="488"/>
                    </a:lnTo>
                    <a:lnTo>
                      <a:pt x="30" y="513"/>
                    </a:lnTo>
                    <a:lnTo>
                      <a:pt x="23" y="551"/>
                    </a:lnTo>
                    <a:lnTo>
                      <a:pt x="17" y="518"/>
                    </a:lnTo>
                    <a:lnTo>
                      <a:pt x="8" y="481"/>
                    </a:lnTo>
                    <a:lnTo>
                      <a:pt x="5" y="453"/>
                    </a:lnTo>
                    <a:lnTo>
                      <a:pt x="0" y="420"/>
                    </a:lnTo>
                    <a:lnTo>
                      <a:pt x="2" y="393"/>
                    </a:lnTo>
                    <a:lnTo>
                      <a:pt x="8" y="361"/>
                    </a:lnTo>
                    <a:lnTo>
                      <a:pt x="15" y="317"/>
                    </a:lnTo>
                    <a:lnTo>
                      <a:pt x="30" y="279"/>
                    </a:lnTo>
                    <a:lnTo>
                      <a:pt x="50" y="238"/>
                    </a:lnTo>
                    <a:lnTo>
                      <a:pt x="75" y="196"/>
                    </a:lnTo>
                    <a:lnTo>
                      <a:pt x="111" y="152"/>
                    </a:lnTo>
                    <a:lnTo>
                      <a:pt x="152" y="116"/>
                    </a:lnTo>
                    <a:lnTo>
                      <a:pt x="188" y="87"/>
                    </a:lnTo>
                    <a:lnTo>
                      <a:pt x="233" y="60"/>
                    </a:lnTo>
                    <a:lnTo>
                      <a:pt x="279" y="40"/>
                    </a:lnTo>
                    <a:lnTo>
                      <a:pt x="333" y="21"/>
                    </a:lnTo>
                    <a:lnTo>
                      <a:pt x="380" y="10"/>
                    </a:lnTo>
                    <a:lnTo>
                      <a:pt x="435" y="3"/>
                    </a:lnTo>
                    <a:lnTo>
                      <a:pt x="474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0" name="Freeform 38"/>
              <p:cNvSpPr>
                <a:spLocks/>
              </p:cNvSpPr>
              <p:nvPr/>
            </p:nvSpPr>
            <p:spPr bwMode="ltGray">
              <a:xfrm>
                <a:off x="370" y="1543"/>
                <a:ext cx="156" cy="118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21" y="19"/>
                  </a:cxn>
                  <a:cxn ang="0">
                    <a:pos x="3" y="46"/>
                  </a:cxn>
                  <a:cxn ang="0">
                    <a:pos x="0" y="70"/>
                  </a:cxn>
                  <a:cxn ang="0">
                    <a:pos x="0" y="84"/>
                  </a:cxn>
                  <a:cxn ang="0">
                    <a:pos x="9" y="100"/>
                  </a:cxn>
                  <a:cxn ang="0">
                    <a:pos x="29" y="108"/>
                  </a:cxn>
                  <a:cxn ang="0">
                    <a:pos x="50" y="114"/>
                  </a:cxn>
                  <a:cxn ang="0">
                    <a:pos x="69" y="117"/>
                  </a:cxn>
                  <a:cxn ang="0">
                    <a:pos x="86" y="117"/>
                  </a:cxn>
                  <a:cxn ang="0">
                    <a:pos x="114" y="112"/>
                  </a:cxn>
                  <a:cxn ang="0">
                    <a:pos x="134" y="107"/>
                  </a:cxn>
                  <a:cxn ang="0">
                    <a:pos x="146" y="98"/>
                  </a:cxn>
                  <a:cxn ang="0">
                    <a:pos x="153" y="90"/>
                  </a:cxn>
                  <a:cxn ang="0">
                    <a:pos x="155" y="78"/>
                  </a:cxn>
                  <a:cxn ang="0">
                    <a:pos x="153" y="60"/>
                  </a:cxn>
                  <a:cxn ang="0">
                    <a:pos x="146" y="11"/>
                  </a:cxn>
                  <a:cxn ang="0">
                    <a:pos x="72" y="0"/>
                  </a:cxn>
                </a:cxnLst>
                <a:rect l="0" t="0" r="r" b="b"/>
                <a:pathLst>
                  <a:path w="156" h="118">
                    <a:moveTo>
                      <a:pt x="72" y="0"/>
                    </a:moveTo>
                    <a:lnTo>
                      <a:pt x="21" y="19"/>
                    </a:lnTo>
                    <a:lnTo>
                      <a:pt x="3" y="46"/>
                    </a:lnTo>
                    <a:lnTo>
                      <a:pt x="0" y="70"/>
                    </a:lnTo>
                    <a:lnTo>
                      <a:pt x="0" y="84"/>
                    </a:lnTo>
                    <a:lnTo>
                      <a:pt x="9" y="100"/>
                    </a:lnTo>
                    <a:lnTo>
                      <a:pt x="29" y="108"/>
                    </a:lnTo>
                    <a:lnTo>
                      <a:pt x="50" y="114"/>
                    </a:lnTo>
                    <a:lnTo>
                      <a:pt x="69" y="117"/>
                    </a:lnTo>
                    <a:lnTo>
                      <a:pt x="86" y="117"/>
                    </a:lnTo>
                    <a:lnTo>
                      <a:pt x="114" y="112"/>
                    </a:lnTo>
                    <a:lnTo>
                      <a:pt x="134" y="107"/>
                    </a:lnTo>
                    <a:lnTo>
                      <a:pt x="146" y="98"/>
                    </a:lnTo>
                    <a:lnTo>
                      <a:pt x="153" y="90"/>
                    </a:lnTo>
                    <a:lnTo>
                      <a:pt x="155" y="78"/>
                    </a:lnTo>
                    <a:lnTo>
                      <a:pt x="153" y="60"/>
                    </a:lnTo>
                    <a:lnTo>
                      <a:pt x="146" y="11"/>
                    </a:lnTo>
                    <a:lnTo>
                      <a:pt x="72" y="0"/>
                    </a:lnTo>
                  </a:path>
                </a:pathLst>
              </a:custGeom>
              <a:gradFill rotWithShape="0">
                <a:gsLst>
                  <a:gs pos="0">
                    <a:schemeClr val="hlink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1" name="Freeform 39"/>
              <p:cNvSpPr>
                <a:spLocks/>
              </p:cNvSpPr>
              <p:nvPr/>
            </p:nvSpPr>
            <p:spPr bwMode="ltGray">
              <a:xfrm>
                <a:off x="442" y="1557"/>
                <a:ext cx="88" cy="74"/>
              </a:xfrm>
              <a:custGeom>
                <a:avLst/>
                <a:gdLst/>
                <a:ahLst/>
                <a:cxnLst>
                  <a:cxn ang="0">
                    <a:pos x="87" y="67"/>
                  </a:cxn>
                  <a:cxn ang="0">
                    <a:pos x="76" y="0"/>
                  </a:cxn>
                  <a:cxn ang="0">
                    <a:pos x="33" y="5"/>
                  </a:cxn>
                  <a:cxn ang="0">
                    <a:pos x="0" y="8"/>
                  </a:cxn>
                  <a:cxn ang="0">
                    <a:pos x="9" y="73"/>
                  </a:cxn>
                  <a:cxn ang="0">
                    <a:pos x="12" y="57"/>
                  </a:cxn>
                  <a:cxn ang="0">
                    <a:pos x="22" y="47"/>
                  </a:cxn>
                  <a:cxn ang="0">
                    <a:pos x="40" y="43"/>
                  </a:cxn>
                  <a:cxn ang="0">
                    <a:pos x="60" y="44"/>
                  </a:cxn>
                  <a:cxn ang="0">
                    <a:pos x="76" y="51"/>
                  </a:cxn>
                  <a:cxn ang="0">
                    <a:pos x="87" y="67"/>
                  </a:cxn>
                </a:cxnLst>
                <a:rect l="0" t="0" r="r" b="b"/>
                <a:pathLst>
                  <a:path w="88" h="74">
                    <a:moveTo>
                      <a:pt x="87" y="67"/>
                    </a:moveTo>
                    <a:lnTo>
                      <a:pt x="76" y="0"/>
                    </a:lnTo>
                    <a:lnTo>
                      <a:pt x="33" y="5"/>
                    </a:lnTo>
                    <a:lnTo>
                      <a:pt x="0" y="8"/>
                    </a:lnTo>
                    <a:lnTo>
                      <a:pt x="9" y="73"/>
                    </a:lnTo>
                    <a:lnTo>
                      <a:pt x="12" y="57"/>
                    </a:lnTo>
                    <a:lnTo>
                      <a:pt x="22" y="47"/>
                    </a:lnTo>
                    <a:lnTo>
                      <a:pt x="40" y="43"/>
                    </a:lnTo>
                    <a:lnTo>
                      <a:pt x="60" y="44"/>
                    </a:lnTo>
                    <a:lnTo>
                      <a:pt x="76" y="51"/>
                    </a:lnTo>
                    <a:lnTo>
                      <a:pt x="87" y="67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2" name="Freeform 40"/>
              <p:cNvSpPr>
                <a:spLocks/>
              </p:cNvSpPr>
              <p:nvPr/>
            </p:nvSpPr>
            <p:spPr bwMode="ltGray">
              <a:xfrm>
                <a:off x="334" y="1336"/>
                <a:ext cx="319" cy="286"/>
              </a:xfrm>
              <a:custGeom>
                <a:avLst/>
                <a:gdLst/>
                <a:ahLst/>
                <a:cxnLst>
                  <a:cxn ang="0">
                    <a:pos x="317" y="275"/>
                  </a:cxn>
                  <a:cxn ang="0">
                    <a:pos x="315" y="254"/>
                  </a:cxn>
                  <a:cxn ang="0">
                    <a:pos x="306" y="235"/>
                  </a:cxn>
                  <a:cxn ang="0">
                    <a:pos x="299" y="219"/>
                  </a:cxn>
                  <a:cxn ang="0">
                    <a:pos x="294" y="194"/>
                  </a:cxn>
                  <a:cxn ang="0">
                    <a:pos x="288" y="161"/>
                  </a:cxn>
                  <a:cxn ang="0">
                    <a:pos x="284" y="126"/>
                  </a:cxn>
                  <a:cxn ang="0">
                    <a:pos x="281" y="94"/>
                  </a:cxn>
                  <a:cxn ang="0">
                    <a:pos x="279" y="67"/>
                  </a:cxn>
                  <a:cxn ang="0">
                    <a:pos x="278" y="43"/>
                  </a:cxn>
                  <a:cxn ang="0">
                    <a:pos x="270" y="29"/>
                  </a:cxn>
                  <a:cxn ang="0">
                    <a:pos x="255" y="16"/>
                  </a:cxn>
                  <a:cxn ang="0">
                    <a:pos x="240" y="9"/>
                  </a:cxn>
                  <a:cxn ang="0">
                    <a:pos x="216" y="2"/>
                  </a:cxn>
                  <a:cxn ang="0">
                    <a:pos x="189" y="0"/>
                  </a:cxn>
                  <a:cxn ang="0">
                    <a:pos x="147" y="0"/>
                  </a:cxn>
                  <a:cxn ang="0">
                    <a:pos x="110" y="2"/>
                  </a:cxn>
                  <a:cxn ang="0">
                    <a:pos x="74" y="9"/>
                  </a:cxn>
                  <a:cxn ang="0">
                    <a:pos x="41" y="21"/>
                  </a:cxn>
                  <a:cxn ang="0">
                    <a:pos x="20" y="35"/>
                  </a:cxn>
                  <a:cxn ang="0">
                    <a:pos x="8" y="47"/>
                  </a:cxn>
                  <a:cxn ang="0">
                    <a:pos x="0" y="61"/>
                  </a:cxn>
                  <a:cxn ang="0">
                    <a:pos x="2" y="75"/>
                  </a:cxn>
                  <a:cxn ang="0">
                    <a:pos x="5" y="89"/>
                  </a:cxn>
                  <a:cxn ang="0">
                    <a:pos x="15" y="104"/>
                  </a:cxn>
                  <a:cxn ang="0">
                    <a:pos x="23" y="123"/>
                  </a:cxn>
                  <a:cxn ang="0">
                    <a:pos x="27" y="149"/>
                  </a:cxn>
                  <a:cxn ang="0">
                    <a:pos x="30" y="176"/>
                  </a:cxn>
                  <a:cxn ang="0">
                    <a:pos x="35" y="200"/>
                  </a:cxn>
                  <a:cxn ang="0">
                    <a:pos x="36" y="235"/>
                  </a:cxn>
                  <a:cxn ang="0">
                    <a:pos x="38" y="265"/>
                  </a:cxn>
                  <a:cxn ang="0">
                    <a:pos x="38" y="285"/>
                  </a:cxn>
                  <a:cxn ang="0">
                    <a:pos x="48" y="260"/>
                  </a:cxn>
                  <a:cxn ang="0">
                    <a:pos x="68" y="248"/>
                  </a:cxn>
                  <a:cxn ang="0">
                    <a:pos x="86" y="241"/>
                  </a:cxn>
                  <a:cxn ang="0">
                    <a:pos x="108" y="236"/>
                  </a:cxn>
                  <a:cxn ang="0">
                    <a:pos x="143" y="229"/>
                  </a:cxn>
                  <a:cxn ang="0">
                    <a:pos x="177" y="228"/>
                  </a:cxn>
                  <a:cxn ang="0">
                    <a:pos x="197" y="228"/>
                  </a:cxn>
                  <a:cxn ang="0">
                    <a:pos x="228" y="230"/>
                  </a:cxn>
                  <a:cxn ang="0">
                    <a:pos x="264" y="237"/>
                  </a:cxn>
                  <a:cxn ang="0">
                    <a:pos x="287" y="246"/>
                  </a:cxn>
                  <a:cxn ang="0">
                    <a:pos x="302" y="255"/>
                  </a:cxn>
                  <a:cxn ang="0">
                    <a:pos x="318" y="268"/>
                  </a:cxn>
                </a:cxnLst>
                <a:rect l="0" t="0" r="r" b="b"/>
                <a:pathLst>
                  <a:path w="319" h="286">
                    <a:moveTo>
                      <a:pt x="317" y="275"/>
                    </a:moveTo>
                    <a:lnTo>
                      <a:pt x="315" y="254"/>
                    </a:lnTo>
                    <a:lnTo>
                      <a:pt x="306" y="235"/>
                    </a:lnTo>
                    <a:lnTo>
                      <a:pt x="299" y="219"/>
                    </a:lnTo>
                    <a:lnTo>
                      <a:pt x="294" y="194"/>
                    </a:lnTo>
                    <a:lnTo>
                      <a:pt x="288" y="161"/>
                    </a:lnTo>
                    <a:lnTo>
                      <a:pt x="284" y="126"/>
                    </a:lnTo>
                    <a:lnTo>
                      <a:pt x="281" y="94"/>
                    </a:lnTo>
                    <a:lnTo>
                      <a:pt x="279" y="67"/>
                    </a:lnTo>
                    <a:lnTo>
                      <a:pt x="278" y="43"/>
                    </a:lnTo>
                    <a:lnTo>
                      <a:pt x="270" y="29"/>
                    </a:lnTo>
                    <a:lnTo>
                      <a:pt x="255" y="16"/>
                    </a:lnTo>
                    <a:lnTo>
                      <a:pt x="240" y="9"/>
                    </a:lnTo>
                    <a:lnTo>
                      <a:pt x="216" y="2"/>
                    </a:lnTo>
                    <a:lnTo>
                      <a:pt x="189" y="0"/>
                    </a:lnTo>
                    <a:lnTo>
                      <a:pt x="147" y="0"/>
                    </a:lnTo>
                    <a:lnTo>
                      <a:pt x="110" y="2"/>
                    </a:lnTo>
                    <a:lnTo>
                      <a:pt x="74" y="9"/>
                    </a:lnTo>
                    <a:lnTo>
                      <a:pt x="41" y="21"/>
                    </a:lnTo>
                    <a:lnTo>
                      <a:pt x="20" y="35"/>
                    </a:lnTo>
                    <a:lnTo>
                      <a:pt x="8" y="47"/>
                    </a:lnTo>
                    <a:lnTo>
                      <a:pt x="0" y="61"/>
                    </a:lnTo>
                    <a:lnTo>
                      <a:pt x="2" y="75"/>
                    </a:lnTo>
                    <a:lnTo>
                      <a:pt x="5" y="89"/>
                    </a:lnTo>
                    <a:lnTo>
                      <a:pt x="15" y="104"/>
                    </a:lnTo>
                    <a:lnTo>
                      <a:pt x="23" y="123"/>
                    </a:lnTo>
                    <a:lnTo>
                      <a:pt x="27" y="149"/>
                    </a:lnTo>
                    <a:lnTo>
                      <a:pt x="30" y="176"/>
                    </a:lnTo>
                    <a:lnTo>
                      <a:pt x="35" y="200"/>
                    </a:lnTo>
                    <a:lnTo>
                      <a:pt x="36" y="235"/>
                    </a:lnTo>
                    <a:lnTo>
                      <a:pt x="38" y="265"/>
                    </a:lnTo>
                    <a:lnTo>
                      <a:pt x="38" y="285"/>
                    </a:lnTo>
                    <a:lnTo>
                      <a:pt x="48" y="260"/>
                    </a:lnTo>
                    <a:lnTo>
                      <a:pt x="68" y="248"/>
                    </a:lnTo>
                    <a:lnTo>
                      <a:pt x="86" y="241"/>
                    </a:lnTo>
                    <a:lnTo>
                      <a:pt x="108" y="236"/>
                    </a:lnTo>
                    <a:lnTo>
                      <a:pt x="143" y="229"/>
                    </a:lnTo>
                    <a:lnTo>
                      <a:pt x="177" y="228"/>
                    </a:lnTo>
                    <a:lnTo>
                      <a:pt x="197" y="228"/>
                    </a:lnTo>
                    <a:lnTo>
                      <a:pt x="228" y="230"/>
                    </a:lnTo>
                    <a:lnTo>
                      <a:pt x="264" y="237"/>
                    </a:lnTo>
                    <a:lnTo>
                      <a:pt x="287" y="246"/>
                    </a:lnTo>
                    <a:lnTo>
                      <a:pt x="302" y="255"/>
                    </a:lnTo>
                    <a:lnTo>
                      <a:pt x="318" y="268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3" name="Freeform 41"/>
              <p:cNvSpPr>
                <a:spLocks/>
              </p:cNvSpPr>
              <p:nvPr/>
            </p:nvSpPr>
            <p:spPr bwMode="ltGray">
              <a:xfrm>
                <a:off x="5049" y="1394"/>
                <a:ext cx="551" cy="335"/>
              </a:xfrm>
              <a:custGeom>
                <a:avLst/>
                <a:gdLst/>
                <a:ahLst/>
                <a:cxnLst>
                  <a:cxn ang="0">
                    <a:pos x="534" y="48"/>
                  </a:cxn>
                  <a:cxn ang="0">
                    <a:pos x="550" y="117"/>
                  </a:cxn>
                  <a:cxn ang="0">
                    <a:pos x="540" y="142"/>
                  </a:cxn>
                  <a:cxn ang="0">
                    <a:pos x="517" y="179"/>
                  </a:cxn>
                  <a:cxn ang="0">
                    <a:pos x="493" y="212"/>
                  </a:cxn>
                  <a:cxn ang="0">
                    <a:pos x="465" y="239"/>
                  </a:cxn>
                  <a:cxn ang="0">
                    <a:pos x="430" y="267"/>
                  </a:cxn>
                  <a:cxn ang="0">
                    <a:pos x="397" y="286"/>
                  </a:cxn>
                  <a:cxn ang="0">
                    <a:pos x="361" y="304"/>
                  </a:cxn>
                  <a:cxn ang="0">
                    <a:pos x="315" y="320"/>
                  </a:cxn>
                  <a:cxn ang="0">
                    <a:pos x="280" y="328"/>
                  </a:cxn>
                  <a:cxn ang="0">
                    <a:pos x="238" y="334"/>
                  </a:cxn>
                  <a:cxn ang="0">
                    <a:pos x="199" y="334"/>
                  </a:cxn>
                  <a:cxn ang="0">
                    <a:pos x="157" y="329"/>
                  </a:cxn>
                  <a:cxn ang="0">
                    <a:pos x="114" y="317"/>
                  </a:cxn>
                  <a:cxn ang="0">
                    <a:pos x="75" y="298"/>
                  </a:cxn>
                  <a:cxn ang="0">
                    <a:pos x="52" y="282"/>
                  </a:cxn>
                  <a:cxn ang="0">
                    <a:pos x="24" y="258"/>
                  </a:cxn>
                  <a:cxn ang="0">
                    <a:pos x="9" y="238"/>
                  </a:cxn>
                  <a:cxn ang="0">
                    <a:pos x="0" y="222"/>
                  </a:cxn>
                  <a:cxn ang="0">
                    <a:pos x="0" y="204"/>
                  </a:cxn>
                  <a:cxn ang="0">
                    <a:pos x="6" y="182"/>
                  </a:cxn>
                  <a:cxn ang="0">
                    <a:pos x="18" y="166"/>
                  </a:cxn>
                  <a:cxn ang="0">
                    <a:pos x="27" y="131"/>
                  </a:cxn>
                  <a:cxn ang="0">
                    <a:pos x="31" y="112"/>
                  </a:cxn>
                  <a:cxn ang="0">
                    <a:pos x="283" y="128"/>
                  </a:cxn>
                  <a:cxn ang="0">
                    <a:pos x="316" y="122"/>
                  </a:cxn>
                  <a:cxn ang="0">
                    <a:pos x="357" y="109"/>
                  </a:cxn>
                  <a:cxn ang="0">
                    <a:pos x="388" y="93"/>
                  </a:cxn>
                  <a:cxn ang="0">
                    <a:pos x="421" y="73"/>
                  </a:cxn>
                  <a:cxn ang="0">
                    <a:pos x="453" y="44"/>
                  </a:cxn>
                  <a:cxn ang="0">
                    <a:pos x="472" y="19"/>
                  </a:cxn>
                  <a:cxn ang="0">
                    <a:pos x="486" y="0"/>
                  </a:cxn>
                  <a:cxn ang="0">
                    <a:pos x="534" y="48"/>
                  </a:cxn>
                </a:cxnLst>
                <a:rect l="0" t="0" r="r" b="b"/>
                <a:pathLst>
                  <a:path w="551" h="335">
                    <a:moveTo>
                      <a:pt x="534" y="48"/>
                    </a:moveTo>
                    <a:lnTo>
                      <a:pt x="550" y="117"/>
                    </a:lnTo>
                    <a:lnTo>
                      <a:pt x="540" y="142"/>
                    </a:lnTo>
                    <a:lnTo>
                      <a:pt x="517" y="179"/>
                    </a:lnTo>
                    <a:lnTo>
                      <a:pt x="493" y="212"/>
                    </a:lnTo>
                    <a:lnTo>
                      <a:pt x="465" y="239"/>
                    </a:lnTo>
                    <a:lnTo>
                      <a:pt x="430" y="267"/>
                    </a:lnTo>
                    <a:lnTo>
                      <a:pt x="397" y="286"/>
                    </a:lnTo>
                    <a:lnTo>
                      <a:pt x="361" y="304"/>
                    </a:lnTo>
                    <a:lnTo>
                      <a:pt x="315" y="320"/>
                    </a:lnTo>
                    <a:lnTo>
                      <a:pt x="280" y="328"/>
                    </a:lnTo>
                    <a:lnTo>
                      <a:pt x="238" y="334"/>
                    </a:lnTo>
                    <a:lnTo>
                      <a:pt x="199" y="334"/>
                    </a:lnTo>
                    <a:lnTo>
                      <a:pt x="157" y="329"/>
                    </a:lnTo>
                    <a:lnTo>
                      <a:pt x="114" y="317"/>
                    </a:lnTo>
                    <a:lnTo>
                      <a:pt x="75" y="298"/>
                    </a:lnTo>
                    <a:lnTo>
                      <a:pt x="52" y="282"/>
                    </a:lnTo>
                    <a:lnTo>
                      <a:pt x="24" y="258"/>
                    </a:lnTo>
                    <a:lnTo>
                      <a:pt x="9" y="238"/>
                    </a:lnTo>
                    <a:lnTo>
                      <a:pt x="0" y="222"/>
                    </a:lnTo>
                    <a:lnTo>
                      <a:pt x="0" y="204"/>
                    </a:lnTo>
                    <a:lnTo>
                      <a:pt x="6" y="182"/>
                    </a:lnTo>
                    <a:lnTo>
                      <a:pt x="18" y="166"/>
                    </a:lnTo>
                    <a:lnTo>
                      <a:pt x="27" y="131"/>
                    </a:lnTo>
                    <a:lnTo>
                      <a:pt x="31" y="112"/>
                    </a:lnTo>
                    <a:lnTo>
                      <a:pt x="283" y="128"/>
                    </a:lnTo>
                    <a:lnTo>
                      <a:pt x="316" y="122"/>
                    </a:lnTo>
                    <a:lnTo>
                      <a:pt x="357" y="109"/>
                    </a:lnTo>
                    <a:lnTo>
                      <a:pt x="388" y="93"/>
                    </a:lnTo>
                    <a:lnTo>
                      <a:pt x="421" y="73"/>
                    </a:lnTo>
                    <a:lnTo>
                      <a:pt x="453" y="44"/>
                    </a:lnTo>
                    <a:lnTo>
                      <a:pt x="472" y="19"/>
                    </a:lnTo>
                    <a:lnTo>
                      <a:pt x="486" y="0"/>
                    </a:lnTo>
                    <a:lnTo>
                      <a:pt x="534" y="48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100000">
                    <a:schemeClr val="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4" name="Freeform 42"/>
              <p:cNvSpPr>
                <a:spLocks/>
              </p:cNvSpPr>
              <p:nvPr/>
            </p:nvSpPr>
            <p:spPr bwMode="ltGray">
              <a:xfrm>
                <a:off x="5145" y="976"/>
                <a:ext cx="475" cy="55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94"/>
                  </a:cxn>
                  <a:cxn ang="0">
                    <a:pos x="28" y="291"/>
                  </a:cxn>
                  <a:cxn ang="0">
                    <a:pos x="63" y="293"/>
                  </a:cxn>
                  <a:cxn ang="0">
                    <a:pos x="121" y="299"/>
                  </a:cxn>
                  <a:cxn ang="0">
                    <a:pos x="178" y="310"/>
                  </a:cxn>
                  <a:cxn ang="0">
                    <a:pos x="231" y="323"/>
                  </a:cxn>
                  <a:cxn ang="0">
                    <a:pos x="274" y="339"/>
                  </a:cxn>
                  <a:cxn ang="0">
                    <a:pos x="325" y="364"/>
                  </a:cxn>
                  <a:cxn ang="0">
                    <a:pos x="364" y="390"/>
                  </a:cxn>
                  <a:cxn ang="0">
                    <a:pos x="393" y="415"/>
                  </a:cxn>
                  <a:cxn ang="0">
                    <a:pos x="414" y="439"/>
                  </a:cxn>
                  <a:cxn ang="0">
                    <a:pos x="427" y="461"/>
                  </a:cxn>
                  <a:cxn ang="0">
                    <a:pos x="439" y="488"/>
                  </a:cxn>
                  <a:cxn ang="0">
                    <a:pos x="444" y="513"/>
                  </a:cxn>
                  <a:cxn ang="0">
                    <a:pos x="451" y="551"/>
                  </a:cxn>
                  <a:cxn ang="0">
                    <a:pos x="457" y="518"/>
                  </a:cxn>
                  <a:cxn ang="0">
                    <a:pos x="466" y="481"/>
                  </a:cxn>
                  <a:cxn ang="0">
                    <a:pos x="469" y="453"/>
                  </a:cxn>
                  <a:cxn ang="0">
                    <a:pos x="474" y="420"/>
                  </a:cxn>
                  <a:cxn ang="0">
                    <a:pos x="472" y="393"/>
                  </a:cxn>
                  <a:cxn ang="0">
                    <a:pos x="466" y="361"/>
                  </a:cxn>
                  <a:cxn ang="0">
                    <a:pos x="459" y="317"/>
                  </a:cxn>
                  <a:cxn ang="0">
                    <a:pos x="444" y="279"/>
                  </a:cxn>
                  <a:cxn ang="0">
                    <a:pos x="424" y="238"/>
                  </a:cxn>
                  <a:cxn ang="0">
                    <a:pos x="399" y="196"/>
                  </a:cxn>
                  <a:cxn ang="0">
                    <a:pos x="363" y="152"/>
                  </a:cxn>
                  <a:cxn ang="0">
                    <a:pos x="322" y="116"/>
                  </a:cxn>
                  <a:cxn ang="0">
                    <a:pos x="286" y="87"/>
                  </a:cxn>
                  <a:cxn ang="0">
                    <a:pos x="241" y="60"/>
                  </a:cxn>
                  <a:cxn ang="0">
                    <a:pos x="195" y="40"/>
                  </a:cxn>
                  <a:cxn ang="0">
                    <a:pos x="141" y="21"/>
                  </a:cxn>
                  <a:cxn ang="0">
                    <a:pos x="94" y="10"/>
                  </a:cxn>
                  <a:cxn ang="0">
                    <a:pos x="39" y="3"/>
                  </a:cxn>
                  <a:cxn ang="0">
                    <a:pos x="0" y="0"/>
                  </a:cxn>
                </a:cxnLst>
                <a:rect l="0" t="0" r="r" b="b"/>
                <a:pathLst>
                  <a:path w="475" h="552">
                    <a:moveTo>
                      <a:pt x="0" y="0"/>
                    </a:moveTo>
                    <a:lnTo>
                      <a:pt x="0" y="294"/>
                    </a:lnTo>
                    <a:lnTo>
                      <a:pt x="28" y="291"/>
                    </a:lnTo>
                    <a:lnTo>
                      <a:pt x="63" y="293"/>
                    </a:lnTo>
                    <a:lnTo>
                      <a:pt x="121" y="299"/>
                    </a:lnTo>
                    <a:lnTo>
                      <a:pt x="178" y="310"/>
                    </a:lnTo>
                    <a:lnTo>
                      <a:pt x="231" y="323"/>
                    </a:lnTo>
                    <a:lnTo>
                      <a:pt x="274" y="339"/>
                    </a:lnTo>
                    <a:lnTo>
                      <a:pt x="325" y="364"/>
                    </a:lnTo>
                    <a:lnTo>
                      <a:pt x="364" y="390"/>
                    </a:lnTo>
                    <a:lnTo>
                      <a:pt x="393" y="415"/>
                    </a:lnTo>
                    <a:lnTo>
                      <a:pt x="414" y="439"/>
                    </a:lnTo>
                    <a:lnTo>
                      <a:pt x="427" y="461"/>
                    </a:lnTo>
                    <a:lnTo>
                      <a:pt x="439" y="488"/>
                    </a:lnTo>
                    <a:lnTo>
                      <a:pt x="444" y="513"/>
                    </a:lnTo>
                    <a:lnTo>
                      <a:pt x="451" y="551"/>
                    </a:lnTo>
                    <a:lnTo>
                      <a:pt x="457" y="518"/>
                    </a:lnTo>
                    <a:lnTo>
                      <a:pt x="466" y="481"/>
                    </a:lnTo>
                    <a:lnTo>
                      <a:pt x="469" y="453"/>
                    </a:lnTo>
                    <a:lnTo>
                      <a:pt x="474" y="420"/>
                    </a:lnTo>
                    <a:lnTo>
                      <a:pt x="472" y="393"/>
                    </a:lnTo>
                    <a:lnTo>
                      <a:pt x="466" y="361"/>
                    </a:lnTo>
                    <a:lnTo>
                      <a:pt x="459" y="317"/>
                    </a:lnTo>
                    <a:lnTo>
                      <a:pt x="444" y="279"/>
                    </a:lnTo>
                    <a:lnTo>
                      <a:pt x="424" y="238"/>
                    </a:lnTo>
                    <a:lnTo>
                      <a:pt x="399" y="196"/>
                    </a:lnTo>
                    <a:lnTo>
                      <a:pt x="363" y="152"/>
                    </a:lnTo>
                    <a:lnTo>
                      <a:pt x="322" y="116"/>
                    </a:lnTo>
                    <a:lnTo>
                      <a:pt x="286" y="87"/>
                    </a:lnTo>
                    <a:lnTo>
                      <a:pt x="241" y="60"/>
                    </a:lnTo>
                    <a:lnTo>
                      <a:pt x="195" y="40"/>
                    </a:lnTo>
                    <a:lnTo>
                      <a:pt x="141" y="21"/>
                    </a:lnTo>
                    <a:lnTo>
                      <a:pt x="94" y="10"/>
                    </a:lnTo>
                    <a:lnTo>
                      <a:pt x="39" y="3"/>
                    </a:lnTo>
                    <a:lnTo>
                      <a:pt x="0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5" name="Freeform 43"/>
              <p:cNvSpPr>
                <a:spLocks/>
              </p:cNvSpPr>
              <p:nvPr/>
            </p:nvSpPr>
            <p:spPr bwMode="ltGray">
              <a:xfrm>
                <a:off x="5176" y="1543"/>
                <a:ext cx="156" cy="118"/>
              </a:xfrm>
              <a:custGeom>
                <a:avLst/>
                <a:gdLst/>
                <a:ahLst/>
                <a:cxnLst>
                  <a:cxn ang="0">
                    <a:pos x="83" y="0"/>
                  </a:cxn>
                  <a:cxn ang="0">
                    <a:pos x="134" y="19"/>
                  </a:cxn>
                  <a:cxn ang="0">
                    <a:pos x="152" y="46"/>
                  </a:cxn>
                  <a:cxn ang="0">
                    <a:pos x="155" y="70"/>
                  </a:cxn>
                  <a:cxn ang="0">
                    <a:pos x="155" y="84"/>
                  </a:cxn>
                  <a:cxn ang="0">
                    <a:pos x="146" y="100"/>
                  </a:cxn>
                  <a:cxn ang="0">
                    <a:pos x="126" y="108"/>
                  </a:cxn>
                  <a:cxn ang="0">
                    <a:pos x="105" y="114"/>
                  </a:cxn>
                  <a:cxn ang="0">
                    <a:pos x="86" y="117"/>
                  </a:cxn>
                  <a:cxn ang="0">
                    <a:pos x="69" y="117"/>
                  </a:cxn>
                  <a:cxn ang="0">
                    <a:pos x="41" y="112"/>
                  </a:cxn>
                  <a:cxn ang="0">
                    <a:pos x="21" y="107"/>
                  </a:cxn>
                  <a:cxn ang="0">
                    <a:pos x="9" y="98"/>
                  </a:cxn>
                  <a:cxn ang="0">
                    <a:pos x="2" y="90"/>
                  </a:cxn>
                  <a:cxn ang="0">
                    <a:pos x="0" y="78"/>
                  </a:cxn>
                  <a:cxn ang="0">
                    <a:pos x="2" y="60"/>
                  </a:cxn>
                  <a:cxn ang="0">
                    <a:pos x="9" y="11"/>
                  </a:cxn>
                  <a:cxn ang="0">
                    <a:pos x="83" y="0"/>
                  </a:cxn>
                </a:cxnLst>
                <a:rect l="0" t="0" r="r" b="b"/>
                <a:pathLst>
                  <a:path w="156" h="118">
                    <a:moveTo>
                      <a:pt x="83" y="0"/>
                    </a:moveTo>
                    <a:lnTo>
                      <a:pt x="134" y="19"/>
                    </a:lnTo>
                    <a:lnTo>
                      <a:pt x="152" y="46"/>
                    </a:lnTo>
                    <a:lnTo>
                      <a:pt x="155" y="70"/>
                    </a:lnTo>
                    <a:lnTo>
                      <a:pt x="155" y="84"/>
                    </a:lnTo>
                    <a:lnTo>
                      <a:pt x="146" y="100"/>
                    </a:lnTo>
                    <a:lnTo>
                      <a:pt x="126" y="108"/>
                    </a:lnTo>
                    <a:lnTo>
                      <a:pt x="105" y="114"/>
                    </a:lnTo>
                    <a:lnTo>
                      <a:pt x="86" y="117"/>
                    </a:lnTo>
                    <a:lnTo>
                      <a:pt x="69" y="117"/>
                    </a:lnTo>
                    <a:lnTo>
                      <a:pt x="41" y="112"/>
                    </a:lnTo>
                    <a:lnTo>
                      <a:pt x="21" y="107"/>
                    </a:lnTo>
                    <a:lnTo>
                      <a:pt x="9" y="98"/>
                    </a:lnTo>
                    <a:lnTo>
                      <a:pt x="2" y="90"/>
                    </a:lnTo>
                    <a:lnTo>
                      <a:pt x="0" y="78"/>
                    </a:lnTo>
                    <a:lnTo>
                      <a:pt x="2" y="60"/>
                    </a:lnTo>
                    <a:lnTo>
                      <a:pt x="9" y="11"/>
                    </a:lnTo>
                    <a:lnTo>
                      <a:pt x="83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100000">
                    <a:schemeClr val="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6" name="Freeform 44"/>
              <p:cNvSpPr>
                <a:spLocks/>
              </p:cNvSpPr>
              <p:nvPr/>
            </p:nvSpPr>
            <p:spPr bwMode="ltGray">
              <a:xfrm>
                <a:off x="5172" y="1556"/>
                <a:ext cx="88" cy="74"/>
              </a:xfrm>
              <a:custGeom>
                <a:avLst/>
                <a:gdLst/>
                <a:ahLst/>
                <a:cxnLst>
                  <a:cxn ang="0">
                    <a:pos x="0" y="68"/>
                  </a:cxn>
                  <a:cxn ang="0">
                    <a:pos x="11" y="0"/>
                  </a:cxn>
                  <a:cxn ang="0">
                    <a:pos x="54" y="5"/>
                  </a:cxn>
                  <a:cxn ang="0">
                    <a:pos x="87" y="9"/>
                  </a:cxn>
                  <a:cxn ang="0">
                    <a:pos x="78" y="73"/>
                  </a:cxn>
                  <a:cxn ang="0">
                    <a:pos x="75" y="58"/>
                  </a:cxn>
                  <a:cxn ang="0">
                    <a:pos x="65" y="47"/>
                  </a:cxn>
                  <a:cxn ang="0">
                    <a:pos x="47" y="44"/>
                  </a:cxn>
                  <a:cxn ang="0">
                    <a:pos x="27" y="45"/>
                  </a:cxn>
                  <a:cxn ang="0">
                    <a:pos x="11" y="52"/>
                  </a:cxn>
                  <a:cxn ang="0">
                    <a:pos x="0" y="68"/>
                  </a:cxn>
                </a:cxnLst>
                <a:rect l="0" t="0" r="r" b="b"/>
                <a:pathLst>
                  <a:path w="88" h="74">
                    <a:moveTo>
                      <a:pt x="0" y="68"/>
                    </a:moveTo>
                    <a:lnTo>
                      <a:pt x="11" y="0"/>
                    </a:lnTo>
                    <a:lnTo>
                      <a:pt x="54" y="5"/>
                    </a:lnTo>
                    <a:lnTo>
                      <a:pt x="87" y="9"/>
                    </a:lnTo>
                    <a:lnTo>
                      <a:pt x="78" y="73"/>
                    </a:lnTo>
                    <a:lnTo>
                      <a:pt x="75" y="58"/>
                    </a:lnTo>
                    <a:lnTo>
                      <a:pt x="65" y="47"/>
                    </a:lnTo>
                    <a:lnTo>
                      <a:pt x="47" y="44"/>
                    </a:lnTo>
                    <a:lnTo>
                      <a:pt x="27" y="45"/>
                    </a:lnTo>
                    <a:lnTo>
                      <a:pt x="11" y="52"/>
                    </a:lnTo>
                    <a:lnTo>
                      <a:pt x="0" y="68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7" name="Freeform 45"/>
              <p:cNvSpPr>
                <a:spLocks/>
              </p:cNvSpPr>
              <p:nvPr/>
            </p:nvSpPr>
            <p:spPr bwMode="ltGray">
              <a:xfrm>
                <a:off x="5049" y="1336"/>
                <a:ext cx="319" cy="286"/>
              </a:xfrm>
              <a:custGeom>
                <a:avLst/>
                <a:gdLst/>
                <a:ahLst/>
                <a:cxnLst>
                  <a:cxn ang="0">
                    <a:pos x="1" y="275"/>
                  </a:cxn>
                  <a:cxn ang="0">
                    <a:pos x="3" y="254"/>
                  </a:cxn>
                  <a:cxn ang="0">
                    <a:pos x="12" y="235"/>
                  </a:cxn>
                  <a:cxn ang="0">
                    <a:pos x="19" y="219"/>
                  </a:cxn>
                  <a:cxn ang="0">
                    <a:pos x="24" y="194"/>
                  </a:cxn>
                  <a:cxn ang="0">
                    <a:pos x="30" y="161"/>
                  </a:cxn>
                  <a:cxn ang="0">
                    <a:pos x="34" y="126"/>
                  </a:cxn>
                  <a:cxn ang="0">
                    <a:pos x="37" y="94"/>
                  </a:cxn>
                  <a:cxn ang="0">
                    <a:pos x="39" y="67"/>
                  </a:cxn>
                  <a:cxn ang="0">
                    <a:pos x="40" y="43"/>
                  </a:cxn>
                  <a:cxn ang="0">
                    <a:pos x="48" y="29"/>
                  </a:cxn>
                  <a:cxn ang="0">
                    <a:pos x="63" y="16"/>
                  </a:cxn>
                  <a:cxn ang="0">
                    <a:pos x="78" y="9"/>
                  </a:cxn>
                  <a:cxn ang="0">
                    <a:pos x="102" y="2"/>
                  </a:cxn>
                  <a:cxn ang="0">
                    <a:pos x="129" y="0"/>
                  </a:cxn>
                  <a:cxn ang="0">
                    <a:pos x="171" y="0"/>
                  </a:cxn>
                  <a:cxn ang="0">
                    <a:pos x="208" y="2"/>
                  </a:cxn>
                  <a:cxn ang="0">
                    <a:pos x="244" y="9"/>
                  </a:cxn>
                  <a:cxn ang="0">
                    <a:pos x="277" y="21"/>
                  </a:cxn>
                  <a:cxn ang="0">
                    <a:pos x="298" y="35"/>
                  </a:cxn>
                  <a:cxn ang="0">
                    <a:pos x="310" y="47"/>
                  </a:cxn>
                  <a:cxn ang="0">
                    <a:pos x="318" y="61"/>
                  </a:cxn>
                  <a:cxn ang="0">
                    <a:pos x="316" y="75"/>
                  </a:cxn>
                  <a:cxn ang="0">
                    <a:pos x="313" y="89"/>
                  </a:cxn>
                  <a:cxn ang="0">
                    <a:pos x="303" y="104"/>
                  </a:cxn>
                  <a:cxn ang="0">
                    <a:pos x="295" y="123"/>
                  </a:cxn>
                  <a:cxn ang="0">
                    <a:pos x="291" y="149"/>
                  </a:cxn>
                  <a:cxn ang="0">
                    <a:pos x="288" y="176"/>
                  </a:cxn>
                  <a:cxn ang="0">
                    <a:pos x="283" y="200"/>
                  </a:cxn>
                  <a:cxn ang="0">
                    <a:pos x="282" y="235"/>
                  </a:cxn>
                  <a:cxn ang="0">
                    <a:pos x="280" y="265"/>
                  </a:cxn>
                  <a:cxn ang="0">
                    <a:pos x="280" y="285"/>
                  </a:cxn>
                  <a:cxn ang="0">
                    <a:pos x="270" y="260"/>
                  </a:cxn>
                  <a:cxn ang="0">
                    <a:pos x="250" y="248"/>
                  </a:cxn>
                  <a:cxn ang="0">
                    <a:pos x="232" y="241"/>
                  </a:cxn>
                  <a:cxn ang="0">
                    <a:pos x="210" y="236"/>
                  </a:cxn>
                  <a:cxn ang="0">
                    <a:pos x="175" y="229"/>
                  </a:cxn>
                  <a:cxn ang="0">
                    <a:pos x="141" y="228"/>
                  </a:cxn>
                  <a:cxn ang="0">
                    <a:pos x="121" y="228"/>
                  </a:cxn>
                  <a:cxn ang="0">
                    <a:pos x="90" y="230"/>
                  </a:cxn>
                  <a:cxn ang="0">
                    <a:pos x="54" y="237"/>
                  </a:cxn>
                  <a:cxn ang="0">
                    <a:pos x="31" y="246"/>
                  </a:cxn>
                  <a:cxn ang="0">
                    <a:pos x="16" y="255"/>
                  </a:cxn>
                  <a:cxn ang="0">
                    <a:pos x="0" y="268"/>
                  </a:cxn>
                </a:cxnLst>
                <a:rect l="0" t="0" r="r" b="b"/>
                <a:pathLst>
                  <a:path w="319" h="286">
                    <a:moveTo>
                      <a:pt x="1" y="275"/>
                    </a:moveTo>
                    <a:lnTo>
                      <a:pt x="3" y="254"/>
                    </a:lnTo>
                    <a:lnTo>
                      <a:pt x="12" y="235"/>
                    </a:lnTo>
                    <a:lnTo>
                      <a:pt x="19" y="219"/>
                    </a:lnTo>
                    <a:lnTo>
                      <a:pt x="24" y="194"/>
                    </a:lnTo>
                    <a:lnTo>
                      <a:pt x="30" y="161"/>
                    </a:lnTo>
                    <a:lnTo>
                      <a:pt x="34" y="126"/>
                    </a:lnTo>
                    <a:lnTo>
                      <a:pt x="37" y="94"/>
                    </a:lnTo>
                    <a:lnTo>
                      <a:pt x="39" y="67"/>
                    </a:lnTo>
                    <a:lnTo>
                      <a:pt x="40" y="43"/>
                    </a:lnTo>
                    <a:lnTo>
                      <a:pt x="48" y="29"/>
                    </a:lnTo>
                    <a:lnTo>
                      <a:pt x="63" y="16"/>
                    </a:lnTo>
                    <a:lnTo>
                      <a:pt x="78" y="9"/>
                    </a:lnTo>
                    <a:lnTo>
                      <a:pt x="102" y="2"/>
                    </a:lnTo>
                    <a:lnTo>
                      <a:pt x="129" y="0"/>
                    </a:lnTo>
                    <a:lnTo>
                      <a:pt x="171" y="0"/>
                    </a:lnTo>
                    <a:lnTo>
                      <a:pt x="208" y="2"/>
                    </a:lnTo>
                    <a:lnTo>
                      <a:pt x="244" y="9"/>
                    </a:lnTo>
                    <a:lnTo>
                      <a:pt x="277" y="21"/>
                    </a:lnTo>
                    <a:lnTo>
                      <a:pt x="298" y="35"/>
                    </a:lnTo>
                    <a:lnTo>
                      <a:pt x="310" y="47"/>
                    </a:lnTo>
                    <a:lnTo>
                      <a:pt x="318" y="61"/>
                    </a:lnTo>
                    <a:lnTo>
                      <a:pt x="316" y="75"/>
                    </a:lnTo>
                    <a:lnTo>
                      <a:pt x="313" y="89"/>
                    </a:lnTo>
                    <a:lnTo>
                      <a:pt x="303" y="104"/>
                    </a:lnTo>
                    <a:lnTo>
                      <a:pt x="295" y="123"/>
                    </a:lnTo>
                    <a:lnTo>
                      <a:pt x="291" y="149"/>
                    </a:lnTo>
                    <a:lnTo>
                      <a:pt x="288" y="176"/>
                    </a:lnTo>
                    <a:lnTo>
                      <a:pt x="283" y="200"/>
                    </a:lnTo>
                    <a:lnTo>
                      <a:pt x="282" y="235"/>
                    </a:lnTo>
                    <a:lnTo>
                      <a:pt x="280" y="265"/>
                    </a:lnTo>
                    <a:lnTo>
                      <a:pt x="280" y="285"/>
                    </a:lnTo>
                    <a:lnTo>
                      <a:pt x="270" y="260"/>
                    </a:lnTo>
                    <a:lnTo>
                      <a:pt x="250" y="248"/>
                    </a:lnTo>
                    <a:lnTo>
                      <a:pt x="232" y="241"/>
                    </a:lnTo>
                    <a:lnTo>
                      <a:pt x="210" y="236"/>
                    </a:lnTo>
                    <a:lnTo>
                      <a:pt x="175" y="229"/>
                    </a:lnTo>
                    <a:lnTo>
                      <a:pt x="141" y="228"/>
                    </a:lnTo>
                    <a:lnTo>
                      <a:pt x="121" y="228"/>
                    </a:lnTo>
                    <a:lnTo>
                      <a:pt x="90" y="230"/>
                    </a:lnTo>
                    <a:lnTo>
                      <a:pt x="54" y="237"/>
                    </a:lnTo>
                    <a:lnTo>
                      <a:pt x="31" y="246"/>
                    </a:lnTo>
                    <a:lnTo>
                      <a:pt x="16" y="255"/>
                    </a:lnTo>
                    <a:lnTo>
                      <a:pt x="0" y="268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28" name="Freeform 46"/>
              <p:cNvSpPr>
                <a:spLocks/>
              </p:cNvSpPr>
              <p:nvPr/>
            </p:nvSpPr>
            <p:spPr bwMode="ltGray">
              <a:xfrm>
                <a:off x="4319" y="976"/>
                <a:ext cx="832" cy="4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56"/>
                  </a:cxn>
                  <a:cxn ang="0">
                    <a:pos x="84" y="374"/>
                  </a:cxn>
                  <a:cxn ang="0">
                    <a:pos x="153" y="393"/>
                  </a:cxn>
                  <a:cxn ang="0">
                    <a:pos x="210" y="404"/>
                  </a:cxn>
                  <a:cxn ang="0">
                    <a:pos x="258" y="410"/>
                  </a:cxn>
                  <a:cxn ang="0">
                    <a:pos x="312" y="416"/>
                  </a:cxn>
                  <a:cxn ang="0">
                    <a:pos x="402" y="419"/>
                  </a:cxn>
                  <a:cxn ang="0">
                    <a:pos x="485" y="412"/>
                  </a:cxn>
                  <a:cxn ang="0">
                    <a:pos x="570" y="399"/>
                  </a:cxn>
                  <a:cxn ang="0">
                    <a:pos x="652" y="377"/>
                  </a:cxn>
                  <a:cxn ang="0">
                    <a:pos x="724" y="347"/>
                  </a:cxn>
                  <a:cxn ang="0">
                    <a:pos x="784" y="306"/>
                  </a:cxn>
                  <a:cxn ang="0">
                    <a:pos x="829" y="291"/>
                  </a:cxn>
                  <a:cxn ang="0">
                    <a:pos x="831" y="2"/>
                  </a:cxn>
                  <a:cxn ang="0">
                    <a:pos x="786" y="9"/>
                  </a:cxn>
                  <a:cxn ang="0">
                    <a:pos x="726" y="29"/>
                  </a:cxn>
                  <a:cxn ang="0">
                    <a:pos x="654" y="55"/>
                  </a:cxn>
                  <a:cxn ang="0">
                    <a:pos x="585" y="70"/>
                  </a:cxn>
                  <a:cxn ang="0">
                    <a:pos x="515" y="78"/>
                  </a:cxn>
                  <a:cxn ang="0">
                    <a:pos x="468" y="82"/>
                  </a:cxn>
                  <a:cxn ang="0">
                    <a:pos x="428" y="84"/>
                  </a:cxn>
                  <a:cxn ang="0">
                    <a:pos x="358" y="84"/>
                  </a:cxn>
                  <a:cxn ang="0">
                    <a:pos x="314" y="81"/>
                  </a:cxn>
                  <a:cxn ang="0">
                    <a:pos x="274" y="76"/>
                  </a:cxn>
                  <a:cxn ang="0">
                    <a:pos x="229" y="73"/>
                  </a:cxn>
                  <a:cxn ang="0">
                    <a:pos x="190" y="66"/>
                  </a:cxn>
                  <a:cxn ang="0">
                    <a:pos x="140" y="57"/>
                  </a:cxn>
                  <a:cxn ang="0">
                    <a:pos x="96" y="44"/>
                  </a:cxn>
                  <a:cxn ang="0">
                    <a:pos x="49" y="24"/>
                  </a:cxn>
                  <a:cxn ang="0">
                    <a:pos x="0" y="0"/>
                  </a:cxn>
                </a:cxnLst>
                <a:rect l="0" t="0" r="r" b="b"/>
                <a:pathLst>
                  <a:path w="832" h="420">
                    <a:moveTo>
                      <a:pt x="0" y="0"/>
                    </a:moveTo>
                    <a:lnTo>
                      <a:pt x="0" y="356"/>
                    </a:lnTo>
                    <a:lnTo>
                      <a:pt x="84" y="374"/>
                    </a:lnTo>
                    <a:lnTo>
                      <a:pt x="153" y="393"/>
                    </a:lnTo>
                    <a:lnTo>
                      <a:pt x="210" y="404"/>
                    </a:lnTo>
                    <a:lnTo>
                      <a:pt x="258" y="410"/>
                    </a:lnTo>
                    <a:lnTo>
                      <a:pt x="312" y="416"/>
                    </a:lnTo>
                    <a:lnTo>
                      <a:pt x="402" y="419"/>
                    </a:lnTo>
                    <a:lnTo>
                      <a:pt x="485" y="412"/>
                    </a:lnTo>
                    <a:lnTo>
                      <a:pt x="570" y="399"/>
                    </a:lnTo>
                    <a:lnTo>
                      <a:pt x="652" y="377"/>
                    </a:lnTo>
                    <a:lnTo>
                      <a:pt x="724" y="347"/>
                    </a:lnTo>
                    <a:lnTo>
                      <a:pt x="784" y="306"/>
                    </a:lnTo>
                    <a:lnTo>
                      <a:pt x="829" y="291"/>
                    </a:lnTo>
                    <a:lnTo>
                      <a:pt x="831" y="2"/>
                    </a:lnTo>
                    <a:lnTo>
                      <a:pt x="786" y="9"/>
                    </a:lnTo>
                    <a:lnTo>
                      <a:pt x="726" y="29"/>
                    </a:lnTo>
                    <a:lnTo>
                      <a:pt x="654" y="55"/>
                    </a:lnTo>
                    <a:lnTo>
                      <a:pt x="585" y="70"/>
                    </a:lnTo>
                    <a:lnTo>
                      <a:pt x="515" y="78"/>
                    </a:lnTo>
                    <a:lnTo>
                      <a:pt x="468" y="82"/>
                    </a:lnTo>
                    <a:lnTo>
                      <a:pt x="428" y="84"/>
                    </a:lnTo>
                    <a:lnTo>
                      <a:pt x="358" y="84"/>
                    </a:lnTo>
                    <a:lnTo>
                      <a:pt x="314" y="81"/>
                    </a:lnTo>
                    <a:lnTo>
                      <a:pt x="274" y="76"/>
                    </a:lnTo>
                    <a:lnTo>
                      <a:pt x="229" y="73"/>
                    </a:lnTo>
                    <a:lnTo>
                      <a:pt x="190" y="66"/>
                    </a:lnTo>
                    <a:lnTo>
                      <a:pt x="140" y="57"/>
                    </a:lnTo>
                    <a:lnTo>
                      <a:pt x="96" y="44"/>
                    </a:lnTo>
                    <a:lnTo>
                      <a:pt x="49" y="24"/>
                    </a:lnTo>
                    <a:lnTo>
                      <a:pt x="0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</p:grpSp>
      </p:grpSp>
      <p:sp>
        <p:nvSpPr>
          <p:cNvPr id="3121" name="Rectangle 49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22" name="Rectangle 5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" name="Rectangle 5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52" name="Rectangle 5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53" name="Rectangle 5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86117F-7378-437D-ADF0-222832E895EF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30165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5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6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92363C-31F1-45C1-A502-F373DB18E285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6985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5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6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F04EA9-CA77-431E-9874-1F82B0BBC0CF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47028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914400" y="22860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22860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6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7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1FE061-B348-4BFF-9CF4-6B8E44ED7BFC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1753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8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9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D959BA-232A-4C1B-9DE0-7626244AB8A5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39524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4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5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82AB76-C8A1-4BFB-B926-F95D4C512CD7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27972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3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4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E66AF7-F31C-46F3-AECD-589596BCE952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6259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6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7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DC75D5-44A6-46B0-AE2F-42CDDCC5AAAE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386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6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7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D670B5-E150-4B53-A92D-482B89DDAFB6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37756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5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6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3B2882-50C5-4FF2-9350-2E69ED233A97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53126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686800" y="914400"/>
            <a:ext cx="2590800" cy="54864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7569200" cy="54864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5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6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B5924F-96E3-461D-9453-2C666988C558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09223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914400" y="914400"/>
            <a:ext cx="10363200" cy="54864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4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5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0FA709-A654-47F5-A2FE-EA71B176C726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104001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Заголовок, текст и кли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32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914400" y="2286000"/>
            <a:ext cx="5080000" cy="4114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Клип 3"/>
          <p:cNvSpPr>
            <a:spLocks noGrp="1"/>
          </p:cNvSpPr>
          <p:nvPr>
            <p:ph type="clipArt" sz="half" idx="2"/>
          </p:nvPr>
        </p:nvSpPr>
        <p:spPr>
          <a:xfrm>
            <a:off x="6197600" y="2286000"/>
            <a:ext cx="5080000" cy="4114800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5" name="Rectangle 5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6" name="Rectangle 5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7" name="Rectangle 5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058D8F-4637-464B-9A4E-D54C42DE5749}" type="slidenum">
              <a:rPr lang="en-US">
                <a:solidFill>
                  <a:srgbClr val="F8F8F8"/>
                </a:solidFill>
              </a:rPr>
              <a:pPr/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360234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1094D6-1524-4F9C-B3D9-D3F394D534E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1505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D6A58B-A6BF-4CC0-B34C-A35232F2729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4292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F3FEE5-ED39-4761-998D-982FDCDC1C9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3573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A6FD58-B477-476B-8557-F177A2036EE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11665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59D6A1-ACBC-4665-BFFE-C1B2667D6A6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92369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E677C5-F434-4C04-B1C8-95E9726B664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27591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EEE48B-E417-4DAF-ABD9-B40CD3F2763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57275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49F8C5-A727-46C0-8DCD-13BF18671E12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25262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873E91-EC1A-4308-A7F2-F0FC1EECDDD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1305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32D53E-324C-433F-88B1-AE8EC0B4E6C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52167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8713F4-2D43-4120-B513-D3691110D972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158323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341C16-2C7B-45A7-8ECF-84DAFA8867E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94945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BA5FB7-EF63-42DD-8A7A-FB0DD2AB3E32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28692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D9FDF6-4528-4D36-9FA4-316232007D6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1041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4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219456" y="147085"/>
            <a:ext cx="11747795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1727200" y="6400800"/>
            <a:ext cx="5615517" cy="274638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  <a:latin typeface="Arial" charset="0"/>
              </a:defRPr>
            </a:lvl1pPr>
            <a:extLst/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676A55">
                  <a:tint val="60000"/>
                  <a:satMod val="155000"/>
                </a:srgbClr>
              </a:solidFill>
            </a:endParaRPr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7416801" y="6400800"/>
            <a:ext cx="4002617" cy="274638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  <a:latin typeface="Arial" charset="0"/>
              </a:defRPr>
            </a:lvl1pPr>
            <a:extLst/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1152CB9-6791-4C4E-9A3B-196A4EE05B84}" type="datetimeFigureOut">
              <a:rPr lang="ru-RU">
                <a:solidFill>
                  <a:srgbClr val="676A55">
                    <a:tint val="60000"/>
                    <a:satMod val="155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09.04.2019</a:t>
            </a:fld>
            <a:endParaRPr lang="ru-RU" dirty="0">
              <a:solidFill>
                <a:srgbClr val="676A55">
                  <a:tint val="60000"/>
                  <a:satMod val="155000"/>
                </a:srgbClr>
              </a:solidFill>
            </a:endParaRPr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11518900" y="6515100"/>
            <a:ext cx="61806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DFE0D4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568B800-D43B-4395-A7C2-F7DC6D529246}" type="slidenum">
              <a:rPr lang="ru-RU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ru-RU">
              <a:latin typeface="Arial" panose="020B0604020202020204" pitchFamily="34" charset="0"/>
            </a:endParaRPr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609600" y="254000"/>
            <a:ext cx="109728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33" name="Текст 12"/>
          <p:cNvSpPr>
            <a:spLocks noGrp="1"/>
          </p:cNvSpPr>
          <p:nvPr>
            <p:ph type="body" idx="1"/>
          </p:nvPr>
        </p:nvSpPr>
        <p:spPr bwMode="auto">
          <a:xfrm>
            <a:off x="609600" y="16462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6448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</p:sldLayoutIdLst>
  <p:txStyles>
    <p:titleStyle>
      <a:lvl1pPr marL="53975" indent="-53975" algn="r" rtl="0" eaLnBrk="0" fontAlgn="base" hangingPunct="0">
        <a:spcBef>
          <a:spcPct val="0"/>
        </a:spcBef>
        <a:spcAft>
          <a:spcPct val="0"/>
        </a:spcAft>
        <a:defRPr sz="4600" kern="1200">
          <a:solidFill>
            <a:srgbClr val="E7EACB"/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lvl2pPr marL="53975" indent="-53975" algn="r" rtl="0" eaLnBrk="0" fontAlgn="base" hangingPunct="0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Cambria" pitchFamily="18" charset="0"/>
        </a:defRPr>
      </a:lvl2pPr>
      <a:lvl3pPr marL="53975" indent="-53975" algn="r" rtl="0" eaLnBrk="0" fontAlgn="base" hangingPunct="0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Cambria" pitchFamily="18" charset="0"/>
        </a:defRPr>
      </a:lvl3pPr>
      <a:lvl4pPr marL="53975" indent="-53975" algn="r" rtl="0" eaLnBrk="0" fontAlgn="base" hangingPunct="0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Cambria" pitchFamily="18" charset="0"/>
        </a:defRPr>
      </a:lvl4pPr>
      <a:lvl5pPr marL="53975" indent="-53975" algn="r" rtl="0" eaLnBrk="0" fontAlgn="base" hangingPunct="0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Cambria" pitchFamily="18" charset="0"/>
        </a:defRPr>
      </a:lvl5pPr>
      <a:lvl6pPr marL="511175" indent="-53975" algn="r" rtl="0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Cambria" pitchFamily="18" charset="0"/>
        </a:defRPr>
      </a:lvl6pPr>
      <a:lvl7pPr marL="968375" indent="-53975" algn="r" rtl="0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Cambria" pitchFamily="18" charset="0"/>
        </a:defRPr>
      </a:lvl7pPr>
      <a:lvl8pPr marL="1425575" indent="-53975" algn="r" rtl="0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Cambria" pitchFamily="18" charset="0"/>
        </a:defRPr>
      </a:lvl8pPr>
      <a:lvl9pPr marL="1882775" indent="-53975" algn="r" rtl="0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Cambria" pitchFamily="18" charset="0"/>
        </a:defRPr>
      </a:lvl9pPr>
      <a:extLst/>
    </p:titleStyle>
    <p:bodyStyle>
      <a:lvl1pPr marL="292100" indent="-292100" algn="l" rtl="0" eaLnBrk="0" fontAlgn="base" hangingPunct="0">
        <a:spcBef>
          <a:spcPct val="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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28600" algn="l" rtl="0" eaLnBrk="0" fontAlgn="base" hangingPunct="0">
        <a:spcBef>
          <a:spcPts val="400"/>
        </a:spcBef>
        <a:spcAft>
          <a:spcPct val="0"/>
        </a:spcAft>
        <a:buClr>
          <a:schemeClr val="accent2"/>
        </a:buClr>
        <a:buSzPct val="9000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190500" algn="l" rtl="0" eaLnBrk="0" fontAlgn="base" hangingPunct="0">
        <a:spcBef>
          <a:spcPts val="400"/>
        </a:spcBef>
        <a:spcAft>
          <a:spcPct val="0"/>
        </a:spcAft>
        <a:buClr>
          <a:srgbClr val="A8CDD7"/>
        </a:buClr>
        <a:buSzPct val="100000"/>
        <a:buFont typeface="Wingdings 2" panose="05020102010507070707" pitchFamily="18" charset="2"/>
        <a:buChar char="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4888" indent="-182563" algn="l" rtl="0" eaLnBrk="0" fontAlgn="base" hangingPunct="0">
        <a:spcBef>
          <a:spcPts val="400"/>
        </a:spcBef>
        <a:spcAft>
          <a:spcPct val="0"/>
        </a:spcAft>
        <a:buClr>
          <a:srgbClr val="A8CDD7"/>
        </a:buClr>
        <a:buSzPct val="100000"/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7450" indent="-182563" algn="l" rtl="0" eaLnBrk="0" fontAlgn="base" hangingPunct="0">
        <a:spcBef>
          <a:spcPts val="400"/>
        </a:spcBef>
        <a:spcAft>
          <a:spcPct val="0"/>
        </a:spcAft>
        <a:buClr>
          <a:srgbClr val="A8CDD7"/>
        </a:buClr>
        <a:buSzPct val="100000"/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48"/>
          <p:cNvGrpSpPr>
            <a:grpSpLocks/>
          </p:cNvGrpSpPr>
          <p:nvPr/>
        </p:nvGrpSpPr>
        <p:grpSpPr bwMode="auto">
          <a:xfrm>
            <a:off x="1" y="-17463"/>
            <a:ext cx="12238567" cy="6905626"/>
            <a:chOff x="0" y="-11"/>
            <a:chExt cx="5782" cy="4350"/>
          </a:xfrm>
        </p:grpSpPr>
        <p:sp>
          <p:nvSpPr>
            <p:cNvPr id="1026" name="Rectangle 2"/>
            <p:cNvSpPr>
              <a:spLocks noChangeArrowheads="1"/>
            </p:cNvSpPr>
            <p:nvPr/>
          </p:nvSpPr>
          <p:spPr bwMode="hidden">
            <a:xfrm>
              <a:off x="0" y="1008"/>
              <a:ext cx="5774" cy="3331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ru-RU" sz="2400">
                <a:solidFill>
                  <a:srgbClr val="F8F8F8"/>
                </a:solidFill>
              </a:endParaRPr>
            </a:p>
          </p:txBody>
        </p:sp>
        <p:sp>
          <p:nvSpPr>
            <p:cNvPr id="1027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5759" cy="864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ru-RU" sz="2400">
                <a:solidFill>
                  <a:srgbClr val="F8F8F8"/>
                </a:solidFill>
              </a:endParaRPr>
            </a:p>
          </p:txBody>
        </p:sp>
        <p:grpSp>
          <p:nvGrpSpPr>
            <p:cNvPr id="10250" name="Group 6"/>
            <p:cNvGrpSpPr>
              <a:grpSpLocks/>
            </p:cNvGrpSpPr>
            <p:nvPr/>
          </p:nvGrpSpPr>
          <p:grpSpPr bwMode="auto">
            <a:xfrm>
              <a:off x="5301" y="-11"/>
              <a:ext cx="481" cy="4284"/>
              <a:chOff x="5301" y="-11"/>
              <a:chExt cx="481" cy="4284"/>
            </a:xfrm>
          </p:grpSpPr>
          <p:sp>
            <p:nvSpPr>
              <p:cNvPr id="1028" name="Freeform 4"/>
              <p:cNvSpPr>
                <a:spLocks/>
              </p:cNvSpPr>
              <p:nvPr/>
            </p:nvSpPr>
            <p:spPr bwMode="ltGray">
              <a:xfrm>
                <a:off x="5301" y="-11"/>
                <a:ext cx="241" cy="4284"/>
              </a:xfrm>
              <a:custGeom>
                <a:avLst/>
                <a:gdLst/>
                <a:ahLst/>
                <a:cxnLst>
                  <a:cxn ang="0">
                    <a:pos x="0" y="4234"/>
                  </a:cxn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4234"/>
                  </a:cxn>
                  <a:cxn ang="0">
                    <a:pos x="192" y="4283"/>
                  </a:cxn>
                  <a:cxn ang="0">
                    <a:pos x="144" y="4281"/>
                  </a:cxn>
                  <a:cxn ang="0">
                    <a:pos x="112" y="4281"/>
                  </a:cxn>
                  <a:cxn ang="0">
                    <a:pos x="49" y="4281"/>
                  </a:cxn>
                  <a:cxn ang="0">
                    <a:pos x="0" y="4234"/>
                  </a:cxn>
                </a:cxnLst>
                <a:rect l="0" t="0" r="r" b="b"/>
                <a:pathLst>
                  <a:path w="241" h="4284">
                    <a:moveTo>
                      <a:pt x="0" y="4234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40" y="4234"/>
                    </a:lnTo>
                    <a:lnTo>
                      <a:pt x="192" y="4283"/>
                    </a:lnTo>
                    <a:lnTo>
                      <a:pt x="144" y="4281"/>
                    </a:lnTo>
                    <a:lnTo>
                      <a:pt x="112" y="4281"/>
                    </a:lnTo>
                    <a:lnTo>
                      <a:pt x="49" y="4281"/>
                    </a:lnTo>
                    <a:lnTo>
                      <a:pt x="0" y="4234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29" name="Freeform 5"/>
              <p:cNvSpPr>
                <a:spLocks/>
              </p:cNvSpPr>
              <p:nvPr/>
            </p:nvSpPr>
            <p:spPr bwMode="ltGray">
              <a:xfrm>
                <a:off x="5541" y="-11"/>
                <a:ext cx="241" cy="4284"/>
              </a:xfrm>
              <a:custGeom>
                <a:avLst/>
                <a:gdLst/>
                <a:ahLst/>
                <a:cxnLst>
                  <a:cxn ang="0">
                    <a:pos x="0" y="4234"/>
                  </a:cxn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4234"/>
                  </a:cxn>
                  <a:cxn ang="0">
                    <a:pos x="192" y="4283"/>
                  </a:cxn>
                  <a:cxn ang="0">
                    <a:pos x="144" y="4281"/>
                  </a:cxn>
                  <a:cxn ang="0">
                    <a:pos x="112" y="4281"/>
                  </a:cxn>
                  <a:cxn ang="0">
                    <a:pos x="49" y="4281"/>
                  </a:cxn>
                  <a:cxn ang="0">
                    <a:pos x="0" y="4234"/>
                  </a:cxn>
                </a:cxnLst>
                <a:rect l="0" t="0" r="r" b="b"/>
                <a:pathLst>
                  <a:path w="241" h="4284">
                    <a:moveTo>
                      <a:pt x="0" y="4234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40" y="4234"/>
                    </a:lnTo>
                    <a:lnTo>
                      <a:pt x="192" y="4283"/>
                    </a:lnTo>
                    <a:lnTo>
                      <a:pt x="144" y="4281"/>
                    </a:lnTo>
                    <a:lnTo>
                      <a:pt x="112" y="4281"/>
                    </a:lnTo>
                    <a:lnTo>
                      <a:pt x="49" y="4281"/>
                    </a:lnTo>
                    <a:lnTo>
                      <a:pt x="0" y="4234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</p:grpSp>
        <p:grpSp>
          <p:nvGrpSpPr>
            <p:cNvPr id="10251" name="Group 9"/>
            <p:cNvGrpSpPr>
              <a:grpSpLocks/>
            </p:cNvGrpSpPr>
            <p:nvPr/>
          </p:nvGrpSpPr>
          <p:grpSpPr bwMode="auto">
            <a:xfrm>
              <a:off x="0" y="0"/>
              <a:ext cx="481" cy="4273"/>
              <a:chOff x="0" y="0"/>
              <a:chExt cx="481" cy="4273"/>
            </a:xfrm>
          </p:grpSpPr>
          <p:sp>
            <p:nvSpPr>
              <p:cNvPr id="1031" name="Freeform 7"/>
              <p:cNvSpPr>
                <a:spLocks/>
              </p:cNvSpPr>
              <p:nvPr/>
            </p:nvSpPr>
            <p:spPr bwMode="ltGray">
              <a:xfrm>
                <a:off x="0" y="0"/>
                <a:ext cx="241" cy="4273"/>
              </a:xfrm>
              <a:custGeom>
                <a:avLst/>
                <a:gdLst/>
                <a:ahLst/>
                <a:cxnLst>
                  <a:cxn ang="0">
                    <a:pos x="0" y="4223"/>
                  </a:cxn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4223"/>
                  </a:cxn>
                  <a:cxn ang="0">
                    <a:pos x="192" y="4272"/>
                  </a:cxn>
                  <a:cxn ang="0">
                    <a:pos x="144" y="4270"/>
                  </a:cxn>
                  <a:cxn ang="0">
                    <a:pos x="112" y="4270"/>
                  </a:cxn>
                  <a:cxn ang="0">
                    <a:pos x="49" y="4270"/>
                  </a:cxn>
                  <a:cxn ang="0">
                    <a:pos x="0" y="4223"/>
                  </a:cxn>
                </a:cxnLst>
                <a:rect l="0" t="0" r="r" b="b"/>
                <a:pathLst>
                  <a:path w="241" h="4273">
                    <a:moveTo>
                      <a:pt x="0" y="4223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40" y="4223"/>
                    </a:lnTo>
                    <a:lnTo>
                      <a:pt x="192" y="4272"/>
                    </a:lnTo>
                    <a:lnTo>
                      <a:pt x="144" y="4270"/>
                    </a:lnTo>
                    <a:lnTo>
                      <a:pt x="112" y="4270"/>
                    </a:lnTo>
                    <a:lnTo>
                      <a:pt x="49" y="4270"/>
                    </a:lnTo>
                    <a:lnTo>
                      <a:pt x="0" y="4223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32" name="Freeform 8"/>
              <p:cNvSpPr>
                <a:spLocks/>
              </p:cNvSpPr>
              <p:nvPr/>
            </p:nvSpPr>
            <p:spPr bwMode="ltGray">
              <a:xfrm>
                <a:off x="240" y="0"/>
                <a:ext cx="241" cy="4273"/>
              </a:xfrm>
              <a:custGeom>
                <a:avLst/>
                <a:gdLst/>
                <a:ahLst/>
                <a:cxnLst>
                  <a:cxn ang="0">
                    <a:pos x="0" y="4223"/>
                  </a:cxn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4223"/>
                  </a:cxn>
                  <a:cxn ang="0">
                    <a:pos x="192" y="4272"/>
                  </a:cxn>
                  <a:cxn ang="0">
                    <a:pos x="144" y="4270"/>
                  </a:cxn>
                  <a:cxn ang="0">
                    <a:pos x="112" y="4270"/>
                  </a:cxn>
                  <a:cxn ang="0">
                    <a:pos x="49" y="4270"/>
                  </a:cxn>
                  <a:cxn ang="0">
                    <a:pos x="0" y="4223"/>
                  </a:cxn>
                </a:cxnLst>
                <a:rect l="0" t="0" r="r" b="b"/>
                <a:pathLst>
                  <a:path w="241" h="4273">
                    <a:moveTo>
                      <a:pt x="0" y="4223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40" y="4223"/>
                    </a:lnTo>
                    <a:lnTo>
                      <a:pt x="192" y="4272"/>
                    </a:lnTo>
                    <a:lnTo>
                      <a:pt x="144" y="4270"/>
                    </a:lnTo>
                    <a:lnTo>
                      <a:pt x="112" y="4270"/>
                    </a:lnTo>
                    <a:lnTo>
                      <a:pt x="49" y="4270"/>
                    </a:lnTo>
                    <a:lnTo>
                      <a:pt x="0" y="4223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</p:grpSp>
        <p:grpSp>
          <p:nvGrpSpPr>
            <p:cNvPr id="10252" name="Group 47"/>
            <p:cNvGrpSpPr>
              <a:grpSpLocks/>
            </p:cNvGrpSpPr>
            <p:nvPr/>
          </p:nvGrpSpPr>
          <p:grpSpPr bwMode="auto">
            <a:xfrm>
              <a:off x="82" y="22"/>
              <a:ext cx="5590" cy="891"/>
              <a:chOff x="82" y="22"/>
              <a:chExt cx="5590" cy="891"/>
            </a:xfrm>
          </p:grpSpPr>
          <p:grpSp>
            <p:nvGrpSpPr>
              <p:cNvPr id="10253" name="Group 28"/>
              <p:cNvGrpSpPr>
                <a:grpSpLocks/>
              </p:cNvGrpSpPr>
              <p:nvPr/>
            </p:nvGrpSpPr>
            <p:grpSpPr bwMode="auto">
              <a:xfrm>
                <a:off x="134" y="22"/>
                <a:ext cx="5538" cy="850"/>
                <a:chOff x="134" y="22"/>
                <a:chExt cx="5538" cy="850"/>
              </a:xfrm>
            </p:grpSpPr>
            <p:sp>
              <p:nvSpPr>
                <p:cNvPr id="1034" name="Freeform 10"/>
                <p:cNvSpPr>
                  <a:spLocks/>
                </p:cNvSpPr>
                <p:nvPr/>
              </p:nvSpPr>
              <p:spPr bwMode="ltGray">
                <a:xfrm>
                  <a:off x="5269" y="734"/>
                  <a:ext cx="156" cy="117"/>
                </a:xfrm>
                <a:custGeom>
                  <a:avLst/>
                  <a:gdLst/>
                  <a:ahLst/>
                  <a:cxnLst>
                    <a:cxn ang="0">
                      <a:pos x="83" y="0"/>
                    </a:cxn>
                    <a:cxn ang="0">
                      <a:pos x="134" y="19"/>
                    </a:cxn>
                    <a:cxn ang="0">
                      <a:pos x="152" y="45"/>
                    </a:cxn>
                    <a:cxn ang="0">
                      <a:pos x="155" y="70"/>
                    </a:cxn>
                    <a:cxn ang="0">
                      <a:pos x="155" y="83"/>
                    </a:cxn>
                    <a:cxn ang="0">
                      <a:pos x="146" y="99"/>
                    </a:cxn>
                    <a:cxn ang="0">
                      <a:pos x="126" y="107"/>
                    </a:cxn>
                    <a:cxn ang="0">
                      <a:pos x="105" y="113"/>
                    </a:cxn>
                    <a:cxn ang="0">
                      <a:pos x="86" y="116"/>
                    </a:cxn>
                    <a:cxn ang="0">
                      <a:pos x="69" y="116"/>
                    </a:cxn>
                    <a:cxn ang="0">
                      <a:pos x="41" y="111"/>
                    </a:cxn>
                    <a:cxn ang="0">
                      <a:pos x="21" y="106"/>
                    </a:cxn>
                    <a:cxn ang="0">
                      <a:pos x="9" y="98"/>
                    </a:cxn>
                    <a:cxn ang="0">
                      <a:pos x="2" y="89"/>
                    </a:cxn>
                    <a:cxn ang="0">
                      <a:pos x="0" y="78"/>
                    </a:cxn>
                    <a:cxn ang="0">
                      <a:pos x="2" y="60"/>
                    </a:cxn>
                    <a:cxn ang="0">
                      <a:pos x="9" y="11"/>
                    </a:cxn>
                    <a:cxn ang="0">
                      <a:pos x="83" y="0"/>
                    </a:cxn>
                  </a:cxnLst>
                  <a:rect l="0" t="0" r="r" b="b"/>
                  <a:pathLst>
                    <a:path w="156" h="117">
                      <a:moveTo>
                        <a:pt x="83" y="0"/>
                      </a:moveTo>
                      <a:lnTo>
                        <a:pt x="134" y="19"/>
                      </a:lnTo>
                      <a:lnTo>
                        <a:pt x="152" y="45"/>
                      </a:lnTo>
                      <a:lnTo>
                        <a:pt x="155" y="70"/>
                      </a:lnTo>
                      <a:lnTo>
                        <a:pt x="155" y="83"/>
                      </a:lnTo>
                      <a:lnTo>
                        <a:pt x="146" y="99"/>
                      </a:lnTo>
                      <a:lnTo>
                        <a:pt x="126" y="107"/>
                      </a:lnTo>
                      <a:lnTo>
                        <a:pt x="105" y="113"/>
                      </a:lnTo>
                      <a:lnTo>
                        <a:pt x="86" y="116"/>
                      </a:lnTo>
                      <a:lnTo>
                        <a:pt x="69" y="116"/>
                      </a:lnTo>
                      <a:lnTo>
                        <a:pt x="41" y="111"/>
                      </a:lnTo>
                      <a:lnTo>
                        <a:pt x="21" y="106"/>
                      </a:lnTo>
                      <a:lnTo>
                        <a:pt x="9" y="98"/>
                      </a:lnTo>
                      <a:lnTo>
                        <a:pt x="2" y="89"/>
                      </a:lnTo>
                      <a:lnTo>
                        <a:pt x="0" y="78"/>
                      </a:lnTo>
                      <a:lnTo>
                        <a:pt x="2" y="60"/>
                      </a:lnTo>
                      <a:lnTo>
                        <a:pt x="9" y="11"/>
                      </a:lnTo>
                      <a:lnTo>
                        <a:pt x="83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35" name="Freeform 11"/>
                <p:cNvSpPr>
                  <a:spLocks/>
                </p:cNvSpPr>
                <p:nvPr/>
              </p:nvSpPr>
              <p:spPr bwMode="ltGray">
                <a:xfrm>
                  <a:off x="5265" y="746"/>
                  <a:ext cx="88" cy="75"/>
                </a:xfrm>
                <a:custGeom>
                  <a:avLst/>
                  <a:gdLst/>
                  <a:ahLst/>
                  <a:cxnLst>
                    <a:cxn ang="0">
                      <a:pos x="0" y="69"/>
                    </a:cxn>
                    <a:cxn ang="0">
                      <a:pos x="11" y="0"/>
                    </a:cxn>
                    <a:cxn ang="0">
                      <a:pos x="54" y="5"/>
                    </a:cxn>
                    <a:cxn ang="0">
                      <a:pos x="87" y="9"/>
                    </a:cxn>
                    <a:cxn ang="0">
                      <a:pos x="78" y="74"/>
                    </a:cxn>
                    <a:cxn ang="0">
                      <a:pos x="75" y="59"/>
                    </a:cxn>
                    <a:cxn ang="0">
                      <a:pos x="65" y="48"/>
                    </a:cxn>
                    <a:cxn ang="0">
                      <a:pos x="47" y="44"/>
                    </a:cxn>
                    <a:cxn ang="0">
                      <a:pos x="27" y="45"/>
                    </a:cxn>
                    <a:cxn ang="0">
                      <a:pos x="11" y="52"/>
                    </a:cxn>
                    <a:cxn ang="0">
                      <a:pos x="0" y="69"/>
                    </a:cxn>
                  </a:cxnLst>
                  <a:rect l="0" t="0" r="r" b="b"/>
                  <a:pathLst>
                    <a:path w="88" h="75">
                      <a:moveTo>
                        <a:pt x="0" y="69"/>
                      </a:moveTo>
                      <a:lnTo>
                        <a:pt x="11" y="0"/>
                      </a:lnTo>
                      <a:lnTo>
                        <a:pt x="54" y="5"/>
                      </a:lnTo>
                      <a:lnTo>
                        <a:pt x="87" y="9"/>
                      </a:lnTo>
                      <a:lnTo>
                        <a:pt x="78" y="74"/>
                      </a:lnTo>
                      <a:lnTo>
                        <a:pt x="75" y="59"/>
                      </a:lnTo>
                      <a:lnTo>
                        <a:pt x="65" y="48"/>
                      </a:lnTo>
                      <a:lnTo>
                        <a:pt x="47" y="44"/>
                      </a:lnTo>
                      <a:lnTo>
                        <a:pt x="27" y="45"/>
                      </a:lnTo>
                      <a:lnTo>
                        <a:pt x="11" y="52"/>
                      </a:lnTo>
                      <a:lnTo>
                        <a:pt x="0" y="69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36" name="Freeform 12"/>
                <p:cNvSpPr>
                  <a:spLocks/>
                </p:cNvSpPr>
                <p:nvPr/>
              </p:nvSpPr>
              <p:spPr bwMode="ltGray">
                <a:xfrm>
                  <a:off x="475" y="725"/>
                  <a:ext cx="156" cy="117"/>
                </a:xfrm>
                <a:custGeom>
                  <a:avLst/>
                  <a:gdLst/>
                  <a:ahLst/>
                  <a:cxnLst>
                    <a:cxn ang="0">
                      <a:pos x="72" y="0"/>
                    </a:cxn>
                    <a:cxn ang="0">
                      <a:pos x="21" y="19"/>
                    </a:cxn>
                    <a:cxn ang="0">
                      <a:pos x="3" y="45"/>
                    </a:cxn>
                    <a:cxn ang="0">
                      <a:pos x="0" y="70"/>
                    </a:cxn>
                    <a:cxn ang="0">
                      <a:pos x="0" y="83"/>
                    </a:cxn>
                    <a:cxn ang="0">
                      <a:pos x="9" y="99"/>
                    </a:cxn>
                    <a:cxn ang="0">
                      <a:pos x="29" y="107"/>
                    </a:cxn>
                    <a:cxn ang="0">
                      <a:pos x="50" y="113"/>
                    </a:cxn>
                    <a:cxn ang="0">
                      <a:pos x="69" y="116"/>
                    </a:cxn>
                    <a:cxn ang="0">
                      <a:pos x="86" y="116"/>
                    </a:cxn>
                    <a:cxn ang="0">
                      <a:pos x="114" y="111"/>
                    </a:cxn>
                    <a:cxn ang="0">
                      <a:pos x="134" y="106"/>
                    </a:cxn>
                    <a:cxn ang="0">
                      <a:pos x="146" y="98"/>
                    </a:cxn>
                    <a:cxn ang="0">
                      <a:pos x="153" y="89"/>
                    </a:cxn>
                    <a:cxn ang="0">
                      <a:pos x="155" y="78"/>
                    </a:cxn>
                    <a:cxn ang="0">
                      <a:pos x="153" y="60"/>
                    </a:cxn>
                    <a:cxn ang="0">
                      <a:pos x="146" y="11"/>
                    </a:cxn>
                    <a:cxn ang="0">
                      <a:pos x="72" y="0"/>
                    </a:cxn>
                  </a:cxnLst>
                  <a:rect l="0" t="0" r="r" b="b"/>
                  <a:pathLst>
                    <a:path w="156" h="117">
                      <a:moveTo>
                        <a:pt x="72" y="0"/>
                      </a:moveTo>
                      <a:lnTo>
                        <a:pt x="21" y="19"/>
                      </a:lnTo>
                      <a:lnTo>
                        <a:pt x="3" y="45"/>
                      </a:lnTo>
                      <a:lnTo>
                        <a:pt x="0" y="70"/>
                      </a:lnTo>
                      <a:lnTo>
                        <a:pt x="0" y="83"/>
                      </a:lnTo>
                      <a:lnTo>
                        <a:pt x="9" y="99"/>
                      </a:lnTo>
                      <a:lnTo>
                        <a:pt x="29" y="107"/>
                      </a:lnTo>
                      <a:lnTo>
                        <a:pt x="50" y="113"/>
                      </a:lnTo>
                      <a:lnTo>
                        <a:pt x="69" y="116"/>
                      </a:lnTo>
                      <a:lnTo>
                        <a:pt x="86" y="116"/>
                      </a:lnTo>
                      <a:lnTo>
                        <a:pt x="114" y="111"/>
                      </a:lnTo>
                      <a:lnTo>
                        <a:pt x="134" y="106"/>
                      </a:lnTo>
                      <a:lnTo>
                        <a:pt x="146" y="98"/>
                      </a:lnTo>
                      <a:lnTo>
                        <a:pt x="153" y="89"/>
                      </a:lnTo>
                      <a:lnTo>
                        <a:pt x="155" y="78"/>
                      </a:lnTo>
                      <a:lnTo>
                        <a:pt x="153" y="60"/>
                      </a:lnTo>
                      <a:lnTo>
                        <a:pt x="146" y="11"/>
                      </a:lnTo>
                      <a:lnTo>
                        <a:pt x="72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37" name="Freeform 13"/>
                <p:cNvSpPr>
                  <a:spLocks/>
                </p:cNvSpPr>
                <p:nvPr/>
              </p:nvSpPr>
              <p:spPr bwMode="ltGray">
                <a:xfrm>
                  <a:off x="547" y="738"/>
                  <a:ext cx="88" cy="75"/>
                </a:xfrm>
                <a:custGeom>
                  <a:avLst/>
                  <a:gdLst/>
                  <a:ahLst/>
                  <a:cxnLst>
                    <a:cxn ang="0">
                      <a:pos x="87" y="68"/>
                    </a:cxn>
                    <a:cxn ang="0">
                      <a:pos x="76" y="0"/>
                    </a:cxn>
                    <a:cxn ang="0">
                      <a:pos x="33" y="5"/>
                    </a:cxn>
                    <a:cxn ang="0">
                      <a:pos x="0" y="9"/>
                    </a:cxn>
                    <a:cxn ang="0">
                      <a:pos x="9" y="74"/>
                    </a:cxn>
                    <a:cxn ang="0">
                      <a:pos x="12" y="58"/>
                    </a:cxn>
                    <a:cxn ang="0">
                      <a:pos x="22" y="47"/>
                    </a:cxn>
                    <a:cxn ang="0">
                      <a:pos x="40" y="44"/>
                    </a:cxn>
                    <a:cxn ang="0">
                      <a:pos x="60" y="45"/>
                    </a:cxn>
                    <a:cxn ang="0">
                      <a:pos x="76" y="52"/>
                    </a:cxn>
                    <a:cxn ang="0">
                      <a:pos x="87" y="68"/>
                    </a:cxn>
                  </a:cxnLst>
                  <a:rect l="0" t="0" r="r" b="b"/>
                  <a:pathLst>
                    <a:path w="88" h="75">
                      <a:moveTo>
                        <a:pt x="87" y="68"/>
                      </a:moveTo>
                      <a:lnTo>
                        <a:pt x="76" y="0"/>
                      </a:lnTo>
                      <a:lnTo>
                        <a:pt x="33" y="5"/>
                      </a:lnTo>
                      <a:lnTo>
                        <a:pt x="0" y="9"/>
                      </a:lnTo>
                      <a:lnTo>
                        <a:pt x="9" y="74"/>
                      </a:lnTo>
                      <a:lnTo>
                        <a:pt x="12" y="58"/>
                      </a:lnTo>
                      <a:lnTo>
                        <a:pt x="22" y="47"/>
                      </a:lnTo>
                      <a:lnTo>
                        <a:pt x="40" y="44"/>
                      </a:lnTo>
                      <a:lnTo>
                        <a:pt x="60" y="45"/>
                      </a:lnTo>
                      <a:lnTo>
                        <a:pt x="76" y="52"/>
                      </a:lnTo>
                      <a:lnTo>
                        <a:pt x="87" y="68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38" name="Line 14"/>
                <p:cNvSpPr>
                  <a:spLocks noChangeShapeType="1"/>
                </p:cNvSpPr>
                <p:nvPr/>
              </p:nvSpPr>
              <p:spPr bwMode="ltGray">
                <a:xfrm flipV="1">
                  <a:off x="2020" y="309"/>
                  <a:ext cx="192" cy="87"/>
                </a:xfrm>
                <a:prstGeom prst="line">
                  <a:avLst/>
                </a:prstGeom>
                <a:noFill/>
                <a:ln w="12700">
                  <a:solidFill>
                    <a:schemeClr val="hlink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39" name="Freeform 15"/>
                <p:cNvSpPr>
                  <a:spLocks/>
                </p:cNvSpPr>
                <p:nvPr/>
              </p:nvSpPr>
              <p:spPr bwMode="ltGray">
                <a:xfrm>
                  <a:off x="1408" y="22"/>
                  <a:ext cx="2967" cy="457"/>
                </a:xfrm>
                <a:custGeom>
                  <a:avLst/>
                  <a:gdLst/>
                  <a:ahLst/>
                  <a:cxnLst>
                    <a:cxn ang="0">
                      <a:pos x="0" y="122"/>
                    </a:cxn>
                    <a:cxn ang="0">
                      <a:pos x="207" y="78"/>
                    </a:cxn>
                    <a:cxn ang="0">
                      <a:pos x="442" y="48"/>
                    </a:cxn>
                    <a:cxn ang="0">
                      <a:pos x="640" y="32"/>
                    </a:cxn>
                    <a:cxn ang="0">
                      <a:pos x="897" y="16"/>
                    </a:cxn>
                    <a:cxn ang="0">
                      <a:pos x="1215" y="2"/>
                    </a:cxn>
                    <a:cxn ang="0">
                      <a:pos x="1392" y="0"/>
                    </a:cxn>
                    <a:cxn ang="0">
                      <a:pos x="1710" y="0"/>
                    </a:cxn>
                    <a:cxn ang="0">
                      <a:pos x="1997" y="10"/>
                    </a:cxn>
                    <a:cxn ang="0">
                      <a:pos x="2258" y="21"/>
                    </a:cxn>
                    <a:cxn ang="0">
                      <a:pos x="2493" y="38"/>
                    </a:cxn>
                    <a:cxn ang="0">
                      <a:pos x="2674" y="54"/>
                    </a:cxn>
                    <a:cxn ang="0">
                      <a:pos x="2828" y="73"/>
                    </a:cxn>
                    <a:cxn ang="0">
                      <a:pos x="2966" y="92"/>
                    </a:cxn>
                    <a:cxn ang="0">
                      <a:pos x="2966" y="456"/>
                    </a:cxn>
                    <a:cxn ang="0">
                      <a:pos x="2833" y="434"/>
                    </a:cxn>
                    <a:cxn ang="0">
                      <a:pos x="2563" y="399"/>
                    </a:cxn>
                    <a:cxn ang="0">
                      <a:pos x="2382" y="382"/>
                    </a:cxn>
                    <a:cxn ang="0">
                      <a:pos x="2134" y="366"/>
                    </a:cxn>
                    <a:cxn ang="0">
                      <a:pos x="1944" y="358"/>
                    </a:cxn>
                    <a:cxn ang="0">
                      <a:pos x="1746" y="350"/>
                    </a:cxn>
                    <a:cxn ang="0">
                      <a:pos x="1529" y="350"/>
                    </a:cxn>
                    <a:cxn ang="0">
                      <a:pos x="1295" y="350"/>
                    </a:cxn>
                    <a:cxn ang="0">
                      <a:pos x="1047" y="355"/>
                    </a:cxn>
                    <a:cxn ang="0">
                      <a:pos x="853" y="363"/>
                    </a:cxn>
                    <a:cxn ang="0">
                      <a:pos x="654" y="374"/>
                    </a:cxn>
                    <a:cxn ang="0">
                      <a:pos x="468" y="388"/>
                    </a:cxn>
                    <a:cxn ang="0">
                      <a:pos x="296" y="404"/>
                    </a:cxn>
                    <a:cxn ang="0">
                      <a:pos x="150" y="423"/>
                    </a:cxn>
                    <a:cxn ang="0">
                      <a:pos x="13" y="445"/>
                    </a:cxn>
                    <a:cxn ang="0">
                      <a:pos x="0" y="122"/>
                    </a:cxn>
                  </a:cxnLst>
                  <a:rect l="0" t="0" r="r" b="b"/>
                  <a:pathLst>
                    <a:path w="2967" h="457">
                      <a:moveTo>
                        <a:pt x="0" y="122"/>
                      </a:moveTo>
                      <a:lnTo>
                        <a:pt x="207" y="78"/>
                      </a:lnTo>
                      <a:lnTo>
                        <a:pt x="442" y="48"/>
                      </a:lnTo>
                      <a:lnTo>
                        <a:pt x="640" y="32"/>
                      </a:lnTo>
                      <a:lnTo>
                        <a:pt x="897" y="16"/>
                      </a:lnTo>
                      <a:lnTo>
                        <a:pt x="1215" y="2"/>
                      </a:lnTo>
                      <a:lnTo>
                        <a:pt x="1392" y="0"/>
                      </a:lnTo>
                      <a:lnTo>
                        <a:pt x="1710" y="0"/>
                      </a:lnTo>
                      <a:lnTo>
                        <a:pt x="1997" y="10"/>
                      </a:lnTo>
                      <a:lnTo>
                        <a:pt x="2258" y="21"/>
                      </a:lnTo>
                      <a:lnTo>
                        <a:pt x="2493" y="38"/>
                      </a:lnTo>
                      <a:lnTo>
                        <a:pt x="2674" y="54"/>
                      </a:lnTo>
                      <a:lnTo>
                        <a:pt x="2828" y="73"/>
                      </a:lnTo>
                      <a:lnTo>
                        <a:pt x="2966" y="92"/>
                      </a:lnTo>
                      <a:lnTo>
                        <a:pt x="2966" y="456"/>
                      </a:lnTo>
                      <a:lnTo>
                        <a:pt x="2833" y="434"/>
                      </a:lnTo>
                      <a:lnTo>
                        <a:pt x="2563" y="399"/>
                      </a:lnTo>
                      <a:lnTo>
                        <a:pt x="2382" y="382"/>
                      </a:lnTo>
                      <a:lnTo>
                        <a:pt x="2134" y="366"/>
                      </a:lnTo>
                      <a:lnTo>
                        <a:pt x="1944" y="358"/>
                      </a:lnTo>
                      <a:lnTo>
                        <a:pt x="1746" y="350"/>
                      </a:lnTo>
                      <a:lnTo>
                        <a:pt x="1529" y="350"/>
                      </a:lnTo>
                      <a:lnTo>
                        <a:pt x="1295" y="350"/>
                      </a:lnTo>
                      <a:lnTo>
                        <a:pt x="1047" y="355"/>
                      </a:lnTo>
                      <a:lnTo>
                        <a:pt x="853" y="363"/>
                      </a:lnTo>
                      <a:lnTo>
                        <a:pt x="654" y="374"/>
                      </a:lnTo>
                      <a:lnTo>
                        <a:pt x="468" y="388"/>
                      </a:lnTo>
                      <a:lnTo>
                        <a:pt x="296" y="404"/>
                      </a:lnTo>
                      <a:lnTo>
                        <a:pt x="150" y="423"/>
                      </a:lnTo>
                      <a:lnTo>
                        <a:pt x="13" y="445"/>
                      </a:lnTo>
                      <a:lnTo>
                        <a:pt x="0" y="122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0" name="Freeform 16"/>
                <p:cNvSpPr>
                  <a:spLocks/>
                </p:cNvSpPr>
                <p:nvPr/>
              </p:nvSpPr>
              <p:spPr bwMode="ltGray">
                <a:xfrm>
                  <a:off x="607" y="118"/>
                  <a:ext cx="823" cy="431"/>
                </a:xfrm>
                <a:custGeom>
                  <a:avLst/>
                  <a:gdLst/>
                  <a:ahLst/>
                  <a:cxnLst>
                    <a:cxn ang="0">
                      <a:pos x="815" y="27"/>
                    </a:cxn>
                    <a:cxn ang="0">
                      <a:pos x="822" y="350"/>
                    </a:cxn>
                    <a:cxn ang="0">
                      <a:pos x="746" y="382"/>
                    </a:cxn>
                    <a:cxn ang="0">
                      <a:pos x="676" y="404"/>
                    </a:cxn>
                    <a:cxn ang="0">
                      <a:pos x="619" y="415"/>
                    </a:cxn>
                    <a:cxn ang="0">
                      <a:pos x="571" y="421"/>
                    </a:cxn>
                    <a:cxn ang="0">
                      <a:pos x="517" y="427"/>
                    </a:cxn>
                    <a:cxn ang="0">
                      <a:pos x="427" y="430"/>
                    </a:cxn>
                    <a:cxn ang="0">
                      <a:pos x="344" y="423"/>
                    </a:cxn>
                    <a:cxn ang="0">
                      <a:pos x="259" y="410"/>
                    </a:cxn>
                    <a:cxn ang="0">
                      <a:pos x="177" y="388"/>
                    </a:cxn>
                    <a:cxn ang="0">
                      <a:pos x="105" y="358"/>
                    </a:cxn>
                    <a:cxn ang="0">
                      <a:pos x="41" y="325"/>
                    </a:cxn>
                    <a:cxn ang="0">
                      <a:pos x="0" y="294"/>
                    </a:cxn>
                    <a:cxn ang="0">
                      <a:pos x="0" y="0"/>
                    </a:cxn>
                    <a:cxn ang="0">
                      <a:pos x="46" y="25"/>
                    </a:cxn>
                    <a:cxn ang="0">
                      <a:pos x="105" y="47"/>
                    </a:cxn>
                    <a:cxn ang="0">
                      <a:pos x="175" y="66"/>
                    </a:cxn>
                    <a:cxn ang="0">
                      <a:pos x="244" y="81"/>
                    </a:cxn>
                    <a:cxn ang="0">
                      <a:pos x="314" y="89"/>
                    </a:cxn>
                    <a:cxn ang="0">
                      <a:pos x="361" y="93"/>
                    </a:cxn>
                    <a:cxn ang="0">
                      <a:pos x="401" y="95"/>
                    </a:cxn>
                    <a:cxn ang="0">
                      <a:pos x="471" y="95"/>
                    </a:cxn>
                    <a:cxn ang="0">
                      <a:pos x="515" y="92"/>
                    </a:cxn>
                    <a:cxn ang="0">
                      <a:pos x="555" y="87"/>
                    </a:cxn>
                    <a:cxn ang="0">
                      <a:pos x="600" y="84"/>
                    </a:cxn>
                    <a:cxn ang="0">
                      <a:pos x="640" y="76"/>
                    </a:cxn>
                    <a:cxn ang="0">
                      <a:pos x="689" y="67"/>
                    </a:cxn>
                    <a:cxn ang="0">
                      <a:pos x="733" y="55"/>
                    </a:cxn>
                    <a:cxn ang="0">
                      <a:pos x="777" y="41"/>
                    </a:cxn>
                    <a:cxn ang="0">
                      <a:pos x="815" y="27"/>
                    </a:cxn>
                  </a:cxnLst>
                  <a:rect l="0" t="0" r="r" b="b"/>
                  <a:pathLst>
                    <a:path w="823" h="431">
                      <a:moveTo>
                        <a:pt x="815" y="27"/>
                      </a:moveTo>
                      <a:lnTo>
                        <a:pt x="822" y="350"/>
                      </a:lnTo>
                      <a:lnTo>
                        <a:pt x="746" y="382"/>
                      </a:lnTo>
                      <a:lnTo>
                        <a:pt x="676" y="404"/>
                      </a:lnTo>
                      <a:lnTo>
                        <a:pt x="619" y="415"/>
                      </a:lnTo>
                      <a:lnTo>
                        <a:pt x="571" y="421"/>
                      </a:lnTo>
                      <a:lnTo>
                        <a:pt x="517" y="427"/>
                      </a:lnTo>
                      <a:lnTo>
                        <a:pt x="427" y="430"/>
                      </a:lnTo>
                      <a:lnTo>
                        <a:pt x="344" y="423"/>
                      </a:lnTo>
                      <a:lnTo>
                        <a:pt x="259" y="410"/>
                      </a:lnTo>
                      <a:lnTo>
                        <a:pt x="177" y="388"/>
                      </a:lnTo>
                      <a:lnTo>
                        <a:pt x="105" y="358"/>
                      </a:lnTo>
                      <a:lnTo>
                        <a:pt x="41" y="325"/>
                      </a:lnTo>
                      <a:lnTo>
                        <a:pt x="0" y="294"/>
                      </a:lnTo>
                      <a:lnTo>
                        <a:pt x="0" y="0"/>
                      </a:lnTo>
                      <a:lnTo>
                        <a:pt x="46" y="25"/>
                      </a:lnTo>
                      <a:lnTo>
                        <a:pt x="105" y="47"/>
                      </a:lnTo>
                      <a:lnTo>
                        <a:pt x="175" y="66"/>
                      </a:lnTo>
                      <a:lnTo>
                        <a:pt x="244" y="81"/>
                      </a:lnTo>
                      <a:lnTo>
                        <a:pt x="314" y="89"/>
                      </a:lnTo>
                      <a:lnTo>
                        <a:pt x="361" y="93"/>
                      </a:lnTo>
                      <a:lnTo>
                        <a:pt x="401" y="95"/>
                      </a:lnTo>
                      <a:lnTo>
                        <a:pt x="471" y="95"/>
                      </a:lnTo>
                      <a:lnTo>
                        <a:pt x="515" y="92"/>
                      </a:lnTo>
                      <a:lnTo>
                        <a:pt x="555" y="87"/>
                      </a:lnTo>
                      <a:lnTo>
                        <a:pt x="600" y="84"/>
                      </a:lnTo>
                      <a:lnTo>
                        <a:pt x="640" y="76"/>
                      </a:lnTo>
                      <a:lnTo>
                        <a:pt x="689" y="67"/>
                      </a:lnTo>
                      <a:lnTo>
                        <a:pt x="733" y="55"/>
                      </a:lnTo>
                      <a:lnTo>
                        <a:pt x="777" y="41"/>
                      </a:lnTo>
                      <a:lnTo>
                        <a:pt x="815" y="27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1" name="Freeform 17"/>
                <p:cNvSpPr>
                  <a:spLocks/>
                </p:cNvSpPr>
                <p:nvPr/>
              </p:nvSpPr>
              <p:spPr bwMode="ltGray">
                <a:xfrm>
                  <a:off x="154" y="533"/>
                  <a:ext cx="551" cy="339"/>
                </a:xfrm>
                <a:custGeom>
                  <a:avLst/>
                  <a:gdLst/>
                  <a:ahLst/>
                  <a:cxnLst>
                    <a:cxn ang="0">
                      <a:pos x="16" y="53"/>
                    </a:cxn>
                    <a:cxn ang="0">
                      <a:pos x="0" y="122"/>
                    </a:cxn>
                    <a:cxn ang="0">
                      <a:pos x="10" y="146"/>
                    </a:cxn>
                    <a:cxn ang="0">
                      <a:pos x="33" y="183"/>
                    </a:cxn>
                    <a:cxn ang="0">
                      <a:pos x="57" y="216"/>
                    </a:cxn>
                    <a:cxn ang="0">
                      <a:pos x="85" y="244"/>
                    </a:cxn>
                    <a:cxn ang="0">
                      <a:pos x="120" y="271"/>
                    </a:cxn>
                    <a:cxn ang="0">
                      <a:pos x="153" y="290"/>
                    </a:cxn>
                    <a:cxn ang="0">
                      <a:pos x="189" y="308"/>
                    </a:cxn>
                    <a:cxn ang="0">
                      <a:pos x="235" y="324"/>
                    </a:cxn>
                    <a:cxn ang="0">
                      <a:pos x="270" y="332"/>
                    </a:cxn>
                    <a:cxn ang="0">
                      <a:pos x="312" y="338"/>
                    </a:cxn>
                    <a:cxn ang="0">
                      <a:pos x="351" y="338"/>
                    </a:cxn>
                    <a:cxn ang="0">
                      <a:pos x="393" y="333"/>
                    </a:cxn>
                    <a:cxn ang="0">
                      <a:pos x="436" y="321"/>
                    </a:cxn>
                    <a:cxn ang="0">
                      <a:pos x="475" y="302"/>
                    </a:cxn>
                    <a:cxn ang="0">
                      <a:pos x="498" y="286"/>
                    </a:cxn>
                    <a:cxn ang="0">
                      <a:pos x="526" y="262"/>
                    </a:cxn>
                    <a:cxn ang="0">
                      <a:pos x="541" y="243"/>
                    </a:cxn>
                    <a:cxn ang="0">
                      <a:pos x="550" y="226"/>
                    </a:cxn>
                    <a:cxn ang="0">
                      <a:pos x="550" y="208"/>
                    </a:cxn>
                    <a:cxn ang="0">
                      <a:pos x="544" y="187"/>
                    </a:cxn>
                    <a:cxn ang="0">
                      <a:pos x="532" y="170"/>
                    </a:cxn>
                    <a:cxn ang="0">
                      <a:pos x="523" y="135"/>
                    </a:cxn>
                    <a:cxn ang="0">
                      <a:pos x="519" y="116"/>
                    </a:cxn>
                    <a:cxn ang="0">
                      <a:pos x="267" y="132"/>
                    </a:cxn>
                    <a:cxn ang="0">
                      <a:pos x="234" y="126"/>
                    </a:cxn>
                    <a:cxn ang="0">
                      <a:pos x="193" y="113"/>
                    </a:cxn>
                    <a:cxn ang="0">
                      <a:pos x="162" y="97"/>
                    </a:cxn>
                    <a:cxn ang="0">
                      <a:pos x="129" y="77"/>
                    </a:cxn>
                    <a:cxn ang="0">
                      <a:pos x="97" y="48"/>
                    </a:cxn>
                    <a:cxn ang="0">
                      <a:pos x="78" y="24"/>
                    </a:cxn>
                    <a:cxn ang="0">
                      <a:pos x="60" y="0"/>
                    </a:cxn>
                    <a:cxn ang="0">
                      <a:pos x="16" y="53"/>
                    </a:cxn>
                  </a:cxnLst>
                  <a:rect l="0" t="0" r="r" b="b"/>
                  <a:pathLst>
                    <a:path w="551" h="339">
                      <a:moveTo>
                        <a:pt x="16" y="53"/>
                      </a:moveTo>
                      <a:lnTo>
                        <a:pt x="0" y="122"/>
                      </a:lnTo>
                      <a:lnTo>
                        <a:pt x="10" y="146"/>
                      </a:lnTo>
                      <a:lnTo>
                        <a:pt x="33" y="183"/>
                      </a:lnTo>
                      <a:lnTo>
                        <a:pt x="57" y="216"/>
                      </a:lnTo>
                      <a:lnTo>
                        <a:pt x="85" y="244"/>
                      </a:lnTo>
                      <a:lnTo>
                        <a:pt x="120" y="271"/>
                      </a:lnTo>
                      <a:lnTo>
                        <a:pt x="153" y="290"/>
                      </a:lnTo>
                      <a:lnTo>
                        <a:pt x="189" y="308"/>
                      </a:lnTo>
                      <a:lnTo>
                        <a:pt x="235" y="324"/>
                      </a:lnTo>
                      <a:lnTo>
                        <a:pt x="270" y="332"/>
                      </a:lnTo>
                      <a:lnTo>
                        <a:pt x="312" y="338"/>
                      </a:lnTo>
                      <a:lnTo>
                        <a:pt x="351" y="338"/>
                      </a:lnTo>
                      <a:lnTo>
                        <a:pt x="393" y="333"/>
                      </a:lnTo>
                      <a:lnTo>
                        <a:pt x="436" y="321"/>
                      </a:lnTo>
                      <a:lnTo>
                        <a:pt x="475" y="302"/>
                      </a:lnTo>
                      <a:lnTo>
                        <a:pt x="498" y="286"/>
                      </a:lnTo>
                      <a:lnTo>
                        <a:pt x="526" y="262"/>
                      </a:lnTo>
                      <a:lnTo>
                        <a:pt x="541" y="243"/>
                      </a:lnTo>
                      <a:lnTo>
                        <a:pt x="550" y="226"/>
                      </a:lnTo>
                      <a:lnTo>
                        <a:pt x="550" y="208"/>
                      </a:lnTo>
                      <a:lnTo>
                        <a:pt x="544" y="187"/>
                      </a:lnTo>
                      <a:lnTo>
                        <a:pt x="532" y="170"/>
                      </a:lnTo>
                      <a:lnTo>
                        <a:pt x="523" y="135"/>
                      </a:lnTo>
                      <a:lnTo>
                        <a:pt x="519" y="116"/>
                      </a:lnTo>
                      <a:lnTo>
                        <a:pt x="267" y="132"/>
                      </a:lnTo>
                      <a:lnTo>
                        <a:pt x="234" y="126"/>
                      </a:lnTo>
                      <a:lnTo>
                        <a:pt x="193" y="113"/>
                      </a:lnTo>
                      <a:lnTo>
                        <a:pt x="162" y="97"/>
                      </a:lnTo>
                      <a:lnTo>
                        <a:pt x="129" y="77"/>
                      </a:lnTo>
                      <a:lnTo>
                        <a:pt x="97" y="48"/>
                      </a:lnTo>
                      <a:lnTo>
                        <a:pt x="78" y="24"/>
                      </a:lnTo>
                      <a:lnTo>
                        <a:pt x="60" y="0"/>
                      </a:lnTo>
                      <a:lnTo>
                        <a:pt x="16" y="53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2" name="Freeform 18"/>
                <p:cNvSpPr>
                  <a:spLocks/>
                </p:cNvSpPr>
                <p:nvPr/>
              </p:nvSpPr>
              <p:spPr bwMode="ltGray">
                <a:xfrm>
                  <a:off x="134" y="119"/>
                  <a:ext cx="475" cy="552"/>
                </a:xfrm>
                <a:custGeom>
                  <a:avLst/>
                  <a:gdLst/>
                  <a:ahLst/>
                  <a:cxnLst>
                    <a:cxn ang="0">
                      <a:pos x="474" y="0"/>
                    </a:cxn>
                    <a:cxn ang="0">
                      <a:pos x="474" y="294"/>
                    </a:cxn>
                    <a:cxn ang="0">
                      <a:pos x="446" y="291"/>
                    </a:cxn>
                    <a:cxn ang="0">
                      <a:pos x="411" y="293"/>
                    </a:cxn>
                    <a:cxn ang="0">
                      <a:pos x="353" y="299"/>
                    </a:cxn>
                    <a:cxn ang="0">
                      <a:pos x="296" y="310"/>
                    </a:cxn>
                    <a:cxn ang="0">
                      <a:pos x="243" y="323"/>
                    </a:cxn>
                    <a:cxn ang="0">
                      <a:pos x="200" y="339"/>
                    </a:cxn>
                    <a:cxn ang="0">
                      <a:pos x="149" y="364"/>
                    </a:cxn>
                    <a:cxn ang="0">
                      <a:pos x="110" y="390"/>
                    </a:cxn>
                    <a:cxn ang="0">
                      <a:pos x="81" y="415"/>
                    </a:cxn>
                    <a:cxn ang="0">
                      <a:pos x="60" y="439"/>
                    </a:cxn>
                    <a:cxn ang="0">
                      <a:pos x="47" y="461"/>
                    </a:cxn>
                    <a:cxn ang="0">
                      <a:pos x="35" y="488"/>
                    </a:cxn>
                    <a:cxn ang="0">
                      <a:pos x="30" y="513"/>
                    </a:cxn>
                    <a:cxn ang="0">
                      <a:pos x="23" y="551"/>
                    </a:cxn>
                    <a:cxn ang="0">
                      <a:pos x="17" y="518"/>
                    </a:cxn>
                    <a:cxn ang="0">
                      <a:pos x="8" y="481"/>
                    </a:cxn>
                    <a:cxn ang="0">
                      <a:pos x="5" y="453"/>
                    </a:cxn>
                    <a:cxn ang="0">
                      <a:pos x="0" y="420"/>
                    </a:cxn>
                    <a:cxn ang="0">
                      <a:pos x="2" y="393"/>
                    </a:cxn>
                    <a:cxn ang="0">
                      <a:pos x="8" y="361"/>
                    </a:cxn>
                    <a:cxn ang="0">
                      <a:pos x="15" y="317"/>
                    </a:cxn>
                    <a:cxn ang="0">
                      <a:pos x="30" y="279"/>
                    </a:cxn>
                    <a:cxn ang="0">
                      <a:pos x="50" y="238"/>
                    </a:cxn>
                    <a:cxn ang="0">
                      <a:pos x="75" y="196"/>
                    </a:cxn>
                    <a:cxn ang="0">
                      <a:pos x="111" y="152"/>
                    </a:cxn>
                    <a:cxn ang="0">
                      <a:pos x="152" y="116"/>
                    </a:cxn>
                    <a:cxn ang="0">
                      <a:pos x="188" y="87"/>
                    </a:cxn>
                    <a:cxn ang="0">
                      <a:pos x="233" y="60"/>
                    </a:cxn>
                    <a:cxn ang="0">
                      <a:pos x="279" y="40"/>
                    </a:cxn>
                    <a:cxn ang="0">
                      <a:pos x="333" y="21"/>
                    </a:cxn>
                    <a:cxn ang="0">
                      <a:pos x="380" y="10"/>
                    </a:cxn>
                    <a:cxn ang="0">
                      <a:pos x="435" y="3"/>
                    </a:cxn>
                    <a:cxn ang="0">
                      <a:pos x="474" y="0"/>
                    </a:cxn>
                  </a:cxnLst>
                  <a:rect l="0" t="0" r="r" b="b"/>
                  <a:pathLst>
                    <a:path w="475" h="552">
                      <a:moveTo>
                        <a:pt x="474" y="0"/>
                      </a:moveTo>
                      <a:lnTo>
                        <a:pt x="474" y="294"/>
                      </a:lnTo>
                      <a:lnTo>
                        <a:pt x="446" y="291"/>
                      </a:lnTo>
                      <a:lnTo>
                        <a:pt x="411" y="293"/>
                      </a:lnTo>
                      <a:lnTo>
                        <a:pt x="353" y="299"/>
                      </a:lnTo>
                      <a:lnTo>
                        <a:pt x="296" y="310"/>
                      </a:lnTo>
                      <a:lnTo>
                        <a:pt x="243" y="323"/>
                      </a:lnTo>
                      <a:lnTo>
                        <a:pt x="200" y="339"/>
                      </a:lnTo>
                      <a:lnTo>
                        <a:pt x="149" y="364"/>
                      </a:lnTo>
                      <a:lnTo>
                        <a:pt x="110" y="390"/>
                      </a:lnTo>
                      <a:lnTo>
                        <a:pt x="81" y="415"/>
                      </a:lnTo>
                      <a:lnTo>
                        <a:pt x="60" y="439"/>
                      </a:lnTo>
                      <a:lnTo>
                        <a:pt x="47" y="461"/>
                      </a:lnTo>
                      <a:lnTo>
                        <a:pt x="35" y="488"/>
                      </a:lnTo>
                      <a:lnTo>
                        <a:pt x="30" y="513"/>
                      </a:lnTo>
                      <a:lnTo>
                        <a:pt x="23" y="551"/>
                      </a:lnTo>
                      <a:lnTo>
                        <a:pt x="17" y="518"/>
                      </a:lnTo>
                      <a:lnTo>
                        <a:pt x="8" y="481"/>
                      </a:lnTo>
                      <a:lnTo>
                        <a:pt x="5" y="453"/>
                      </a:lnTo>
                      <a:lnTo>
                        <a:pt x="0" y="420"/>
                      </a:lnTo>
                      <a:lnTo>
                        <a:pt x="2" y="393"/>
                      </a:lnTo>
                      <a:lnTo>
                        <a:pt x="8" y="361"/>
                      </a:lnTo>
                      <a:lnTo>
                        <a:pt x="15" y="317"/>
                      </a:lnTo>
                      <a:lnTo>
                        <a:pt x="30" y="279"/>
                      </a:lnTo>
                      <a:lnTo>
                        <a:pt x="50" y="238"/>
                      </a:lnTo>
                      <a:lnTo>
                        <a:pt x="75" y="196"/>
                      </a:lnTo>
                      <a:lnTo>
                        <a:pt x="111" y="152"/>
                      </a:lnTo>
                      <a:lnTo>
                        <a:pt x="152" y="116"/>
                      </a:lnTo>
                      <a:lnTo>
                        <a:pt x="188" y="87"/>
                      </a:lnTo>
                      <a:lnTo>
                        <a:pt x="233" y="60"/>
                      </a:lnTo>
                      <a:lnTo>
                        <a:pt x="279" y="40"/>
                      </a:lnTo>
                      <a:lnTo>
                        <a:pt x="333" y="21"/>
                      </a:lnTo>
                      <a:lnTo>
                        <a:pt x="380" y="10"/>
                      </a:lnTo>
                      <a:lnTo>
                        <a:pt x="435" y="3"/>
                      </a:lnTo>
                      <a:lnTo>
                        <a:pt x="474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3" name="Freeform 19"/>
                <p:cNvSpPr>
                  <a:spLocks/>
                </p:cNvSpPr>
                <p:nvPr/>
              </p:nvSpPr>
              <p:spPr bwMode="ltGray">
                <a:xfrm>
                  <a:off x="422" y="687"/>
                  <a:ext cx="156" cy="117"/>
                </a:xfrm>
                <a:custGeom>
                  <a:avLst/>
                  <a:gdLst/>
                  <a:ahLst/>
                  <a:cxnLst>
                    <a:cxn ang="0">
                      <a:pos x="72" y="0"/>
                    </a:cxn>
                    <a:cxn ang="0">
                      <a:pos x="21" y="19"/>
                    </a:cxn>
                    <a:cxn ang="0">
                      <a:pos x="3" y="45"/>
                    </a:cxn>
                    <a:cxn ang="0">
                      <a:pos x="0" y="70"/>
                    </a:cxn>
                    <a:cxn ang="0">
                      <a:pos x="0" y="83"/>
                    </a:cxn>
                    <a:cxn ang="0">
                      <a:pos x="9" y="99"/>
                    </a:cxn>
                    <a:cxn ang="0">
                      <a:pos x="29" y="107"/>
                    </a:cxn>
                    <a:cxn ang="0">
                      <a:pos x="50" y="113"/>
                    </a:cxn>
                    <a:cxn ang="0">
                      <a:pos x="69" y="116"/>
                    </a:cxn>
                    <a:cxn ang="0">
                      <a:pos x="86" y="116"/>
                    </a:cxn>
                    <a:cxn ang="0">
                      <a:pos x="114" y="111"/>
                    </a:cxn>
                    <a:cxn ang="0">
                      <a:pos x="134" y="106"/>
                    </a:cxn>
                    <a:cxn ang="0">
                      <a:pos x="146" y="98"/>
                    </a:cxn>
                    <a:cxn ang="0">
                      <a:pos x="153" y="89"/>
                    </a:cxn>
                    <a:cxn ang="0">
                      <a:pos x="155" y="78"/>
                    </a:cxn>
                    <a:cxn ang="0">
                      <a:pos x="153" y="60"/>
                    </a:cxn>
                    <a:cxn ang="0">
                      <a:pos x="146" y="11"/>
                    </a:cxn>
                    <a:cxn ang="0">
                      <a:pos x="72" y="0"/>
                    </a:cxn>
                  </a:cxnLst>
                  <a:rect l="0" t="0" r="r" b="b"/>
                  <a:pathLst>
                    <a:path w="156" h="117">
                      <a:moveTo>
                        <a:pt x="72" y="0"/>
                      </a:moveTo>
                      <a:lnTo>
                        <a:pt x="21" y="19"/>
                      </a:lnTo>
                      <a:lnTo>
                        <a:pt x="3" y="45"/>
                      </a:lnTo>
                      <a:lnTo>
                        <a:pt x="0" y="70"/>
                      </a:lnTo>
                      <a:lnTo>
                        <a:pt x="0" y="83"/>
                      </a:lnTo>
                      <a:lnTo>
                        <a:pt x="9" y="99"/>
                      </a:lnTo>
                      <a:lnTo>
                        <a:pt x="29" y="107"/>
                      </a:lnTo>
                      <a:lnTo>
                        <a:pt x="50" y="113"/>
                      </a:lnTo>
                      <a:lnTo>
                        <a:pt x="69" y="116"/>
                      </a:lnTo>
                      <a:lnTo>
                        <a:pt x="86" y="116"/>
                      </a:lnTo>
                      <a:lnTo>
                        <a:pt x="114" y="111"/>
                      </a:lnTo>
                      <a:lnTo>
                        <a:pt x="134" y="106"/>
                      </a:lnTo>
                      <a:lnTo>
                        <a:pt x="146" y="98"/>
                      </a:lnTo>
                      <a:lnTo>
                        <a:pt x="153" y="89"/>
                      </a:lnTo>
                      <a:lnTo>
                        <a:pt x="155" y="78"/>
                      </a:lnTo>
                      <a:lnTo>
                        <a:pt x="153" y="60"/>
                      </a:lnTo>
                      <a:lnTo>
                        <a:pt x="146" y="11"/>
                      </a:lnTo>
                      <a:lnTo>
                        <a:pt x="72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4" name="Freeform 20"/>
                <p:cNvSpPr>
                  <a:spLocks/>
                </p:cNvSpPr>
                <p:nvPr/>
              </p:nvSpPr>
              <p:spPr bwMode="ltGray">
                <a:xfrm>
                  <a:off x="494" y="700"/>
                  <a:ext cx="88" cy="74"/>
                </a:xfrm>
                <a:custGeom>
                  <a:avLst/>
                  <a:gdLst/>
                  <a:ahLst/>
                  <a:cxnLst>
                    <a:cxn ang="0">
                      <a:pos x="87" y="67"/>
                    </a:cxn>
                    <a:cxn ang="0">
                      <a:pos x="76" y="0"/>
                    </a:cxn>
                    <a:cxn ang="0">
                      <a:pos x="33" y="5"/>
                    </a:cxn>
                    <a:cxn ang="0">
                      <a:pos x="0" y="8"/>
                    </a:cxn>
                    <a:cxn ang="0">
                      <a:pos x="9" y="73"/>
                    </a:cxn>
                    <a:cxn ang="0">
                      <a:pos x="12" y="57"/>
                    </a:cxn>
                    <a:cxn ang="0">
                      <a:pos x="22" y="47"/>
                    </a:cxn>
                    <a:cxn ang="0">
                      <a:pos x="40" y="43"/>
                    </a:cxn>
                    <a:cxn ang="0">
                      <a:pos x="60" y="44"/>
                    </a:cxn>
                    <a:cxn ang="0">
                      <a:pos x="76" y="51"/>
                    </a:cxn>
                    <a:cxn ang="0">
                      <a:pos x="87" y="67"/>
                    </a:cxn>
                  </a:cxnLst>
                  <a:rect l="0" t="0" r="r" b="b"/>
                  <a:pathLst>
                    <a:path w="88" h="74">
                      <a:moveTo>
                        <a:pt x="87" y="67"/>
                      </a:moveTo>
                      <a:lnTo>
                        <a:pt x="76" y="0"/>
                      </a:lnTo>
                      <a:lnTo>
                        <a:pt x="33" y="5"/>
                      </a:lnTo>
                      <a:lnTo>
                        <a:pt x="0" y="8"/>
                      </a:lnTo>
                      <a:lnTo>
                        <a:pt x="9" y="73"/>
                      </a:lnTo>
                      <a:lnTo>
                        <a:pt x="12" y="57"/>
                      </a:lnTo>
                      <a:lnTo>
                        <a:pt x="22" y="47"/>
                      </a:lnTo>
                      <a:lnTo>
                        <a:pt x="40" y="43"/>
                      </a:lnTo>
                      <a:lnTo>
                        <a:pt x="60" y="44"/>
                      </a:lnTo>
                      <a:lnTo>
                        <a:pt x="76" y="51"/>
                      </a:lnTo>
                      <a:lnTo>
                        <a:pt x="87" y="67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5" name="Freeform 21"/>
                <p:cNvSpPr>
                  <a:spLocks/>
                </p:cNvSpPr>
                <p:nvPr/>
              </p:nvSpPr>
              <p:spPr bwMode="ltGray">
                <a:xfrm>
                  <a:off x="386" y="479"/>
                  <a:ext cx="319" cy="286"/>
                </a:xfrm>
                <a:custGeom>
                  <a:avLst/>
                  <a:gdLst/>
                  <a:ahLst/>
                  <a:cxnLst>
                    <a:cxn ang="0">
                      <a:pos x="317" y="275"/>
                    </a:cxn>
                    <a:cxn ang="0">
                      <a:pos x="315" y="254"/>
                    </a:cxn>
                    <a:cxn ang="0">
                      <a:pos x="306" y="235"/>
                    </a:cxn>
                    <a:cxn ang="0">
                      <a:pos x="299" y="219"/>
                    </a:cxn>
                    <a:cxn ang="0">
                      <a:pos x="294" y="194"/>
                    </a:cxn>
                    <a:cxn ang="0">
                      <a:pos x="288" y="161"/>
                    </a:cxn>
                    <a:cxn ang="0">
                      <a:pos x="284" y="126"/>
                    </a:cxn>
                    <a:cxn ang="0">
                      <a:pos x="281" y="94"/>
                    </a:cxn>
                    <a:cxn ang="0">
                      <a:pos x="279" y="67"/>
                    </a:cxn>
                    <a:cxn ang="0">
                      <a:pos x="278" y="43"/>
                    </a:cxn>
                    <a:cxn ang="0">
                      <a:pos x="270" y="29"/>
                    </a:cxn>
                    <a:cxn ang="0">
                      <a:pos x="255" y="16"/>
                    </a:cxn>
                    <a:cxn ang="0">
                      <a:pos x="240" y="9"/>
                    </a:cxn>
                    <a:cxn ang="0">
                      <a:pos x="216" y="2"/>
                    </a:cxn>
                    <a:cxn ang="0">
                      <a:pos x="189" y="0"/>
                    </a:cxn>
                    <a:cxn ang="0">
                      <a:pos x="147" y="0"/>
                    </a:cxn>
                    <a:cxn ang="0">
                      <a:pos x="110" y="2"/>
                    </a:cxn>
                    <a:cxn ang="0">
                      <a:pos x="74" y="9"/>
                    </a:cxn>
                    <a:cxn ang="0">
                      <a:pos x="41" y="21"/>
                    </a:cxn>
                    <a:cxn ang="0">
                      <a:pos x="20" y="35"/>
                    </a:cxn>
                    <a:cxn ang="0">
                      <a:pos x="8" y="47"/>
                    </a:cxn>
                    <a:cxn ang="0">
                      <a:pos x="0" y="61"/>
                    </a:cxn>
                    <a:cxn ang="0">
                      <a:pos x="2" y="75"/>
                    </a:cxn>
                    <a:cxn ang="0">
                      <a:pos x="5" y="89"/>
                    </a:cxn>
                    <a:cxn ang="0">
                      <a:pos x="15" y="104"/>
                    </a:cxn>
                    <a:cxn ang="0">
                      <a:pos x="23" y="123"/>
                    </a:cxn>
                    <a:cxn ang="0">
                      <a:pos x="27" y="149"/>
                    </a:cxn>
                    <a:cxn ang="0">
                      <a:pos x="30" y="176"/>
                    </a:cxn>
                    <a:cxn ang="0">
                      <a:pos x="35" y="200"/>
                    </a:cxn>
                    <a:cxn ang="0">
                      <a:pos x="36" y="235"/>
                    </a:cxn>
                    <a:cxn ang="0">
                      <a:pos x="38" y="265"/>
                    </a:cxn>
                    <a:cxn ang="0">
                      <a:pos x="38" y="285"/>
                    </a:cxn>
                    <a:cxn ang="0">
                      <a:pos x="48" y="260"/>
                    </a:cxn>
                    <a:cxn ang="0">
                      <a:pos x="68" y="248"/>
                    </a:cxn>
                    <a:cxn ang="0">
                      <a:pos x="86" y="241"/>
                    </a:cxn>
                    <a:cxn ang="0">
                      <a:pos x="108" y="236"/>
                    </a:cxn>
                    <a:cxn ang="0">
                      <a:pos x="143" y="229"/>
                    </a:cxn>
                    <a:cxn ang="0">
                      <a:pos x="177" y="228"/>
                    </a:cxn>
                    <a:cxn ang="0">
                      <a:pos x="197" y="228"/>
                    </a:cxn>
                    <a:cxn ang="0">
                      <a:pos x="228" y="230"/>
                    </a:cxn>
                    <a:cxn ang="0">
                      <a:pos x="264" y="237"/>
                    </a:cxn>
                    <a:cxn ang="0">
                      <a:pos x="287" y="246"/>
                    </a:cxn>
                    <a:cxn ang="0">
                      <a:pos x="302" y="255"/>
                    </a:cxn>
                    <a:cxn ang="0">
                      <a:pos x="318" y="268"/>
                    </a:cxn>
                  </a:cxnLst>
                  <a:rect l="0" t="0" r="r" b="b"/>
                  <a:pathLst>
                    <a:path w="319" h="286">
                      <a:moveTo>
                        <a:pt x="317" y="275"/>
                      </a:moveTo>
                      <a:lnTo>
                        <a:pt x="315" y="254"/>
                      </a:lnTo>
                      <a:lnTo>
                        <a:pt x="306" y="235"/>
                      </a:lnTo>
                      <a:lnTo>
                        <a:pt x="299" y="219"/>
                      </a:lnTo>
                      <a:lnTo>
                        <a:pt x="294" y="194"/>
                      </a:lnTo>
                      <a:lnTo>
                        <a:pt x="288" y="161"/>
                      </a:lnTo>
                      <a:lnTo>
                        <a:pt x="284" y="126"/>
                      </a:lnTo>
                      <a:lnTo>
                        <a:pt x="281" y="94"/>
                      </a:lnTo>
                      <a:lnTo>
                        <a:pt x="279" y="67"/>
                      </a:lnTo>
                      <a:lnTo>
                        <a:pt x="278" y="43"/>
                      </a:lnTo>
                      <a:lnTo>
                        <a:pt x="270" y="29"/>
                      </a:lnTo>
                      <a:lnTo>
                        <a:pt x="255" y="16"/>
                      </a:lnTo>
                      <a:lnTo>
                        <a:pt x="240" y="9"/>
                      </a:lnTo>
                      <a:lnTo>
                        <a:pt x="216" y="2"/>
                      </a:lnTo>
                      <a:lnTo>
                        <a:pt x="189" y="0"/>
                      </a:lnTo>
                      <a:lnTo>
                        <a:pt x="147" y="0"/>
                      </a:lnTo>
                      <a:lnTo>
                        <a:pt x="110" y="2"/>
                      </a:lnTo>
                      <a:lnTo>
                        <a:pt x="74" y="9"/>
                      </a:lnTo>
                      <a:lnTo>
                        <a:pt x="41" y="21"/>
                      </a:lnTo>
                      <a:lnTo>
                        <a:pt x="20" y="35"/>
                      </a:lnTo>
                      <a:lnTo>
                        <a:pt x="8" y="47"/>
                      </a:lnTo>
                      <a:lnTo>
                        <a:pt x="0" y="61"/>
                      </a:lnTo>
                      <a:lnTo>
                        <a:pt x="2" y="75"/>
                      </a:lnTo>
                      <a:lnTo>
                        <a:pt x="5" y="89"/>
                      </a:lnTo>
                      <a:lnTo>
                        <a:pt x="15" y="104"/>
                      </a:lnTo>
                      <a:lnTo>
                        <a:pt x="23" y="123"/>
                      </a:lnTo>
                      <a:lnTo>
                        <a:pt x="27" y="149"/>
                      </a:lnTo>
                      <a:lnTo>
                        <a:pt x="30" y="176"/>
                      </a:lnTo>
                      <a:lnTo>
                        <a:pt x="35" y="200"/>
                      </a:lnTo>
                      <a:lnTo>
                        <a:pt x="36" y="235"/>
                      </a:lnTo>
                      <a:lnTo>
                        <a:pt x="38" y="265"/>
                      </a:lnTo>
                      <a:lnTo>
                        <a:pt x="38" y="285"/>
                      </a:lnTo>
                      <a:lnTo>
                        <a:pt x="48" y="260"/>
                      </a:lnTo>
                      <a:lnTo>
                        <a:pt x="68" y="248"/>
                      </a:lnTo>
                      <a:lnTo>
                        <a:pt x="86" y="241"/>
                      </a:lnTo>
                      <a:lnTo>
                        <a:pt x="108" y="236"/>
                      </a:lnTo>
                      <a:lnTo>
                        <a:pt x="143" y="229"/>
                      </a:lnTo>
                      <a:lnTo>
                        <a:pt x="177" y="228"/>
                      </a:lnTo>
                      <a:lnTo>
                        <a:pt x="197" y="228"/>
                      </a:lnTo>
                      <a:lnTo>
                        <a:pt x="228" y="230"/>
                      </a:lnTo>
                      <a:lnTo>
                        <a:pt x="264" y="237"/>
                      </a:lnTo>
                      <a:lnTo>
                        <a:pt x="287" y="246"/>
                      </a:lnTo>
                      <a:lnTo>
                        <a:pt x="302" y="255"/>
                      </a:lnTo>
                      <a:lnTo>
                        <a:pt x="318" y="268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6" name="Freeform 22"/>
                <p:cNvSpPr>
                  <a:spLocks/>
                </p:cNvSpPr>
                <p:nvPr/>
              </p:nvSpPr>
              <p:spPr bwMode="ltGray">
                <a:xfrm>
                  <a:off x="5101" y="537"/>
                  <a:ext cx="551" cy="335"/>
                </a:xfrm>
                <a:custGeom>
                  <a:avLst/>
                  <a:gdLst/>
                  <a:ahLst/>
                  <a:cxnLst>
                    <a:cxn ang="0">
                      <a:pos x="534" y="48"/>
                    </a:cxn>
                    <a:cxn ang="0">
                      <a:pos x="550" y="117"/>
                    </a:cxn>
                    <a:cxn ang="0">
                      <a:pos x="540" y="142"/>
                    </a:cxn>
                    <a:cxn ang="0">
                      <a:pos x="517" y="179"/>
                    </a:cxn>
                    <a:cxn ang="0">
                      <a:pos x="493" y="212"/>
                    </a:cxn>
                    <a:cxn ang="0">
                      <a:pos x="465" y="239"/>
                    </a:cxn>
                    <a:cxn ang="0">
                      <a:pos x="430" y="267"/>
                    </a:cxn>
                    <a:cxn ang="0">
                      <a:pos x="397" y="286"/>
                    </a:cxn>
                    <a:cxn ang="0">
                      <a:pos x="361" y="304"/>
                    </a:cxn>
                    <a:cxn ang="0">
                      <a:pos x="315" y="320"/>
                    </a:cxn>
                    <a:cxn ang="0">
                      <a:pos x="280" y="328"/>
                    </a:cxn>
                    <a:cxn ang="0">
                      <a:pos x="238" y="334"/>
                    </a:cxn>
                    <a:cxn ang="0">
                      <a:pos x="199" y="334"/>
                    </a:cxn>
                    <a:cxn ang="0">
                      <a:pos x="157" y="329"/>
                    </a:cxn>
                    <a:cxn ang="0">
                      <a:pos x="114" y="317"/>
                    </a:cxn>
                    <a:cxn ang="0">
                      <a:pos x="75" y="298"/>
                    </a:cxn>
                    <a:cxn ang="0">
                      <a:pos x="52" y="282"/>
                    </a:cxn>
                    <a:cxn ang="0">
                      <a:pos x="24" y="258"/>
                    </a:cxn>
                    <a:cxn ang="0">
                      <a:pos x="9" y="238"/>
                    </a:cxn>
                    <a:cxn ang="0">
                      <a:pos x="0" y="222"/>
                    </a:cxn>
                    <a:cxn ang="0">
                      <a:pos x="0" y="204"/>
                    </a:cxn>
                    <a:cxn ang="0">
                      <a:pos x="6" y="182"/>
                    </a:cxn>
                    <a:cxn ang="0">
                      <a:pos x="18" y="166"/>
                    </a:cxn>
                    <a:cxn ang="0">
                      <a:pos x="27" y="131"/>
                    </a:cxn>
                    <a:cxn ang="0">
                      <a:pos x="31" y="112"/>
                    </a:cxn>
                    <a:cxn ang="0">
                      <a:pos x="283" y="128"/>
                    </a:cxn>
                    <a:cxn ang="0">
                      <a:pos x="316" y="122"/>
                    </a:cxn>
                    <a:cxn ang="0">
                      <a:pos x="357" y="109"/>
                    </a:cxn>
                    <a:cxn ang="0">
                      <a:pos x="388" y="93"/>
                    </a:cxn>
                    <a:cxn ang="0">
                      <a:pos x="421" y="73"/>
                    </a:cxn>
                    <a:cxn ang="0">
                      <a:pos x="453" y="44"/>
                    </a:cxn>
                    <a:cxn ang="0">
                      <a:pos x="472" y="19"/>
                    </a:cxn>
                    <a:cxn ang="0">
                      <a:pos x="486" y="0"/>
                    </a:cxn>
                    <a:cxn ang="0">
                      <a:pos x="534" y="48"/>
                    </a:cxn>
                  </a:cxnLst>
                  <a:rect l="0" t="0" r="r" b="b"/>
                  <a:pathLst>
                    <a:path w="551" h="335">
                      <a:moveTo>
                        <a:pt x="534" y="48"/>
                      </a:moveTo>
                      <a:lnTo>
                        <a:pt x="550" y="117"/>
                      </a:lnTo>
                      <a:lnTo>
                        <a:pt x="540" y="142"/>
                      </a:lnTo>
                      <a:lnTo>
                        <a:pt x="517" y="179"/>
                      </a:lnTo>
                      <a:lnTo>
                        <a:pt x="493" y="212"/>
                      </a:lnTo>
                      <a:lnTo>
                        <a:pt x="465" y="239"/>
                      </a:lnTo>
                      <a:lnTo>
                        <a:pt x="430" y="267"/>
                      </a:lnTo>
                      <a:lnTo>
                        <a:pt x="397" y="286"/>
                      </a:lnTo>
                      <a:lnTo>
                        <a:pt x="361" y="304"/>
                      </a:lnTo>
                      <a:lnTo>
                        <a:pt x="315" y="320"/>
                      </a:lnTo>
                      <a:lnTo>
                        <a:pt x="280" y="328"/>
                      </a:lnTo>
                      <a:lnTo>
                        <a:pt x="238" y="334"/>
                      </a:lnTo>
                      <a:lnTo>
                        <a:pt x="199" y="334"/>
                      </a:lnTo>
                      <a:lnTo>
                        <a:pt x="157" y="329"/>
                      </a:lnTo>
                      <a:lnTo>
                        <a:pt x="114" y="317"/>
                      </a:lnTo>
                      <a:lnTo>
                        <a:pt x="75" y="298"/>
                      </a:lnTo>
                      <a:lnTo>
                        <a:pt x="52" y="282"/>
                      </a:lnTo>
                      <a:lnTo>
                        <a:pt x="24" y="258"/>
                      </a:lnTo>
                      <a:lnTo>
                        <a:pt x="9" y="238"/>
                      </a:lnTo>
                      <a:lnTo>
                        <a:pt x="0" y="222"/>
                      </a:lnTo>
                      <a:lnTo>
                        <a:pt x="0" y="204"/>
                      </a:lnTo>
                      <a:lnTo>
                        <a:pt x="6" y="182"/>
                      </a:lnTo>
                      <a:lnTo>
                        <a:pt x="18" y="166"/>
                      </a:lnTo>
                      <a:lnTo>
                        <a:pt x="27" y="131"/>
                      </a:lnTo>
                      <a:lnTo>
                        <a:pt x="31" y="112"/>
                      </a:lnTo>
                      <a:lnTo>
                        <a:pt x="283" y="128"/>
                      </a:lnTo>
                      <a:lnTo>
                        <a:pt x="316" y="122"/>
                      </a:lnTo>
                      <a:lnTo>
                        <a:pt x="357" y="109"/>
                      </a:lnTo>
                      <a:lnTo>
                        <a:pt x="388" y="93"/>
                      </a:lnTo>
                      <a:lnTo>
                        <a:pt x="421" y="73"/>
                      </a:lnTo>
                      <a:lnTo>
                        <a:pt x="453" y="44"/>
                      </a:lnTo>
                      <a:lnTo>
                        <a:pt x="472" y="19"/>
                      </a:lnTo>
                      <a:lnTo>
                        <a:pt x="486" y="0"/>
                      </a:lnTo>
                      <a:lnTo>
                        <a:pt x="534" y="48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7" name="Freeform 23"/>
                <p:cNvSpPr>
                  <a:spLocks/>
                </p:cNvSpPr>
                <p:nvPr/>
              </p:nvSpPr>
              <p:spPr bwMode="ltGray">
                <a:xfrm>
                  <a:off x="5197" y="119"/>
                  <a:ext cx="475" cy="55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94"/>
                    </a:cxn>
                    <a:cxn ang="0">
                      <a:pos x="28" y="291"/>
                    </a:cxn>
                    <a:cxn ang="0">
                      <a:pos x="63" y="293"/>
                    </a:cxn>
                    <a:cxn ang="0">
                      <a:pos x="121" y="299"/>
                    </a:cxn>
                    <a:cxn ang="0">
                      <a:pos x="178" y="310"/>
                    </a:cxn>
                    <a:cxn ang="0">
                      <a:pos x="231" y="323"/>
                    </a:cxn>
                    <a:cxn ang="0">
                      <a:pos x="274" y="339"/>
                    </a:cxn>
                    <a:cxn ang="0">
                      <a:pos x="325" y="364"/>
                    </a:cxn>
                    <a:cxn ang="0">
                      <a:pos x="364" y="390"/>
                    </a:cxn>
                    <a:cxn ang="0">
                      <a:pos x="393" y="415"/>
                    </a:cxn>
                    <a:cxn ang="0">
                      <a:pos x="414" y="439"/>
                    </a:cxn>
                    <a:cxn ang="0">
                      <a:pos x="427" y="461"/>
                    </a:cxn>
                    <a:cxn ang="0">
                      <a:pos x="439" y="488"/>
                    </a:cxn>
                    <a:cxn ang="0">
                      <a:pos x="444" y="513"/>
                    </a:cxn>
                    <a:cxn ang="0">
                      <a:pos x="451" y="551"/>
                    </a:cxn>
                    <a:cxn ang="0">
                      <a:pos x="457" y="518"/>
                    </a:cxn>
                    <a:cxn ang="0">
                      <a:pos x="466" y="481"/>
                    </a:cxn>
                    <a:cxn ang="0">
                      <a:pos x="469" y="453"/>
                    </a:cxn>
                    <a:cxn ang="0">
                      <a:pos x="474" y="420"/>
                    </a:cxn>
                    <a:cxn ang="0">
                      <a:pos x="472" y="393"/>
                    </a:cxn>
                    <a:cxn ang="0">
                      <a:pos x="466" y="361"/>
                    </a:cxn>
                    <a:cxn ang="0">
                      <a:pos x="459" y="317"/>
                    </a:cxn>
                    <a:cxn ang="0">
                      <a:pos x="444" y="279"/>
                    </a:cxn>
                    <a:cxn ang="0">
                      <a:pos x="424" y="238"/>
                    </a:cxn>
                    <a:cxn ang="0">
                      <a:pos x="399" y="196"/>
                    </a:cxn>
                    <a:cxn ang="0">
                      <a:pos x="363" y="152"/>
                    </a:cxn>
                    <a:cxn ang="0">
                      <a:pos x="322" y="116"/>
                    </a:cxn>
                    <a:cxn ang="0">
                      <a:pos x="286" y="87"/>
                    </a:cxn>
                    <a:cxn ang="0">
                      <a:pos x="241" y="60"/>
                    </a:cxn>
                    <a:cxn ang="0">
                      <a:pos x="195" y="40"/>
                    </a:cxn>
                    <a:cxn ang="0">
                      <a:pos x="141" y="21"/>
                    </a:cxn>
                    <a:cxn ang="0">
                      <a:pos x="94" y="10"/>
                    </a:cxn>
                    <a:cxn ang="0">
                      <a:pos x="39" y="3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75" h="552">
                      <a:moveTo>
                        <a:pt x="0" y="0"/>
                      </a:moveTo>
                      <a:lnTo>
                        <a:pt x="0" y="294"/>
                      </a:lnTo>
                      <a:lnTo>
                        <a:pt x="28" y="291"/>
                      </a:lnTo>
                      <a:lnTo>
                        <a:pt x="63" y="293"/>
                      </a:lnTo>
                      <a:lnTo>
                        <a:pt x="121" y="299"/>
                      </a:lnTo>
                      <a:lnTo>
                        <a:pt x="178" y="310"/>
                      </a:lnTo>
                      <a:lnTo>
                        <a:pt x="231" y="323"/>
                      </a:lnTo>
                      <a:lnTo>
                        <a:pt x="274" y="339"/>
                      </a:lnTo>
                      <a:lnTo>
                        <a:pt x="325" y="364"/>
                      </a:lnTo>
                      <a:lnTo>
                        <a:pt x="364" y="390"/>
                      </a:lnTo>
                      <a:lnTo>
                        <a:pt x="393" y="415"/>
                      </a:lnTo>
                      <a:lnTo>
                        <a:pt x="414" y="439"/>
                      </a:lnTo>
                      <a:lnTo>
                        <a:pt x="427" y="461"/>
                      </a:lnTo>
                      <a:lnTo>
                        <a:pt x="439" y="488"/>
                      </a:lnTo>
                      <a:lnTo>
                        <a:pt x="444" y="513"/>
                      </a:lnTo>
                      <a:lnTo>
                        <a:pt x="451" y="551"/>
                      </a:lnTo>
                      <a:lnTo>
                        <a:pt x="457" y="518"/>
                      </a:lnTo>
                      <a:lnTo>
                        <a:pt x="466" y="481"/>
                      </a:lnTo>
                      <a:lnTo>
                        <a:pt x="469" y="453"/>
                      </a:lnTo>
                      <a:lnTo>
                        <a:pt x="474" y="420"/>
                      </a:lnTo>
                      <a:lnTo>
                        <a:pt x="472" y="393"/>
                      </a:lnTo>
                      <a:lnTo>
                        <a:pt x="466" y="361"/>
                      </a:lnTo>
                      <a:lnTo>
                        <a:pt x="459" y="317"/>
                      </a:lnTo>
                      <a:lnTo>
                        <a:pt x="444" y="279"/>
                      </a:lnTo>
                      <a:lnTo>
                        <a:pt x="424" y="238"/>
                      </a:lnTo>
                      <a:lnTo>
                        <a:pt x="399" y="196"/>
                      </a:lnTo>
                      <a:lnTo>
                        <a:pt x="363" y="152"/>
                      </a:lnTo>
                      <a:lnTo>
                        <a:pt x="322" y="116"/>
                      </a:lnTo>
                      <a:lnTo>
                        <a:pt x="286" y="87"/>
                      </a:lnTo>
                      <a:lnTo>
                        <a:pt x="241" y="60"/>
                      </a:lnTo>
                      <a:lnTo>
                        <a:pt x="195" y="40"/>
                      </a:lnTo>
                      <a:lnTo>
                        <a:pt x="141" y="21"/>
                      </a:lnTo>
                      <a:lnTo>
                        <a:pt x="94" y="10"/>
                      </a:lnTo>
                      <a:lnTo>
                        <a:pt x="39" y="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8" name="Freeform 24"/>
                <p:cNvSpPr>
                  <a:spLocks/>
                </p:cNvSpPr>
                <p:nvPr/>
              </p:nvSpPr>
              <p:spPr bwMode="ltGray">
                <a:xfrm>
                  <a:off x="5228" y="687"/>
                  <a:ext cx="156" cy="117"/>
                </a:xfrm>
                <a:custGeom>
                  <a:avLst/>
                  <a:gdLst/>
                  <a:ahLst/>
                  <a:cxnLst>
                    <a:cxn ang="0">
                      <a:pos x="83" y="0"/>
                    </a:cxn>
                    <a:cxn ang="0">
                      <a:pos x="134" y="19"/>
                    </a:cxn>
                    <a:cxn ang="0">
                      <a:pos x="152" y="45"/>
                    </a:cxn>
                    <a:cxn ang="0">
                      <a:pos x="155" y="70"/>
                    </a:cxn>
                    <a:cxn ang="0">
                      <a:pos x="155" y="83"/>
                    </a:cxn>
                    <a:cxn ang="0">
                      <a:pos x="146" y="99"/>
                    </a:cxn>
                    <a:cxn ang="0">
                      <a:pos x="126" y="107"/>
                    </a:cxn>
                    <a:cxn ang="0">
                      <a:pos x="105" y="113"/>
                    </a:cxn>
                    <a:cxn ang="0">
                      <a:pos x="86" y="116"/>
                    </a:cxn>
                    <a:cxn ang="0">
                      <a:pos x="69" y="116"/>
                    </a:cxn>
                    <a:cxn ang="0">
                      <a:pos x="41" y="111"/>
                    </a:cxn>
                    <a:cxn ang="0">
                      <a:pos x="21" y="106"/>
                    </a:cxn>
                    <a:cxn ang="0">
                      <a:pos x="9" y="98"/>
                    </a:cxn>
                    <a:cxn ang="0">
                      <a:pos x="2" y="89"/>
                    </a:cxn>
                    <a:cxn ang="0">
                      <a:pos x="0" y="78"/>
                    </a:cxn>
                    <a:cxn ang="0">
                      <a:pos x="2" y="60"/>
                    </a:cxn>
                    <a:cxn ang="0">
                      <a:pos x="9" y="11"/>
                    </a:cxn>
                    <a:cxn ang="0">
                      <a:pos x="83" y="0"/>
                    </a:cxn>
                  </a:cxnLst>
                  <a:rect l="0" t="0" r="r" b="b"/>
                  <a:pathLst>
                    <a:path w="156" h="117">
                      <a:moveTo>
                        <a:pt x="83" y="0"/>
                      </a:moveTo>
                      <a:lnTo>
                        <a:pt x="134" y="19"/>
                      </a:lnTo>
                      <a:lnTo>
                        <a:pt x="152" y="45"/>
                      </a:lnTo>
                      <a:lnTo>
                        <a:pt x="155" y="70"/>
                      </a:lnTo>
                      <a:lnTo>
                        <a:pt x="155" y="83"/>
                      </a:lnTo>
                      <a:lnTo>
                        <a:pt x="146" y="99"/>
                      </a:lnTo>
                      <a:lnTo>
                        <a:pt x="126" y="107"/>
                      </a:lnTo>
                      <a:lnTo>
                        <a:pt x="105" y="113"/>
                      </a:lnTo>
                      <a:lnTo>
                        <a:pt x="86" y="116"/>
                      </a:lnTo>
                      <a:lnTo>
                        <a:pt x="69" y="116"/>
                      </a:lnTo>
                      <a:lnTo>
                        <a:pt x="41" y="111"/>
                      </a:lnTo>
                      <a:lnTo>
                        <a:pt x="21" y="106"/>
                      </a:lnTo>
                      <a:lnTo>
                        <a:pt x="9" y="98"/>
                      </a:lnTo>
                      <a:lnTo>
                        <a:pt x="2" y="89"/>
                      </a:lnTo>
                      <a:lnTo>
                        <a:pt x="0" y="78"/>
                      </a:lnTo>
                      <a:lnTo>
                        <a:pt x="2" y="60"/>
                      </a:lnTo>
                      <a:lnTo>
                        <a:pt x="9" y="11"/>
                      </a:lnTo>
                      <a:lnTo>
                        <a:pt x="83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9" name="Freeform 25"/>
                <p:cNvSpPr>
                  <a:spLocks/>
                </p:cNvSpPr>
                <p:nvPr/>
              </p:nvSpPr>
              <p:spPr bwMode="ltGray">
                <a:xfrm>
                  <a:off x="5224" y="699"/>
                  <a:ext cx="88" cy="75"/>
                </a:xfrm>
                <a:custGeom>
                  <a:avLst/>
                  <a:gdLst/>
                  <a:ahLst/>
                  <a:cxnLst>
                    <a:cxn ang="0">
                      <a:pos x="0" y="69"/>
                    </a:cxn>
                    <a:cxn ang="0">
                      <a:pos x="11" y="0"/>
                    </a:cxn>
                    <a:cxn ang="0">
                      <a:pos x="54" y="5"/>
                    </a:cxn>
                    <a:cxn ang="0">
                      <a:pos x="87" y="9"/>
                    </a:cxn>
                    <a:cxn ang="0">
                      <a:pos x="78" y="74"/>
                    </a:cxn>
                    <a:cxn ang="0">
                      <a:pos x="75" y="59"/>
                    </a:cxn>
                    <a:cxn ang="0">
                      <a:pos x="65" y="48"/>
                    </a:cxn>
                    <a:cxn ang="0">
                      <a:pos x="47" y="44"/>
                    </a:cxn>
                    <a:cxn ang="0">
                      <a:pos x="27" y="45"/>
                    </a:cxn>
                    <a:cxn ang="0">
                      <a:pos x="11" y="52"/>
                    </a:cxn>
                    <a:cxn ang="0">
                      <a:pos x="0" y="69"/>
                    </a:cxn>
                  </a:cxnLst>
                  <a:rect l="0" t="0" r="r" b="b"/>
                  <a:pathLst>
                    <a:path w="88" h="75">
                      <a:moveTo>
                        <a:pt x="0" y="69"/>
                      </a:moveTo>
                      <a:lnTo>
                        <a:pt x="11" y="0"/>
                      </a:lnTo>
                      <a:lnTo>
                        <a:pt x="54" y="5"/>
                      </a:lnTo>
                      <a:lnTo>
                        <a:pt x="87" y="9"/>
                      </a:lnTo>
                      <a:lnTo>
                        <a:pt x="78" y="74"/>
                      </a:lnTo>
                      <a:lnTo>
                        <a:pt x="75" y="59"/>
                      </a:lnTo>
                      <a:lnTo>
                        <a:pt x="65" y="48"/>
                      </a:lnTo>
                      <a:lnTo>
                        <a:pt x="47" y="44"/>
                      </a:lnTo>
                      <a:lnTo>
                        <a:pt x="27" y="45"/>
                      </a:lnTo>
                      <a:lnTo>
                        <a:pt x="11" y="52"/>
                      </a:lnTo>
                      <a:lnTo>
                        <a:pt x="0" y="69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50" name="Freeform 26"/>
                <p:cNvSpPr>
                  <a:spLocks/>
                </p:cNvSpPr>
                <p:nvPr/>
              </p:nvSpPr>
              <p:spPr bwMode="ltGray">
                <a:xfrm>
                  <a:off x="5101" y="479"/>
                  <a:ext cx="319" cy="286"/>
                </a:xfrm>
                <a:custGeom>
                  <a:avLst/>
                  <a:gdLst/>
                  <a:ahLst/>
                  <a:cxnLst>
                    <a:cxn ang="0">
                      <a:pos x="1" y="275"/>
                    </a:cxn>
                    <a:cxn ang="0">
                      <a:pos x="3" y="254"/>
                    </a:cxn>
                    <a:cxn ang="0">
                      <a:pos x="12" y="235"/>
                    </a:cxn>
                    <a:cxn ang="0">
                      <a:pos x="19" y="219"/>
                    </a:cxn>
                    <a:cxn ang="0">
                      <a:pos x="24" y="194"/>
                    </a:cxn>
                    <a:cxn ang="0">
                      <a:pos x="30" y="161"/>
                    </a:cxn>
                    <a:cxn ang="0">
                      <a:pos x="34" y="126"/>
                    </a:cxn>
                    <a:cxn ang="0">
                      <a:pos x="37" y="94"/>
                    </a:cxn>
                    <a:cxn ang="0">
                      <a:pos x="39" y="67"/>
                    </a:cxn>
                    <a:cxn ang="0">
                      <a:pos x="40" y="43"/>
                    </a:cxn>
                    <a:cxn ang="0">
                      <a:pos x="48" y="29"/>
                    </a:cxn>
                    <a:cxn ang="0">
                      <a:pos x="63" y="16"/>
                    </a:cxn>
                    <a:cxn ang="0">
                      <a:pos x="78" y="9"/>
                    </a:cxn>
                    <a:cxn ang="0">
                      <a:pos x="102" y="2"/>
                    </a:cxn>
                    <a:cxn ang="0">
                      <a:pos x="129" y="0"/>
                    </a:cxn>
                    <a:cxn ang="0">
                      <a:pos x="171" y="0"/>
                    </a:cxn>
                    <a:cxn ang="0">
                      <a:pos x="208" y="2"/>
                    </a:cxn>
                    <a:cxn ang="0">
                      <a:pos x="244" y="9"/>
                    </a:cxn>
                    <a:cxn ang="0">
                      <a:pos x="277" y="21"/>
                    </a:cxn>
                    <a:cxn ang="0">
                      <a:pos x="298" y="35"/>
                    </a:cxn>
                    <a:cxn ang="0">
                      <a:pos x="310" y="47"/>
                    </a:cxn>
                    <a:cxn ang="0">
                      <a:pos x="318" y="61"/>
                    </a:cxn>
                    <a:cxn ang="0">
                      <a:pos x="316" y="75"/>
                    </a:cxn>
                    <a:cxn ang="0">
                      <a:pos x="313" y="89"/>
                    </a:cxn>
                    <a:cxn ang="0">
                      <a:pos x="303" y="104"/>
                    </a:cxn>
                    <a:cxn ang="0">
                      <a:pos x="295" y="123"/>
                    </a:cxn>
                    <a:cxn ang="0">
                      <a:pos x="291" y="149"/>
                    </a:cxn>
                    <a:cxn ang="0">
                      <a:pos x="288" y="176"/>
                    </a:cxn>
                    <a:cxn ang="0">
                      <a:pos x="283" y="200"/>
                    </a:cxn>
                    <a:cxn ang="0">
                      <a:pos x="282" y="235"/>
                    </a:cxn>
                    <a:cxn ang="0">
                      <a:pos x="280" y="265"/>
                    </a:cxn>
                    <a:cxn ang="0">
                      <a:pos x="280" y="285"/>
                    </a:cxn>
                    <a:cxn ang="0">
                      <a:pos x="270" y="260"/>
                    </a:cxn>
                    <a:cxn ang="0">
                      <a:pos x="250" y="248"/>
                    </a:cxn>
                    <a:cxn ang="0">
                      <a:pos x="232" y="241"/>
                    </a:cxn>
                    <a:cxn ang="0">
                      <a:pos x="210" y="236"/>
                    </a:cxn>
                    <a:cxn ang="0">
                      <a:pos x="175" y="229"/>
                    </a:cxn>
                    <a:cxn ang="0">
                      <a:pos x="141" y="228"/>
                    </a:cxn>
                    <a:cxn ang="0">
                      <a:pos x="121" y="228"/>
                    </a:cxn>
                    <a:cxn ang="0">
                      <a:pos x="90" y="230"/>
                    </a:cxn>
                    <a:cxn ang="0">
                      <a:pos x="54" y="237"/>
                    </a:cxn>
                    <a:cxn ang="0">
                      <a:pos x="31" y="246"/>
                    </a:cxn>
                    <a:cxn ang="0">
                      <a:pos x="16" y="255"/>
                    </a:cxn>
                    <a:cxn ang="0">
                      <a:pos x="0" y="268"/>
                    </a:cxn>
                  </a:cxnLst>
                  <a:rect l="0" t="0" r="r" b="b"/>
                  <a:pathLst>
                    <a:path w="319" h="286">
                      <a:moveTo>
                        <a:pt x="1" y="275"/>
                      </a:moveTo>
                      <a:lnTo>
                        <a:pt x="3" y="254"/>
                      </a:lnTo>
                      <a:lnTo>
                        <a:pt x="12" y="235"/>
                      </a:lnTo>
                      <a:lnTo>
                        <a:pt x="19" y="219"/>
                      </a:lnTo>
                      <a:lnTo>
                        <a:pt x="24" y="194"/>
                      </a:lnTo>
                      <a:lnTo>
                        <a:pt x="30" y="161"/>
                      </a:lnTo>
                      <a:lnTo>
                        <a:pt x="34" y="126"/>
                      </a:lnTo>
                      <a:lnTo>
                        <a:pt x="37" y="94"/>
                      </a:lnTo>
                      <a:lnTo>
                        <a:pt x="39" y="67"/>
                      </a:lnTo>
                      <a:lnTo>
                        <a:pt x="40" y="43"/>
                      </a:lnTo>
                      <a:lnTo>
                        <a:pt x="48" y="29"/>
                      </a:lnTo>
                      <a:lnTo>
                        <a:pt x="63" y="16"/>
                      </a:lnTo>
                      <a:lnTo>
                        <a:pt x="78" y="9"/>
                      </a:lnTo>
                      <a:lnTo>
                        <a:pt x="102" y="2"/>
                      </a:lnTo>
                      <a:lnTo>
                        <a:pt x="129" y="0"/>
                      </a:lnTo>
                      <a:lnTo>
                        <a:pt x="171" y="0"/>
                      </a:lnTo>
                      <a:lnTo>
                        <a:pt x="208" y="2"/>
                      </a:lnTo>
                      <a:lnTo>
                        <a:pt x="244" y="9"/>
                      </a:lnTo>
                      <a:lnTo>
                        <a:pt x="277" y="21"/>
                      </a:lnTo>
                      <a:lnTo>
                        <a:pt x="298" y="35"/>
                      </a:lnTo>
                      <a:lnTo>
                        <a:pt x="310" y="47"/>
                      </a:lnTo>
                      <a:lnTo>
                        <a:pt x="318" y="61"/>
                      </a:lnTo>
                      <a:lnTo>
                        <a:pt x="316" y="75"/>
                      </a:lnTo>
                      <a:lnTo>
                        <a:pt x="313" y="89"/>
                      </a:lnTo>
                      <a:lnTo>
                        <a:pt x="303" y="104"/>
                      </a:lnTo>
                      <a:lnTo>
                        <a:pt x="295" y="123"/>
                      </a:lnTo>
                      <a:lnTo>
                        <a:pt x="291" y="149"/>
                      </a:lnTo>
                      <a:lnTo>
                        <a:pt x="288" y="176"/>
                      </a:lnTo>
                      <a:lnTo>
                        <a:pt x="283" y="200"/>
                      </a:lnTo>
                      <a:lnTo>
                        <a:pt x="282" y="235"/>
                      </a:lnTo>
                      <a:lnTo>
                        <a:pt x="280" y="265"/>
                      </a:lnTo>
                      <a:lnTo>
                        <a:pt x="280" y="285"/>
                      </a:lnTo>
                      <a:lnTo>
                        <a:pt x="270" y="260"/>
                      </a:lnTo>
                      <a:lnTo>
                        <a:pt x="250" y="248"/>
                      </a:lnTo>
                      <a:lnTo>
                        <a:pt x="232" y="241"/>
                      </a:lnTo>
                      <a:lnTo>
                        <a:pt x="210" y="236"/>
                      </a:lnTo>
                      <a:lnTo>
                        <a:pt x="175" y="229"/>
                      </a:lnTo>
                      <a:lnTo>
                        <a:pt x="141" y="228"/>
                      </a:lnTo>
                      <a:lnTo>
                        <a:pt x="121" y="228"/>
                      </a:lnTo>
                      <a:lnTo>
                        <a:pt x="90" y="230"/>
                      </a:lnTo>
                      <a:lnTo>
                        <a:pt x="54" y="237"/>
                      </a:lnTo>
                      <a:lnTo>
                        <a:pt x="31" y="246"/>
                      </a:lnTo>
                      <a:lnTo>
                        <a:pt x="16" y="255"/>
                      </a:lnTo>
                      <a:lnTo>
                        <a:pt x="0" y="268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51" name="Freeform 27"/>
                <p:cNvSpPr>
                  <a:spLocks/>
                </p:cNvSpPr>
                <p:nvPr/>
              </p:nvSpPr>
              <p:spPr bwMode="ltGray">
                <a:xfrm>
                  <a:off x="4371" y="119"/>
                  <a:ext cx="832" cy="42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356"/>
                    </a:cxn>
                    <a:cxn ang="0">
                      <a:pos x="84" y="374"/>
                    </a:cxn>
                    <a:cxn ang="0">
                      <a:pos x="153" y="393"/>
                    </a:cxn>
                    <a:cxn ang="0">
                      <a:pos x="210" y="404"/>
                    </a:cxn>
                    <a:cxn ang="0">
                      <a:pos x="258" y="410"/>
                    </a:cxn>
                    <a:cxn ang="0">
                      <a:pos x="312" y="416"/>
                    </a:cxn>
                    <a:cxn ang="0">
                      <a:pos x="402" y="419"/>
                    </a:cxn>
                    <a:cxn ang="0">
                      <a:pos x="485" y="412"/>
                    </a:cxn>
                    <a:cxn ang="0">
                      <a:pos x="570" y="399"/>
                    </a:cxn>
                    <a:cxn ang="0">
                      <a:pos x="652" y="377"/>
                    </a:cxn>
                    <a:cxn ang="0">
                      <a:pos x="724" y="347"/>
                    </a:cxn>
                    <a:cxn ang="0">
                      <a:pos x="784" y="306"/>
                    </a:cxn>
                    <a:cxn ang="0">
                      <a:pos x="829" y="291"/>
                    </a:cxn>
                    <a:cxn ang="0">
                      <a:pos x="831" y="2"/>
                    </a:cxn>
                    <a:cxn ang="0">
                      <a:pos x="786" y="9"/>
                    </a:cxn>
                    <a:cxn ang="0">
                      <a:pos x="726" y="29"/>
                    </a:cxn>
                    <a:cxn ang="0">
                      <a:pos x="654" y="55"/>
                    </a:cxn>
                    <a:cxn ang="0">
                      <a:pos x="585" y="70"/>
                    </a:cxn>
                    <a:cxn ang="0">
                      <a:pos x="515" y="78"/>
                    </a:cxn>
                    <a:cxn ang="0">
                      <a:pos x="468" y="82"/>
                    </a:cxn>
                    <a:cxn ang="0">
                      <a:pos x="428" y="84"/>
                    </a:cxn>
                    <a:cxn ang="0">
                      <a:pos x="358" y="84"/>
                    </a:cxn>
                    <a:cxn ang="0">
                      <a:pos x="314" y="81"/>
                    </a:cxn>
                    <a:cxn ang="0">
                      <a:pos x="274" y="76"/>
                    </a:cxn>
                    <a:cxn ang="0">
                      <a:pos x="229" y="73"/>
                    </a:cxn>
                    <a:cxn ang="0">
                      <a:pos x="190" y="66"/>
                    </a:cxn>
                    <a:cxn ang="0">
                      <a:pos x="140" y="57"/>
                    </a:cxn>
                    <a:cxn ang="0">
                      <a:pos x="96" y="44"/>
                    </a:cxn>
                    <a:cxn ang="0">
                      <a:pos x="49" y="24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832" h="420">
                      <a:moveTo>
                        <a:pt x="0" y="0"/>
                      </a:moveTo>
                      <a:lnTo>
                        <a:pt x="0" y="356"/>
                      </a:lnTo>
                      <a:lnTo>
                        <a:pt x="84" y="374"/>
                      </a:lnTo>
                      <a:lnTo>
                        <a:pt x="153" y="393"/>
                      </a:lnTo>
                      <a:lnTo>
                        <a:pt x="210" y="404"/>
                      </a:lnTo>
                      <a:lnTo>
                        <a:pt x="258" y="410"/>
                      </a:lnTo>
                      <a:lnTo>
                        <a:pt x="312" y="416"/>
                      </a:lnTo>
                      <a:lnTo>
                        <a:pt x="402" y="419"/>
                      </a:lnTo>
                      <a:lnTo>
                        <a:pt x="485" y="412"/>
                      </a:lnTo>
                      <a:lnTo>
                        <a:pt x="570" y="399"/>
                      </a:lnTo>
                      <a:lnTo>
                        <a:pt x="652" y="377"/>
                      </a:lnTo>
                      <a:lnTo>
                        <a:pt x="724" y="347"/>
                      </a:lnTo>
                      <a:lnTo>
                        <a:pt x="784" y="306"/>
                      </a:lnTo>
                      <a:lnTo>
                        <a:pt x="829" y="291"/>
                      </a:lnTo>
                      <a:lnTo>
                        <a:pt x="831" y="2"/>
                      </a:lnTo>
                      <a:lnTo>
                        <a:pt x="786" y="9"/>
                      </a:lnTo>
                      <a:lnTo>
                        <a:pt x="726" y="29"/>
                      </a:lnTo>
                      <a:lnTo>
                        <a:pt x="654" y="55"/>
                      </a:lnTo>
                      <a:lnTo>
                        <a:pt x="585" y="70"/>
                      </a:lnTo>
                      <a:lnTo>
                        <a:pt x="515" y="78"/>
                      </a:lnTo>
                      <a:lnTo>
                        <a:pt x="468" y="82"/>
                      </a:lnTo>
                      <a:lnTo>
                        <a:pt x="428" y="84"/>
                      </a:lnTo>
                      <a:lnTo>
                        <a:pt x="358" y="84"/>
                      </a:lnTo>
                      <a:lnTo>
                        <a:pt x="314" y="81"/>
                      </a:lnTo>
                      <a:lnTo>
                        <a:pt x="274" y="76"/>
                      </a:lnTo>
                      <a:lnTo>
                        <a:pt x="229" y="73"/>
                      </a:lnTo>
                      <a:lnTo>
                        <a:pt x="190" y="66"/>
                      </a:lnTo>
                      <a:lnTo>
                        <a:pt x="140" y="57"/>
                      </a:lnTo>
                      <a:lnTo>
                        <a:pt x="96" y="44"/>
                      </a:lnTo>
                      <a:lnTo>
                        <a:pt x="49" y="2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</p:grpSp>
          <p:sp>
            <p:nvSpPr>
              <p:cNvPr id="1053" name="Freeform 29"/>
              <p:cNvSpPr>
                <a:spLocks/>
              </p:cNvSpPr>
              <p:nvPr/>
            </p:nvSpPr>
            <p:spPr bwMode="ltGray">
              <a:xfrm>
                <a:off x="5217" y="774"/>
                <a:ext cx="156" cy="118"/>
              </a:xfrm>
              <a:custGeom>
                <a:avLst/>
                <a:gdLst/>
                <a:ahLst/>
                <a:cxnLst>
                  <a:cxn ang="0">
                    <a:pos x="83" y="0"/>
                  </a:cxn>
                  <a:cxn ang="0">
                    <a:pos x="134" y="19"/>
                  </a:cxn>
                  <a:cxn ang="0">
                    <a:pos x="152" y="46"/>
                  </a:cxn>
                  <a:cxn ang="0">
                    <a:pos x="155" y="70"/>
                  </a:cxn>
                  <a:cxn ang="0">
                    <a:pos x="155" y="84"/>
                  </a:cxn>
                  <a:cxn ang="0">
                    <a:pos x="146" y="100"/>
                  </a:cxn>
                  <a:cxn ang="0">
                    <a:pos x="126" y="108"/>
                  </a:cxn>
                  <a:cxn ang="0">
                    <a:pos x="105" y="114"/>
                  </a:cxn>
                  <a:cxn ang="0">
                    <a:pos x="86" y="117"/>
                  </a:cxn>
                  <a:cxn ang="0">
                    <a:pos x="69" y="117"/>
                  </a:cxn>
                  <a:cxn ang="0">
                    <a:pos x="41" y="112"/>
                  </a:cxn>
                  <a:cxn ang="0">
                    <a:pos x="21" y="107"/>
                  </a:cxn>
                  <a:cxn ang="0">
                    <a:pos x="9" y="98"/>
                  </a:cxn>
                  <a:cxn ang="0">
                    <a:pos x="2" y="90"/>
                  </a:cxn>
                  <a:cxn ang="0">
                    <a:pos x="0" y="78"/>
                  </a:cxn>
                  <a:cxn ang="0">
                    <a:pos x="2" y="60"/>
                  </a:cxn>
                  <a:cxn ang="0">
                    <a:pos x="9" y="11"/>
                  </a:cxn>
                  <a:cxn ang="0">
                    <a:pos x="83" y="0"/>
                  </a:cxn>
                </a:cxnLst>
                <a:rect l="0" t="0" r="r" b="b"/>
                <a:pathLst>
                  <a:path w="156" h="118">
                    <a:moveTo>
                      <a:pt x="83" y="0"/>
                    </a:moveTo>
                    <a:lnTo>
                      <a:pt x="134" y="19"/>
                    </a:lnTo>
                    <a:lnTo>
                      <a:pt x="152" y="46"/>
                    </a:lnTo>
                    <a:lnTo>
                      <a:pt x="155" y="70"/>
                    </a:lnTo>
                    <a:lnTo>
                      <a:pt x="155" y="84"/>
                    </a:lnTo>
                    <a:lnTo>
                      <a:pt x="146" y="100"/>
                    </a:lnTo>
                    <a:lnTo>
                      <a:pt x="126" y="108"/>
                    </a:lnTo>
                    <a:lnTo>
                      <a:pt x="105" y="114"/>
                    </a:lnTo>
                    <a:lnTo>
                      <a:pt x="86" y="117"/>
                    </a:lnTo>
                    <a:lnTo>
                      <a:pt x="69" y="117"/>
                    </a:lnTo>
                    <a:lnTo>
                      <a:pt x="41" y="112"/>
                    </a:lnTo>
                    <a:lnTo>
                      <a:pt x="21" y="107"/>
                    </a:lnTo>
                    <a:lnTo>
                      <a:pt x="9" y="98"/>
                    </a:lnTo>
                    <a:lnTo>
                      <a:pt x="2" y="90"/>
                    </a:lnTo>
                    <a:lnTo>
                      <a:pt x="0" y="78"/>
                    </a:lnTo>
                    <a:lnTo>
                      <a:pt x="2" y="60"/>
                    </a:lnTo>
                    <a:lnTo>
                      <a:pt x="9" y="11"/>
                    </a:lnTo>
                    <a:lnTo>
                      <a:pt x="83" y="0"/>
                    </a:lnTo>
                  </a:path>
                </a:pathLst>
              </a:custGeom>
              <a:solidFill>
                <a:schemeClr val="bg2">
                  <a:alpha val="50000"/>
                </a:schemeClr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54" name="Freeform 30"/>
              <p:cNvSpPr>
                <a:spLocks/>
              </p:cNvSpPr>
              <p:nvPr/>
            </p:nvSpPr>
            <p:spPr bwMode="ltGray">
              <a:xfrm>
                <a:off x="5213" y="787"/>
                <a:ext cx="88" cy="74"/>
              </a:xfrm>
              <a:custGeom>
                <a:avLst/>
                <a:gdLst/>
                <a:ahLst/>
                <a:cxnLst>
                  <a:cxn ang="0">
                    <a:pos x="0" y="68"/>
                  </a:cxn>
                  <a:cxn ang="0">
                    <a:pos x="11" y="0"/>
                  </a:cxn>
                  <a:cxn ang="0">
                    <a:pos x="54" y="5"/>
                  </a:cxn>
                  <a:cxn ang="0">
                    <a:pos x="87" y="9"/>
                  </a:cxn>
                  <a:cxn ang="0">
                    <a:pos x="78" y="73"/>
                  </a:cxn>
                  <a:cxn ang="0">
                    <a:pos x="75" y="58"/>
                  </a:cxn>
                  <a:cxn ang="0">
                    <a:pos x="65" y="47"/>
                  </a:cxn>
                  <a:cxn ang="0">
                    <a:pos x="47" y="44"/>
                  </a:cxn>
                  <a:cxn ang="0">
                    <a:pos x="27" y="45"/>
                  </a:cxn>
                  <a:cxn ang="0">
                    <a:pos x="11" y="52"/>
                  </a:cxn>
                  <a:cxn ang="0">
                    <a:pos x="0" y="68"/>
                  </a:cxn>
                </a:cxnLst>
                <a:rect l="0" t="0" r="r" b="b"/>
                <a:pathLst>
                  <a:path w="88" h="74">
                    <a:moveTo>
                      <a:pt x="0" y="68"/>
                    </a:moveTo>
                    <a:lnTo>
                      <a:pt x="11" y="0"/>
                    </a:lnTo>
                    <a:lnTo>
                      <a:pt x="54" y="5"/>
                    </a:lnTo>
                    <a:lnTo>
                      <a:pt x="87" y="9"/>
                    </a:lnTo>
                    <a:lnTo>
                      <a:pt x="78" y="73"/>
                    </a:lnTo>
                    <a:lnTo>
                      <a:pt x="75" y="58"/>
                    </a:lnTo>
                    <a:lnTo>
                      <a:pt x="65" y="47"/>
                    </a:lnTo>
                    <a:lnTo>
                      <a:pt x="47" y="44"/>
                    </a:lnTo>
                    <a:lnTo>
                      <a:pt x="27" y="45"/>
                    </a:lnTo>
                    <a:lnTo>
                      <a:pt x="11" y="52"/>
                    </a:lnTo>
                    <a:lnTo>
                      <a:pt x="0" y="68"/>
                    </a:lnTo>
                  </a:path>
                </a:pathLst>
              </a:custGeom>
              <a:solidFill>
                <a:schemeClr val="bg2">
                  <a:alpha val="50000"/>
                </a:schemeClr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55" name="Freeform 31"/>
              <p:cNvSpPr>
                <a:spLocks/>
              </p:cNvSpPr>
              <p:nvPr/>
            </p:nvSpPr>
            <p:spPr bwMode="ltGray">
              <a:xfrm>
                <a:off x="423" y="765"/>
                <a:ext cx="156" cy="118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21" y="19"/>
                  </a:cxn>
                  <a:cxn ang="0">
                    <a:pos x="3" y="46"/>
                  </a:cxn>
                  <a:cxn ang="0">
                    <a:pos x="0" y="70"/>
                  </a:cxn>
                  <a:cxn ang="0">
                    <a:pos x="0" y="84"/>
                  </a:cxn>
                  <a:cxn ang="0">
                    <a:pos x="9" y="100"/>
                  </a:cxn>
                  <a:cxn ang="0">
                    <a:pos x="29" y="108"/>
                  </a:cxn>
                  <a:cxn ang="0">
                    <a:pos x="50" y="114"/>
                  </a:cxn>
                  <a:cxn ang="0">
                    <a:pos x="69" y="117"/>
                  </a:cxn>
                  <a:cxn ang="0">
                    <a:pos x="86" y="117"/>
                  </a:cxn>
                  <a:cxn ang="0">
                    <a:pos x="114" y="112"/>
                  </a:cxn>
                  <a:cxn ang="0">
                    <a:pos x="134" y="107"/>
                  </a:cxn>
                  <a:cxn ang="0">
                    <a:pos x="146" y="98"/>
                  </a:cxn>
                  <a:cxn ang="0">
                    <a:pos x="153" y="90"/>
                  </a:cxn>
                  <a:cxn ang="0">
                    <a:pos x="155" y="78"/>
                  </a:cxn>
                  <a:cxn ang="0">
                    <a:pos x="153" y="60"/>
                  </a:cxn>
                  <a:cxn ang="0">
                    <a:pos x="146" y="11"/>
                  </a:cxn>
                  <a:cxn ang="0">
                    <a:pos x="72" y="0"/>
                  </a:cxn>
                </a:cxnLst>
                <a:rect l="0" t="0" r="r" b="b"/>
                <a:pathLst>
                  <a:path w="156" h="118">
                    <a:moveTo>
                      <a:pt x="72" y="0"/>
                    </a:moveTo>
                    <a:lnTo>
                      <a:pt x="21" y="19"/>
                    </a:lnTo>
                    <a:lnTo>
                      <a:pt x="3" y="46"/>
                    </a:lnTo>
                    <a:lnTo>
                      <a:pt x="0" y="70"/>
                    </a:lnTo>
                    <a:lnTo>
                      <a:pt x="0" y="84"/>
                    </a:lnTo>
                    <a:lnTo>
                      <a:pt x="9" y="100"/>
                    </a:lnTo>
                    <a:lnTo>
                      <a:pt x="29" y="108"/>
                    </a:lnTo>
                    <a:lnTo>
                      <a:pt x="50" y="114"/>
                    </a:lnTo>
                    <a:lnTo>
                      <a:pt x="69" y="117"/>
                    </a:lnTo>
                    <a:lnTo>
                      <a:pt x="86" y="117"/>
                    </a:lnTo>
                    <a:lnTo>
                      <a:pt x="114" y="112"/>
                    </a:lnTo>
                    <a:lnTo>
                      <a:pt x="134" y="107"/>
                    </a:lnTo>
                    <a:lnTo>
                      <a:pt x="146" y="98"/>
                    </a:lnTo>
                    <a:lnTo>
                      <a:pt x="153" y="90"/>
                    </a:lnTo>
                    <a:lnTo>
                      <a:pt x="155" y="78"/>
                    </a:lnTo>
                    <a:lnTo>
                      <a:pt x="153" y="60"/>
                    </a:lnTo>
                    <a:lnTo>
                      <a:pt x="146" y="11"/>
                    </a:lnTo>
                    <a:lnTo>
                      <a:pt x="72" y="0"/>
                    </a:lnTo>
                  </a:path>
                </a:pathLst>
              </a:custGeom>
              <a:solidFill>
                <a:schemeClr val="bg2">
                  <a:alpha val="50000"/>
                </a:schemeClr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56" name="Freeform 32"/>
              <p:cNvSpPr>
                <a:spLocks/>
              </p:cNvSpPr>
              <p:nvPr/>
            </p:nvSpPr>
            <p:spPr bwMode="ltGray">
              <a:xfrm>
                <a:off x="495" y="779"/>
                <a:ext cx="88" cy="74"/>
              </a:xfrm>
              <a:custGeom>
                <a:avLst/>
                <a:gdLst/>
                <a:ahLst/>
                <a:cxnLst>
                  <a:cxn ang="0">
                    <a:pos x="87" y="67"/>
                  </a:cxn>
                  <a:cxn ang="0">
                    <a:pos x="76" y="0"/>
                  </a:cxn>
                  <a:cxn ang="0">
                    <a:pos x="33" y="5"/>
                  </a:cxn>
                  <a:cxn ang="0">
                    <a:pos x="0" y="8"/>
                  </a:cxn>
                  <a:cxn ang="0">
                    <a:pos x="9" y="73"/>
                  </a:cxn>
                  <a:cxn ang="0">
                    <a:pos x="12" y="57"/>
                  </a:cxn>
                  <a:cxn ang="0">
                    <a:pos x="22" y="47"/>
                  </a:cxn>
                  <a:cxn ang="0">
                    <a:pos x="40" y="43"/>
                  </a:cxn>
                  <a:cxn ang="0">
                    <a:pos x="60" y="44"/>
                  </a:cxn>
                  <a:cxn ang="0">
                    <a:pos x="76" y="51"/>
                  </a:cxn>
                  <a:cxn ang="0">
                    <a:pos x="87" y="67"/>
                  </a:cxn>
                </a:cxnLst>
                <a:rect l="0" t="0" r="r" b="b"/>
                <a:pathLst>
                  <a:path w="88" h="74">
                    <a:moveTo>
                      <a:pt x="87" y="67"/>
                    </a:moveTo>
                    <a:lnTo>
                      <a:pt x="76" y="0"/>
                    </a:lnTo>
                    <a:lnTo>
                      <a:pt x="33" y="5"/>
                    </a:lnTo>
                    <a:lnTo>
                      <a:pt x="0" y="8"/>
                    </a:lnTo>
                    <a:lnTo>
                      <a:pt x="9" y="73"/>
                    </a:lnTo>
                    <a:lnTo>
                      <a:pt x="12" y="57"/>
                    </a:lnTo>
                    <a:lnTo>
                      <a:pt x="22" y="47"/>
                    </a:lnTo>
                    <a:lnTo>
                      <a:pt x="40" y="43"/>
                    </a:lnTo>
                    <a:lnTo>
                      <a:pt x="60" y="44"/>
                    </a:lnTo>
                    <a:lnTo>
                      <a:pt x="76" y="51"/>
                    </a:lnTo>
                    <a:lnTo>
                      <a:pt x="87" y="67"/>
                    </a:lnTo>
                  </a:path>
                </a:pathLst>
              </a:custGeom>
              <a:solidFill>
                <a:schemeClr val="bg2">
                  <a:alpha val="50000"/>
                </a:schemeClr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57" name="Line 33"/>
              <p:cNvSpPr>
                <a:spLocks noChangeShapeType="1"/>
              </p:cNvSpPr>
              <p:nvPr/>
            </p:nvSpPr>
            <p:spPr bwMode="ltGray">
              <a:xfrm flipV="1">
                <a:off x="1968" y="350"/>
                <a:ext cx="192" cy="87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58" name="Freeform 34"/>
              <p:cNvSpPr>
                <a:spLocks/>
              </p:cNvSpPr>
              <p:nvPr/>
            </p:nvSpPr>
            <p:spPr bwMode="ltGray">
              <a:xfrm>
                <a:off x="1356" y="63"/>
                <a:ext cx="2967" cy="457"/>
              </a:xfrm>
              <a:custGeom>
                <a:avLst/>
                <a:gdLst/>
                <a:ahLst/>
                <a:cxnLst>
                  <a:cxn ang="0">
                    <a:pos x="0" y="122"/>
                  </a:cxn>
                  <a:cxn ang="0">
                    <a:pos x="207" y="78"/>
                  </a:cxn>
                  <a:cxn ang="0">
                    <a:pos x="442" y="48"/>
                  </a:cxn>
                  <a:cxn ang="0">
                    <a:pos x="640" y="32"/>
                  </a:cxn>
                  <a:cxn ang="0">
                    <a:pos x="897" y="16"/>
                  </a:cxn>
                  <a:cxn ang="0">
                    <a:pos x="1215" y="2"/>
                  </a:cxn>
                  <a:cxn ang="0">
                    <a:pos x="1392" y="0"/>
                  </a:cxn>
                  <a:cxn ang="0">
                    <a:pos x="1710" y="0"/>
                  </a:cxn>
                  <a:cxn ang="0">
                    <a:pos x="1997" y="10"/>
                  </a:cxn>
                  <a:cxn ang="0">
                    <a:pos x="2258" y="21"/>
                  </a:cxn>
                  <a:cxn ang="0">
                    <a:pos x="2493" y="38"/>
                  </a:cxn>
                  <a:cxn ang="0">
                    <a:pos x="2674" y="54"/>
                  </a:cxn>
                  <a:cxn ang="0">
                    <a:pos x="2828" y="73"/>
                  </a:cxn>
                  <a:cxn ang="0">
                    <a:pos x="2966" y="92"/>
                  </a:cxn>
                  <a:cxn ang="0">
                    <a:pos x="2966" y="456"/>
                  </a:cxn>
                  <a:cxn ang="0">
                    <a:pos x="2833" y="434"/>
                  </a:cxn>
                  <a:cxn ang="0">
                    <a:pos x="2563" y="399"/>
                  </a:cxn>
                  <a:cxn ang="0">
                    <a:pos x="2382" y="382"/>
                  </a:cxn>
                  <a:cxn ang="0">
                    <a:pos x="2134" y="366"/>
                  </a:cxn>
                  <a:cxn ang="0">
                    <a:pos x="1944" y="358"/>
                  </a:cxn>
                  <a:cxn ang="0">
                    <a:pos x="1746" y="350"/>
                  </a:cxn>
                  <a:cxn ang="0">
                    <a:pos x="1529" y="350"/>
                  </a:cxn>
                  <a:cxn ang="0">
                    <a:pos x="1295" y="350"/>
                  </a:cxn>
                  <a:cxn ang="0">
                    <a:pos x="1047" y="355"/>
                  </a:cxn>
                  <a:cxn ang="0">
                    <a:pos x="853" y="363"/>
                  </a:cxn>
                  <a:cxn ang="0">
                    <a:pos x="654" y="374"/>
                  </a:cxn>
                  <a:cxn ang="0">
                    <a:pos x="468" y="388"/>
                  </a:cxn>
                  <a:cxn ang="0">
                    <a:pos x="296" y="404"/>
                  </a:cxn>
                  <a:cxn ang="0">
                    <a:pos x="150" y="423"/>
                  </a:cxn>
                  <a:cxn ang="0">
                    <a:pos x="13" y="445"/>
                  </a:cxn>
                  <a:cxn ang="0">
                    <a:pos x="0" y="122"/>
                  </a:cxn>
                </a:cxnLst>
                <a:rect l="0" t="0" r="r" b="b"/>
                <a:pathLst>
                  <a:path w="2967" h="457">
                    <a:moveTo>
                      <a:pt x="0" y="122"/>
                    </a:moveTo>
                    <a:lnTo>
                      <a:pt x="207" y="78"/>
                    </a:lnTo>
                    <a:lnTo>
                      <a:pt x="442" y="48"/>
                    </a:lnTo>
                    <a:lnTo>
                      <a:pt x="640" y="32"/>
                    </a:lnTo>
                    <a:lnTo>
                      <a:pt x="897" y="16"/>
                    </a:lnTo>
                    <a:lnTo>
                      <a:pt x="1215" y="2"/>
                    </a:lnTo>
                    <a:lnTo>
                      <a:pt x="1392" y="0"/>
                    </a:lnTo>
                    <a:lnTo>
                      <a:pt x="1710" y="0"/>
                    </a:lnTo>
                    <a:lnTo>
                      <a:pt x="1997" y="10"/>
                    </a:lnTo>
                    <a:lnTo>
                      <a:pt x="2258" y="21"/>
                    </a:lnTo>
                    <a:lnTo>
                      <a:pt x="2493" y="38"/>
                    </a:lnTo>
                    <a:lnTo>
                      <a:pt x="2674" y="54"/>
                    </a:lnTo>
                    <a:lnTo>
                      <a:pt x="2828" y="73"/>
                    </a:lnTo>
                    <a:lnTo>
                      <a:pt x="2966" y="92"/>
                    </a:lnTo>
                    <a:lnTo>
                      <a:pt x="2966" y="456"/>
                    </a:lnTo>
                    <a:lnTo>
                      <a:pt x="2833" y="434"/>
                    </a:lnTo>
                    <a:lnTo>
                      <a:pt x="2563" y="399"/>
                    </a:lnTo>
                    <a:lnTo>
                      <a:pt x="2382" y="382"/>
                    </a:lnTo>
                    <a:lnTo>
                      <a:pt x="2134" y="366"/>
                    </a:lnTo>
                    <a:lnTo>
                      <a:pt x="1944" y="358"/>
                    </a:lnTo>
                    <a:lnTo>
                      <a:pt x="1746" y="350"/>
                    </a:lnTo>
                    <a:lnTo>
                      <a:pt x="1529" y="350"/>
                    </a:lnTo>
                    <a:lnTo>
                      <a:pt x="1295" y="350"/>
                    </a:lnTo>
                    <a:lnTo>
                      <a:pt x="1047" y="355"/>
                    </a:lnTo>
                    <a:lnTo>
                      <a:pt x="853" y="363"/>
                    </a:lnTo>
                    <a:lnTo>
                      <a:pt x="654" y="374"/>
                    </a:lnTo>
                    <a:lnTo>
                      <a:pt x="468" y="388"/>
                    </a:lnTo>
                    <a:lnTo>
                      <a:pt x="296" y="404"/>
                    </a:lnTo>
                    <a:lnTo>
                      <a:pt x="150" y="423"/>
                    </a:lnTo>
                    <a:lnTo>
                      <a:pt x="13" y="445"/>
                    </a:lnTo>
                    <a:lnTo>
                      <a:pt x="0" y="122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59" name="Freeform 35"/>
              <p:cNvSpPr>
                <a:spLocks/>
              </p:cNvSpPr>
              <p:nvPr/>
            </p:nvSpPr>
            <p:spPr bwMode="ltGray">
              <a:xfrm>
                <a:off x="555" y="159"/>
                <a:ext cx="823" cy="431"/>
              </a:xfrm>
              <a:custGeom>
                <a:avLst/>
                <a:gdLst/>
                <a:ahLst/>
                <a:cxnLst>
                  <a:cxn ang="0">
                    <a:pos x="815" y="27"/>
                  </a:cxn>
                  <a:cxn ang="0">
                    <a:pos x="822" y="350"/>
                  </a:cxn>
                  <a:cxn ang="0">
                    <a:pos x="746" y="382"/>
                  </a:cxn>
                  <a:cxn ang="0">
                    <a:pos x="676" y="404"/>
                  </a:cxn>
                  <a:cxn ang="0">
                    <a:pos x="619" y="415"/>
                  </a:cxn>
                  <a:cxn ang="0">
                    <a:pos x="571" y="421"/>
                  </a:cxn>
                  <a:cxn ang="0">
                    <a:pos x="517" y="427"/>
                  </a:cxn>
                  <a:cxn ang="0">
                    <a:pos x="427" y="430"/>
                  </a:cxn>
                  <a:cxn ang="0">
                    <a:pos x="344" y="423"/>
                  </a:cxn>
                  <a:cxn ang="0">
                    <a:pos x="259" y="410"/>
                  </a:cxn>
                  <a:cxn ang="0">
                    <a:pos x="177" y="388"/>
                  </a:cxn>
                  <a:cxn ang="0">
                    <a:pos x="105" y="358"/>
                  </a:cxn>
                  <a:cxn ang="0">
                    <a:pos x="41" y="325"/>
                  </a:cxn>
                  <a:cxn ang="0">
                    <a:pos x="0" y="294"/>
                  </a:cxn>
                  <a:cxn ang="0">
                    <a:pos x="0" y="0"/>
                  </a:cxn>
                  <a:cxn ang="0">
                    <a:pos x="46" y="25"/>
                  </a:cxn>
                  <a:cxn ang="0">
                    <a:pos x="105" y="47"/>
                  </a:cxn>
                  <a:cxn ang="0">
                    <a:pos x="175" y="66"/>
                  </a:cxn>
                  <a:cxn ang="0">
                    <a:pos x="244" y="81"/>
                  </a:cxn>
                  <a:cxn ang="0">
                    <a:pos x="314" y="89"/>
                  </a:cxn>
                  <a:cxn ang="0">
                    <a:pos x="361" y="93"/>
                  </a:cxn>
                  <a:cxn ang="0">
                    <a:pos x="401" y="95"/>
                  </a:cxn>
                  <a:cxn ang="0">
                    <a:pos x="471" y="95"/>
                  </a:cxn>
                  <a:cxn ang="0">
                    <a:pos x="515" y="92"/>
                  </a:cxn>
                  <a:cxn ang="0">
                    <a:pos x="555" y="87"/>
                  </a:cxn>
                  <a:cxn ang="0">
                    <a:pos x="600" y="84"/>
                  </a:cxn>
                  <a:cxn ang="0">
                    <a:pos x="640" y="76"/>
                  </a:cxn>
                  <a:cxn ang="0">
                    <a:pos x="689" y="67"/>
                  </a:cxn>
                  <a:cxn ang="0">
                    <a:pos x="733" y="55"/>
                  </a:cxn>
                  <a:cxn ang="0">
                    <a:pos x="777" y="41"/>
                  </a:cxn>
                  <a:cxn ang="0">
                    <a:pos x="815" y="27"/>
                  </a:cxn>
                </a:cxnLst>
                <a:rect l="0" t="0" r="r" b="b"/>
                <a:pathLst>
                  <a:path w="823" h="431">
                    <a:moveTo>
                      <a:pt x="815" y="27"/>
                    </a:moveTo>
                    <a:lnTo>
                      <a:pt x="822" y="350"/>
                    </a:lnTo>
                    <a:lnTo>
                      <a:pt x="746" y="382"/>
                    </a:lnTo>
                    <a:lnTo>
                      <a:pt x="676" y="404"/>
                    </a:lnTo>
                    <a:lnTo>
                      <a:pt x="619" y="415"/>
                    </a:lnTo>
                    <a:lnTo>
                      <a:pt x="571" y="421"/>
                    </a:lnTo>
                    <a:lnTo>
                      <a:pt x="517" y="427"/>
                    </a:lnTo>
                    <a:lnTo>
                      <a:pt x="427" y="430"/>
                    </a:lnTo>
                    <a:lnTo>
                      <a:pt x="344" y="423"/>
                    </a:lnTo>
                    <a:lnTo>
                      <a:pt x="259" y="410"/>
                    </a:lnTo>
                    <a:lnTo>
                      <a:pt x="177" y="388"/>
                    </a:lnTo>
                    <a:lnTo>
                      <a:pt x="105" y="358"/>
                    </a:lnTo>
                    <a:lnTo>
                      <a:pt x="41" y="325"/>
                    </a:lnTo>
                    <a:lnTo>
                      <a:pt x="0" y="294"/>
                    </a:lnTo>
                    <a:lnTo>
                      <a:pt x="0" y="0"/>
                    </a:lnTo>
                    <a:lnTo>
                      <a:pt x="46" y="25"/>
                    </a:lnTo>
                    <a:lnTo>
                      <a:pt x="105" y="47"/>
                    </a:lnTo>
                    <a:lnTo>
                      <a:pt x="175" y="66"/>
                    </a:lnTo>
                    <a:lnTo>
                      <a:pt x="244" y="81"/>
                    </a:lnTo>
                    <a:lnTo>
                      <a:pt x="314" y="89"/>
                    </a:lnTo>
                    <a:lnTo>
                      <a:pt x="361" y="93"/>
                    </a:lnTo>
                    <a:lnTo>
                      <a:pt x="401" y="95"/>
                    </a:lnTo>
                    <a:lnTo>
                      <a:pt x="471" y="95"/>
                    </a:lnTo>
                    <a:lnTo>
                      <a:pt x="515" y="92"/>
                    </a:lnTo>
                    <a:lnTo>
                      <a:pt x="555" y="87"/>
                    </a:lnTo>
                    <a:lnTo>
                      <a:pt x="600" y="84"/>
                    </a:lnTo>
                    <a:lnTo>
                      <a:pt x="640" y="76"/>
                    </a:lnTo>
                    <a:lnTo>
                      <a:pt x="689" y="67"/>
                    </a:lnTo>
                    <a:lnTo>
                      <a:pt x="733" y="55"/>
                    </a:lnTo>
                    <a:lnTo>
                      <a:pt x="777" y="41"/>
                    </a:lnTo>
                    <a:lnTo>
                      <a:pt x="815" y="27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0" name="Freeform 36"/>
              <p:cNvSpPr>
                <a:spLocks/>
              </p:cNvSpPr>
              <p:nvPr/>
            </p:nvSpPr>
            <p:spPr bwMode="ltGray">
              <a:xfrm>
                <a:off x="102" y="573"/>
                <a:ext cx="551" cy="340"/>
              </a:xfrm>
              <a:custGeom>
                <a:avLst/>
                <a:gdLst/>
                <a:ahLst/>
                <a:cxnLst>
                  <a:cxn ang="0">
                    <a:pos x="16" y="53"/>
                  </a:cxn>
                  <a:cxn ang="0">
                    <a:pos x="0" y="122"/>
                  </a:cxn>
                  <a:cxn ang="0">
                    <a:pos x="10" y="146"/>
                  </a:cxn>
                  <a:cxn ang="0">
                    <a:pos x="33" y="184"/>
                  </a:cxn>
                  <a:cxn ang="0">
                    <a:pos x="57" y="217"/>
                  </a:cxn>
                  <a:cxn ang="0">
                    <a:pos x="85" y="244"/>
                  </a:cxn>
                  <a:cxn ang="0">
                    <a:pos x="120" y="271"/>
                  </a:cxn>
                  <a:cxn ang="0">
                    <a:pos x="153" y="290"/>
                  </a:cxn>
                  <a:cxn ang="0">
                    <a:pos x="189" y="309"/>
                  </a:cxn>
                  <a:cxn ang="0">
                    <a:pos x="235" y="325"/>
                  </a:cxn>
                  <a:cxn ang="0">
                    <a:pos x="270" y="333"/>
                  </a:cxn>
                  <a:cxn ang="0">
                    <a:pos x="312" y="339"/>
                  </a:cxn>
                  <a:cxn ang="0">
                    <a:pos x="351" y="339"/>
                  </a:cxn>
                  <a:cxn ang="0">
                    <a:pos x="393" y="334"/>
                  </a:cxn>
                  <a:cxn ang="0">
                    <a:pos x="436" y="322"/>
                  </a:cxn>
                  <a:cxn ang="0">
                    <a:pos x="475" y="303"/>
                  </a:cxn>
                  <a:cxn ang="0">
                    <a:pos x="498" y="287"/>
                  </a:cxn>
                  <a:cxn ang="0">
                    <a:pos x="526" y="263"/>
                  </a:cxn>
                  <a:cxn ang="0">
                    <a:pos x="541" y="243"/>
                  </a:cxn>
                  <a:cxn ang="0">
                    <a:pos x="550" y="227"/>
                  </a:cxn>
                  <a:cxn ang="0">
                    <a:pos x="550" y="209"/>
                  </a:cxn>
                  <a:cxn ang="0">
                    <a:pos x="544" y="187"/>
                  </a:cxn>
                  <a:cxn ang="0">
                    <a:pos x="532" y="171"/>
                  </a:cxn>
                  <a:cxn ang="0">
                    <a:pos x="523" y="135"/>
                  </a:cxn>
                  <a:cxn ang="0">
                    <a:pos x="519" y="116"/>
                  </a:cxn>
                  <a:cxn ang="0">
                    <a:pos x="267" y="133"/>
                  </a:cxn>
                  <a:cxn ang="0">
                    <a:pos x="234" y="126"/>
                  </a:cxn>
                  <a:cxn ang="0">
                    <a:pos x="193" y="114"/>
                  </a:cxn>
                  <a:cxn ang="0">
                    <a:pos x="162" y="97"/>
                  </a:cxn>
                  <a:cxn ang="0">
                    <a:pos x="129" y="77"/>
                  </a:cxn>
                  <a:cxn ang="0">
                    <a:pos x="97" y="48"/>
                  </a:cxn>
                  <a:cxn ang="0">
                    <a:pos x="78" y="24"/>
                  </a:cxn>
                  <a:cxn ang="0">
                    <a:pos x="60" y="0"/>
                  </a:cxn>
                  <a:cxn ang="0">
                    <a:pos x="16" y="53"/>
                  </a:cxn>
                </a:cxnLst>
                <a:rect l="0" t="0" r="r" b="b"/>
                <a:pathLst>
                  <a:path w="551" h="340">
                    <a:moveTo>
                      <a:pt x="16" y="53"/>
                    </a:moveTo>
                    <a:lnTo>
                      <a:pt x="0" y="122"/>
                    </a:lnTo>
                    <a:lnTo>
                      <a:pt x="10" y="146"/>
                    </a:lnTo>
                    <a:lnTo>
                      <a:pt x="33" y="184"/>
                    </a:lnTo>
                    <a:lnTo>
                      <a:pt x="57" y="217"/>
                    </a:lnTo>
                    <a:lnTo>
                      <a:pt x="85" y="244"/>
                    </a:lnTo>
                    <a:lnTo>
                      <a:pt x="120" y="271"/>
                    </a:lnTo>
                    <a:lnTo>
                      <a:pt x="153" y="290"/>
                    </a:lnTo>
                    <a:lnTo>
                      <a:pt x="189" y="309"/>
                    </a:lnTo>
                    <a:lnTo>
                      <a:pt x="235" y="325"/>
                    </a:lnTo>
                    <a:lnTo>
                      <a:pt x="270" y="333"/>
                    </a:lnTo>
                    <a:lnTo>
                      <a:pt x="312" y="339"/>
                    </a:lnTo>
                    <a:lnTo>
                      <a:pt x="351" y="339"/>
                    </a:lnTo>
                    <a:lnTo>
                      <a:pt x="393" y="334"/>
                    </a:lnTo>
                    <a:lnTo>
                      <a:pt x="436" y="322"/>
                    </a:lnTo>
                    <a:lnTo>
                      <a:pt x="475" y="303"/>
                    </a:lnTo>
                    <a:lnTo>
                      <a:pt x="498" y="287"/>
                    </a:lnTo>
                    <a:lnTo>
                      <a:pt x="526" y="263"/>
                    </a:lnTo>
                    <a:lnTo>
                      <a:pt x="541" y="243"/>
                    </a:lnTo>
                    <a:lnTo>
                      <a:pt x="550" y="227"/>
                    </a:lnTo>
                    <a:lnTo>
                      <a:pt x="550" y="209"/>
                    </a:lnTo>
                    <a:lnTo>
                      <a:pt x="544" y="187"/>
                    </a:lnTo>
                    <a:lnTo>
                      <a:pt x="532" y="171"/>
                    </a:lnTo>
                    <a:lnTo>
                      <a:pt x="523" y="135"/>
                    </a:lnTo>
                    <a:lnTo>
                      <a:pt x="519" y="116"/>
                    </a:lnTo>
                    <a:lnTo>
                      <a:pt x="267" y="133"/>
                    </a:lnTo>
                    <a:lnTo>
                      <a:pt x="234" y="126"/>
                    </a:lnTo>
                    <a:lnTo>
                      <a:pt x="193" y="114"/>
                    </a:lnTo>
                    <a:lnTo>
                      <a:pt x="162" y="97"/>
                    </a:lnTo>
                    <a:lnTo>
                      <a:pt x="129" y="77"/>
                    </a:lnTo>
                    <a:lnTo>
                      <a:pt x="97" y="48"/>
                    </a:lnTo>
                    <a:lnTo>
                      <a:pt x="78" y="24"/>
                    </a:lnTo>
                    <a:lnTo>
                      <a:pt x="60" y="0"/>
                    </a:lnTo>
                    <a:lnTo>
                      <a:pt x="16" y="53"/>
                    </a:lnTo>
                  </a:path>
                </a:pathLst>
              </a:custGeom>
              <a:gradFill rotWithShape="0">
                <a:gsLst>
                  <a:gs pos="0">
                    <a:schemeClr val="hlink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1" name="Freeform 37"/>
              <p:cNvSpPr>
                <a:spLocks/>
              </p:cNvSpPr>
              <p:nvPr/>
            </p:nvSpPr>
            <p:spPr bwMode="ltGray">
              <a:xfrm>
                <a:off x="82" y="160"/>
                <a:ext cx="475" cy="552"/>
              </a:xfrm>
              <a:custGeom>
                <a:avLst/>
                <a:gdLst/>
                <a:ahLst/>
                <a:cxnLst>
                  <a:cxn ang="0">
                    <a:pos x="474" y="0"/>
                  </a:cxn>
                  <a:cxn ang="0">
                    <a:pos x="474" y="294"/>
                  </a:cxn>
                  <a:cxn ang="0">
                    <a:pos x="446" y="291"/>
                  </a:cxn>
                  <a:cxn ang="0">
                    <a:pos x="411" y="293"/>
                  </a:cxn>
                  <a:cxn ang="0">
                    <a:pos x="353" y="299"/>
                  </a:cxn>
                  <a:cxn ang="0">
                    <a:pos x="296" y="310"/>
                  </a:cxn>
                  <a:cxn ang="0">
                    <a:pos x="243" y="323"/>
                  </a:cxn>
                  <a:cxn ang="0">
                    <a:pos x="200" y="339"/>
                  </a:cxn>
                  <a:cxn ang="0">
                    <a:pos x="149" y="364"/>
                  </a:cxn>
                  <a:cxn ang="0">
                    <a:pos x="110" y="390"/>
                  </a:cxn>
                  <a:cxn ang="0">
                    <a:pos x="81" y="415"/>
                  </a:cxn>
                  <a:cxn ang="0">
                    <a:pos x="60" y="439"/>
                  </a:cxn>
                  <a:cxn ang="0">
                    <a:pos x="47" y="461"/>
                  </a:cxn>
                  <a:cxn ang="0">
                    <a:pos x="35" y="488"/>
                  </a:cxn>
                  <a:cxn ang="0">
                    <a:pos x="30" y="513"/>
                  </a:cxn>
                  <a:cxn ang="0">
                    <a:pos x="23" y="551"/>
                  </a:cxn>
                  <a:cxn ang="0">
                    <a:pos x="17" y="518"/>
                  </a:cxn>
                  <a:cxn ang="0">
                    <a:pos x="8" y="481"/>
                  </a:cxn>
                  <a:cxn ang="0">
                    <a:pos x="5" y="453"/>
                  </a:cxn>
                  <a:cxn ang="0">
                    <a:pos x="0" y="420"/>
                  </a:cxn>
                  <a:cxn ang="0">
                    <a:pos x="2" y="393"/>
                  </a:cxn>
                  <a:cxn ang="0">
                    <a:pos x="8" y="361"/>
                  </a:cxn>
                  <a:cxn ang="0">
                    <a:pos x="15" y="317"/>
                  </a:cxn>
                  <a:cxn ang="0">
                    <a:pos x="30" y="279"/>
                  </a:cxn>
                  <a:cxn ang="0">
                    <a:pos x="50" y="238"/>
                  </a:cxn>
                  <a:cxn ang="0">
                    <a:pos x="75" y="196"/>
                  </a:cxn>
                  <a:cxn ang="0">
                    <a:pos x="111" y="152"/>
                  </a:cxn>
                  <a:cxn ang="0">
                    <a:pos x="152" y="116"/>
                  </a:cxn>
                  <a:cxn ang="0">
                    <a:pos x="188" y="87"/>
                  </a:cxn>
                  <a:cxn ang="0">
                    <a:pos x="233" y="60"/>
                  </a:cxn>
                  <a:cxn ang="0">
                    <a:pos x="279" y="40"/>
                  </a:cxn>
                  <a:cxn ang="0">
                    <a:pos x="333" y="21"/>
                  </a:cxn>
                  <a:cxn ang="0">
                    <a:pos x="380" y="10"/>
                  </a:cxn>
                  <a:cxn ang="0">
                    <a:pos x="435" y="3"/>
                  </a:cxn>
                  <a:cxn ang="0">
                    <a:pos x="474" y="0"/>
                  </a:cxn>
                </a:cxnLst>
                <a:rect l="0" t="0" r="r" b="b"/>
                <a:pathLst>
                  <a:path w="475" h="552">
                    <a:moveTo>
                      <a:pt x="474" y="0"/>
                    </a:moveTo>
                    <a:lnTo>
                      <a:pt x="474" y="294"/>
                    </a:lnTo>
                    <a:lnTo>
                      <a:pt x="446" y="291"/>
                    </a:lnTo>
                    <a:lnTo>
                      <a:pt x="411" y="293"/>
                    </a:lnTo>
                    <a:lnTo>
                      <a:pt x="353" y="299"/>
                    </a:lnTo>
                    <a:lnTo>
                      <a:pt x="296" y="310"/>
                    </a:lnTo>
                    <a:lnTo>
                      <a:pt x="243" y="323"/>
                    </a:lnTo>
                    <a:lnTo>
                      <a:pt x="200" y="339"/>
                    </a:lnTo>
                    <a:lnTo>
                      <a:pt x="149" y="364"/>
                    </a:lnTo>
                    <a:lnTo>
                      <a:pt x="110" y="390"/>
                    </a:lnTo>
                    <a:lnTo>
                      <a:pt x="81" y="415"/>
                    </a:lnTo>
                    <a:lnTo>
                      <a:pt x="60" y="439"/>
                    </a:lnTo>
                    <a:lnTo>
                      <a:pt x="47" y="461"/>
                    </a:lnTo>
                    <a:lnTo>
                      <a:pt x="35" y="488"/>
                    </a:lnTo>
                    <a:lnTo>
                      <a:pt x="30" y="513"/>
                    </a:lnTo>
                    <a:lnTo>
                      <a:pt x="23" y="551"/>
                    </a:lnTo>
                    <a:lnTo>
                      <a:pt x="17" y="518"/>
                    </a:lnTo>
                    <a:lnTo>
                      <a:pt x="8" y="481"/>
                    </a:lnTo>
                    <a:lnTo>
                      <a:pt x="5" y="453"/>
                    </a:lnTo>
                    <a:lnTo>
                      <a:pt x="0" y="420"/>
                    </a:lnTo>
                    <a:lnTo>
                      <a:pt x="2" y="393"/>
                    </a:lnTo>
                    <a:lnTo>
                      <a:pt x="8" y="361"/>
                    </a:lnTo>
                    <a:lnTo>
                      <a:pt x="15" y="317"/>
                    </a:lnTo>
                    <a:lnTo>
                      <a:pt x="30" y="279"/>
                    </a:lnTo>
                    <a:lnTo>
                      <a:pt x="50" y="238"/>
                    </a:lnTo>
                    <a:lnTo>
                      <a:pt x="75" y="196"/>
                    </a:lnTo>
                    <a:lnTo>
                      <a:pt x="111" y="152"/>
                    </a:lnTo>
                    <a:lnTo>
                      <a:pt x="152" y="116"/>
                    </a:lnTo>
                    <a:lnTo>
                      <a:pt x="188" y="87"/>
                    </a:lnTo>
                    <a:lnTo>
                      <a:pt x="233" y="60"/>
                    </a:lnTo>
                    <a:lnTo>
                      <a:pt x="279" y="40"/>
                    </a:lnTo>
                    <a:lnTo>
                      <a:pt x="333" y="21"/>
                    </a:lnTo>
                    <a:lnTo>
                      <a:pt x="380" y="10"/>
                    </a:lnTo>
                    <a:lnTo>
                      <a:pt x="435" y="3"/>
                    </a:lnTo>
                    <a:lnTo>
                      <a:pt x="474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2" name="Freeform 38"/>
              <p:cNvSpPr>
                <a:spLocks/>
              </p:cNvSpPr>
              <p:nvPr/>
            </p:nvSpPr>
            <p:spPr bwMode="ltGray">
              <a:xfrm>
                <a:off x="370" y="727"/>
                <a:ext cx="156" cy="118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21" y="19"/>
                  </a:cxn>
                  <a:cxn ang="0">
                    <a:pos x="3" y="46"/>
                  </a:cxn>
                  <a:cxn ang="0">
                    <a:pos x="0" y="70"/>
                  </a:cxn>
                  <a:cxn ang="0">
                    <a:pos x="0" y="84"/>
                  </a:cxn>
                  <a:cxn ang="0">
                    <a:pos x="9" y="100"/>
                  </a:cxn>
                  <a:cxn ang="0">
                    <a:pos x="29" y="108"/>
                  </a:cxn>
                  <a:cxn ang="0">
                    <a:pos x="50" y="114"/>
                  </a:cxn>
                  <a:cxn ang="0">
                    <a:pos x="69" y="117"/>
                  </a:cxn>
                  <a:cxn ang="0">
                    <a:pos x="86" y="117"/>
                  </a:cxn>
                  <a:cxn ang="0">
                    <a:pos x="114" y="112"/>
                  </a:cxn>
                  <a:cxn ang="0">
                    <a:pos x="134" y="107"/>
                  </a:cxn>
                  <a:cxn ang="0">
                    <a:pos x="146" y="98"/>
                  </a:cxn>
                  <a:cxn ang="0">
                    <a:pos x="153" y="90"/>
                  </a:cxn>
                  <a:cxn ang="0">
                    <a:pos x="155" y="78"/>
                  </a:cxn>
                  <a:cxn ang="0">
                    <a:pos x="153" y="60"/>
                  </a:cxn>
                  <a:cxn ang="0">
                    <a:pos x="146" y="11"/>
                  </a:cxn>
                  <a:cxn ang="0">
                    <a:pos x="72" y="0"/>
                  </a:cxn>
                </a:cxnLst>
                <a:rect l="0" t="0" r="r" b="b"/>
                <a:pathLst>
                  <a:path w="156" h="118">
                    <a:moveTo>
                      <a:pt x="72" y="0"/>
                    </a:moveTo>
                    <a:lnTo>
                      <a:pt x="21" y="19"/>
                    </a:lnTo>
                    <a:lnTo>
                      <a:pt x="3" y="46"/>
                    </a:lnTo>
                    <a:lnTo>
                      <a:pt x="0" y="70"/>
                    </a:lnTo>
                    <a:lnTo>
                      <a:pt x="0" y="84"/>
                    </a:lnTo>
                    <a:lnTo>
                      <a:pt x="9" y="100"/>
                    </a:lnTo>
                    <a:lnTo>
                      <a:pt x="29" y="108"/>
                    </a:lnTo>
                    <a:lnTo>
                      <a:pt x="50" y="114"/>
                    </a:lnTo>
                    <a:lnTo>
                      <a:pt x="69" y="117"/>
                    </a:lnTo>
                    <a:lnTo>
                      <a:pt x="86" y="117"/>
                    </a:lnTo>
                    <a:lnTo>
                      <a:pt x="114" y="112"/>
                    </a:lnTo>
                    <a:lnTo>
                      <a:pt x="134" y="107"/>
                    </a:lnTo>
                    <a:lnTo>
                      <a:pt x="146" y="98"/>
                    </a:lnTo>
                    <a:lnTo>
                      <a:pt x="153" y="90"/>
                    </a:lnTo>
                    <a:lnTo>
                      <a:pt x="155" y="78"/>
                    </a:lnTo>
                    <a:lnTo>
                      <a:pt x="153" y="60"/>
                    </a:lnTo>
                    <a:lnTo>
                      <a:pt x="146" y="11"/>
                    </a:lnTo>
                    <a:lnTo>
                      <a:pt x="72" y="0"/>
                    </a:lnTo>
                  </a:path>
                </a:pathLst>
              </a:custGeom>
              <a:gradFill rotWithShape="0">
                <a:gsLst>
                  <a:gs pos="0">
                    <a:schemeClr val="hlink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3" name="Freeform 39"/>
              <p:cNvSpPr>
                <a:spLocks/>
              </p:cNvSpPr>
              <p:nvPr/>
            </p:nvSpPr>
            <p:spPr bwMode="ltGray">
              <a:xfrm>
                <a:off x="442" y="741"/>
                <a:ext cx="88" cy="74"/>
              </a:xfrm>
              <a:custGeom>
                <a:avLst/>
                <a:gdLst/>
                <a:ahLst/>
                <a:cxnLst>
                  <a:cxn ang="0">
                    <a:pos x="87" y="67"/>
                  </a:cxn>
                  <a:cxn ang="0">
                    <a:pos x="76" y="0"/>
                  </a:cxn>
                  <a:cxn ang="0">
                    <a:pos x="33" y="5"/>
                  </a:cxn>
                  <a:cxn ang="0">
                    <a:pos x="0" y="8"/>
                  </a:cxn>
                  <a:cxn ang="0">
                    <a:pos x="9" y="73"/>
                  </a:cxn>
                  <a:cxn ang="0">
                    <a:pos x="12" y="57"/>
                  </a:cxn>
                  <a:cxn ang="0">
                    <a:pos x="22" y="47"/>
                  </a:cxn>
                  <a:cxn ang="0">
                    <a:pos x="40" y="43"/>
                  </a:cxn>
                  <a:cxn ang="0">
                    <a:pos x="60" y="44"/>
                  </a:cxn>
                  <a:cxn ang="0">
                    <a:pos x="76" y="51"/>
                  </a:cxn>
                  <a:cxn ang="0">
                    <a:pos x="87" y="67"/>
                  </a:cxn>
                </a:cxnLst>
                <a:rect l="0" t="0" r="r" b="b"/>
                <a:pathLst>
                  <a:path w="88" h="74">
                    <a:moveTo>
                      <a:pt x="87" y="67"/>
                    </a:moveTo>
                    <a:lnTo>
                      <a:pt x="76" y="0"/>
                    </a:lnTo>
                    <a:lnTo>
                      <a:pt x="33" y="5"/>
                    </a:lnTo>
                    <a:lnTo>
                      <a:pt x="0" y="8"/>
                    </a:lnTo>
                    <a:lnTo>
                      <a:pt x="9" y="73"/>
                    </a:lnTo>
                    <a:lnTo>
                      <a:pt x="12" y="57"/>
                    </a:lnTo>
                    <a:lnTo>
                      <a:pt x="22" y="47"/>
                    </a:lnTo>
                    <a:lnTo>
                      <a:pt x="40" y="43"/>
                    </a:lnTo>
                    <a:lnTo>
                      <a:pt x="60" y="44"/>
                    </a:lnTo>
                    <a:lnTo>
                      <a:pt x="76" y="51"/>
                    </a:lnTo>
                    <a:lnTo>
                      <a:pt x="87" y="67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4" name="Freeform 40"/>
              <p:cNvSpPr>
                <a:spLocks/>
              </p:cNvSpPr>
              <p:nvPr/>
            </p:nvSpPr>
            <p:spPr bwMode="ltGray">
              <a:xfrm>
                <a:off x="334" y="520"/>
                <a:ext cx="319" cy="286"/>
              </a:xfrm>
              <a:custGeom>
                <a:avLst/>
                <a:gdLst/>
                <a:ahLst/>
                <a:cxnLst>
                  <a:cxn ang="0">
                    <a:pos x="317" y="275"/>
                  </a:cxn>
                  <a:cxn ang="0">
                    <a:pos x="315" y="254"/>
                  </a:cxn>
                  <a:cxn ang="0">
                    <a:pos x="306" y="235"/>
                  </a:cxn>
                  <a:cxn ang="0">
                    <a:pos x="299" y="219"/>
                  </a:cxn>
                  <a:cxn ang="0">
                    <a:pos x="294" y="194"/>
                  </a:cxn>
                  <a:cxn ang="0">
                    <a:pos x="288" y="161"/>
                  </a:cxn>
                  <a:cxn ang="0">
                    <a:pos x="284" y="126"/>
                  </a:cxn>
                  <a:cxn ang="0">
                    <a:pos x="281" y="94"/>
                  </a:cxn>
                  <a:cxn ang="0">
                    <a:pos x="279" y="67"/>
                  </a:cxn>
                  <a:cxn ang="0">
                    <a:pos x="278" y="43"/>
                  </a:cxn>
                  <a:cxn ang="0">
                    <a:pos x="270" y="29"/>
                  </a:cxn>
                  <a:cxn ang="0">
                    <a:pos x="255" y="16"/>
                  </a:cxn>
                  <a:cxn ang="0">
                    <a:pos x="240" y="9"/>
                  </a:cxn>
                  <a:cxn ang="0">
                    <a:pos x="216" y="2"/>
                  </a:cxn>
                  <a:cxn ang="0">
                    <a:pos x="189" y="0"/>
                  </a:cxn>
                  <a:cxn ang="0">
                    <a:pos x="147" y="0"/>
                  </a:cxn>
                  <a:cxn ang="0">
                    <a:pos x="110" y="2"/>
                  </a:cxn>
                  <a:cxn ang="0">
                    <a:pos x="74" y="9"/>
                  </a:cxn>
                  <a:cxn ang="0">
                    <a:pos x="41" y="21"/>
                  </a:cxn>
                  <a:cxn ang="0">
                    <a:pos x="20" y="35"/>
                  </a:cxn>
                  <a:cxn ang="0">
                    <a:pos x="8" y="47"/>
                  </a:cxn>
                  <a:cxn ang="0">
                    <a:pos x="0" y="61"/>
                  </a:cxn>
                  <a:cxn ang="0">
                    <a:pos x="2" y="75"/>
                  </a:cxn>
                  <a:cxn ang="0">
                    <a:pos x="5" y="89"/>
                  </a:cxn>
                  <a:cxn ang="0">
                    <a:pos x="15" y="104"/>
                  </a:cxn>
                  <a:cxn ang="0">
                    <a:pos x="23" y="123"/>
                  </a:cxn>
                  <a:cxn ang="0">
                    <a:pos x="27" y="149"/>
                  </a:cxn>
                  <a:cxn ang="0">
                    <a:pos x="30" y="176"/>
                  </a:cxn>
                  <a:cxn ang="0">
                    <a:pos x="35" y="200"/>
                  </a:cxn>
                  <a:cxn ang="0">
                    <a:pos x="36" y="235"/>
                  </a:cxn>
                  <a:cxn ang="0">
                    <a:pos x="38" y="265"/>
                  </a:cxn>
                  <a:cxn ang="0">
                    <a:pos x="38" y="285"/>
                  </a:cxn>
                  <a:cxn ang="0">
                    <a:pos x="48" y="260"/>
                  </a:cxn>
                  <a:cxn ang="0">
                    <a:pos x="68" y="248"/>
                  </a:cxn>
                  <a:cxn ang="0">
                    <a:pos x="86" y="241"/>
                  </a:cxn>
                  <a:cxn ang="0">
                    <a:pos x="108" y="236"/>
                  </a:cxn>
                  <a:cxn ang="0">
                    <a:pos x="143" y="229"/>
                  </a:cxn>
                  <a:cxn ang="0">
                    <a:pos x="177" y="228"/>
                  </a:cxn>
                  <a:cxn ang="0">
                    <a:pos x="197" y="228"/>
                  </a:cxn>
                  <a:cxn ang="0">
                    <a:pos x="228" y="230"/>
                  </a:cxn>
                  <a:cxn ang="0">
                    <a:pos x="264" y="237"/>
                  </a:cxn>
                  <a:cxn ang="0">
                    <a:pos x="287" y="246"/>
                  </a:cxn>
                  <a:cxn ang="0">
                    <a:pos x="302" y="255"/>
                  </a:cxn>
                  <a:cxn ang="0">
                    <a:pos x="318" y="268"/>
                  </a:cxn>
                </a:cxnLst>
                <a:rect l="0" t="0" r="r" b="b"/>
                <a:pathLst>
                  <a:path w="319" h="286">
                    <a:moveTo>
                      <a:pt x="317" y="275"/>
                    </a:moveTo>
                    <a:lnTo>
                      <a:pt x="315" y="254"/>
                    </a:lnTo>
                    <a:lnTo>
                      <a:pt x="306" y="235"/>
                    </a:lnTo>
                    <a:lnTo>
                      <a:pt x="299" y="219"/>
                    </a:lnTo>
                    <a:lnTo>
                      <a:pt x="294" y="194"/>
                    </a:lnTo>
                    <a:lnTo>
                      <a:pt x="288" y="161"/>
                    </a:lnTo>
                    <a:lnTo>
                      <a:pt x="284" y="126"/>
                    </a:lnTo>
                    <a:lnTo>
                      <a:pt x="281" y="94"/>
                    </a:lnTo>
                    <a:lnTo>
                      <a:pt x="279" y="67"/>
                    </a:lnTo>
                    <a:lnTo>
                      <a:pt x="278" y="43"/>
                    </a:lnTo>
                    <a:lnTo>
                      <a:pt x="270" y="29"/>
                    </a:lnTo>
                    <a:lnTo>
                      <a:pt x="255" y="16"/>
                    </a:lnTo>
                    <a:lnTo>
                      <a:pt x="240" y="9"/>
                    </a:lnTo>
                    <a:lnTo>
                      <a:pt x="216" y="2"/>
                    </a:lnTo>
                    <a:lnTo>
                      <a:pt x="189" y="0"/>
                    </a:lnTo>
                    <a:lnTo>
                      <a:pt x="147" y="0"/>
                    </a:lnTo>
                    <a:lnTo>
                      <a:pt x="110" y="2"/>
                    </a:lnTo>
                    <a:lnTo>
                      <a:pt x="74" y="9"/>
                    </a:lnTo>
                    <a:lnTo>
                      <a:pt x="41" y="21"/>
                    </a:lnTo>
                    <a:lnTo>
                      <a:pt x="20" y="35"/>
                    </a:lnTo>
                    <a:lnTo>
                      <a:pt x="8" y="47"/>
                    </a:lnTo>
                    <a:lnTo>
                      <a:pt x="0" y="61"/>
                    </a:lnTo>
                    <a:lnTo>
                      <a:pt x="2" y="75"/>
                    </a:lnTo>
                    <a:lnTo>
                      <a:pt x="5" y="89"/>
                    </a:lnTo>
                    <a:lnTo>
                      <a:pt x="15" y="104"/>
                    </a:lnTo>
                    <a:lnTo>
                      <a:pt x="23" y="123"/>
                    </a:lnTo>
                    <a:lnTo>
                      <a:pt x="27" y="149"/>
                    </a:lnTo>
                    <a:lnTo>
                      <a:pt x="30" y="176"/>
                    </a:lnTo>
                    <a:lnTo>
                      <a:pt x="35" y="200"/>
                    </a:lnTo>
                    <a:lnTo>
                      <a:pt x="36" y="235"/>
                    </a:lnTo>
                    <a:lnTo>
                      <a:pt x="38" y="265"/>
                    </a:lnTo>
                    <a:lnTo>
                      <a:pt x="38" y="285"/>
                    </a:lnTo>
                    <a:lnTo>
                      <a:pt x="48" y="260"/>
                    </a:lnTo>
                    <a:lnTo>
                      <a:pt x="68" y="248"/>
                    </a:lnTo>
                    <a:lnTo>
                      <a:pt x="86" y="241"/>
                    </a:lnTo>
                    <a:lnTo>
                      <a:pt x="108" y="236"/>
                    </a:lnTo>
                    <a:lnTo>
                      <a:pt x="143" y="229"/>
                    </a:lnTo>
                    <a:lnTo>
                      <a:pt x="177" y="228"/>
                    </a:lnTo>
                    <a:lnTo>
                      <a:pt x="197" y="228"/>
                    </a:lnTo>
                    <a:lnTo>
                      <a:pt x="228" y="230"/>
                    </a:lnTo>
                    <a:lnTo>
                      <a:pt x="264" y="237"/>
                    </a:lnTo>
                    <a:lnTo>
                      <a:pt x="287" y="246"/>
                    </a:lnTo>
                    <a:lnTo>
                      <a:pt x="302" y="255"/>
                    </a:lnTo>
                    <a:lnTo>
                      <a:pt x="318" y="268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5" name="Freeform 41"/>
              <p:cNvSpPr>
                <a:spLocks/>
              </p:cNvSpPr>
              <p:nvPr/>
            </p:nvSpPr>
            <p:spPr bwMode="ltGray">
              <a:xfrm>
                <a:off x="5049" y="578"/>
                <a:ext cx="551" cy="335"/>
              </a:xfrm>
              <a:custGeom>
                <a:avLst/>
                <a:gdLst/>
                <a:ahLst/>
                <a:cxnLst>
                  <a:cxn ang="0">
                    <a:pos x="534" y="48"/>
                  </a:cxn>
                  <a:cxn ang="0">
                    <a:pos x="550" y="117"/>
                  </a:cxn>
                  <a:cxn ang="0">
                    <a:pos x="540" y="142"/>
                  </a:cxn>
                  <a:cxn ang="0">
                    <a:pos x="517" y="179"/>
                  </a:cxn>
                  <a:cxn ang="0">
                    <a:pos x="493" y="212"/>
                  </a:cxn>
                  <a:cxn ang="0">
                    <a:pos x="465" y="239"/>
                  </a:cxn>
                  <a:cxn ang="0">
                    <a:pos x="430" y="267"/>
                  </a:cxn>
                  <a:cxn ang="0">
                    <a:pos x="397" y="286"/>
                  </a:cxn>
                  <a:cxn ang="0">
                    <a:pos x="361" y="304"/>
                  </a:cxn>
                  <a:cxn ang="0">
                    <a:pos x="315" y="320"/>
                  </a:cxn>
                  <a:cxn ang="0">
                    <a:pos x="280" y="328"/>
                  </a:cxn>
                  <a:cxn ang="0">
                    <a:pos x="238" y="334"/>
                  </a:cxn>
                  <a:cxn ang="0">
                    <a:pos x="199" y="334"/>
                  </a:cxn>
                  <a:cxn ang="0">
                    <a:pos x="157" y="329"/>
                  </a:cxn>
                  <a:cxn ang="0">
                    <a:pos x="114" y="317"/>
                  </a:cxn>
                  <a:cxn ang="0">
                    <a:pos x="75" y="298"/>
                  </a:cxn>
                  <a:cxn ang="0">
                    <a:pos x="52" y="282"/>
                  </a:cxn>
                  <a:cxn ang="0">
                    <a:pos x="24" y="258"/>
                  </a:cxn>
                  <a:cxn ang="0">
                    <a:pos x="9" y="238"/>
                  </a:cxn>
                  <a:cxn ang="0">
                    <a:pos x="0" y="222"/>
                  </a:cxn>
                  <a:cxn ang="0">
                    <a:pos x="0" y="204"/>
                  </a:cxn>
                  <a:cxn ang="0">
                    <a:pos x="6" y="182"/>
                  </a:cxn>
                  <a:cxn ang="0">
                    <a:pos x="18" y="166"/>
                  </a:cxn>
                  <a:cxn ang="0">
                    <a:pos x="27" y="131"/>
                  </a:cxn>
                  <a:cxn ang="0">
                    <a:pos x="31" y="112"/>
                  </a:cxn>
                  <a:cxn ang="0">
                    <a:pos x="283" y="128"/>
                  </a:cxn>
                  <a:cxn ang="0">
                    <a:pos x="316" y="122"/>
                  </a:cxn>
                  <a:cxn ang="0">
                    <a:pos x="357" y="109"/>
                  </a:cxn>
                  <a:cxn ang="0">
                    <a:pos x="388" y="93"/>
                  </a:cxn>
                  <a:cxn ang="0">
                    <a:pos x="421" y="73"/>
                  </a:cxn>
                  <a:cxn ang="0">
                    <a:pos x="453" y="44"/>
                  </a:cxn>
                  <a:cxn ang="0">
                    <a:pos x="472" y="19"/>
                  </a:cxn>
                  <a:cxn ang="0">
                    <a:pos x="486" y="0"/>
                  </a:cxn>
                  <a:cxn ang="0">
                    <a:pos x="534" y="48"/>
                  </a:cxn>
                </a:cxnLst>
                <a:rect l="0" t="0" r="r" b="b"/>
                <a:pathLst>
                  <a:path w="551" h="335">
                    <a:moveTo>
                      <a:pt x="534" y="48"/>
                    </a:moveTo>
                    <a:lnTo>
                      <a:pt x="550" y="117"/>
                    </a:lnTo>
                    <a:lnTo>
                      <a:pt x="540" y="142"/>
                    </a:lnTo>
                    <a:lnTo>
                      <a:pt x="517" y="179"/>
                    </a:lnTo>
                    <a:lnTo>
                      <a:pt x="493" y="212"/>
                    </a:lnTo>
                    <a:lnTo>
                      <a:pt x="465" y="239"/>
                    </a:lnTo>
                    <a:lnTo>
                      <a:pt x="430" y="267"/>
                    </a:lnTo>
                    <a:lnTo>
                      <a:pt x="397" y="286"/>
                    </a:lnTo>
                    <a:lnTo>
                      <a:pt x="361" y="304"/>
                    </a:lnTo>
                    <a:lnTo>
                      <a:pt x="315" y="320"/>
                    </a:lnTo>
                    <a:lnTo>
                      <a:pt x="280" y="328"/>
                    </a:lnTo>
                    <a:lnTo>
                      <a:pt x="238" y="334"/>
                    </a:lnTo>
                    <a:lnTo>
                      <a:pt x="199" y="334"/>
                    </a:lnTo>
                    <a:lnTo>
                      <a:pt x="157" y="329"/>
                    </a:lnTo>
                    <a:lnTo>
                      <a:pt x="114" y="317"/>
                    </a:lnTo>
                    <a:lnTo>
                      <a:pt x="75" y="298"/>
                    </a:lnTo>
                    <a:lnTo>
                      <a:pt x="52" y="282"/>
                    </a:lnTo>
                    <a:lnTo>
                      <a:pt x="24" y="258"/>
                    </a:lnTo>
                    <a:lnTo>
                      <a:pt x="9" y="238"/>
                    </a:lnTo>
                    <a:lnTo>
                      <a:pt x="0" y="222"/>
                    </a:lnTo>
                    <a:lnTo>
                      <a:pt x="0" y="204"/>
                    </a:lnTo>
                    <a:lnTo>
                      <a:pt x="6" y="182"/>
                    </a:lnTo>
                    <a:lnTo>
                      <a:pt x="18" y="166"/>
                    </a:lnTo>
                    <a:lnTo>
                      <a:pt x="27" y="131"/>
                    </a:lnTo>
                    <a:lnTo>
                      <a:pt x="31" y="112"/>
                    </a:lnTo>
                    <a:lnTo>
                      <a:pt x="283" y="128"/>
                    </a:lnTo>
                    <a:lnTo>
                      <a:pt x="316" y="122"/>
                    </a:lnTo>
                    <a:lnTo>
                      <a:pt x="357" y="109"/>
                    </a:lnTo>
                    <a:lnTo>
                      <a:pt x="388" y="93"/>
                    </a:lnTo>
                    <a:lnTo>
                      <a:pt x="421" y="73"/>
                    </a:lnTo>
                    <a:lnTo>
                      <a:pt x="453" y="44"/>
                    </a:lnTo>
                    <a:lnTo>
                      <a:pt x="472" y="19"/>
                    </a:lnTo>
                    <a:lnTo>
                      <a:pt x="486" y="0"/>
                    </a:lnTo>
                    <a:lnTo>
                      <a:pt x="534" y="48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100000">
                    <a:schemeClr val="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6" name="Freeform 42"/>
              <p:cNvSpPr>
                <a:spLocks/>
              </p:cNvSpPr>
              <p:nvPr/>
            </p:nvSpPr>
            <p:spPr bwMode="ltGray">
              <a:xfrm>
                <a:off x="5145" y="160"/>
                <a:ext cx="475" cy="55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94"/>
                  </a:cxn>
                  <a:cxn ang="0">
                    <a:pos x="28" y="291"/>
                  </a:cxn>
                  <a:cxn ang="0">
                    <a:pos x="63" y="293"/>
                  </a:cxn>
                  <a:cxn ang="0">
                    <a:pos x="121" y="299"/>
                  </a:cxn>
                  <a:cxn ang="0">
                    <a:pos x="178" y="310"/>
                  </a:cxn>
                  <a:cxn ang="0">
                    <a:pos x="231" y="323"/>
                  </a:cxn>
                  <a:cxn ang="0">
                    <a:pos x="274" y="339"/>
                  </a:cxn>
                  <a:cxn ang="0">
                    <a:pos x="325" y="364"/>
                  </a:cxn>
                  <a:cxn ang="0">
                    <a:pos x="364" y="390"/>
                  </a:cxn>
                  <a:cxn ang="0">
                    <a:pos x="393" y="415"/>
                  </a:cxn>
                  <a:cxn ang="0">
                    <a:pos x="414" y="439"/>
                  </a:cxn>
                  <a:cxn ang="0">
                    <a:pos x="427" y="461"/>
                  </a:cxn>
                  <a:cxn ang="0">
                    <a:pos x="439" y="488"/>
                  </a:cxn>
                  <a:cxn ang="0">
                    <a:pos x="444" y="513"/>
                  </a:cxn>
                  <a:cxn ang="0">
                    <a:pos x="451" y="551"/>
                  </a:cxn>
                  <a:cxn ang="0">
                    <a:pos x="457" y="518"/>
                  </a:cxn>
                  <a:cxn ang="0">
                    <a:pos x="466" y="481"/>
                  </a:cxn>
                  <a:cxn ang="0">
                    <a:pos x="469" y="453"/>
                  </a:cxn>
                  <a:cxn ang="0">
                    <a:pos x="474" y="420"/>
                  </a:cxn>
                  <a:cxn ang="0">
                    <a:pos x="472" y="393"/>
                  </a:cxn>
                  <a:cxn ang="0">
                    <a:pos x="466" y="361"/>
                  </a:cxn>
                  <a:cxn ang="0">
                    <a:pos x="459" y="317"/>
                  </a:cxn>
                  <a:cxn ang="0">
                    <a:pos x="444" y="279"/>
                  </a:cxn>
                  <a:cxn ang="0">
                    <a:pos x="424" y="238"/>
                  </a:cxn>
                  <a:cxn ang="0">
                    <a:pos x="399" y="196"/>
                  </a:cxn>
                  <a:cxn ang="0">
                    <a:pos x="363" y="152"/>
                  </a:cxn>
                  <a:cxn ang="0">
                    <a:pos x="322" y="116"/>
                  </a:cxn>
                  <a:cxn ang="0">
                    <a:pos x="286" y="87"/>
                  </a:cxn>
                  <a:cxn ang="0">
                    <a:pos x="241" y="60"/>
                  </a:cxn>
                  <a:cxn ang="0">
                    <a:pos x="195" y="40"/>
                  </a:cxn>
                  <a:cxn ang="0">
                    <a:pos x="141" y="21"/>
                  </a:cxn>
                  <a:cxn ang="0">
                    <a:pos x="94" y="10"/>
                  </a:cxn>
                  <a:cxn ang="0">
                    <a:pos x="39" y="3"/>
                  </a:cxn>
                  <a:cxn ang="0">
                    <a:pos x="0" y="0"/>
                  </a:cxn>
                </a:cxnLst>
                <a:rect l="0" t="0" r="r" b="b"/>
                <a:pathLst>
                  <a:path w="475" h="552">
                    <a:moveTo>
                      <a:pt x="0" y="0"/>
                    </a:moveTo>
                    <a:lnTo>
                      <a:pt x="0" y="294"/>
                    </a:lnTo>
                    <a:lnTo>
                      <a:pt x="28" y="291"/>
                    </a:lnTo>
                    <a:lnTo>
                      <a:pt x="63" y="293"/>
                    </a:lnTo>
                    <a:lnTo>
                      <a:pt x="121" y="299"/>
                    </a:lnTo>
                    <a:lnTo>
                      <a:pt x="178" y="310"/>
                    </a:lnTo>
                    <a:lnTo>
                      <a:pt x="231" y="323"/>
                    </a:lnTo>
                    <a:lnTo>
                      <a:pt x="274" y="339"/>
                    </a:lnTo>
                    <a:lnTo>
                      <a:pt x="325" y="364"/>
                    </a:lnTo>
                    <a:lnTo>
                      <a:pt x="364" y="390"/>
                    </a:lnTo>
                    <a:lnTo>
                      <a:pt x="393" y="415"/>
                    </a:lnTo>
                    <a:lnTo>
                      <a:pt x="414" y="439"/>
                    </a:lnTo>
                    <a:lnTo>
                      <a:pt x="427" y="461"/>
                    </a:lnTo>
                    <a:lnTo>
                      <a:pt x="439" y="488"/>
                    </a:lnTo>
                    <a:lnTo>
                      <a:pt x="444" y="513"/>
                    </a:lnTo>
                    <a:lnTo>
                      <a:pt x="451" y="551"/>
                    </a:lnTo>
                    <a:lnTo>
                      <a:pt x="457" y="518"/>
                    </a:lnTo>
                    <a:lnTo>
                      <a:pt x="466" y="481"/>
                    </a:lnTo>
                    <a:lnTo>
                      <a:pt x="469" y="453"/>
                    </a:lnTo>
                    <a:lnTo>
                      <a:pt x="474" y="420"/>
                    </a:lnTo>
                    <a:lnTo>
                      <a:pt x="472" y="393"/>
                    </a:lnTo>
                    <a:lnTo>
                      <a:pt x="466" y="361"/>
                    </a:lnTo>
                    <a:lnTo>
                      <a:pt x="459" y="317"/>
                    </a:lnTo>
                    <a:lnTo>
                      <a:pt x="444" y="279"/>
                    </a:lnTo>
                    <a:lnTo>
                      <a:pt x="424" y="238"/>
                    </a:lnTo>
                    <a:lnTo>
                      <a:pt x="399" y="196"/>
                    </a:lnTo>
                    <a:lnTo>
                      <a:pt x="363" y="152"/>
                    </a:lnTo>
                    <a:lnTo>
                      <a:pt x="322" y="116"/>
                    </a:lnTo>
                    <a:lnTo>
                      <a:pt x="286" y="87"/>
                    </a:lnTo>
                    <a:lnTo>
                      <a:pt x="241" y="60"/>
                    </a:lnTo>
                    <a:lnTo>
                      <a:pt x="195" y="40"/>
                    </a:lnTo>
                    <a:lnTo>
                      <a:pt x="141" y="21"/>
                    </a:lnTo>
                    <a:lnTo>
                      <a:pt x="94" y="10"/>
                    </a:lnTo>
                    <a:lnTo>
                      <a:pt x="39" y="3"/>
                    </a:lnTo>
                    <a:lnTo>
                      <a:pt x="0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7" name="Freeform 43"/>
              <p:cNvSpPr>
                <a:spLocks/>
              </p:cNvSpPr>
              <p:nvPr/>
            </p:nvSpPr>
            <p:spPr bwMode="ltGray">
              <a:xfrm>
                <a:off x="5176" y="727"/>
                <a:ext cx="156" cy="118"/>
              </a:xfrm>
              <a:custGeom>
                <a:avLst/>
                <a:gdLst/>
                <a:ahLst/>
                <a:cxnLst>
                  <a:cxn ang="0">
                    <a:pos x="83" y="0"/>
                  </a:cxn>
                  <a:cxn ang="0">
                    <a:pos x="134" y="19"/>
                  </a:cxn>
                  <a:cxn ang="0">
                    <a:pos x="152" y="46"/>
                  </a:cxn>
                  <a:cxn ang="0">
                    <a:pos x="155" y="70"/>
                  </a:cxn>
                  <a:cxn ang="0">
                    <a:pos x="155" y="84"/>
                  </a:cxn>
                  <a:cxn ang="0">
                    <a:pos x="146" y="100"/>
                  </a:cxn>
                  <a:cxn ang="0">
                    <a:pos x="126" y="108"/>
                  </a:cxn>
                  <a:cxn ang="0">
                    <a:pos x="105" y="114"/>
                  </a:cxn>
                  <a:cxn ang="0">
                    <a:pos x="86" y="117"/>
                  </a:cxn>
                  <a:cxn ang="0">
                    <a:pos x="69" y="117"/>
                  </a:cxn>
                  <a:cxn ang="0">
                    <a:pos x="41" y="112"/>
                  </a:cxn>
                  <a:cxn ang="0">
                    <a:pos x="21" y="107"/>
                  </a:cxn>
                  <a:cxn ang="0">
                    <a:pos x="9" y="98"/>
                  </a:cxn>
                  <a:cxn ang="0">
                    <a:pos x="2" y="90"/>
                  </a:cxn>
                  <a:cxn ang="0">
                    <a:pos x="0" y="78"/>
                  </a:cxn>
                  <a:cxn ang="0">
                    <a:pos x="2" y="60"/>
                  </a:cxn>
                  <a:cxn ang="0">
                    <a:pos x="9" y="11"/>
                  </a:cxn>
                  <a:cxn ang="0">
                    <a:pos x="83" y="0"/>
                  </a:cxn>
                </a:cxnLst>
                <a:rect l="0" t="0" r="r" b="b"/>
                <a:pathLst>
                  <a:path w="156" h="118">
                    <a:moveTo>
                      <a:pt x="83" y="0"/>
                    </a:moveTo>
                    <a:lnTo>
                      <a:pt x="134" y="19"/>
                    </a:lnTo>
                    <a:lnTo>
                      <a:pt x="152" y="46"/>
                    </a:lnTo>
                    <a:lnTo>
                      <a:pt x="155" y="70"/>
                    </a:lnTo>
                    <a:lnTo>
                      <a:pt x="155" y="84"/>
                    </a:lnTo>
                    <a:lnTo>
                      <a:pt x="146" y="100"/>
                    </a:lnTo>
                    <a:lnTo>
                      <a:pt x="126" y="108"/>
                    </a:lnTo>
                    <a:lnTo>
                      <a:pt x="105" y="114"/>
                    </a:lnTo>
                    <a:lnTo>
                      <a:pt x="86" y="117"/>
                    </a:lnTo>
                    <a:lnTo>
                      <a:pt x="69" y="117"/>
                    </a:lnTo>
                    <a:lnTo>
                      <a:pt x="41" y="112"/>
                    </a:lnTo>
                    <a:lnTo>
                      <a:pt x="21" y="107"/>
                    </a:lnTo>
                    <a:lnTo>
                      <a:pt x="9" y="98"/>
                    </a:lnTo>
                    <a:lnTo>
                      <a:pt x="2" y="90"/>
                    </a:lnTo>
                    <a:lnTo>
                      <a:pt x="0" y="78"/>
                    </a:lnTo>
                    <a:lnTo>
                      <a:pt x="2" y="60"/>
                    </a:lnTo>
                    <a:lnTo>
                      <a:pt x="9" y="11"/>
                    </a:lnTo>
                    <a:lnTo>
                      <a:pt x="83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100000">
                    <a:schemeClr val="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8" name="Freeform 44"/>
              <p:cNvSpPr>
                <a:spLocks/>
              </p:cNvSpPr>
              <p:nvPr/>
            </p:nvSpPr>
            <p:spPr bwMode="ltGray">
              <a:xfrm>
                <a:off x="5172" y="740"/>
                <a:ext cx="88" cy="74"/>
              </a:xfrm>
              <a:custGeom>
                <a:avLst/>
                <a:gdLst/>
                <a:ahLst/>
                <a:cxnLst>
                  <a:cxn ang="0">
                    <a:pos x="0" y="68"/>
                  </a:cxn>
                  <a:cxn ang="0">
                    <a:pos x="11" y="0"/>
                  </a:cxn>
                  <a:cxn ang="0">
                    <a:pos x="54" y="5"/>
                  </a:cxn>
                  <a:cxn ang="0">
                    <a:pos x="87" y="9"/>
                  </a:cxn>
                  <a:cxn ang="0">
                    <a:pos x="78" y="73"/>
                  </a:cxn>
                  <a:cxn ang="0">
                    <a:pos x="75" y="58"/>
                  </a:cxn>
                  <a:cxn ang="0">
                    <a:pos x="65" y="47"/>
                  </a:cxn>
                  <a:cxn ang="0">
                    <a:pos x="47" y="44"/>
                  </a:cxn>
                  <a:cxn ang="0">
                    <a:pos x="27" y="45"/>
                  </a:cxn>
                  <a:cxn ang="0">
                    <a:pos x="11" y="52"/>
                  </a:cxn>
                  <a:cxn ang="0">
                    <a:pos x="0" y="68"/>
                  </a:cxn>
                </a:cxnLst>
                <a:rect l="0" t="0" r="r" b="b"/>
                <a:pathLst>
                  <a:path w="88" h="74">
                    <a:moveTo>
                      <a:pt x="0" y="68"/>
                    </a:moveTo>
                    <a:lnTo>
                      <a:pt x="11" y="0"/>
                    </a:lnTo>
                    <a:lnTo>
                      <a:pt x="54" y="5"/>
                    </a:lnTo>
                    <a:lnTo>
                      <a:pt x="87" y="9"/>
                    </a:lnTo>
                    <a:lnTo>
                      <a:pt x="78" y="73"/>
                    </a:lnTo>
                    <a:lnTo>
                      <a:pt x="75" y="58"/>
                    </a:lnTo>
                    <a:lnTo>
                      <a:pt x="65" y="47"/>
                    </a:lnTo>
                    <a:lnTo>
                      <a:pt x="47" y="44"/>
                    </a:lnTo>
                    <a:lnTo>
                      <a:pt x="27" y="45"/>
                    </a:lnTo>
                    <a:lnTo>
                      <a:pt x="11" y="52"/>
                    </a:lnTo>
                    <a:lnTo>
                      <a:pt x="0" y="68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9" name="Freeform 45"/>
              <p:cNvSpPr>
                <a:spLocks/>
              </p:cNvSpPr>
              <p:nvPr/>
            </p:nvSpPr>
            <p:spPr bwMode="ltGray">
              <a:xfrm>
                <a:off x="5049" y="520"/>
                <a:ext cx="319" cy="286"/>
              </a:xfrm>
              <a:custGeom>
                <a:avLst/>
                <a:gdLst/>
                <a:ahLst/>
                <a:cxnLst>
                  <a:cxn ang="0">
                    <a:pos x="1" y="275"/>
                  </a:cxn>
                  <a:cxn ang="0">
                    <a:pos x="3" y="254"/>
                  </a:cxn>
                  <a:cxn ang="0">
                    <a:pos x="12" y="235"/>
                  </a:cxn>
                  <a:cxn ang="0">
                    <a:pos x="19" y="219"/>
                  </a:cxn>
                  <a:cxn ang="0">
                    <a:pos x="24" y="194"/>
                  </a:cxn>
                  <a:cxn ang="0">
                    <a:pos x="30" y="161"/>
                  </a:cxn>
                  <a:cxn ang="0">
                    <a:pos x="34" y="126"/>
                  </a:cxn>
                  <a:cxn ang="0">
                    <a:pos x="37" y="94"/>
                  </a:cxn>
                  <a:cxn ang="0">
                    <a:pos x="39" y="67"/>
                  </a:cxn>
                  <a:cxn ang="0">
                    <a:pos x="40" y="43"/>
                  </a:cxn>
                  <a:cxn ang="0">
                    <a:pos x="48" y="29"/>
                  </a:cxn>
                  <a:cxn ang="0">
                    <a:pos x="63" y="16"/>
                  </a:cxn>
                  <a:cxn ang="0">
                    <a:pos x="78" y="9"/>
                  </a:cxn>
                  <a:cxn ang="0">
                    <a:pos x="102" y="2"/>
                  </a:cxn>
                  <a:cxn ang="0">
                    <a:pos x="129" y="0"/>
                  </a:cxn>
                  <a:cxn ang="0">
                    <a:pos x="171" y="0"/>
                  </a:cxn>
                  <a:cxn ang="0">
                    <a:pos x="208" y="2"/>
                  </a:cxn>
                  <a:cxn ang="0">
                    <a:pos x="244" y="9"/>
                  </a:cxn>
                  <a:cxn ang="0">
                    <a:pos x="277" y="21"/>
                  </a:cxn>
                  <a:cxn ang="0">
                    <a:pos x="298" y="35"/>
                  </a:cxn>
                  <a:cxn ang="0">
                    <a:pos x="310" y="47"/>
                  </a:cxn>
                  <a:cxn ang="0">
                    <a:pos x="318" y="61"/>
                  </a:cxn>
                  <a:cxn ang="0">
                    <a:pos x="316" y="75"/>
                  </a:cxn>
                  <a:cxn ang="0">
                    <a:pos x="313" y="89"/>
                  </a:cxn>
                  <a:cxn ang="0">
                    <a:pos x="303" y="104"/>
                  </a:cxn>
                  <a:cxn ang="0">
                    <a:pos x="295" y="123"/>
                  </a:cxn>
                  <a:cxn ang="0">
                    <a:pos x="291" y="149"/>
                  </a:cxn>
                  <a:cxn ang="0">
                    <a:pos x="288" y="176"/>
                  </a:cxn>
                  <a:cxn ang="0">
                    <a:pos x="283" y="200"/>
                  </a:cxn>
                  <a:cxn ang="0">
                    <a:pos x="282" y="235"/>
                  </a:cxn>
                  <a:cxn ang="0">
                    <a:pos x="280" y="265"/>
                  </a:cxn>
                  <a:cxn ang="0">
                    <a:pos x="280" y="285"/>
                  </a:cxn>
                  <a:cxn ang="0">
                    <a:pos x="270" y="260"/>
                  </a:cxn>
                  <a:cxn ang="0">
                    <a:pos x="250" y="248"/>
                  </a:cxn>
                  <a:cxn ang="0">
                    <a:pos x="232" y="241"/>
                  </a:cxn>
                  <a:cxn ang="0">
                    <a:pos x="210" y="236"/>
                  </a:cxn>
                  <a:cxn ang="0">
                    <a:pos x="175" y="229"/>
                  </a:cxn>
                  <a:cxn ang="0">
                    <a:pos x="141" y="228"/>
                  </a:cxn>
                  <a:cxn ang="0">
                    <a:pos x="121" y="228"/>
                  </a:cxn>
                  <a:cxn ang="0">
                    <a:pos x="90" y="230"/>
                  </a:cxn>
                  <a:cxn ang="0">
                    <a:pos x="54" y="237"/>
                  </a:cxn>
                  <a:cxn ang="0">
                    <a:pos x="31" y="246"/>
                  </a:cxn>
                  <a:cxn ang="0">
                    <a:pos x="16" y="255"/>
                  </a:cxn>
                  <a:cxn ang="0">
                    <a:pos x="0" y="268"/>
                  </a:cxn>
                </a:cxnLst>
                <a:rect l="0" t="0" r="r" b="b"/>
                <a:pathLst>
                  <a:path w="319" h="286">
                    <a:moveTo>
                      <a:pt x="1" y="275"/>
                    </a:moveTo>
                    <a:lnTo>
                      <a:pt x="3" y="254"/>
                    </a:lnTo>
                    <a:lnTo>
                      <a:pt x="12" y="235"/>
                    </a:lnTo>
                    <a:lnTo>
                      <a:pt x="19" y="219"/>
                    </a:lnTo>
                    <a:lnTo>
                      <a:pt x="24" y="194"/>
                    </a:lnTo>
                    <a:lnTo>
                      <a:pt x="30" y="161"/>
                    </a:lnTo>
                    <a:lnTo>
                      <a:pt x="34" y="126"/>
                    </a:lnTo>
                    <a:lnTo>
                      <a:pt x="37" y="94"/>
                    </a:lnTo>
                    <a:lnTo>
                      <a:pt x="39" y="67"/>
                    </a:lnTo>
                    <a:lnTo>
                      <a:pt x="40" y="43"/>
                    </a:lnTo>
                    <a:lnTo>
                      <a:pt x="48" y="29"/>
                    </a:lnTo>
                    <a:lnTo>
                      <a:pt x="63" y="16"/>
                    </a:lnTo>
                    <a:lnTo>
                      <a:pt x="78" y="9"/>
                    </a:lnTo>
                    <a:lnTo>
                      <a:pt x="102" y="2"/>
                    </a:lnTo>
                    <a:lnTo>
                      <a:pt x="129" y="0"/>
                    </a:lnTo>
                    <a:lnTo>
                      <a:pt x="171" y="0"/>
                    </a:lnTo>
                    <a:lnTo>
                      <a:pt x="208" y="2"/>
                    </a:lnTo>
                    <a:lnTo>
                      <a:pt x="244" y="9"/>
                    </a:lnTo>
                    <a:lnTo>
                      <a:pt x="277" y="21"/>
                    </a:lnTo>
                    <a:lnTo>
                      <a:pt x="298" y="35"/>
                    </a:lnTo>
                    <a:lnTo>
                      <a:pt x="310" y="47"/>
                    </a:lnTo>
                    <a:lnTo>
                      <a:pt x="318" y="61"/>
                    </a:lnTo>
                    <a:lnTo>
                      <a:pt x="316" y="75"/>
                    </a:lnTo>
                    <a:lnTo>
                      <a:pt x="313" y="89"/>
                    </a:lnTo>
                    <a:lnTo>
                      <a:pt x="303" y="104"/>
                    </a:lnTo>
                    <a:lnTo>
                      <a:pt x="295" y="123"/>
                    </a:lnTo>
                    <a:lnTo>
                      <a:pt x="291" y="149"/>
                    </a:lnTo>
                    <a:lnTo>
                      <a:pt x="288" y="176"/>
                    </a:lnTo>
                    <a:lnTo>
                      <a:pt x="283" y="200"/>
                    </a:lnTo>
                    <a:lnTo>
                      <a:pt x="282" y="235"/>
                    </a:lnTo>
                    <a:lnTo>
                      <a:pt x="280" y="265"/>
                    </a:lnTo>
                    <a:lnTo>
                      <a:pt x="280" y="285"/>
                    </a:lnTo>
                    <a:lnTo>
                      <a:pt x="270" y="260"/>
                    </a:lnTo>
                    <a:lnTo>
                      <a:pt x="250" y="248"/>
                    </a:lnTo>
                    <a:lnTo>
                      <a:pt x="232" y="241"/>
                    </a:lnTo>
                    <a:lnTo>
                      <a:pt x="210" y="236"/>
                    </a:lnTo>
                    <a:lnTo>
                      <a:pt x="175" y="229"/>
                    </a:lnTo>
                    <a:lnTo>
                      <a:pt x="141" y="228"/>
                    </a:lnTo>
                    <a:lnTo>
                      <a:pt x="121" y="228"/>
                    </a:lnTo>
                    <a:lnTo>
                      <a:pt x="90" y="230"/>
                    </a:lnTo>
                    <a:lnTo>
                      <a:pt x="54" y="237"/>
                    </a:lnTo>
                    <a:lnTo>
                      <a:pt x="31" y="246"/>
                    </a:lnTo>
                    <a:lnTo>
                      <a:pt x="16" y="255"/>
                    </a:lnTo>
                    <a:lnTo>
                      <a:pt x="0" y="268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70" name="Freeform 46"/>
              <p:cNvSpPr>
                <a:spLocks/>
              </p:cNvSpPr>
              <p:nvPr/>
            </p:nvSpPr>
            <p:spPr bwMode="ltGray">
              <a:xfrm>
                <a:off x="4319" y="160"/>
                <a:ext cx="832" cy="4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56"/>
                  </a:cxn>
                  <a:cxn ang="0">
                    <a:pos x="84" y="374"/>
                  </a:cxn>
                  <a:cxn ang="0">
                    <a:pos x="153" y="393"/>
                  </a:cxn>
                  <a:cxn ang="0">
                    <a:pos x="210" y="404"/>
                  </a:cxn>
                  <a:cxn ang="0">
                    <a:pos x="258" y="410"/>
                  </a:cxn>
                  <a:cxn ang="0">
                    <a:pos x="312" y="416"/>
                  </a:cxn>
                  <a:cxn ang="0">
                    <a:pos x="402" y="419"/>
                  </a:cxn>
                  <a:cxn ang="0">
                    <a:pos x="485" y="412"/>
                  </a:cxn>
                  <a:cxn ang="0">
                    <a:pos x="570" y="399"/>
                  </a:cxn>
                  <a:cxn ang="0">
                    <a:pos x="652" y="377"/>
                  </a:cxn>
                  <a:cxn ang="0">
                    <a:pos x="724" y="347"/>
                  </a:cxn>
                  <a:cxn ang="0">
                    <a:pos x="784" y="306"/>
                  </a:cxn>
                  <a:cxn ang="0">
                    <a:pos x="829" y="291"/>
                  </a:cxn>
                  <a:cxn ang="0">
                    <a:pos x="831" y="2"/>
                  </a:cxn>
                  <a:cxn ang="0">
                    <a:pos x="786" y="9"/>
                  </a:cxn>
                  <a:cxn ang="0">
                    <a:pos x="726" y="29"/>
                  </a:cxn>
                  <a:cxn ang="0">
                    <a:pos x="654" y="55"/>
                  </a:cxn>
                  <a:cxn ang="0">
                    <a:pos x="585" y="70"/>
                  </a:cxn>
                  <a:cxn ang="0">
                    <a:pos x="515" y="78"/>
                  </a:cxn>
                  <a:cxn ang="0">
                    <a:pos x="468" y="82"/>
                  </a:cxn>
                  <a:cxn ang="0">
                    <a:pos x="428" y="84"/>
                  </a:cxn>
                  <a:cxn ang="0">
                    <a:pos x="358" y="84"/>
                  </a:cxn>
                  <a:cxn ang="0">
                    <a:pos x="314" y="81"/>
                  </a:cxn>
                  <a:cxn ang="0">
                    <a:pos x="274" y="76"/>
                  </a:cxn>
                  <a:cxn ang="0">
                    <a:pos x="229" y="73"/>
                  </a:cxn>
                  <a:cxn ang="0">
                    <a:pos x="190" y="66"/>
                  </a:cxn>
                  <a:cxn ang="0">
                    <a:pos x="140" y="57"/>
                  </a:cxn>
                  <a:cxn ang="0">
                    <a:pos x="96" y="44"/>
                  </a:cxn>
                  <a:cxn ang="0">
                    <a:pos x="49" y="24"/>
                  </a:cxn>
                  <a:cxn ang="0">
                    <a:pos x="0" y="0"/>
                  </a:cxn>
                </a:cxnLst>
                <a:rect l="0" t="0" r="r" b="b"/>
                <a:pathLst>
                  <a:path w="832" h="420">
                    <a:moveTo>
                      <a:pt x="0" y="0"/>
                    </a:moveTo>
                    <a:lnTo>
                      <a:pt x="0" y="356"/>
                    </a:lnTo>
                    <a:lnTo>
                      <a:pt x="84" y="374"/>
                    </a:lnTo>
                    <a:lnTo>
                      <a:pt x="153" y="393"/>
                    </a:lnTo>
                    <a:lnTo>
                      <a:pt x="210" y="404"/>
                    </a:lnTo>
                    <a:lnTo>
                      <a:pt x="258" y="410"/>
                    </a:lnTo>
                    <a:lnTo>
                      <a:pt x="312" y="416"/>
                    </a:lnTo>
                    <a:lnTo>
                      <a:pt x="402" y="419"/>
                    </a:lnTo>
                    <a:lnTo>
                      <a:pt x="485" y="412"/>
                    </a:lnTo>
                    <a:lnTo>
                      <a:pt x="570" y="399"/>
                    </a:lnTo>
                    <a:lnTo>
                      <a:pt x="652" y="377"/>
                    </a:lnTo>
                    <a:lnTo>
                      <a:pt x="724" y="347"/>
                    </a:lnTo>
                    <a:lnTo>
                      <a:pt x="784" y="306"/>
                    </a:lnTo>
                    <a:lnTo>
                      <a:pt x="829" y="291"/>
                    </a:lnTo>
                    <a:lnTo>
                      <a:pt x="831" y="2"/>
                    </a:lnTo>
                    <a:lnTo>
                      <a:pt x="786" y="9"/>
                    </a:lnTo>
                    <a:lnTo>
                      <a:pt x="726" y="29"/>
                    </a:lnTo>
                    <a:lnTo>
                      <a:pt x="654" y="55"/>
                    </a:lnTo>
                    <a:lnTo>
                      <a:pt x="585" y="70"/>
                    </a:lnTo>
                    <a:lnTo>
                      <a:pt x="515" y="78"/>
                    </a:lnTo>
                    <a:lnTo>
                      <a:pt x="468" y="82"/>
                    </a:lnTo>
                    <a:lnTo>
                      <a:pt x="428" y="84"/>
                    </a:lnTo>
                    <a:lnTo>
                      <a:pt x="358" y="84"/>
                    </a:lnTo>
                    <a:lnTo>
                      <a:pt x="314" y="81"/>
                    </a:lnTo>
                    <a:lnTo>
                      <a:pt x="274" y="76"/>
                    </a:lnTo>
                    <a:lnTo>
                      <a:pt x="229" y="73"/>
                    </a:lnTo>
                    <a:lnTo>
                      <a:pt x="190" y="66"/>
                    </a:lnTo>
                    <a:lnTo>
                      <a:pt x="140" y="57"/>
                    </a:lnTo>
                    <a:lnTo>
                      <a:pt x="96" y="44"/>
                    </a:lnTo>
                    <a:lnTo>
                      <a:pt x="49" y="24"/>
                    </a:lnTo>
                    <a:lnTo>
                      <a:pt x="0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</p:grpSp>
      </p:grpSp>
      <p:sp>
        <p:nvSpPr>
          <p:cNvPr id="1073" name="Rectangle 49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9144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44" name="Rectangle 50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22860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75" name="Rectangle 5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618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1076" name="Rectangle 5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4008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1077" name="Rectangle 5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2618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C381EAB4-37B6-451E-A4A6-58884214378D}" type="slidenum">
              <a:rPr lang="en-US" smtClean="0">
                <a:solidFill>
                  <a:srgbClr val="F8F8F8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056609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005" r:id="rId1"/>
    <p:sldLayoutId id="2147484006" r:id="rId2"/>
    <p:sldLayoutId id="2147484007" r:id="rId3"/>
    <p:sldLayoutId id="2147484008" r:id="rId4"/>
    <p:sldLayoutId id="2147484009" r:id="rId5"/>
    <p:sldLayoutId id="2147484010" r:id="rId6"/>
    <p:sldLayoutId id="2147484011" r:id="rId7"/>
    <p:sldLayoutId id="2147484012" r:id="rId8"/>
    <p:sldLayoutId id="2147484013" r:id="rId9"/>
    <p:sldLayoutId id="2147484014" r:id="rId10"/>
    <p:sldLayoutId id="2147484015" r:id="rId11"/>
    <p:sldLayoutId id="2147484016" r:id="rId12"/>
    <p:sldLayoutId id="2147484017" r:id="rId13"/>
    <p:sldLayoutId id="2147484076" r:id="rId14"/>
    <p:sldLayoutId id="2147484091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48"/>
          <p:cNvGrpSpPr>
            <a:grpSpLocks/>
          </p:cNvGrpSpPr>
          <p:nvPr/>
        </p:nvGrpSpPr>
        <p:grpSpPr bwMode="auto">
          <a:xfrm>
            <a:off x="1" y="-17463"/>
            <a:ext cx="12238567" cy="6905626"/>
            <a:chOff x="0" y="-11"/>
            <a:chExt cx="5782" cy="4350"/>
          </a:xfrm>
        </p:grpSpPr>
        <p:sp>
          <p:nvSpPr>
            <p:cNvPr id="1026" name="Rectangle 2"/>
            <p:cNvSpPr>
              <a:spLocks noChangeArrowheads="1"/>
            </p:cNvSpPr>
            <p:nvPr/>
          </p:nvSpPr>
          <p:spPr bwMode="hidden">
            <a:xfrm>
              <a:off x="0" y="1008"/>
              <a:ext cx="5774" cy="3331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ru-RU" sz="2400">
                <a:solidFill>
                  <a:srgbClr val="F8F8F8"/>
                </a:solidFill>
              </a:endParaRPr>
            </a:p>
          </p:txBody>
        </p:sp>
        <p:sp>
          <p:nvSpPr>
            <p:cNvPr id="1027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5759" cy="864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ru-RU" sz="2400">
                <a:solidFill>
                  <a:srgbClr val="F8F8F8"/>
                </a:solidFill>
              </a:endParaRPr>
            </a:p>
          </p:txBody>
        </p:sp>
        <p:grpSp>
          <p:nvGrpSpPr>
            <p:cNvPr id="10250" name="Group 6"/>
            <p:cNvGrpSpPr>
              <a:grpSpLocks/>
            </p:cNvGrpSpPr>
            <p:nvPr/>
          </p:nvGrpSpPr>
          <p:grpSpPr bwMode="auto">
            <a:xfrm>
              <a:off x="5301" y="-11"/>
              <a:ext cx="481" cy="4284"/>
              <a:chOff x="5301" y="-11"/>
              <a:chExt cx="481" cy="4284"/>
            </a:xfrm>
          </p:grpSpPr>
          <p:sp>
            <p:nvSpPr>
              <p:cNvPr id="1028" name="Freeform 4"/>
              <p:cNvSpPr>
                <a:spLocks/>
              </p:cNvSpPr>
              <p:nvPr/>
            </p:nvSpPr>
            <p:spPr bwMode="ltGray">
              <a:xfrm>
                <a:off x="5301" y="-11"/>
                <a:ext cx="241" cy="4284"/>
              </a:xfrm>
              <a:custGeom>
                <a:avLst/>
                <a:gdLst/>
                <a:ahLst/>
                <a:cxnLst>
                  <a:cxn ang="0">
                    <a:pos x="0" y="4234"/>
                  </a:cxn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4234"/>
                  </a:cxn>
                  <a:cxn ang="0">
                    <a:pos x="192" y="4283"/>
                  </a:cxn>
                  <a:cxn ang="0">
                    <a:pos x="144" y="4281"/>
                  </a:cxn>
                  <a:cxn ang="0">
                    <a:pos x="112" y="4281"/>
                  </a:cxn>
                  <a:cxn ang="0">
                    <a:pos x="49" y="4281"/>
                  </a:cxn>
                  <a:cxn ang="0">
                    <a:pos x="0" y="4234"/>
                  </a:cxn>
                </a:cxnLst>
                <a:rect l="0" t="0" r="r" b="b"/>
                <a:pathLst>
                  <a:path w="241" h="4284">
                    <a:moveTo>
                      <a:pt x="0" y="4234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40" y="4234"/>
                    </a:lnTo>
                    <a:lnTo>
                      <a:pt x="192" y="4283"/>
                    </a:lnTo>
                    <a:lnTo>
                      <a:pt x="144" y="4281"/>
                    </a:lnTo>
                    <a:lnTo>
                      <a:pt x="112" y="4281"/>
                    </a:lnTo>
                    <a:lnTo>
                      <a:pt x="49" y="4281"/>
                    </a:lnTo>
                    <a:lnTo>
                      <a:pt x="0" y="4234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29" name="Freeform 5"/>
              <p:cNvSpPr>
                <a:spLocks/>
              </p:cNvSpPr>
              <p:nvPr/>
            </p:nvSpPr>
            <p:spPr bwMode="ltGray">
              <a:xfrm>
                <a:off x="5541" y="-11"/>
                <a:ext cx="241" cy="4284"/>
              </a:xfrm>
              <a:custGeom>
                <a:avLst/>
                <a:gdLst/>
                <a:ahLst/>
                <a:cxnLst>
                  <a:cxn ang="0">
                    <a:pos x="0" y="4234"/>
                  </a:cxn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4234"/>
                  </a:cxn>
                  <a:cxn ang="0">
                    <a:pos x="192" y="4283"/>
                  </a:cxn>
                  <a:cxn ang="0">
                    <a:pos x="144" y="4281"/>
                  </a:cxn>
                  <a:cxn ang="0">
                    <a:pos x="112" y="4281"/>
                  </a:cxn>
                  <a:cxn ang="0">
                    <a:pos x="49" y="4281"/>
                  </a:cxn>
                  <a:cxn ang="0">
                    <a:pos x="0" y="4234"/>
                  </a:cxn>
                </a:cxnLst>
                <a:rect l="0" t="0" r="r" b="b"/>
                <a:pathLst>
                  <a:path w="241" h="4284">
                    <a:moveTo>
                      <a:pt x="0" y="4234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40" y="4234"/>
                    </a:lnTo>
                    <a:lnTo>
                      <a:pt x="192" y="4283"/>
                    </a:lnTo>
                    <a:lnTo>
                      <a:pt x="144" y="4281"/>
                    </a:lnTo>
                    <a:lnTo>
                      <a:pt x="112" y="4281"/>
                    </a:lnTo>
                    <a:lnTo>
                      <a:pt x="49" y="4281"/>
                    </a:lnTo>
                    <a:lnTo>
                      <a:pt x="0" y="4234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</p:grpSp>
        <p:grpSp>
          <p:nvGrpSpPr>
            <p:cNvPr id="10251" name="Group 9"/>
            <p:cNvGrpSpPr>
              <a:grpSpLocks/>
            </p:cNvGrpSpPr>
            <p:nvPr/>
          </p:nvGrpSpPr>
          <p:grpSpPr bwMode="auto">
            <a:xfrm>
              <a:off x="0" y="0"/>
              <a:ext cx="481" cy="4273"/>
              <a:chOff x="0" y="0"/>
              <a:chExt cx="481" cy="4273"/>
            </a:xfrm>
          </p:grpSpPr>
          <p:sp>
            <p:nvSpPr>
              <p:cNvPr id="1031" name="Freeform 7"/>
              <p:cNvSpPr>
                <a:spLocks/>
              </p:cNvSpPr>
              <p:nvPr/>
            </p:nvSpPr>
            <p:spPr bwMode="ltGray">
              <a:xfrm>
                <a:off x="0" y="0"/>
                <a:ext cx="241" cy="4273"/>
              </a:xfrm>
              <a:custGeom>
                <a:avLst/>
                <a:gdLst/>
                <a:ahLst/>
                <a:cxnLst>
                  <a:cxn ang="0">
                    <a:pos x="0" y="4223"/>
                  </a:cxn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4223"/>
                  </a:cxn>
                  <a:cxn ang="0">
                    <a:pos x="192" y="4272"/>
                  </a:cxn>
                  <a:cxn ang="0">
                    <a:pos x="144" y="4270"/>
                  </a:cxn>
                  <a:cxn ang="0">
                    <a:pos x="112" y="4270"/>
                  </a:cxn>
                  <a:cxn ang="0">
                    <a:pos x="49" y="4270"/>
                  </a:cxn>
                  <a:cxn ang="0">
                    <a:pos x="0" y="4223"/>
                  </a:cxn>
                </a:cxnLst>
                <a:rect l="0" t="0" r="r" b="b"/>
                <a:pathLst>
                  <a:path w="241" h="4273">
                    <a:moveTo>
                      <a:pt x="0" y="4223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40" y="4223"/>
                    </a:lnTo>
                    <a:lnTo>
                      <a:pt x="192" y="4272"/>
                    </a:lnTo>
                    <a:lnTo>
                      <a:pt x="144" y="4270"/>
                    </a:lnTo>
                    <a:lnTo>
                      <a:pt x="112" y="4270"/>
                    </a:lnTo>
                    <a:lnTo>
                      <a:pt x="49" y="4270"/>
                    </a:lnTo>
                    <a:lnTo>
                      <a:pt x="0" y="4223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32" name="Freeform 8"/>
              <p:cNvSpPr>
                <a:spLocks/>
              </p:cNvSpPr>
              <p:nvPr/>
            </p:nvSpPr>
            <p:spPr bwMode="ltGray">
              <a:xfrm>
                <a:off x="240" y="0"/>
                <a:ext cx="241" cy="4273"/>
              </a:xfrm>
              <a:custGeom>
                <a:avLst/>
                <a:gdLst/>
                <a:ahLst/>
                <a:cxnLst>
                  <a:cxn ang="0">
                    <a:pos x="0" y="4223"/>
                  </a:cxn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4223"/>
                  </a:cxn>
                  <a:cxn ang="0">
                    <a:pos x="192" y="4272"/>
                  </a:cxn>
                  <a:cxn ang="0">
                    <a:pos x="144" y="4270"/>
                  </a:cxn>
                  <a:cxn ang="0">
                    <a:pos x="112" y="4270"/>
                  </a:cxn>
                  <a:cxn ang="0">
                    <a:pos x="49" y="4270"/>
                  </a:cxn>
                  <a:cxn ang="0">
                    <a:pos x="0" y="4223"/>
                  </a:cxn>
                </a:cxnLst>
                <a:rect l="0" t="0" r="r" b="b"/>
                <a:pathLst>
                  <a:path w="241" h="4273">
                    <a:moveTo>
                      <a:pt x="0" y="4223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40" y="4223"/>
                    </a:lnTo>
                    <a:lnTo>
                      <a:pt x="192" y="4272"/>
                    </a:lnTo>
                    <a:lnTo>
                      <a:pt x="144" y="4270"/>
                    </a:lnTo>
                    <a:lnTo>
                      <a:pt x="112" y="4270"/>
                    </a:lnTo>
                    <a:lnTo>
                      <a:pt x="49" y="4270"/>
                    </a:lnTo>
                    <a:lnTo>
                      <a:pt x="0" y="4223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</p:grpSp>
        <p:grpSp>
          <p:nvGrpSpPr>
            <p:cNvPr id="10252" name="Group 47"/>
            <p:cNvGrpSpPr>
              <a:grpSpLocks/>
            </p:cNvGrpSpPr>
            <p:nvPr/>
          </p:nvGrpSpPr>
          <p:grpSpPr bwMode="auto">
            <a:xfrm>
              <a:off x="82" y="22"/>
              <a:ext cx="5590" cy="891"/>
              <a:chOff x="82" y="22"/>
              <a:chExt cx="5590" cy="891"/>
            </a:xfrm>
          </p:grpSpPr>
          <p:grpSp>
            <p:nvGrpSpPr>
              <p:cNvPr id="10253" name="Group 28"/>
              <p:cNvGrpSpPr>
                <a:grpSpLocks/>
              </p:cNvGrpSpPr>
              <p:nvPr/>
            </p:nvGrpSpPr>
            <p:grpSpPr bwMode="auto">
              <a:xfrm>
                <a:off x="134" y="22"/>
                <a:ext cx="5538" cy="850"/>
                <a:chOff x="134" y="22"/>
                <a:chExt cx="5538" cy="850"/>
              </a:xfrm>
            </p:grpSpPr>
            <p:sp>
              <p:nvSpPr>
                <p:cNvPr id="1034" name="Freeform 10"/>
                <p:cNvSpPr>
                  <a:spLocks/>
                </p:cNvSpPr>
                <p:nvPr/>
              </p:nvSpPr>
              <p:spPr bwMode="ltGray">
                <a:xfrm>
                  <a:off x="5269" y="734"/>
                  <a:ext cx="156" cy="117"/>
                </a:xfrm>
                <a:custGeom>
                  <a:avLst/>
                  <a:gdLst/>
                  <a:ahLst/>
                  <a:cxnLst>
                    <a:cxn ang="0">
                      <a:pos x="83" y="0"/>
                    </a:cxn>
                    <a:cxn ang="0">
                      <a:pos x="134" y="19"/>
                    </a:cxn>
                    <a:cxn ang="0">
                      <a:pos x="152" y="45"/>
                    </a:cxn>
                    <a:cxn ang="0">
                      <a:pos x="155" y="70"/>
                    </a:cxn>
                    <a:cxn ang="0">
                      <a:pos x="155" y="83"/>
                    </a:cxn>
                    <a:cxn ang="0">
                      <a:pos x="146" y="99"/>
                    </a:cxn>
                    <a:cxn ang="0">
                      <a:pos x="126" y="107"/>
                    </a:cxn>
                    <a:cxn ang="0">
                      <a:pos x="105" y="113"/>
                    </a:cxn>
                    <a:cxn ang="0">
                      <a:pos x="86" y="116"/>
                    </a:cxn>
                    <a:cxn ang="0">
                      <a:pos x="69" y="116"/>
                    </a:cxn>
                    <a:cxn ang="0">
                      <a:pos x="41" y="111"/>
                    </a:cxn>
                    <a:cxn ang="0">
                      <a:pos x="21" y="106"/>
                    </a:cxn>
                    <a:cxn ang="0">
                      <a:pos x="9" y="98"/>
                    </a:cxn>
                    <a:cxn ang="0">
                      <a:pos x="2" y="89"/>
                    </a:cxn>
                    <a:cxn ang="0">
                      <a:pos x="0" y="78"/>
                    </a:cxn>
                    <a:cxn ang="0">
                      <a:pos x="2" y="60"/>
                    </a:cxn>
                    <a:cxn ang="0">
                      <a:pos x="9" y="11"/>
                    </a:cxn>
                    <a:cxn ang="0">
                      <a:pos x="83" y="0"/>
                    </a:cxn>
                  </a:cxnLst>
                  <a:rect l="0" t="0" r="r" b="b"/>
                  <a:pathLst>
                    <a:path w="156" h="117">
                      <a:moveTo>
                        <a:pt x="83" y="0"/>
                      </a:moveTo>
                      <a:lnTo>
                        <a:pt x="134" y="19"/>
                      </a:lnTo>
                      <a:lnTo>
                        <a:pt x="152" y="45"/>
                      </a:lnTo>
                      <a:lnTo>
                        <a:pt x="155" y="70"/>
                      </a:lnTo>
                      <a:lnTo>
                        <a:pt x="155" y="83"/>
                      </a:lnTo>
                      <a:lnTo>
                        <a:pt x="146" y="99"/>
                      </a:lnTo>
                      <a:lnTo>
                        <a:pt x="126" y="107"/>
                      </a:lnTo>
                      <a:lnTo>
                        <a:pt x="105" y="113"/>
                      </a:lnTo>
                      <a:lnTo>
                        <a:pt x="86" y="116"/>
                      </a:lnTo>
                      <a:lnTo>
                        <a:pt x="69" y="116"/>
                      </a:lnTo>
                      <a:lnTo>
                        <a:pt x="41" y="111"/>
                      </a:lnTo>
                      <a:lnTo>
                        <a:pt x="21" y="106"/>
                      </a:lnTo>
                      <a:lnTo>
                        <a:pt x="9" y="98"/>
                      </a:lnTo>
                      <a:lnTo>
                        <a:pt x="2" y="89"/>
                      </a:lnTo>
                      <a:lnTo>
                        <a:pt x="0" y="78"/>
                      </a:lnTo>
                      <a:lnTo>
                        <a:pt x="2" y="60"/>
                      </a:lnTo>
                      <a:lnTo>
                        <a:pt x="9" y="11"/>
                      </a:lnTo>
                      <a:lnTo>
                        <a:pt x="83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35" name="Freeform 11"/>
                <p:cNvSpPr>
                  <a:spLocks/>
                </p:cNvSpPr>
                <p:nvPr/>
              </p:nvSpPr>
              <p:spPr bwMode="ltGray">
                <a:xfrm>
                  <a:off x="5265" y="746"/>
                  <a:ext cx="88" cy="75"/>
                </a:xfrm>
                <a:custGeom>
                  <a:avLst/>
                  <a:gdLst/>
                  <a:ahLst/>
                  <a:cxnLst>
                    <a:cxn ang="0">
                      <a:pos x="0" y="69"/>
                    </a:cxn>
                    <a:cxn ang="0">
                      <a:pos x="11" y="0"/>
                    </a:cxn>
                    <a:cxn ang="0">
                      <a:pos x="54" y="5"/>
                    </a:cxn>
                    <a:cxn ang="0">
                      <a:pos x="87" y="9"/>
                    </a:cxn>
                    <a:cxn ang="0">
                      <a:pos x="78" y="74"/>
                    </a:cxn>
                    <a:cxn ang="0">
                      <a:pos x="75" y="59"/>
                    </a:cxn>
                    <a:cxn ang="0">
                      <a:pos x="65" y="48"/>
                    </a:cxn>
                    <a:cxn ang="0">
                      <a:pos x="47" y="44"/>
                    </a:cxn>
                    <a:cxn ang="0">
                      <a:pos x="27" y="45"/>
                    </a:cxn>
                    <a:cxn ang="0">
                      <a:pos x="11" y="52"/>
                    </a:cxn>
                    <a:cxn ang="0">
                      <a:pos x="0" y="69"/>
                    </a:cxn>
                  </a:cxnLst>
                  <a:rect l="0" t="0" r="r" b="b"/>
                  <a:pathLst>
                    <a:path w="88" h="75">
                      <a:moveTo>
                        <a:pt x="0" y="69"/>
                      </a:moveTo>
                      <a:lnTo>
                        <a:pt x="11" y="0"/>
                      </a:lnTo>
                      <a:lnTo>
                        <a:pt x="54" y="5"/>
                      </a:lnTo>
                      <a:lnTo>
                        <a:pt x="87" y="9"/>
                      </a:lnTo>
                      <a:lnTo>
                        <a:pt x="78" y="74"/>
                      </a:lnTo>
                      <a:lnTo>
                        <a:pt x="75" y="59"/>
                      </a:lnTo>
                      <a:lnTo>
                        <a:pt x="65" y="48"/>
                      </a:lnTo>
                      <a:lnTo>
                        <a:pt x="47" y="44"/>
                      </a:lnTo>
                      <a:lnTo>
                        <a:pt x="27" y="45"/>
                      </a:lnTo>
                      <a:lnTo>
                        <a:pt x="11" y="52"/>
                      </a:lnTo>
                      <a:lnTo>
                        <a:pt x="0" y="69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36" name="Freeform 12"/>
                <p:cNvSpPr>
                  <a:spLocks/>
                </p:cNvSpPr>
                <p:nvPr/>
              </p:nvSpPr>
              <p:spPr bwMode="ltGray">
                <a:xfrm>
                  <a:off x="475" y="725"/>
                  <a:ext cx="156" cy="117"/>
                </a:xfrm>
                <a:custGeom>
                  <a:avLst/>
                  <a:gdLst/>
                  <a:ahLst/>
                  <a:cxnLst>
                    <a:cxn ang="0">
                      <a:pos x="72" y="0"/>
                    </a:cxn>
                    <a:cxn ang="0">
                      <a:pos x="21" y="19"/>
                    </a:cxn>
                    <a:cxn ang="0">
                      <a:pos x="3" y="45"/>
                    </a:cxn>
                    <a:cxn ang="0">
                      <a:pos x="0" y="70"/>
                    </a:cxn>
                    <a:cxn ang="0">
                      <a:pos x="0" y="83"/>
                    </a:cxn>
                    <a:cxn ang="0">
                      <a:pos x="9" y="99"/>
                    </a:cxn>
                    <a:cxn ang="0">
                      <a:pos x="29" y="107"/>
                    </a:cxn>
                    <a:cxn ang="0">
                      <a:pos x="50" y="113"/>
                    </a:cxn>
                    <a:cxn ang="0">
                      <a:pos x="69" y="116"/>
                    </a:cxn>
                    <a:cxn ang="0">
                      <a:pos x="86" y="116"/>
                    </a:cxn>
                    <a:cxn ang="0">
                      <a:pos x="114" y="111"/>
                    </a:cxn>
                    <a:cxn ang="0">
                      <a:pos x="134" y="106"/>
                    </a:cxn>
                    <a:cxn ang="0">
                      <a:pos x="146" y="98"/>
                    </a:cxn>
                    <a:cxn ang="0">
                      <a:pos x="153" y="89"/>
                    </a:cxn>
                    <a:cxn ang="0">
                      <a:pos x="155" y="78"/>
                    </a:cxn>
                    <a:cxn ang="0">
                      <a:pos x="153" y="60"/>
                    </a:cxn>
                    <a:cxn ang="0">
                      <a:pos x="146" y="11"/>
                    </a:cxn>
                    <a:cxn ang="0">
                      <a:pos x="72" y="0"/>
                    </a:cxn>
                  </a:cxnLst>
                  <a:rect l="0" t="0" r="r" b="b"/>
                  <a:pathLst>
                    <a:path w="156" h="117">
                      <a:moveTo>
                        <a:pt x="72" y="0"/>
                      </a:moveTo>
                      <a:lnTo>
                        <a:pt x="21" y="19"/>
                      </a:lnTo>
                      <a:lnTo>
                        <a:pt x="3" y="45"/>
                      </a:lnTo>
                      <a:lnTo>
                        <a:pt x="0" y="70"/>
                      </a:lnTo>
                      <a:lnTo>
                        <a:pt x="0" y="83"/>
                      </a:lnTo>
                      <a:lnTo>
                        <a:pt x="9" y="99"/>
                      </a:lnTo>
                      <a:lnTo>
                        <a:pt x="29" y="107"/>
                      </a:lnTo>
                      <a:lnTo>
                        <a:pt x="50" y="113"/>
                      </a:lnTo>
                      <a:lnTo>
                        <a:pt x="69" y="116"/>
                      </a:lnTo>
                      <a:lnTo>
                        <a:pt x="86" y="116"/>
                      </a:lnTo>
                      <a:lnTo>
                        <a:pt x="114" y="111"/>
                      </a:lnTo>
                      <a:lnTo>
                        <a:pt x="134" y="106"/>
                      </a:lnTo>
                      <a:lnTo>
                        <a:pt x="146" y="98"/>
                      </a:lnTo>
                      <a:lnTo>
                        <a:pt x="153" y="89"/>
                      </a:lnTo>
                      <a:lnTo>
                        <a:pt x="155" y="78"/>
                      </a:lnTo>
                      <a:lnTo>
                        <a:pt x="153" y="60"/>
                      </a:lnTo>
                      <a:lnTo>
                        <a:pt x="146" y="11"/>
                      </a:lnTo>
                      <a:lnTo>
                        <a:pt x="72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37" name="Freeform 13"/>
                <p:cNvSpPr>
                  <a:spLocks/>
                </p:cNvSpPr>
                <p:nvPr/>
              </p:nvSpPr>
              <p:spPr bwMode="ltGray">
                <a:xfrm>
                  <a:off x="547" y="738"/>
                  <a:ext cx="88" cy="75"/>
                </a:xfrm>
                <a:custGeom>
                  <a:avLst/>
                  <a:gdLst/>
                  <a:ahLst/>
                  <a:cxnLst>
                    <a:cxn ang="0">
                      <a:pos x="87" y="68"/>
                    </a:cxn>
                    <a:cxn ang="0">
                      <a:pos x="76" y="0"/>
                    </a:cxn>
                    <a:cxn ang="0">
                      <a:pos x="33" y="5"/>
                    </a:cxn>
                    <a:cxn ang="0">
                      <a:pos x="0" y="9"/>
                    </a:cxn>
                    <a:cxn ang="0">
                      <a:pos x="9" y="74"/>
                    </a:cxn>
                    <a:cxn ang="0">
                      <a:pos x="12" y="58"/>
                    </a:cxn>
                    <a:cxn ang="0">
                      <a:pos x="22" y="47"/>
                    </a:cxn>
                    <a:cxn ang="0">
                      <a:pos x="40" y="44"/>
                    </a:cxn>
                    <a:cxn ang="0">
                      <a:pos x="60" y="45"/>
                    </a:cxn>
                    <a:cxn ang="0">
                      <a:pos x="76" y="52"/>
                    </a:cxn>
                    <a:cxn ang="0">
                      <a:pos x="87" y="68"/>
                    </a:cxn>
                  </a:cxnLst>
                  <a:rect l="0" t="0" r="r" b="b"/>
                  <a:pathLst>
                    <a:path w="88" h="75">
                      <a:moveTo>
                        <a:pt x="87" y="68"/>
                      </a:moveTo>
                      <a:lnTo>
                        <a:pt x="76" y="0"/>
                      </a:lnTo>
                      <a:lnTo>
                        <a:pt x="33" y="5"/>
                      </a:lnTo>
                      <a:lnTo>
                        <a:pt x="0" y="9"/>
                      </a:lnTo>
                      <a:lnTo>
                        <a:pt x="9" y="74"/>
                      </a:lnTo>
                      <a:lnTo>
                        <a:pt x="12" y="58"/>
                      </a:lnTo>
                      <a:lnTo>
                        <a:pt x="22" y="47"/>
                      </a:lnTo>
                      <a:lnTo>
                        <a:pt x="40" y="44"/>
                      </a:lnTo>
                      <a:lnTo>
                        <a:pt x="60" y="45"/>
                      </a:lnTo>
                      <a:lnTo>
                        <a:pt x="76" y="52"/>
                      </a:lnTo>
                      <a:lnTo>
                        <a:pt x="87" y="68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38" name="Line 14"/>
                <p:cNvSpPr>
                  <a:spLocks noChangeShapeType="1"/>
                </p:cNvSpPr>
                <p:nvPr/>
              </p:nvSpPr>
              <p:spPr bwMode="ltGray">
                <a:xfrm flipV="1">
                  <a:off x="2020" y="309"/>
                  <a:ext cx="192" cy="87"/>
                </a:xfrm>
                <a:prstGeom prst="line">
                  <a:avLst/>
                </a:prstGeom>
                <a:noFill/>
                <a:ln w="12700">
                  <a:solidFill>
                    <a:schemeClr val="hlink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39" name="Freeform 15"/>
                <p:cNvSpPr>
                  <a:spLocks/>
                </p:cNvSpPr>
                <p:nvPr/>
              </p:nvSpPr>
              <p:spPr bwMode="ltGray">
                <a:xfrm>
                  <a:off x="1408" y="22"/>
                  <a:ext cx="2967" cy="457"/>
                </a:xfrm>
                <a:custGeom>
                  <a:avLst/>
                  <a:gdLst/>
                  <a:ahLst/>
                  <a:cxnLst>
                    <a:cxn ang="0">
                      <a:pos x="0" y="122"/>
                    </a:cxn>
                    <a:cxn ang="0">
                      <a:pos x="207" y="78"/>
                    </a:cxn>
                    <a:cxn ang="0">
                      <a:pos x="442" y="48"/>
                    </a:cxn>
                    <a:cxn ang="0">
                      <a:pos x="640" y="32"/>
                    </a:cxn>
                    <a:cxn ang="0">
                      <a:pos x="897" y="16"/>
                    </a:cxn>
                    <a:cxn ang="0">
                      <a:pos x="1215" y="2"/>
                    </a:cxn>
                    <a:cxn ang="0">
                      <a:pos x="1392" y="0"/>
                    </a:cxn>
                    <a:cxn ang="0">
                      <a:pos x="1710" y="0"/>
                    </a:cxn>
                    <a:cxn ang="0">
                      <a:pos x="1997" y="10"/>
                    </a:cxn>
                    <a:cxn ang="0">
                      <a:pos x="2258" y="21"/>
                    </a:cxn>
                    <a:cxn ang="0">
                      <a:pos x="2493" y="38"/>
                    </a:cxn>
                    <a:cxn ang="0">
                      <a:pos x="2674" y="54"/>
                    </a:cxn>
                    <a:cxn ang="0">
                      <a:pos x="2828" y="73"/>
                    </a:cxn>
                    <a:cxn ang="0">
                      <a:pos x="2966" y="92"/>
                    </a:cxn>
                    <a:cxn ang="0">
                      <a:pos x="2966" y="456"/>
                    </a:cxn>
                    <a:cxn ang="0">
                      <a:pos x="2833" y="434"/>
                    </a:cxn>
                    <a:cxn ang="0">
                      <a:pos x="2563" y="399"/>
                    </a:cxn>
                    <a:cxn ang="0">
                      <a:pos x="2382" y="382"/>
                    </a:cxn>
                    <a:cxn ang="0">
                      <a:pos x="2134" y="366"/>
                    </a:cxn>
                    <a:cxn ang="0">
                      <a:pos x="1944" y="358"/>
                    </a:cxn>
                    <a:cxn ang="0">
                      <a:pos x="1746" y="350"/>
                    </a:cxn>
                    <a:cxn ang="0">
                      <a:pos x="1529" y="350"/>
                    </a:cxn>
                    <a:cxn ang="0">
                      <a:pos x="1295" y="350"/>
                    </a:cxn>
                    <a:cxn ang="0">
                      <a:pos x="1047" y="355"/>
                    </a:cxn>
                    <a:cxn ang="0">
                      <a:pos x="853" y="363"/>
                    </a:cxn>
                    <a:cxn ang="0">
                      <a:pos x="654" y="374"/>
                    </a:cxn>
                    <a:cxn ang="0">
                      <a:pos x="468" y="388"/>
                    </a:cxn>
                    <a:cxn ang="0">
                      <a:pos x="296" y="404"/>
                    </a:cxn>
                    <a:cxn ang="0">
                      <a:pos x="150" y="423"/>
                    </a:cxn>
                    <a:cxn ang="0">
                      <a:pos x="13" y="445"/>
                    </a:cxn>
                    <a:cxn ang="0">
                      <a:pos x="0" y="122"/>
                    </a:cxn>
                  </a:cxnLst>
                  <a:rect l="0" t="0" r="r" b="b"/>
                  <a:pathLst>
                    <a:path w="2967" h="457">
                      <a:moveTo>
                        <a:pt x="0" y="122"/>
                      </a:moveTo>
                      <a:lnTo>
                        <a:pt x="207" y="78"/>
                      </a:lnTo>
                      <a:lnTo>
                        <a:pt x="442" y="48"/>
                      </a:lnTo>
                      <a:lnTo>
                        <a:pt x="640" y="32"/>
                      </a:lnTo>
                      <a:lnTo>
                        <a:pt x="897" y="16"/>
                      </a:lnTo>
                      <a:lnTo>
                        <a:pt x="1215" y="2"/>
                      </a:lnTo>
                      <a:lnTo>
                        <a:pt x="1392" y="0"/>
                      </a:lnTo>
                      <a:lnTo>
                        <a:pt x="1710" y="0"/>
                      </a:lnTo>
                      <a:lnTo>
                        <a:pt x="1997" y="10"/>
                      </a:lnTo>
                      <a:lnTo>
                        <a:pt x="2258" y="21"/>
                      </a:lnTo>
                      <a:lnTo>
                        <a:pt x="2493" y="38"/>
                      </a:lnTo>
                      <a:lnTo>
                        <a:pt x="2674" y="54"/>
                      </a:lnTo>
                      <a:lnTo>
                        <a:pt x="2828" y="73"/>
                      </a:lnTo>
                      <a:lnTo>
                        <a:pt x="2966" y="92"/>
                      </a:lnTo>
                      <a:lnTo>
                        <a:pt x="2966" y="456"/>
                      </a:lnTo>
                      <a:lnTo>
                        <a:pt x="2833" y="434"/>
                      </a:lnTo>
                      <a:lnTo>
                        <a:pt x="2563" y="399"/>
                      </a:lnTo>
                      <a:lnTo>
                        <a:pt x="2382" y="382"/>
                      </a:lnTo>
                      <a:lnTo>
                        <a:pt x="2134" y="366"/>
                      </a:lnTo>
                      <a:lnTo>
                        <a:pt x="1944" y="358"/>
                      </a:lnTo>
                      <a:lnTo>
                        <a:pt x="1746" y="350"/>
                      </a:lnTo>
                      <a:lnTo>
                        <a:pt x="1529" y="350"/>
                      </a:lnTo>
                      <a:lnTo>
                        <a:pt x="1295" y="350"/>
                      </a:lnTo>
                      <a:lnTo>
                        <a:pt x="1047" y="355"/>
                      </a:lnTo>
                      <a:lnTo>
                        <a:pt x="853" y="363"/>
                      </a:lnTo>
                      <a:lnTo>
                        <a:pt x="654" y="374"/>
                      </a:lnTo>
                      <a:lnTo>
                        <a:pt x="468" y="388"/>
                      </a:lnTo>
                      <a:lnTo>
                        <a:pt x="296" y="404"/>
                      </a:lnTo>
                      <a:lnTo>
                        <a:pt x="150" y="423"/>
                      </a:lnTo>
                      <a:lnTo>
                        <a:pt x="13" y="445"/>
                      </a:lnTo>
                      <a:lnTo>
                        <a:pt x="0" y="122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0" name="Freeform 16"/>
                <p:cNvSpPr>
                  <a:spLocks/>
                </p:cNvSpPr>
                <p:nvPr/>
              </p:nvSpPr>
              <p:spPr bwMode="ltGray">
                <a:xfrm>
                  <a:off x="607" y="118"/>
                  <a:ext cx="823" cy="431"/>
                </a:xfrm>
                <a:custGeom>
                  <a:avLst/>
                  <a:gdLst/>
                  <a:ahLst/>
                  <a:cxnLst>
                    <a:cxn ang="0">
                      <a:pos x="815" y="27"/>
                    </a:cxn>
                    <a:cxn ang="0">
                      <a:pos x="822" y="350"/>
                    </a:cxn>
                    <a:cxn ang="0">
                      <a:pos x="746" y="382"/>
                    </a:cxn>
                    <a:cxn ang="0">
                      <a:pos x="676" y="404"/>
                    </a:cxn>
                    <a:cxn ang="0">
                      <a:pos x="619" y="415"/>
                    </a:cxn>
                    <a:cxn ang="0">
                      <a:pos x="571" y="421"/>
                    </a:cxn>
                    <a:cxn ang="0">
                      <a:pos x="517" y="427"/>
                    </a:cxn>
                    <a:cxn ang="0">
                      <a:pos x="427" y="430"/>
                    </a:cxn>
                    <a:cxn ang="0">
                      <a:pos x="344" y="423"/>
                    </a:cxn>
                    <a:cxn ang="0">
                      <a:pos x="259" y="410"/>
                    </a:cxn>
                    <a:cxn ang="0">
                      <a:pos x="177" y="388"/>
                    </a:cxn>
                    <a:cxn ang="0">
                      <a:pos x="105" y="358"/>
                    </a:cxn>
                    <a:cxn ang="0">
                      <a:pos x="41" y="325"/>
                    </a:cxn>
                    <a:cxn ang="0">
                      <a:pos x="0" y="294"/>
                    </a:cxn>
                    <a:cxn ang="0">
                      <a:pos x="0" y="0"/>
                    </a:cxn>
                    <a:cxn ang="0">
                      <a:pos x="46" y="25"/>
                    </a:cxn>
                    <a:cxn ang="0">
                      <a:pos x="105" y="47"/>
                    </a:cxn>
                    <a:cxn ang="0">
                      <a:pos x="175" y="66"/>
                    </a:cxn>
                    <a:cxn ang="0">
                      <a:pos x="244" y="81"/>
                    </a:cxn>
                    <a:cxn ang="0">
                      <a:pos x="314" y="89"/>
                    </a:cxn>
                    <a:cxn ang="0">
                      <a:pos x="361" y="93"/>
                    </a:cxn>
                    <a:cxn ang="0">
                      <a:pos x="401" y="95"/>
                    </a:cxn>
                    <a:cxn ang="0">
                      <a:pos x="471" y="95"/>
                    </a:cxn>
                    <a:cxn ang="0">
                      <a:pos x="515" y="92"/>
                    </a:cxn>
                    <a:cxn ang="0">
                      <a:pos x="555" y="87"/>
                    </a:cxn>
                    <a:cxn ang="0">
                      <a:pos x="600" y="84"/>
                    </a:cxn>
                    <a:cxn ang="0">
                      <a:pos x="640" y="76"/>
                    </a:cxn>
                    <a:cxn ang="0">
                      <a:pos x="689" y="67"/>
                    </a:cxn>
                    <a:cxn ang="0">
                      <a:pos x="733" y="55"/>
                    </a:cxn>
                    <a:cxn ang="0">
                      <a:pos x="777" y="41"/>
                    </a:cxn>
                    <a:cxn ang="0">
                      <a:pos x="815" y="27"/>
                    </a:cxn>
                  </a:cxnLst>
                  <a:rect l="0" t="0" r="r" b="b"/>
                  <a:pathLst>
                    <a:path w="823" h="431">
                      <a:moveTo>
                        <a:pt x="815" y="27"/>
                      </a:moveTo>
                      <a:lnTo>
                        <a:pt x="822" y="350"/>
                      </a:lnTo>
                      <a:lnTo>
                        <a:pt x="746" y="382"/>
                      </a:lnTo>
                      <a:lnTo>
                        <a:pt x="676" y="404"/>
                      </a:lnTo>
                      <a:lnTo>
                        <a:pt x="619" y="415"/>
                      </a:lnTo>
                      <a:lnTo>
                        <a:pt x="571" y="421"/>
                      </a:lnTo>
                      <a:lnTo>
                        <a:pt x="517" y="427"/>
                      </a:lnTo>
                      <a:lnTo>
                        <a:pt x="427" y="430"/>
                      </a:lnTo>
                      <a:lnTo>
                        <a:pt x="344" y="423"/>
                      </a:lnTo>
                      <a:lnTo>
                        <a:pt x="259" y="410"/>
                      </a:lnTo>
                      <a:lnTo>
                        <a:pt x="177" y="388"/>
                      </a:lnTo>
                      <a:lnTo>
                        <a:pt x="105" y="358"/>
                      </a:lnTo>
                      <a:lnTo>
                        <a:pt x="41" y="325"/>
                      </a:lnTo>
                      <a:lnTo>
                        <a:pt x="0" y="294"/>
                      </a:lnTo>
                      <a:lnTo>
                        <a:pt x="0" y="0"/>
                      </a:lnTo>
                      <a:lnTo>
                        <a:pt x="46" y="25"/>
                      </a:lnTo>
                      <a:lnTo>
                        <a:pt x="105" y="47"/>
                      </a:lnTo>
                      <a:lnTo>
                        <a:pt x="175" y="66"/>
                      </a:lnTo>
                      <a:lnTo>
                        <a:pt x="244" y="81"/>
                      </a:lnTo>
                      <a:lnTo>
                        <a:pt x="314" y="89"/>
                      </a:lnTo>
                      <a:lnTo>
                        <a:pt x="361" y="93"/>
                      </a:lnTo>
                      <a:lnTo>
                        <a:pt x="401" y="95"/>
                      </a:lnTo>
                      <a:lnTo>
                        <a:pt x="471" y="95"/>
                      </a:lnTo>
                      <a:lnTo>
                        <a:pt x="515" y="92"/>
                      </a:lnTo>
                      <a:lnTo>
                        <a:pt x="555" y="87"/>
                      </a:lnTo>
                      <a:lnTo>
                        <a:pt x="600" y="84"/>
                      </a:lnTo>
                      <a:lnTo>
                        <a:pt x="640" y="76"/>
                      </a:lnTo>
                      <a:lnTo>
                        <a:pt x="689" y="67"/>
                      </a:lnTo>
                      <a:lnTo>
                        <a:pt x="733" y="55"/>
                      </a:lnTo>
                      <a:lnTo>
                        <a:pt x="777" y="41"/>
                      </a:lnTo>
                      <a:lnTo>
                        <a:pt x="815" y="27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1" name="Freeform 17"/>
                <p:cNvSpPr>
                  <a:spLocks/>
                </p:cNvSpPr>
                <p:nvPr/>
              </p:nvSpPr>
              <p:spPr bwMode="ltGray">
                <a:xfrm>
                  <a:off x="154" y="533"/>
                  <a:ext cx="551" cy="339"/>
                </a:xfrm>
                <a:custGeom>
                  <a:avLst/>
                  <a:gdLst/>
                  <a:ahLst/>
                  <a:cxnLst>
                    <a:cxn ang="0">
                      <a:pos x="16" y="53"/>
                    </a:cxn>
                    <a:cxn ang="0">
                      <a:pos x="0" y="122"/>
                    </a:cxn>
                    <a:cxn ang="0">
                      <a:pos x="10" y="146"/>
                    </a:cxn>
                    <a:cxn ang="0">
                      <a:pos x="33" y="183"/>
                    </a:cxn>
                    <a:cxn ang="0">
                      <a:pos x="57" y="216"/>
                    </a:cxn>
                    <a:cxn ang="0">
                      <a:pos x="85" y="244"/>
                    </a:cxn>
                    <a:cxn ang="0">
                      <a:pos x="120" y="271"/>
                    </a:cxn>
                    <a:cxn ang="0">
                      <a:pos x="153" y="290"/>
                    </a:cxn>
                    <a:cxn ang="0">
                      <a:pos x="189" y="308"/>
                    </a:cxn>
                    <a:cxn ang="0">
                      <a:pos x="235" y="324"/>
                    </a:cxn>
                    <a:cxn ang="0">
                      <a:pos x="270" y="332"/>
                    </a:cxn>
                    <a:cxn ang="0">
                      <a:pos x="312" y="338"/>
                    </a:cxn>
                    <a:cxn ang="0">
                      <a:pos x="351" y="338"/>
                    </a:cxn>
                    <a:cxn ang="0">
                      <a:pos x="393" y="333"/>
                    </a:cxn>
                    <a:cxn ang="0">
                      <a:pos x="436" y="321"/>
                    </a:cxn>
                    <a:cxn ang="0">
                      <a:pos x="475" y="302"/>
                    </a:cxn>
                    <a:cxn ang="0">
                      <a:pos x="498" y="286"/>
                    </a:cxn>
                    <a:cxn ang="0">
                      <a:pos x="526" y="262"/>
                    </a:cxn>
                    <a:cxn ang="0">
                      <a:pos x="541" y="243"/>
                    </a:cxn>
                    <a:cxn ang="0">
                      <a:pos x="550" y="226"/>
                    </a:cxn>
                    <a:cxn ang="0">
                      <a:pos x="550" y="208"/>
                    </a:cxn>
                    <a:cxn ang="0">
                      <a:pos x="544" y="187"/>
                    </a:cxn>
                    <a:cxn ang="0">
                      <a:pos x="532" y="170"/>
                    </a:cxn>
                    <a:cxn ang="0">
                      <a:pos x="523" y="135"/>
                    </a:cxn>
                    <a:cxn ang="0">
                      <a:pos x="519" y="116"/>
                    </a:cxn>
                    <a:cxn ang="0">
                      <a:pos x="267" y="132"/>
                    </a:cxn>
                    <a:cxn ang="0">
                      <a:pos x="234" y="126"/>
                    </a:cxn>
                    <a:cxn ang="0">
                      <a:pos x="193" y="113"/>
                    </a:cxn>
                    <a:cxn ang="0">
                      <a:pos x="162" y="97"/>
                    </a:cxn>
                    <a:cxn ang="0">
                      <a:pos x="129" y="77"/>
                    </a:cxn>
                    <a:cxn ang="0">
                      <a:pos x="97" y="48"/>
                    </a:cxn>
                    <a:cxn ang="0">
                      <a:pos x="78" y="24"/>
                    </a:cxn>
                    <a:cxn ang="0">
                      <a:pos x="60" y="0"/>
                    </a:cxn>
                    <a:cxn ang="0">
                      <a:pos x="16" y="53"/>
                    </a:cxn>
                  </a:cxnLst>
                  <a:rect l="0" t="0" r="r" b="b"/>
                  <a:pathLst>
                    <a:path w="551" h="339">
                      <a:moveTo>
                        <a:pt x="16" y="53"/>
                      </a:moveTo>
                      <a:lnTo>
                        <a:pt x="0" y="122"/>
                      </a:lnTo>
                      <a:lnTo>
                        <a:pt x="10" y="146"/>
                      </a:lnTo>
                      <a:lnTo>
                        <a:pt x="33" y="183"/>
                      </a:lnTo>
                      <a:lnTo>
                        <a:pt x="57" y="216"/>
                      </a:lnTo>
                      <a:lnTo>
                        <a:pt x="85" y="244"/>
                      </a:lnTo>
                      <a:lnTo>
                        <a:pt x="120" y="271"/>
                      </a:lnTo>
                      <a:lnTo>
                        <a:pt x="153" y="290"/>
                      </a:lnTo>
                      <a:lnTo>
                        <a:pt x="189" y="308"/>
                      </a:lnTo>
                      <a:lnTo>
                        <a:pt x="235" y="324"/>
                      </a:lnTo>
                      <a:lnTo>
                        <a:pt x="270" y="332"/>
                      </a:lnTo>
                      <a:lnTo>
                        <a:pt x="312" y="338"/>
                      </a:lnTo>
                      <a:lnTo>
                        <a:pt x="351" y="338"/>
                      </a:lnTo>
                      <a:lnTo>
                        <a:pt x="393" y="333"/>
                      </a:lnTo>
                      <a:lnTo>
                        <a:pt x="436" y="321"/>
                      </a:lnTo>
                      <a:lnTo>
                        <a:pt x="475" y="302"/>
                      </a:lnTo>
                      <a:lnTo>
                        <a:pt x="498" y="286"/>
                      </a:lnTo>
                      <a:lnTo>
                        <a:pt x="526" y="262"/>
                      </a:lnTo>
                      <a:lnTo>
                        <a:pt x="541" y="243"/>
                      </a:lnTo>
                      <a:lnTo>
                        <a:pt x="550" y="226"/>
                      </a:lnTo>
                      <a:lnTo>
                        <a:pt x="550" y="208"/>
                      </a:lnTo>
                      <a:lnTo>
                        <a:pt x="544" y="187"/>
                      </a:lnTo>
                      <a:lnTo>
                        <a:pt x="532" y="170"/>
                      </a:lnTo>
                      <a:lnTo>
                        <a:pt x="523" y="135"/>
                      </a:lnTo>
                      <a:lnTo>
                        <a:pt x="519" y="116"/>
                      </a:lnTo>
                      <a:lnTo>
                        <a:pt x="267" y="132"/>
                      </a:lnTo>
                      <a:lnTo>
                        <a:pt x="234" y="126"/>
                      </a:lnTo>
                      <a:lnTo>
                        <a:pt x="193" y="113"/>
                      </a:lnTo>
                      <a:lnTo>
                        <a:pt x="162" y="97"/>
                      </a:lnTo>
                      <a:lnTo>
                        <a:pt x="129" y="77"/>
                      </a:lnTo>
                      <a:lnTo>
                        <a:pt x="97" y="48"/>
                      </a:lnTo>
                      <a:lnTo>
                        <a:pt x="78" y="24"/>
                      </a:lnTo>
                      <a:lnTo>
                        <a:pt x="60" y="0"/>
                      </a:lnTo>
                      <a:lnTo>
                        <a:pt x="16" y="53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2" name="Freeform 18"/>
                <p:cNvSpPr>
                  <a:spLocks/>
                </p:cNvSpPr>
                <p:nvPr/>
              </p:nvSpPr>
              <p:spPr bwMode="ltGray">
                <a:xfrm>
                  <a:off x="134" y="119"/>
                  <a:ext cx="475" cy="552"/>
                </a:xfrm>
                <a:custGeom>
                  <a:avLst/>
                  <a:gdLst/>
                  <a:ahLst/>
                  <a:cxnLst>
                    <a:cxn ang="0">
                      <a:pos x="474" y="0"/>
                    </a:cxn>
                    <a:cxn ang="0">
                      <a:pos x="474" y="294"/>
                    </a:cxn>
                    <a:cxn ang="0">
                      <a:pos x="446" y="291"/>
                    </a:cxn>
                    <a:cxn ang="0">
                      <a:pos x="411" y="293"/>
                    </a:cxn>
                    <a:cxn ang="0">
                      <a:pos x="353" y="299"/>
                    </a:cxn>
                    <a:cxn ang="0">
                      <a:pos x="296" y="310"/>
                    </a:cxn>
                    <a:cxn ang="0">
                      <a:pos x="243" y="323"/>
                    </a:cxn>
                    <a:cxn ang="0">
                      <a:pos x="200" y="339"/>
                    </a:cxn>
                    <a:cxn ang="0">
                      <a:pos x="149" y="364"/>
                    </a:cxn>
                    <a:cxn ang="0">
                      <a:pos x="110" y="390"/>
                    </a:cxn>
                    <a:cxn ang="0">
                      <a:pos x="81" y="415"/>
                    </a:cxn>
                    <a:cxn ang="0">
                      <a:pos x="60" y="439"/>
                    </a:cxn>
                    <a:cxn ang="0">
                      <a:pos x="47" y="461"/>
                    </a:cxn>
                    <a:cxn ang="0">
                      <a:pos x="35" y="488"/>
                    </a:cxn>
                    <a:cxn ang="0">
                      <a:pos x="30" y="513"/>
                    </a:cxn>
                    <a:cxn ang="0">
                      <a:pos x="23" y="551"/>
                    </a:cxn>
                    <a:cxn ang="0">
                      <a:pos x="17" y="518"/>
                    </a:cxn>
                    <a:cxn ang="0">
                      <a:pos x="8" y="481"/>
                    </a:cxn>
                    <a:cxn ang="0">
                      <a:pos x="5" y="453"/>
                    </a:cxn>
                    <a:cxn ang="0">
                      <a:pos x="0" y="420"/>
                    </a:cxn>
                    <a:cxn ang="0">
                      <a:pos x="2" y="393"/>
                    </a:cxn>
                    <a:cxn ang="0">
                      <a:pos x="8" y="361"/>
                    </a:cxn>
                    <a:cxn ang="0">
                      <a:pos x="15" y="317"/>
                    </a:cxn>
                    <a:cxn ang="0">
                      <a:pos x="30" y="279"/>
                    </a:cxn>
                    <a:cxn ang="0">
                      <a:pos x="50" y="238"/>
                    </a:cxn>
                    <a:cxn ang="0">
                      <a:pos x="75" y="196"/>
                    </a:cxn>
                    <a:cxn ang="0">
                      <a:pos x="111" y="152"/>
                    </a:cxn>
                    <a:cxn ang="0">
                      <a:pos x="152" y="116"/>
                    </a:cxn>
                    <a:cxn ang="0">
                      <a:pos x="188" y="87"/>
                    </a:cxn>
                    <a:cxn ang="0">
                      <a:pos x="233" y="60"/>
                    </a:cxn>
                    <a:cxn ang="0">
                      <a:pos x="279" y="40"/>
                    </a:cxn>
                    <a:cxn ang="0">
                      <a:pos x="333" y="21"/>
                    </a:cxn>
                    <a:cxn ang="0">
                      <a:pos x="380" y="10"/>
                    </a:cxn>
                    <a:cxn ang="0">
                      <a:pos x="435" y="3"/>
                    </a:cxn>
                    <a:cxn ang="0">
                      <a:pos x="474" y="0"/>
                    </a:cxn>
                  </a:cxnLst>
                  <a:rect l="0" t="0" r="r" b="b"/>
                  <a:pathLst>
                    <a:path w="475" h="552">
                      <a:moveTo>
                        <a:pt x="474" y="0"/>
                      </a:moveTo>
                      <a:lnTo>
                        <a:pt x="474" y="294"/>
                      </a:lnTo>
                      <a:lnTo>
                        <a:pt x="446" y="291"/>
                      </a:lnTo>
                      <a:lnTo>
                        <a:pt x="411" y="293"/>
                      </a:lnTo>
                      <a:lnTo>
                        <a:pt x="353" y="299"/>
                      </a:lnTo>
                      <a:lnTo>
                        <a:pt x="296" y="310"/>
                      </a:lnTo>
                      <a:lnTo>
                        <a:pt x="243" y="323"/>
                      </a:lnTo>
                      <a:lnTo>
                        <a:pt x="200" y="339"/>
                      </a:lnTo>
                      <a:lnTo>
                        <a:pt x="149" y="364"/>
                      </a:lnTo>
                      <a:lnTo>
                        <a:pt x="110" y="390"/>
                      </a:lnTo>
                      <a:lnTo>
                        <a:pt x="81" y="415"/>
                      </a:lnTo>
                      <a:lnTo>
                        <a:pt x="60" y="439"/>
                      </a:lnTo>
                      <a:lnTo>
                        <a:pt x="47" y="461"/>
                      </a:lnTo>
                      <a:lnTo>
                        <a:pt x="35" y="488"/>
                      </a:lnTo>
                      <a:lnTo>
                        <a:pt x="30" y="513"/>
                      </a:lnTo>
                      <a:lnTo>
                        <a:pt x="23" y="551"/>
                      </a:lnTo>
                      <a:lnTo>
                        <a:pt x="17" y="518"/>
                      </a:lnTo>
                      <a:lnTo>
                        <a:pt x="8" y="481"/>
                      </a:lnTo>
                      <a:lnTo>
                        <a:pt x="5" y="453"/>
                      </a:lnTo>
                      <a:lnTo>
                        <a:pt x="0" y="420"/>
                      </a:lnTo>
                      <a:lnTo>
                        <a:pt x="2" y="393"/>
                      </a:lnTo>
                      <a:lnTo>
                        <a:pt x="8" y="361"/>
                      </a:lnTo>
                      <a:lnTo>
                        <a:pt x="15" y="317"/>
                      </a:lnTo>
                      <a:lnTo>
                        <a:pt x="30" y="279"/>
                      </a:lnTo>
                      <a:lnTo>
                        <a:pt x="50" y="238"/>
                      </a:lnTo>
                      <a:lnTo>
                        <a:pt x="75" y="196"/>
                      </a:lnTo>
                      <a:lnTo>
                        <a:pt x="111" y="152"/>
                      </a:lnTo>
                      <a:lnTo>
                        <a:pt x="152" y="116"/>
                      </a:lnTo>
                      <a:lnTo>
                        <a:pt x="188" y="87"/>
                      </a:lnTo>
                      <a:lnTo>
                        <a:pt x="233" y="60"/>
                      </a:lnTo>
                      <a:lnTo>
                        <a:pt x="279" y="40"/>
                      </a:lnTo>
                      <a:lnTo>
                        <a:pt x="333" y="21"/>
                      </a:lnTo>
                      <a:lnTo>
                        <a:pt x="380" y="10"/>
                      </a:lnTo>
                      <a:lnTo>
                        <a:pt x="435" y="3"/>
                      </a:lnTo>
                      <a:lnTo>
                        <a:pt x="474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3" name="Freeform 19"/>
                <p:cNvSpPr>
                  <a:spLocks/>
                </p:cNvSpPr>
                <p:nvPr/>
              </p:nvSpPr>
              <p:spPr bwMode="ltGray">
                <a:xfrm>
                  <a:off x="422" y="687"/>
                  <a:ext cx="156" cy="117"/>
                </a:xfrm>
                <a:custGeom>
                  <a:avLst/>
                  <a:gdLst/>
                  <a:ahLst/>
                  <a:cxnLst>
                    <a:cxn ang="0">
                      <a:pos x="72" y="0"/>
                    </a:cxn>
                    <a:cxn ang="0">
                      <a:pos x="21" y="19"/>
                    </a:cxn>
                    <a:cxn ang="0">
                      <a:pos x="3" y="45"/>
                    </a:cxn>
                    <a:cxn ang="0">
                      <a:pos x="0" y="70"/>
                    </a:cxn>
                    <a:cxn ang="0">
                      <a:pos x="0" y="83"/>
                    </a:cxn>
                    <a:cxn ang="0">
                      <a:pos x="9" y="99"/>
                    </a:cxn>
                    <a:cxn ang="0">
                      <a:pos x="29" y="107"/>
                    </a:cxn>
                    <a:cxn ang="0">
                      <a:pos x="50" y="113"/>
                    </a:cxn>
                    <a:cxn ang="0">
                      <a:pos x="69" y="116"/>
                    </a:cxn>
                    <a:cxn ang="0">
                      <a:pos x="86" y="116"/>
                    </a:cxn>
                    <a:cxn ang="0">
                      <a:pos x="114" y="111"/>
                    </a:cxn>
                    <a:cxn ang="0">
                      <a:pos x="134" y="106"/>
                    </a:cxn>
                    <a:cxn ang="0">
                      <a:pos x="146" y="98"/>
                    </a:cxn>
                    <a:cxn ang="0">
                      <a:pos x="153" y="89"/>
                    </a:cxn>
                    <a:cxn ang="0">
                      <a:pos x="155" y="78"/>
                    </a:cxn>
                    <a:cxn ang="0">
                      <a:pos x="153" y="60"/>
                    </a:cxn>
                    <a:cxn ang="0">
                      <a:pos x="146" y="11"/>
                    </a:cxn>
                    <a:cxn ang="0">
                      <a:pos x="72" y="0"/>
                    </a:cxn>
                  </a:cxnLst>
                  <a:rect l="0" t="0" r="r" b="b"/>
                  <a:pathLst>
                    <a:path w="156" h="117">
                      <a:moveTo>
                        <a:pt x="72" y="0"/>
                      </a:moveTo>
                      <a:lnTo>
                        <a:pt x="21" y="19"/>
                      </a:lnTo>
                      <a:lnTo>
                        <a:pt x="3" y="45"/>
                      </a:lnTo>
                      <a:lnTo>
                        <a:pt x="0" y="70"/>
                      </a:lnTo>
                      <a:lnTo>
                        <a:pt x="0" y="83"/>
                      </a:lnTo>
                      <a:lnTo>
                        <a:pt x="9" y="99"/>
                      </a:lnTo>
                      <a:lnTo>
                        <a:pt x="29" y="107"/>
                      </a:lnTo>
                      <a:lnTo>
                        <a:pt x="50" y="113"/>
                      </a:lnTo>
                      <a:lnTo>
                        <a:pt x="69" y="116"/>
                      </a:lnTo>
                      <a:lnTo>
                        <a:pt x="86" y="116"/>
                      </a:lnTo>
                      <a:lnTo>
                        <a:pt x="114" y="111"/>
                      </a:lnTo>
                      <a:lnTo>
                        <a:pt x="134" y="106"/>
                      </a:lnTo>
                      <a:lnTo>
                        <a:pt x="146" y="98"/>
                      </a:lnTo>
                      <a:lnTo>
                        <a:pt x="153" y="89"/>
                      </a:lnTo>
                      <a:lnTo>
                        <a:pt x="155" y="78"/>
                      </a:lnTo>
                      <a:lnTo>
                        <a:pt x="153" y="60"/>
                      </a:lnTo>
                      <a:lnTo>
                        <a:pt x="146" y="11"/>
                      </a:lnTo>
                      <a:lnTo>
                        <a:pt x="72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4" name="Freeform 20"/>
                <p:cNvSpPr>
                  <a:spLocks/>
                </p:cNvSpPr>
                <p:nvPr/>
              </p:nvSpPr>
              <p:spPr bwMode="ltGray">
                <a:xfrm>
                  <a:off x="494" y="700"/>
                  <a:ext cx="88" cy="74"/>
                </a:xfrm>
                <a:custGeom>
                  <a:avLst/>
                  <a:gdLst/>
                  <a:ahLst/>
                  <a:cxnLst>
                    <a:cxn ang="0">
                      <a:pos x="87" y="67"/>
                    </a:cxn>
                    <a:cxn ang="0">
                      <a:pos x="76" y="0"/>
                    </a:cxn>
                    <a:cxn ang="0">
                      <a:pos x="33" y="5"/>
                    </a:cxn>
                    <a:cxn ang="0">
                      <a:pos x="0" y="8"/>
                    </a:cxn>
                    <a:cxn ang="0">
                      <a:pos x="9" y="73"/>
                    </a:cxn>
                    <a:cxn ang="0">
                      <a:pos x="12" y="57"/>
                    </a:cxn>
                    <a:cxn ang="0">
                      <a:pos x="22" y="47"/>
                    </a:cxn>
                    <a:cxn ang="0">
                      <a:pos x="40" y="43"/>
                    </a:cxn>
                    <a:cxn ang="0">
                      <a:pos x="60" y="44"/>
                    </a:cxn>
                    <a:cxn ang="0">
                      <a:pos x="76" y="51"/>
                    </a:cxn>
                    <a:cxn ang="0">
                      <a:pos x="87" y="67"/>
                    </a:cxn>
                  </a:cxnLst>
                  <a:rect l="0" t="0" r="r" b="b"/>
                  <a:pathLst>
                    <a:path w="88" h="74">
                      <a:moveTo>
                        <a:pt x="87" y="67"/>
                      </a:moveTo>
                      <a:lnTo>
                        <a:pt x="76" y="0"/>
                      </a:lnTo>
                      <a:lnTo>
                        <a:pt x="33" y="5"/>
                      </a:lnTo>
                      <a:lnTo>
                        <a:pt x="0" y="8"/>
                      </a:lnTo>
                      <a:lnTo>
                        <a:pt x="9" y="73"/>
                      </a:lnTo>
                      <a:lnTo>
                        <a:pt x="12" y="57"/>
                      </a:lnTo>
                      <a:lnTo>
                        <a:pt x="22" y="47"/>
                      </a:lnTo>
                      <a:lnTo>
                        <a:pt x="40" y="43"/>
                      </a:lnTo>
                      <a:lnTo>
                        <a:pt x="60" y="44"/>
                      </a:lnTo>
                      <a:lnTo>
                        <a:pt x="76" y="51"/>
                      </a:lnTo>
                      <a:lnTo>
                        <a:pt x="87" y="67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5" name="Freeform 21"/>
                <p:cNvSpPr>
                  <a:spLocks/>
                </p:cNvSpPr>
                <p:nvPr/>
              </p:nvSpPr>
              <p:spPr bwMode="ltGray">
                <a:xfrm>
                  <a:off x="386" y="479"/>
                  <a:ext cx="319" cy="286"/>
                </a:xfrm>
                <a:custGeom>
                  <a:avLst/>
                  <a:gdLst/>
                  <a:ahLst/>
                  <a:cxnLst>
                    <a:cxn ang="0">
                      <a:pos x="317" y="275"/>
                    </a:cxn>
                    <a:cxn ang="0">
                      <a:pos x="315" y="254"/>
                    </a:cxn>
                    <a:cxn ang="0">
                      <a:pos x="306" y="235"/>
                    </a:cxn>
                    <a:cxn ang="0">
                      <a:pos x="299" y="219"/>
                    </a:cxn>
                    <a:cxn ang="0">
                      <a:pos x="294" y="194"/>
                    </a:cxn>
                    <a:cxn ang="0">
                      <a:pos x="288" y="161"/>
                    </a:cxn>
                    <a:cxn ang="0">
                      <a:pos x="284" y="126"/>
                    </a:cxn>
                    <a:cxn ang="0">
                      <a:pos x="281" y="94"/>
                    </a:cxn>
                    <a:cxn ang="0">
                      <a:pos x="279" y="67"/>
                    </a:cxn>
                    <a:cxn ang="0">
                      <a:pos x="278" y="43"/>
                    </a:cxn>
                    <a:cxn ang="0">
                      <a:pos x="270" y="29"/>
                    </a:cxn>
                    <a:cxn ang="0">
                      <a:pos x="255" y="16"/>
                    </a:cxn>
                    <a:cxn ang="0">
                      <a:pos x="240" y="9"/>
                    </a:cxn>
                    <a:cxn ang="0">
                      <a:pos x="216" y="2"/>
                    </a:cxn>
                    <a:cxn ang="0">
                      <a:pos x="189" y="0"/>
                    </a:cxn>
                    <a:cxn ang="0">
                      <a:pos x="147" y="0"/>
                    </a:cxn>
                    <a:cxn ang="0">
                      <a:pos x="110" y="2"/>
                    </a:cxn>
                    <a:cxn ang="0">
                      <a:pos x="74" y="9"/>
                    </a:cxn>
                    <a:cxn ang="0">
                      <a:pos x="41" y="21"/>
                    </a:cxn>
                    <a:cxn ang="0">
                      <a:pos x="20" y="35"/>
                    </a:cxn>
                    <a:cxn ang="0">
                      <a:pos x="8" y="47"/>
                    </a:cxn>
                    <a:cxn ang="0">
                      <a:pos x="0" y="61"/>
                    </a:cxn>
                    <a:cxn ang="0">
                      <a:pos x="2" y="75"/>
                    </a:cxn>
                    <a:cxn ang="0">
                      <a:pos x="5" y="89"/>
                    </a:cxn>
                    <a:cxn ang="0">
                      <a:pos x="15" y="104"/>
                    </a:cxn>
                    <a:cxn ang="0">
                      <a:pos x="23" y="123"/>
                    </a:cxn>
                    <a:cxn ang="0">
                      <a:pos x="27" y="149"/>
                    </a:cxn>
                    <a:cxn ang="0">
                      <a:pos x="30" y="176"/>
                    </a:cxn>
                    <a:cxn ang="0">
                      <a:pos x="35" y="200"/>
                    </a:cxn>
                    <a:cxn ang="0">
                      <a:pos x="36" y="235"/>
                    </a:cxn>
                    <a:cxn ang="0">
                      <a:pos x="38" y="265"/>
                    </a:cxn>
                    <a:cxn ang="0">
                      <a:pos x="38" y="285"/>
                    </a:cxn>
                    <a:cxn ang="0">
                      <a:pos x="48" y="260"/>
                    </a:cxn>
                    <a:cxn ang="0">
                      <a:pos x="68" y="248"/>
                    </a:cxn>
                    <a:cxn ang="0">
                      <a:pos x="86" y="241"/>
                    </a:cxn>
                    <a:cxn ang="0">
                      <a:pos x="108" y="236"/>
                    </a:cxn>
                    <a:cxn ang="0">
                      <a:pos x="143" y="229"/>
                    </a:cxn>
                    <a:cxn ang="0">
                      <a:pos x="177" y="228"/>
                    </a:cxn>
                    <a:cxn ang="0">
                      <a:pos x="197" y="228"/>
                    </a:cxn>
                    <a:cxn ang="0">
                      <a:pos x="228" y="230"/>
                    </a:cxn>
                    <a:cxn ang="0">
                      <a:pos x="264" y="237"/>
                    </a:cxn>
                    <a:cxn ang="0">
                      <a:pos x="287" y="246"/>
                    </a:cxn>
                    <a:cxn ang="0">
                      <a:pos x="302" y="255"/>
                    </a:cxn>
                    <a:cxn ang="0">
                      <a:pos x="318" y="268"/>
                    </a:cxn>
                  </a:cxnLst>
                  <a:rect l="0" t="0" r="r" b="b"/>
                  <a:pathLst>
                    <a:path w="319" h="286">
                      <a:moveTo>
                        <a:pt x="317" y="275"/>
                      </a:moveTo>
                      <a:lnTo>
                        <a:pt x="315" y="254"/>
                      </a:lnTo>
                      <a:lnTo>
                        <a:pt x="306" y="235"/>
                      </a:lnTo>
                      <a:lnTo>
                        <a:pt x="299" y="219"/>
                      </a:lnTo>
                      <a:lnTo>
                        <a:pt x="294" y="194"/>
                      </a:lnTo>
                      <a:lnTo>
                        <a:pt x="288" y="161"/>
                      </a:lnTo>
                      <a:lnTo>
                        <a:pt x="284" y="126"/>
                      </a:lnTo>
                      <a:lnTo>
                        <a:pt x="281" y="94"/>
                      </a:lnTo>
                      <a:lnTo>
                        <a:pt x="279" y="67"/>
                      </a:lnTo>
                      <a:lnTo>
                        <a:pt x="278" y="43"/>
                      </a:lnTo>
                      <a:lnTo>
                        <a:pt x="270" y="29"/>
                      </a:lnTo>
                      <a:lnTo>
                        <a:pt x="255" y="16"/>
                      </a:lnTo>
                      <a:lnTo>
                        <a:pt x="240" y="9"/>
                      </a:lnTo>
                      <a:lnTo>
                        <a:pt x="216" y="2"/>
                      </a:lnTo>
                      <a:lnTo>
                        <a:pt x="189" y="0"/>
                      </a:lnTo>
                      <a:lnTo>
                        <a:pt x="147" y="0"/>
                      </a:lnTo>
                      <a:lnTo>
                        <a:pt x="110" y="2"/>
                      </a:lnTo>
                      <a:lnTo>
                        <a:pt x="74" y="9"/>
                      </a:lnTo>
                      <a:lnTo>
                        <a:pt x="41" y="21"/>
                      </a:lnTo>
                      <a:lnTo>
                        <a:pt x="20" y="35"/>
                      </a:lnTo>
                      <a:lnTo>
                        <a:pt x="8" y="47"/>
                      </a:lnTo>
                      <a:lnTo>
                        <a:pt x="0" y="61"/>
                      </a:lnTo>
                      <a:lnTo>
                        <a:pt x="2" y="75"/>
                      </a:lnTo>
                      <a:lnTo>
                        <a:pt x="5" y="89"/>
                      </a:lnTo>
                      <a:lnTo>
                        <a:pt x="15" y="104"/>
                      </a:lnTo>
                      <a:lnTo>
                        <a:pt x="23" y="123"/>
                      </a:lnTo>
                      <a:lnTo>
                        <a:pt x="27" y="149"/>
                      </a:lnTo>
                      <a:lnTo>
                        <a:pt x="30" y="176"/>
                      </a:lnTo>
                      <a:lnTo>
                        <a:pt x="35" y="200"/>
                      </a:lnTo>
                      <a:lnTo>
                        <a:pt x="36" y="235"/>
                      </a:lnTo>
                      <a:lnTo>
                        <a:pt x="38" y="265"/>
                      </a:lnTo>
                      <a:lnTo>
                        <a:pt x="38" y="285"/>
                      </a:lnTo>
                      <a:lnTo>
                        <a:pt x="48" y="260"/>
                      </a:lnTo>
                      <a:lnTo>
                        <a:pt x="68" y="248"/>
                      </a:lnTo>
                      <a:lnTo>
                        <a:pt x="86" y="241"/>
                      </a:lnTo>
                      <a:lnTo>
                        <a:pt x="108" y="236"/>
                      </a:lnTo>
                      <a:lnTo>
                        <a:pt x="143" y="229"/>
                      </a:lnTo>
                      <a:lnTo>
                        <a:pt x="177" y="228"/>
                      </a:lnTo>
                      <a:lnTo>
                        <a:pt x="197" y="228"/>
                      </a:lnTo>
                      <a:lnTo>
                        <a:pt x="228" y="230"/>
                      </a:lnTo>
                      <a:lnTo>
                        <a:pt x="264" y="237"/>
                      </a:lnTo>
                      <a:lnTo>
                        <a:pt x="287" y="246"/>
                      </a:lnTo>
                      <a:lnTo>
                        <a:pt x="302" y="255"/>
                      </a:lnTo>
                      <a:lnTo>
                        <a:pt x="318" y="268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6" name="Freeform 22"/>
                <p:cNvSpPr>
                  <a:spLocks/>
                </p:cNvSpPr>
                <p:nvPr/>
              </p:nvSpPr>
              <p:spPr bwMode="ltGray">
                <a:xfrm>
                  <a:off x="5101" y="537"/>
                  <a:ext cx="551" cy="335"/>
                </a:xfrm>
                <a:custGeom>
                  <a:avLst/>
                  <a:gdLst/>
                  <a:ahLst/>
                  <a:cxnLst>
                    <a:cxn ang="0">
                      <a:pos x="534" y="48"/>
                    </a:cxn>
                    <a:cxn ang="0">
                      <a:pos x="550" y="117"/>
                    </a:cxn>
                    <a:cxn ang="0">
                      <a:pos x="540" y="142"/>
                    </a:cxn>
                    <a:cxn ang="0">
                      <a:pos x="517" y="179"/>
                    </a:cxn>
                    <a:cxn ang="0">
                      <a:pos x="493" y="212"/>
                    </a:cxn>
                    <a:cxn ang="0">
                      <a:pos x="465" y="239"/>
                    </a:cxn>
                    <a:cxn ang="0">
                      <a:pos x="430" y="267"/>
                    </a:cxn>
                    <a:cxn ang="0">
                      <a:pos x="397" y="286"/>
                    </a:cxn>
                    <a:cxn ang="0">
                      <a:pos x="361" y="304"/>
                    </a:cxn>
                    <a:cxn ang="0">
                      <a:pos x="315" y="320"/>
                    </a:cxn>
                    <a:cxn ang="0">
                      <a:pos x="280" y="328"/>
                    </a:cxn>
                    <a:cxn ang="0">
                      <a:pos x="238" y="334"/>
                    </a:cxn>
                    <a:cxn ang="0">
                      <a:pos x="199" y="334"/>
                    </a:cxn>
                    <a:cxn ang="0">
                      <a:pos x="157" y="329"/>
                    </a:cxn>
                    <a:cxn ang="0">
                      <a:pos x="114" y="317"/>
                    </a:cxn>
                    <a:cxn ang="0">
                      <a:pos x="75" y="298"/>
                    </a:cxn>
                    <a:cxn ang="0">
                      <a:pos x="52" y="282"/>
                    </a:cxn>
                    <a:cxn ang="0">
                      <a:pos x="24" y="258"/>
                    </a:cxn>
                    <a:cxn ang="0">
                      <a:pos x="9" y="238"/>
                    </a:cxn>
                    <a:cxn ang="0">
                      <a:pos x="0" y="222"/>
                    </a:cxn>
                    <a:cxn ang="0">
                      <a:pos x="0" y="204"/>
                    </a:cxn>
                    <a:cxn ang="0">
                      <a:pos x="6" y="182"/>
                    </a:cxn>
                    <a:cxn ang="0">
                      <a:pos x="18" y="166"/>
                    </a:cxn>
                    <a:cxn ang="0">
                      <a:pos x="27" y="131"/>
                    </a:cxn>
                    <a:cxn ang="0">
                      <a:pos x="31" y="112"/>
                    </a:cxn>
                    <a:cxn ang="0">
                      <a:pos x="283" y="128"/>
                    </a:cxn>
                    <a:cxn ang="0">
                      <a:pos x="316" y="122"/>
                    </a:cxn>
                    <a:cxn ang="0">
                      <a:pos x="357" y="109"/>
                    </a:cxn>
                    <a:cxn ang="0">
                      <a:pos x="388" y="93"/>
                    </a:cxn>
                    <a:cxn ang="0">
                      <a:pos x="421" y="73"/>
                    </a:cxn>
                    <a:cxn ang="0">
                      <a:pos x="453" y="44"/>
                    </a:cxn>
                    <a:cxn ang="0">
                      <a:pos x="472" y="19"/>
                    </a:cxn>
                    <a:cxn ang="0">
                      <a:pos x="486" y="0"/>
                    </a:cxn>
                    <a:cxn ang="0">
                      <a:pos x="534" y="48"/>
                    </a:cxn>
                  </a:cxnLst>
                  <a:rect l="0" t="0" r="r" b="b"/>
                  <a:pathLst>
                    <a:path w="551" h="335">
                      <a:moveTo>
                        <a:pt x="534" y="48"/>
                      </a:moveTo>
                      <a:lnTo>
                        <a:pt x="550" y="117"/>
                      </a:lnTo>
                      <a:lnTo>
                        <a:pt x="540" y="142"/>
                      </a:lnTo>
                      <a:lnTo>
                        <a:pt x="517" y="179"/>
                      </a:lnTo>
                      <a:lnTo>
                        <a:pt x="493" y="212"/>
                      </a:lnTo>
                      <a:lnTo>
                        <a:pt x="465" y="239"/>
                      </a:lnTo>
                      <a:lnTo>
                        <a:pt x="430" y="267"/>
                      </a:lnTo>
                      <a:lnTo>
                        <a:pt x="397" y="286"/>
                      </a:lnTo>
                      <a:lnTo>
                        <a:pt x="361" y="304"/>
                      </a:lnTo>
                      <a:lnTo>
                        <a:pt x="315" y="320"/>
                      </a:lnTo>
                      <a:lnTo>
                        <a:pt x="280" y="328"/>
                      </a:lnTo>
                      <a:lnTo>
                        <a:pt x="238" y="334"/>
                      </a:lnTo>
                      <a:lnTo>
                        <a:pt x="199" y="334"/>
                      </a:lnTo>
                      <a:lnTo>
                        <a:pt x="157" y="329"/>
                      </a:lnTo>
                      <a:lnTo>
                        <a:pt x="114" y="317"/>
                      </a:lnTo>
                      <a:lnTo>
                        <a:pt x="75" y="298"/>
                      </a:lnTo>
                      <a:lnTo>
                        <a:pt x="52" y="282"/>
                      </a:lnTo>
                      <a:lnTo>
                        <a:pt x="24" y="258"/>
                      </a:lnTo>
                      <a:lnTo>
                        <a:pt x="9" y="238"/>
                      </a:lnTo>
                      <a:lnTo>
                        <a:pt x="0" y="222"/>
                      </a:lnTo>
                      <a:lnTo>
                        <a:pt x="0" y="204"/>
                      </a:lnTo>
                      <a:lnTo>
                        <a:pt x="6" y="182"/>
                      </a:lnTo>
                      <a:lnTo>
                        <a:pt x="18" y="166"/>
                      </a:lnTo>
                      <a:lnTo>
                        <a:pt x="27" y="131"/>
                      </a:lnTo>
                      <a:lnTo>
                        <a:pt x="31" y="112"/>
                      </a:lnTo>
                      <a:lnTo>
                        <a:pt x="283" y="128"/>
                      </a:lnTo>
                      <a:lnTo>
                        <a:pt x="316" y="122"/>
                      </a:lnTo>
                      <a:lnTo>
                        <a:pt x="357" y="109"/>
                      </a:lnTo>
                      <a:lnTo>
                        <a:pt x="388" y="93"/>
                      </a:lnTo>
                      <a:lnTo>
                        <a:pt x="421" y="73"/>
                      </a:lnTo>
                      <a:lnTo>
                        <a:pt x="453" y="44"/>
                      </a:lnTo>
                      <a:lnTo>
                        <a:pt x="472" y="19"/>
                      </a:lnTo>
                      <a:lnTo>
                        <a:pt x="486" y="0"/>
                      </a:lnTo>
                      <a:lnTo>
                        <a:pt x="534" y="48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7" name="Freeform 23"/>
                <p:cNvSpPr>
                  <a:spLocks/>
                </p:cNvSpPr>
                <p:nvPr/>
              </p:nvSpPr>
              <p:spPr bwMode="ltGray">
                <a:xfrm>
                  <a:off x="5197" y="119"/>
                  <a:ext cx="475" cy="55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94"/>
                    </a:cxn>
                    <a:cxn ang="0">
                      <a:pos x="28" y="291"/>
                    </a:cxn>
                    <a:cxn ang="0">
                      <a:pos x="63" y="293"/>
                    </a:cxn>
                    <a:cxn ang="0">
                      <a:pos x="121" y="299"/>
                    </a:cxn>
                    <a:cxn ang="0">
                      <a:pos x="178" y="310"/>
                    </a:cxn>
                    <a:cxn ang="0">
                      <a:pos x="231" y="323"/>
                    </a:cxn>
                    <a:cxn ang="0">
                      <a:pos x="274" y="339"/>
                    </a:cxn>
                    <a:cxn ang="0">
                      <a:pos x="325" y="364"/>
                    </a:cxn>
                    <a:cxn ang="0">
                      <a:pos x="364" y="390"/>
                    </a:cxn>
                    <a:cxn ang="0">
                      <a:pos x="393" y="415"/>
                    </a:cxn>
                    <a:cxn ang="0">
                      <a:pos x="414" y="439"/>
                    </a:cxn>
                    <a:cxn ang="0">
                      <a:pos x="427" y="461"/>
                    </a:cxn>
                    <a:cxn ang="0">
                      <a:pos x="439" y="488"/>
                    </a:cxn>
                    <a:cxn ang="0">
                      <a:pos x="444" y="513"/>
                    </a:cxn>
                    <a:cxn ang="0">
                      <a:pos x="451" y="551"/>
                    </a:cxn>
                    <a:cxn ang="0">
                      <a:pos x="457" y="518"/>
                    </a:cxn>
                    <a:cxn ang="0">
                      <a:pos x="466" y="481"/>
                    </a:cxn>
                    <a:cxn ang="0">
                      <a:pos x="469" y="453"/>
                    </a:cxn>
                    <a:cxn ang="0">
                      <a:pos x="474" y="420"/>
                    </a:cxn>
                    <a:cxn ang="0">
                      <a:pos x="472" y="393"/>
                    </a:cxn>
                    <a:cxn ang="0">
                      <a:pos x="466" y="361"/>
                    </a:cxn>
                    <a:cxn ang="0">
                      <a:pos x="459" y="317"/>
                    </a:cxn>
                    <a:cxn ang="0">
                      <a:pos x="444" y="279"/>
                    </a:cxn>
                    <a:cxn ang="0">
                      <a:pos x="424" y="238"/>
                    </a:cxn>
                    <a:cxn ang="0">
                      <a:pos x="399" y="196"/>
                    </a:cxn>
                    <a:cxn ang="0">
                      <a:pos x="363" y="152"/>
                    </a:cxn>
                    <a:cxn ang="0">
                      <a:pos x="322" y="116"/>
                    </a:cxn>
                    <a:cxn ang="0">
                      <a:pos x="286" y="87"/>
                    </a:cxn>
                    <a:cxn ang="0">
                      <a:pos x="241" y="60"/>
                    </a:cxn>
                    <a:cxn ang="0">
                      <a:pos x="195" y="40"/>
                    </a:cxn>
                    <a:cxn ang="0">
                      <a:pos x="141" y="21"/>
                    </a:cxn>
                    <a:cxn ang="0">
                      <a:pos x="94" y="10"/>
                    </a:cxn>
                    <a:cxn ang="0">
                      <a:pos x="39" y="3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75" h="552">
                      <a:moveTo>
                        <a:pt x="0" y="0"/>
                      </a:moveTo>
                      <a:lnTo>
                        <a:pt x="0" y="294"/>
                      </a:lnTo>
                      <a:lnTo>
                        <a:pt x="28" y="291"/>
                      </a:lnTo>
                      <a:lnTo>
                        <a:pt x="63" y="293"/>
                      </a:lnTo>
                      <a:lnTo>
                        <a:pt x="121" y="299"/>
                      </a:lnTo>
                      <a:lnTo>
                        <a:pt x="178" y="310"/>
                      </a:lnTo>
                      <a:lnTo>
                        <a:pt x="231" y="323"/>
                      </a:lnTo>
                      <a:lnTo>
                        <a:pt x="274" y="339"/>
                      </a:lnTo>
                      <a:lnTo>
                        <a:pt x="325" y="364"/>
                      </a:lnTo>
                      <a:lnTo>
                        <a:pt x="364" y="390"/>
                      </a:lnTo>
                      <a:lnTo>
                        <a:pt x="393" y="415"/>
                      </a:lnTo>
                      <a:lnTo>
                        <a:pt x="414" y="439"/>
                      </a:lnTo>
                      <a:lnTo>
                        <a:pt x="427" y="461"/>
                      </a:lnTo>
                      <a:lnTo>
                        <a:pt x="439" y="488"/>
                      </a:lnTo>
                      <a:lnTo>
                        <a:pt x="444" y="513"/>
                      </a:lnTo>
                      <a:lnTo>
                        <a:pt x="451" y="551"/>
                      </a:lnTo>
                      <a:lnTo>
                        <a:pt x="457" y="518"/>
                      </a:lnTo>
                      <a:lnTo>
                        <a:pt x="466" y="481"/>
                      </a:lnTo>
                      <a:lnTo>
                        <a:pt x="469" y="453"/>
                      </a:lnTo>
                      <a:lnTo>
                        <a:pt x="474" y="420"/>
                      </a:lnTo>
                      <a:lnTo>
                        <a:pt x="472" y="393"/>
                      </a:lnTo>
                      <a:lnTo>
                        <a:pt x="466" y="361"/>
                      </a:lnTo>
                      <a:lnTo>
                        <a:pt x="459" y="317"/>
                      </a:lnTo>
                      <a:lnTo>
                        <a:pt x="444" y="279"/>
                      </a:lnTo>
                      <a:lnTo>
                        <a:pt x="424" y="238"/>
                      </a:lnTo>
                      <a:lnTo>
                        <a:pt x="399" y="196"/>
                      </a:lnTo>
                      <a:lnTo>
                        <a:pt x="363" y="152"/>
                      </a:lnTo>
                      <a:lnTo>
                        <a:pt x="322" y="116"/>
                      </a:lnTo>
                      <a:lnTo>
                        <a:pt x="286" y="87"/>
                      </a:lnTo>
                      <a:lnTo>
                        <a:pt x="241" y="60"/>
                      </a:lnTo>
                      <a:lnTo>
                        <a:pt x="195" y="40"/>
                      </a:lnTo>
                      <a:lnTo>
                        <a:pt x="141" y="21"/>
                      </a:lnTo>
                      <a:lnTo>
                        <a:pt x="94" y="10"/>
                      </a:lnTo>
                      <a:lnTo>
                        <a:pt x="39" y="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8" name="Freeform 24"/>
                <p:cNvSpPr>
                  <a:spLocks/>
                </p:cNvSpPr>
                <p:nvPr/>
              </p:nvSpPr>
              <p:spPr bwMode="ltGray">
                <a:xfrm>
                  <a:off x="5228" y="687"/>
                  <a:ext cx="156" cy="117"/>
                </a:xfrm>
                <a:custGeom>
                  <a:avLst/>
                  <a:gdLst/>
                  <a:ahLst/>
                  <a:cxnLst>
                    <a:cxn ang="0">
                      <a:pos x="83" y="0"/>
                    </a:cxn>
                    <a:cxn ang="0">
                      <a:pos x="134" y="19"/>
                    </a:cxn>
                    <a:cxn ang="0">
                      <a:pos x="152" y="45"/>
                    </a:cxn>
                    <a:cxn ang="0">
                      <a:pos x="155" y="70"/>
                    </a:cxn>
                    <a:cxn ang="0">
                      <a:pos x="155" y="83"/>
                    </a:cxn>
                    <a:cxn ang="0">
                      <a:pos x="146" y="99"/>
                    </a:cxn>
                    <a:cxn ang="0">
                      <a:pos x="126" y="107"/>
                    </a:cxn>
                    <a:cxn ang="0">
                      <a:pos x="105" y="113"/>
                    </a:cxn>
                    <a:cxn ang="0">
                      <a:pos x="86" y="116"/>
                    </a:cxn>
                    <a:cxn ang="0">
                      <a:pos x="69" y="116"/>
                    </a:cxn>
                    <a:cxn ang="0">
                      <a:pos x="41" y="111"/>
                    </a:cxn>
                    <a:cxn ang="0">
                      <a:pos x="21" y="106"/>
                    </a:cxn>
                    <a:cxn ang="0">
                      <a:pos x="9" y="98"/>
                    </a:cxn>
                    <a:cxn ang="0">
                      <a:pos x="2" y="89"/>
                    </a:cxn>
                    <a:cxn ang="0">
                      <a:pos x="0" y="78"/>
                    </a:cxn>
                    <a:cxn ang="0">
                      <a:pos x="2" y="60"/>
                    </a:cxn>
                    <a:cxn ang="0">
                      <a:pos x="9" y="11"/>
                    </a:cxn>
                    <a:cxn ang="0">
                      <a:pos x="83" y="0"/>
                    </a:cxn>
                  </a:cxnLst>
                  <a:rect l="0" t="0" r="r" b="b"/>
                  <a:pathLst>
                    <a:path w="156" h="117">
                      <a:moveTo>
                        <a:pt x="83" y="0"/>
                      </a:moveTo>
                      <a:lnTo>
                        <a:pt x="134" y="19"/>
                      </a:lnTo>
                      <a:lnTo>
                        <a:pt x="152" y="45"/>
                      </a:lnTo>
                      <a:lnTo>
                        <a:pt x="155" y="70"/>
                      </a:lnTo>
                      <a:lnTo>
                        <a:pt x="155" y="83"/>
                      </a:lnTo>
                      <a:lnTo>
                        <a:pt x="146" y="99"/>
                      </a:lnTo>
                      <a:lnTo>
                        <a:pt x="126" y="107"/>
                      </a:lnTo>
                      <a:lnTo>
                        <a:pt x="105" y="113"/>
                      </a:lnTo>
                      <a:lnTo>
                        <a:pt x="86" y="116"/>
                      </a:lnTo>
                      <a:lnTo>
                        <a:pt x="69" y="116"/>
                      </a:lnTo>
                      <a:lnTo>
                        <a:pt x="41" y="111"/>
                      </a:lnTo>
                      <a:lnTo>
                        <a:pt x="21" y="106"/>
                      </a:lnTo>
                      <a:lnTo>
                        <a:pt x="9" y="98"/>
                      </a:lnTo>
                      <a:lnTo>
                        <a:pt x="2" y="89"/>
                      </a:lnTo>
                      <a:lnTo>
                        <a:pt x="0" y="78"/>
                      </a:lnTo>
                      <a:lnTo>
                        <a:pt x="2" y="60"/>
                      </a:lnTo>
                      <a:lnTo>
                        <a:pt x="9" y="11"/>
                      </a:lnTo>
                      <a:lnTo>
                        <a:pt x="83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9" name="Freeform 25"/>
                <p:cNvSpPr>
                  <a:spLocks/>
                </p:cNvSpPr>
                <p:nvPr/>
              </p:nvSpPr>
              <p:spPr bwMode="ltGray">
                <a:xfrm>
                  <a:off x="5224" y="699"/>
                  <a:ext cx="88" cy="75"/>
                </a:xfrm>
                <a:custGeom>
                  <a:avLst/>
                  <a:gdLst/>
                  <a:ahLst/>
                  <a:cxnLst>
                    <a:cxn ang="0">
                      <a:pos x="0" y="69"/>
                    </a:cxn>
                    <a:cxn ang="0">
                      <a:pos x="11" y="0"/>
                    </a:cxn>
                    <a:cxn ang="0">
                      <a:pos x="54" y="5"/>
                    </a:cxn>
                    <a:cxn ang="0">
                      <a:pos x="87" y="9"/>
                    </a:cxn>
                    <a:cxn ang="0">
                      <a:pos x="78" y="74"/>
                    </a:cxn>
                    <a:cxn ang="0">
                      <a:pos x="75" y="59"/>
                    </a:cxn>
                    <a:cxn ang="0">
                      <a:pos x="65" y="48"/>
                    </a:cxn>
                    <a:cxn ang="0">
                      <a:pos x="47" y="44"/>
                    </a:cxn>
                    <a:cxn ang="0">
                      <a:pos x="27" y="45"/>
                    </a:cxn>
                    <a:cxn ang="0">
                      <a:pos x="11" y="52"/>
                    </a:cxn>
                    <a:cxn ang="0">
                      <a:pos x="0" y="69"/>
                    </a:cxn>
                  </a:cxnLst>
                  <a:rect l="0" t="0" r="r" b="b"/>
                  <a:pathLst>
                    <a:path w="88" h="75">
                      <a:moveTo>
                        <a:pt x="0" y="69"/>
                      </a:moveTo>
                      <a:lnTo>
                        <a:pt x="11" y="0"/>
                      </a:lnTo>
                      <a:lnTo>
                        <a:pt x="54" y="5"/>
                      </a:lnTo>
                      <a:lnTo>
                        <a:pt x="87" y="9"/>
                      </a:lnTo>
                      <a:lnTo>
                        <a:pt x="78" y="74"/>
                      </a:lnTo>
                      <a:lnTo>
                        <a:pt x="75" y="59"/>
                      </a:lnTo>
                      <a:lnTo>
                        <a:pt x="65" y="48"/>
                      </a:lnTo>
                      <a:lnTo>
                        <a:pt x="47" y="44"/>
                      </a:lnTo>
                      <a:lnTo>
                        <a:pt x="27" y="45"/>
                      </a:lnTo>
                      <a:lnTo>
                        <a:pt x="11" y="52"/>
                      </a:lnTo>
                      <a:lnTo>
                        <a:pt x="0" y="69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50" name="Freeform 26"/>
                <p:cNvSpPr>
                  <a:spLocks/>
                </p:cNvSpPr>
                <p:nvPr/>
              </p:nvSpPr>
              <p:spPr bwMode="ltGray">
                <a:xfrm>
                  <a:off x="5101" y="479"/>
                  <a:ext cx="319" cy="286"/>
                </a:xfrm>
                <a:custGeom>
                  <a:avLst/>
                  <a:gdLst/>
                  <a:ahLst/>
                  <a:cxnLst>
                    <a:cxn ang="0">
                      <a:pos x="1" y="275"/>
                    </a:cxn>
                    <a:cxn ang="0">
                      <a:pos x="3" y="254"/>
                    </a:cxn>
                    <a:cxn ang="0">
                      <a:pos x="12" y="235"/>
                    </a:cxn>
                    <a:cxn ang="0">
                      <a:pos x="19" y="219"/>
                    </a:cxn>
                    <a:cxn ang="0">
                      <a:pos x="24" y="194"/>
                    </a:cxn>
                    <a:cxn ang="0">
                      <a:pos x="30" y="161"/>
                    </a:cxn>
                    <a:cxn ang="0">
                      <a:pos x="34" y="126"/>
                    </a:cxn>
                    <a:cxn ang="0">
                      <a:pos x="37" y="94"/>
                    </a:cxn>
                    <a:cxn ang="0">
                      <a:pos x="39" y="67"/>
                    </a:cxn>
                    <a:cxn ang="0">
                      <a:pos x="40" y="43"/>
                    </a:cxn>
                    <a:cxn ang="0">
                      <a:pos x="48" y="29"/>
                    </a:cxn>
                    <a:cxn ang="0">
                      <a:pos x="63" y="16"/>
                    </a:cxn>
                    <a:cxn ang="0">
                      <a:pos x="78" y="9"/>
                    </a:cxn>
                    <a:cxn ang="0">
                      <a:pos x="102" y="2"/>
                    </a:cxn>
                    <a:cxn ang="0">
                      <a:pos x="129" y="0"/>
                    </a:cxn>
                    <a:cxn ang="0">
                      <a:pos x="171" y="0"/>
                    </a:cxn>
                    <a:cxn ang="0">
                      <a:pos x="208" y="2"/>
                    </a:cxn>
                    <a:cxn ang="0">
                      <a:pos x="244" y="9"/>
                    </a:cxn>
                    <a:cxn ang="0">
                      <a:pos x="277" y="21"/>
                    </a:cxn>
                    <a:cxn ang="0">
                      <a:pos x="298" y="35"/>
                    </a:cxn>
                    <a:cxn ang="0">
                      <a:pos x="310" y="47"/>
                    </a:cxn>
                    <a:cxn ang="0">
                      <a:pos x="318" y="61"/>
                    </a:cxn>
                    <a:cxn ang="0">
                      <a:pos x="316" y="75"/>
                    </a:cxn>
                    <a:cxn ang="0">
                      <a:pos x="313" y="89"/>
                    </a:cxn>
                    <a:cxn ang="0">
                      <a:pos x="303" y="104"/>
                    </a:cxn>
                    <a:cxn ang="0">
                      <a:pos x="295" y="123"/>
                    </a:cxn>
                    <a:cxn ang="0">
                      <a:pos x="291" y="149"/>
                    </a:cxn>
                    <a:cxn ang="0">
                      <a:pos x="288" y="176"/>
                    </a:cxn>
                    <a:cxn ang="0">
                      <a:pos x="283" y="200"/>
                    </a:cxn>
                    <a:cxn ang="0">
                      <a:pos x="282" y="235"/>
                    </a:cxn>
                    <a:cxn ang="0">
                      <a:pos x="280" y="265"/>
                    </a:cxn>
                    <a:cxn ang="0">
                      <a:pos x="280" y="285"/>
                    </a:cxn>
                    <a:cxn ang="0">
                      <a:pos x="270" y="260"/>
                    </a:cxn>
                    <a:cxn ang="0">
                      <a:pos x="250" y="248"/>
                    </a:cxn>
                    <a:cxn ang="0">
                      <a:pos x="232" y="241"/>
                    </a:cxn>
                    <a:cxn ang="0">
                      <a:pos x="210" y="236"/>
                    </a:cxn>
                    <a:cxn ang="0">
                      <a:pos x="175" y="229"/>
                    </a:cxn>
                    <a:cxn ang="0">
                      <a:pos x="141" y="228"/>
                    </a:cxn>
                    <a:cxn ang="0">
                      <a:pos x="121" y="228"/>
                    </a:cxn>
                    <a:cxn ang="0">
                      <a:pos x="90" y="230"/>
                    </a:cxn>
                    <a:cxn ang="0">
                      <a:pos x="54" y="237"/>
                    </a:cxn>
                    <a:cxn ang="0">
                      <a:pos x="31" y="246"/>
                    </a:cxn>
                    <a:cxn ang="0">
                      <a:pos x="16" y="255"/>
                    </a:cxn>
                    <a:cxn ang="0">
                      <a:pos x="0" y="268"/>
                    </a:cxn>
                  </a:cxnLst>
                  <a:rect l="0" t="0" r="r" b="b"/>
                  <a:pathLst>
                    <a:path w="319" h="286">
                      <a:moveTo>
                        <a:pt x="1" y="275"/>
                      </a:moveTo>
                      <a:lnTo>
                        <a:pt x="3" y="254"/>
                      </a:lnTo>
                      <a:lnTo>
                        <a:pt x="12" y="235"/>
                      </a:lnTo>
                      <a:lnTo>
                        <a:pt x="19" y="219"/>
                      </a:lnTo>
                      <a:lnTo>
                        <a:pt x="24" y="194"/>
                      </a:lnTo>
                      <a:lnTo>
                        <a:pt x="30" y="161"/>
                      </a:lnTo>
                      <a:lnTo>
                        <a:pt x="34" y="126"/>
                      </a:lnTo>
                      <a:lnTo>
                        <a:pt x="37" y="94"/>
                      </a:lnTo>
                      <a:lnTo>
                        <a:pt x="39" y="67"/>
                      </a:lnTo>
                      <a:lnTo>
                        <a:pt x="40" y="43"/>
                      </a:lnTo>
                      <a:lnTo>
                        <a:pt x="48" y="29"/>
                      </a:lnTo>
                      <a:lnTo>
                        <a:pt x="63" y="16"/>
                      </a:lnTo>
                      <a:lnTo>
                        <a:pt x="78" y="9"/>
                      </a:lnTo>
                      <a:lnTo>
                        <a:pt x="102" y="2"/>
                      </a:lnTo>
                      <a:lnTo>
                        <a:pt x="129" y="0"/>
                      </a:lnTo>
                      <a:lnTo>
                        <a:pt x="171" y="0"/>
                      </a:lnTo>
                      <a:lnTo>
                        <a:pt x="208" y="2"/>
                      </a:lnTo>
                      <a:lnTo>
                        <a:pt x="244" y="9"/>
                      </a:lnTo>
                      <a:lnTo>
                        <a:pt x="277" y="21"/>
                      </a:lnTo>
                      <a:lnTo>
                        <a:pt x="298" y="35"/>
                      </a:lnTo>
                      <a:lnTo>
                        <a:pt x="310" y="47"/>
                      </a:lnTo>
                      <a:lnTo>
                        <a:pt x="318" y="61"/>
                      </a:lnTo>
                      <a:lnTo>
                        <a:pt x="316" y="75"/>
                      </a:lnTo>
                      <a:lnTo>
                        <a:pt x="313" y="89"/>
                      </a:lnTo>
                      <a:lnTo>
                        <a:pt x="303" y="104"/>
                      </a:lnTo>
                      <a:lnTo>
                        <a:pt x="295" y="123"/>
                      </a:lnTo>
                      <a:lnTo>
                        <a:pt x="291" y="149"/>
                      </a:lnTo>
                      <a:lnTo>
                        <a:pt x="288" y="176"/>
                      </a:lnTo>
                      <a:lnTo>
                        <a:pt x="283" y="200"/>
                      </a:lnTo>
                      <a:lnTo>
                        <a:pt x="282" y="235"/>
                      </a:lnTo>
                      <a:lnTo>
                        <a:pt x="280" y="265"/>
                      </a:lnTo>
                      <a:lnTo>
                        <a:pt x="280" y="285"/>
                      </a:lnTo>
                      <a:lnTo>
                        <a:pt x="270" y="260"/>
                      </a:lnTo>
                      <a:lnTo>
                        <a:pt x="250" y="248"/>
                      </a:lnTo>
                      <a:lnTo>
                        <a:pt x="232" y="241"/>
                      </a:lnTo>
                      <a:lnTo>
                        <a:pt x="210" y="236"/>
                      </a:lnTo>
                      <a:lnTo>
                        <a:pt x="175" y="229"/>
                      </a:lnTo>
                      <a:lnTo>
                        <a:pt x="141" y="228"/>
                      </a:lnTo>
                      <a:lnTo>
                        <a:pt x="121" y="228"/>
                      </a:lnTo>
                      <a:lnTo>
                        <a:pt x="90" y="230"/>
                      </a:lnTo>
                      <a:lnTo>
                        <a:pt x="54" y="237"/>
                      </a:lnTo>
                      <a:lnTo>
                        <a:pt x="31" y="246"/>
                      </a:lnTo>
                      <a:lnTo>
                        <a:pt x="16" y="255"/>
                      </a:lnTo>
                      <a:lnTo>
                        <a:pt x="0" y="268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51" name="Freeform 27"/>
                <p:cNvSpPr>
                  <a:spLocks/>
                </p:cNvSpPr>
                <p:nvPr/>
              </p:nvSpPr>
              <p:spPr bwMode="ltGray">
                <a:xfrm>
                  <a:off x="4371" y="119"/>
                  <a:ext cx="832" cy="42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356"/>
                    </a:cxn>
                    <a:cxn ang="0">
                      <a:pos x="84" y="374"/>
                    </a:cxn>
                    <a:cxn ang="0">
                      <a:pos x="153" y="393"/>
                    </a:cxn>
                    <a:cxn ang="0">
                      <a:pos x="210" y="404"/>
                    </a:cxn>
                    <a:cxn ang="0">
                      <a:pos x="258" y="410"/>
                    </a:cxn>
                    <a:cxn ang="0">
                      <a:pos x="312" y="416"/>
                    </a:cxn>
                    <a:cxn ang="0">
                      <a:pos x="402" y="419"/>
                    </a:cxn>
                    <a:cxn ang="0">
                      <a:pos x="485" y="412"/>
                    </a:cxn>
                    <a:cxn ang="0">
                      <a:pos x="570" y="399"/>
                    </a:cxn>
                    <a:cxn ang="0">
                      <a:pos x="652" y="377"/>
                    </a:cxn>
                    <a:cxn ang="0">
                      <a:pos x="724" y="347"/>
                    </a:cxn>
                    <a:cxn ang="0">
                      <a:pos x="784" y="306"/>
                    </a:cxn>
                    <a:cxn ang="0">
                      <a:pos x="829" y="291"/>
                    </a:cxn>
                    <a:cxn ang="0">
                      <a:pos x="831" y="2"/>
                    </a:cxn>
                    <a:cxn ang="0">
                      <a:pos x="786" y="9"/>
                    </a:cxn>
                    <a:cxn ang="0">
                      <a:pos x="726" y="29"/>
                    </a:cxn>
                    <a:cxn ang="0">
                      <a:pos x="654" y="55"/>
                    </a:cxn>
                    <a:cxn ang="0">
                      <a:pos x="585" y="70"/>
                    </a:cxn>
                    <a:cxn ang="0">
                      <a:pos x="515" y="78"/>
                    </a:cxn>
                    <a:cxn ang="0">
                      <a:pos x="468" y="82"/>
                    </a:cxn>
                    <a:cxn ang="0">
                      <a:pos x="428" y="84"/>
                    </a:cxn>
                    <a:cxn ang="0">
                      <a:pos x="358" y="84"/>
                    </a:cxn>
                    <a:cxn ang="0">
                      <a:pos x="314" y="81"/>
                    </a:cxn>
                    <a:cxn ang="0">
                      <a:pos x="274" y="76"/>
                    </a:cxn>
                    <a:cxn ang="0">
                      <a:pos x="229" y="73"/>
                    </a:cxn>
                    <a:cxn ang="0">
                      <a:pos x="190" y="66"/>
                    </a:cxn>
                    <a:cxn ang="0">
                      <a:pos x="140" y="57"/>
                    </a:cxn>
                    <a:cxn ang="0">
                      <a:pos x="96" y="44"/>
                    </a:cxn>
                    <a:cxn ang="0">
                      <a:pos x="49" y="24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832" h="420">
                      <a:moveTo>
                        <a:pt x="0" y="0"/>
                      </a:moveTo>
                      <a:lnTo>
                        <a:pt x="0" y="356"/>
                      </a:lnTo>
                      <a:lnTo>
                        <a:pt x="84" y="374"/>
                      </a:lnTo>
                      <a:lnTo>
                        <a:pt x="153" y="393"/>
                      </a:lnTo>
                      <a:lnTo>
                        <a:pt x="210" y="404"/>
                      </a:lnTo>
                      <a:lnTo>
                        <a:pt x="258" y="410"/>
                      </a:lnTo>
                      <a:lnTo>
                        <a:pt x="312" y="416"/>
                      </a:lnTo>
                      <a:lnTo>
                        <a:pt x="402" y="419"/>
                      </a:lnTo>
                      <a:lnTo>
                        <a:pt x="485" y="412"/>
                      </a:lnTo>
                      <a:lnTo>
                        <a:pt x="570" y="399"/>
                      </a:lnTo>
                      <a:lnTo>
                        <a:pt x="652" y="377"/>
                      </a:lnTo>
                      <a:lnTo>
                        <a:pt x="724" y="347"/>
                      </a:lnTo>
                      <a:lnTo>
                        <a:pt x="784" y="306"/>
                      </a:lnTo>
                      <a:lnTo>
                        <a:pt x="829" y="291"/>
                      </a:lnTo>
                      <a:lnTo>
                        <a:pt x="831" y="2"/>
                      </a:lnTo>
                      <a:lnTo>
                        <a:pt x="786" y="9"/>
                      </a:lnTo>
                      <a:lnTo>
                        <a:pt x="726" y="29"/>
                      </a:lnTo>
                      <a:lnTo>
                        <a:pt x="654" y="55"/>
                      </a:lnTo>
                      <a:lnTo>
                        <a:pt x="585" y="70"/>
                      </a:lnTo>
                      <a:lnTo>
                        <a:pt x="515" y="78"/>
                      </a:lnTo>
                      <a:lnTo>
                        <a:pt x="468" y="82"/>
                      </a:lnTo>
                      <a:lnTo>
                        <a:pt x="428" y="84"/>
                      </a:lnTo>
                      <a:lnTo>
                        <a:pt x="358" y="84"/>
                      </a:lnTo>
                      <a:lnTo>
                        <a:pt x="314" y="81"/>
                      </a:lnTo>
                      <a:lnTo>
                        <a:pt x="274" y="76"/>
                      </a:lnTo>
                      <a:lnTo>
                        <a:pt x="229" y="73"/>
                      </a:lnTo>
                      <a:lnTo>
                        <a:pt x="190" y="66"/>
                      </a:lnTo>
                      <a:lnTo>
                        <a:pt x="140" y="57"/>
                      </a:lnTo>
                      <a:lnTo>
                        <a:pt x="96" y="44"/>
                      </a:lnTo>
                      <a:lnTo>
                        <a:pt x="49" y="2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</p:grpSp>
          <p:sp>
            <p:nvSpPr>
              <p:cNvPr id="1053" name="Freeform 29"/>
              <p:cNvSpPr>
                <a:spLocks/>
              </p:cNvSpPr>
              <p:nvPr/>
            </p:nvSpPr>
            <p:spPr bwMode="ltGray">
              <a:xfrm>
                <a:off x="5217" y="774"/>
                <a:ext cx="156" cy="118"/>
              </a:xfrm>
              <a:custGeom>
                <a:avLst/>
                <a:gdLst/>
                <a:ahLst/>
                <a:cxnLst>
                  <a:cxn ang="0">
                    <a:pos x="83" y="0"/>
                  </a:cxn>
                  <a:cxn ang="0">
                    <a:pos x="134" y="19"/>
                  </a:cxn>
                  <a:cxn ang="0">
                    <a:pos x="152" y="46"/>
                  </a:cxn>
                  <a:cxn ang="0">
                    <a:pos x="155" y="70"/>
                  </a:cxn>
                  <a:cxn ang="0">
                    <a:pos x="155" y="84"/>
                  </a:cxn>
                  <a:cxn ang="0">
                    <a:pos x="146" y="100"/>
                  </a:cxn>
                  <a:cxn ang="0">
                    <a:pos x="126" y="108"/>
                  </a:cxn>
                  <a:cxn ang="0">
                    <a:pos x="105" y="114"/>
                  </a:cxn>
                  <a:cxn ang="0">
                    <a:pos x="86" y="117"/>
                  </a:cxn>
                  <a:cxn ang="0">
                    <a:pos x="69" y="117"/>
                  </a:cxn>
                  <a:cxn ang="0">
                    <a:pos x="41" y="112"/>
                  </a:cxn>
                  <a:cxn ang="0">
                    <a:pos x="21" y="107"/>
                  </a:cxn>
                  <a:cxn ang="0">
                    <a:pos x="9" y="98"/>
                  </a:cxn>
                  <a:cxn ang="0">
                    <a:pos x="2" y="90"/>
                  </a:cxn>
                  <a:cxn ang="0">
                    <a:pos x="0" y="78"/>
                  </a:cxn>
                  <a:cxn ang="0">
                    <a:pos x="2" y="60"/>
                  </a:cxn>
                  <a:cxn ang="0">
                    <a:pos x="9" y="11"/>
                  </a:cxn>
                  <a:cxn ang="0">
                    <a:pos x="83" y="0"/>
                  </a:cxn>
                </a:cxnLst>
                <a:rect l="0" t="0" r="r" b="b"/>
                <a:pathLst>
                  <a:path w="156" h="118">
                    <a:moveTo>
                      <a:pt x="83" y="0"/>
                    </a:moveTo>
                    <a:lnTo>
                      <a:pt x="134" y="19"/>
                    </a:lnTo>
                    <a:lnTo>
                      <a:pt x="152" y="46"/>
                    </a:lnTo>
                    <a:lnTo>
                      <a:pt x="155" y="70"/>
                    </a:lnTo>
                    <a:lnTo>
                      <a:pt x="155" y="84"/>
                    </a:lnTo>
                    <a:lnTo>
                      <a:pt x="146" y="100"/>
                    </a:lnTo>
                    <a:lnTo>
                      <a:pt x="126" y="108"/>
                    </a:lnTo>
                    <a:lnTo>
                      <a:pt x="105" y="114"/>
                    </a:lnTo>
                    <a:lnTo>
                      <a:pt x="86" y="117"/>
                    </a:lnTo>
                    <a:lnTo>
                      <a:pt x="69" y="117"/>
                    </a:lnTo>
                    <a:lnTo>
                      <a:pt x="41" y="112"/>
                    </a:lnTo>
                    <a:lnTo>
                      <a:pt x="21" y="107"/>
                    </a:lnTo>
                    <a:lnTo>
                      <a:pt x="9" y="98"/>
                    </a:lnTo>
                    <a:lnTo>
                      <a:pt x="2" y="90"/>
                    </a:lnTo>
                    <a:lnTo>
                      <a:pt x="0" y="78"/>
                    </a:lnTo>
                    <a:lnTo>
                      <a:pt x="2" y="60"/>
                    </a:lnTo>
                    <a:lnTo>
                      <a:pt x="9" y="11"/>
                    </a:lnTo>
                    <a:lnTo>
                      <a:pt x="83" y="0"/>
                    </a:lnTo>
                  </a:path>
                </a:pathLst>
              </a:custGeom>
              <a:solidFill>
                <a:schemeClr val="bg2">
                  <a:alpha val="50000"/>
                </a:schemeClr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54" name="Freeform 30"/>
              <p:cNvSpPr>
                <a:spLocks/>
              </p:cNvSpPr>
              <p:nvPr/>
            </p:nvSpPr>
            <p:spPr bwMode="ltGray">
              <a:xfrm>
                <a:off x="5213" y="787"/>
                <a:ext cx="88" cy="74"/>
              </a:xfrm>
              <a:custGeom>
                <a:avLst/>
                <a:gdLst/>
                <a:ahLst/>
                <a:cxnLst>
                  <a:cxn ang="0">
                    <a:pos x="0" y="68"/>
                  </a:cxn>
                  <a:cxn ang="0">
                    <a:pos x="11" y="0"/>
                  </a:cxn>
                  <a:cxn ang="0">
                    <a:pos x="54" y="5"/>
                  </a:cxn>
                  <a:cxn ang="0">
                    <a:pos x="87" y="9"/>
                  </a:cxn>
                  <a:cxn ang="0">
                    <a:pos x="78" y="73"/>
                  </a:cxn>
                  <a:cxn ang="0">
                    <a:pos x="75" y="58"/>
                  </a:cxn>
                  <a:cxn ang="0">
                    <a:pos x="65" y="47"/>
                  </a:cxn>
                  <a:cxn ang="0">
                    <a:pos x="47" y="44"/>
                  </a:cxn>
                  <a:cxn ang="0">
                    <a:pos x="27" y="45"/>
                  </a:cxn>
                  <a:cxn ang="0">
                    <a:pos x="11" y="52"/>
                  </a:cxn>
                  <a:cxn ang="0">
                    <a:pos x="0" y="68"/>
                  </a:cxn>
                </a:cxnLst>
                <a:rect l="0" t="0" r="r" b="b"/>
                <a:pathLst>
                  <a:path w="88" h="74">
                    <a:moveTo>
                      <a:pt x="0" y="68"/>
                    </a:moveTo>
                    <a:lnTo>
                      <a:pt x="11" y="0"/>
                    </a:lnTo>
                    <a:lnTo>
                      <a:pt x="54" y="5"/>
                    </a:lnTo>
                    <a:lnTo>
                      <a:pt x="87" y="9"/>
                    </a:lnTo>
                    <a:lnTo>
                      <a:pt x="78" y="73"/>
                    </a:lnTo>
                    <a:lnTo>
                      <a:pt x="75" y="58"/>
                    </a:lnTo>
                    <a:lnTo>
                      <a:pt x="65" y="47"/>
                    </a:lnTo>
                    <a:lnTo>
                      <a:pt x="47" y="44"/>
                    </a:lnTo>
                    <a:lnTo>
                      <a:pt x="27" y="45"/>
                    </a:lnTo>
                    <a:lnTo>
                      <a:pt x="11" y="52"/>
                    </a:lnTo>
                    <a:lnTo>
                      <a:pt x="0" y="68"/>
                    </a:lnTo>
                  </a:path>
                </a:pathLst>
              </a:custGeom>
              <a:solidFill>
                <a:schemeClr val="bg2">
                  <a:alpha val="50000"/>
                </a:schemeClr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55" name="Freeform 31"/>
              <p:cNvSpPr>
                <a:spLocks/>
              </p:cNvSpPr>
              <p:nvPr/>
            </p:nvSpPr>
            <p:spPr bwMode="ltGray">
              <a:xfrm>
                <a:off x="423" y="765"/>
                <a:ext cx="156" cy="118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21" y="19"/>
                  </a:cxn>
                  <a:cxn ang="0">
                    <a:pos x="3" y="46"/>
                  </a:cxn>
                  <a:cxn ang="0">
                    <a:pos x="0" y="70"/>
                  </a:cxn>
                  <a:cxn ang="0">
                    <a:pos x="0" y="84"/>
                  </a:cxn>
                  <a:cxn ang="0">
                    <a:pos x="9" y="100"/>
                  </a:cxn>
                  <a:cxn ang="0">
                    <a:pos x="29" y="108"/>
                  </a:cxn>
                  <a:cxn ang="0">
                    <a:pos x="50" y="114"/>
                  </a:cxn>
                  <a:cxn ang="0">
                    <a:pos x="69" y="117"/>
                  </a:cxn>
                  <a:cxn ang="0">
                    <a:pos x="86" y="117"/>
                  </a:cxn>
                  <a:cxn ang="0">
                    <a:pos x="114" y="112"/>
                  </a:cxn>
                  <a:cxn ang="0">
                    <a:pos x="134" y="107"/>
                  </a:cxn>
                  <a:cxn ang="0">
                    <a:pos x="146" y="98"/>
                  </a:cxn>
                  <a:cxn ang="0">
                    <a:pos x="153" y="90"/>
                  </a:cxn>
                  <a:cxn ang="0">
                    <a:pos x="155" y="78"/>
                  </a:cxn>
                  <a:cxn ang="0">
                    <a:pos x="153" y="60"/>
                  </a:cxn>
                  <a:cxn ang="0">
                    <a:pos x="146" y="11"/>
                  </a:cxn>
                  <a:cxn ang="0">
                    <a:pos x="72" y="0"/>
                  </a:cxn>
                </a:cxnLst>
                <a:rect l="0" t="0" r="r" b="b"/>
                <a:pathLst>
                  <a:path w="156" h="118">
                    <a:moveTo>
                      <a:pt x="72" y="0"/>
                    </a:moveTo>
                    <a:lnTo>
                      <a:pt x="21" y="19"/>
                    </a:lnTo>
                    <a:lnTo>
                      <a:pt x="3" y="46"/>
                    </a:lnTo>
                    <a:lnTo>
                      <a:pt x="0" y="70"/>
                    </a:lnTo>
                    <a:lnTo>
                      <a:pt x="0" y="84"/>
                    </a:lnTo>
                    <a:lnTo>
                      <a:pt x="9" y="100"/>
                    </a:lnTo>
                    <a:lnTo>
                      <a:pt x="29" y="108"/>
                    </a:lnTo>
                    <a:lnTo>
                      <a:pt x="50" y="114"/>
                    </a:lnTo>
                    <a:lnTo>
                      <a:pt x="69" y="117"/>
                    </a:lnTo>
                    <a:lnTo>
                      <a:pt x="86" y="117"/>
                    </a:lnTo>
                    <a:lnTo>
                      <a:pt x="114" y="112"/>
                    </a:lnTo>
                    <a:lnTo>
                      <a:pt x="134" y="107"/>
                    </a:lnTo>
                    <a:lnTo>
                      <a:pt x="146" y="98"/>
                    </a:lnTo>
                    <a:lnTo>
                      <a:pt x="153" y="90"/>
                    </a:lnTo>
                    <a:lnTo>
                      <a:pt x="155" y="78"/>
                    </a:lnTo>
                    <a:lnTo>
                      <a:pt x="153" y="60"/>
                    </a:lnTo>
                    <a:lnTo>
                      <a:pt x="146" y="11"/>
                    </a:lnTo>
                    <a:lnTo>
                      <a:pt x="72" y="0"/>
                    </a:lnTo>
                  </a:path>
                </a:pathLst>
              </a:custGeom>
              <a:solidFill>
                <a:schemeClr val="bg2">
                  <a:alpha val="50000"/>
                </a:schemeClr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56" name="Freeform 32"/>
              <p:cNvSpPr>
                <a:spLocks/>
              </p:cNvSpPr>
              <p:nvPr/>
            </p:nvSpPr>
            <p:spPr bwMode="ltGray">
              <a:xfrm>
                <a:off x="495" y="779"/>
                <a:ext cx="88" cy="74"/>
              </a:xfrm>
              <a:custGeom>
                <a:avLst/>
                <a:gdLst/>
                <a:ahLst/>
                <a:cxnLst>
                  <a:cxn ang="0">
                    <a:pos x="87" y="67"/>
                  </a:cxn>
                  <a:cxn ang="0">
                    <a:pos x="76" y="0"/>
                  </a:cxn>
                  <a:cxn ang="0">
                    <a:pos x="33" y="5"/>
                  </a:cxn>
                  <a:cxn ang="0">
                    <a:pos x="0" y="8"/>
                  </a:cxn>
                  <a:cxn ang="0">
                    <a:pos x="9" y="73"/>
                  </a:cxn>
                  <a:cxn ang="0">
                    <a:pos x="12" y="57"/>
                  </a:cxn>
                  <a:cxn ang="0">
                    <a:pos x="22" y="47"/>
                  </a:cxn>
                  <a:cxn ang="0">
                    <a:pos x="40" y="43"/>
                  </a:cxn>
                  <a:cxn ang="0">
                    <a:pos x="60" y="44"/>
                  </a:cxn>
                  <a:cxn ang="0">
                    <a:pos x="76" y="51"/>
                  </a:cxn>
                  <a:cxn ang="0">
                    <a:pos x="87" y="67"/>
                  </a:cxn>
                </a:cxnLst>
                <a:rect l="0" t="0" r="r" b="b"/>
                <a:pathLst>
                  <a:path w="88" h="74">
                    <a:moveTo>
                      <a:pt x="87" y="67"/>
                    </a:moveTo>
                    <a:lnTo>
                      <a:pt x="76" y="0"/>
                    </a:lnTo>
                    <a:lnTo>
                      <a:pt x="33" y="5"/>
                    </a:lnTo>
                    <a:lnTo>
                      <a:pt x="0" y="8"/>
                    </a:lnTo>
                    <a:lnTo>
                      <a:pt x="9" y="73"/>
                    </a:lnTo>
                    <a:lnTo>
                      <a:pt x="12" y="57"/>
                    </a:lnTo>
                    <a:lnTo>
                      <a:pt x="22" y="47"/>
                    </a:lnTo>
                    <a:lnTo>
                      <a:pt x="40" y="43"/>
                    </a:lnTo>
                    <a:lnTo>
                      <a:pt x="60" y="44"/>
                    </a:lnTo>
                    <a:lnTo>
                      <a:pt x="76" y="51"/>
                    </a:lnTo>
                    <a:lnTo>
                      <a:pt x="87" y="67"/>
                    </a:lnTo>
                  </a:path>
                </a:pathLst>
              </a:custGeom>
              <a:solidFill>
                <a:schemeClr val="bg2">
                  <a:alpha val="50000"/>
                </a:schemeClr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57" name="Line 33"/>
              <p:cNvSpPr>
                <a:spLocks noChangeShapeType="1"/>
              </p:cNvSpPr>
              <p:nvPr/>
            </p:nvSpPr>
            <p:spPr bwMode="ltGray">
              <a:xfrm flipV="1">
                <a:off x="1968" y="350"/>
                <a:ext cx="192" cy="87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58" name="Freeform 34"/>
              <p:cNvSpPr>
                <a:spLocks/>
              </p:cNvSpPr>
              <p:nvPr/>
            </p:nvSpPr>
            <p:spPr bwMode="ltGray">
              <a:xfrm>
                <a:off x="1356" y="63"/>
                <a:ext cx="2967" cy="457"/>
              </a:xfrm>
              <a:custGeom>
                <a:avLst/>
                <a:gdLst/>
                <a:ahLst/>
                <a:cxnLst>
                  <a:cxn ang="0">
                    <a:pos x="0" y="122"/>
                  </a:cxn>
                  <a:cxn ang="0">
                    <a:pos x="207" y="78"/>
                  </a:cxn>
                  <a:cxn ang="0">
                    <a:pos x="442" y="48"/>
                  </a:cxn>
                  <a:cxn ang="0">
                    <a:pos x="640" y="32"/>
                  </a:cxn>
                  <a:cxn ang="0">
                    <a:pos x="897" y="16"/>
                  </a:cxn>
                  <a:cxn ang="0">
                    <a:pos x="1215" y="2"/>
                  </a:cxn>
                  <a:cxn ang="0">
                    <a:pos x="1392" y="0"/>
                  </a:cxn>
                  <a:cxn ang="0">
                    <a:pos x="1710" y="0"/>
                  </a:cxn>
                  <a:cxn ang="0">
                    <a:pos x="1997" y="10"/>
                  </a:cxn>
                  <a:cxn ang="0">
                    <a:pos x="2258" y="21"/>
                  </a:cxn>
                  <a:cxn ang="0">
                    <a:pos x="2493" y="38"/>
                  </a:cxn>
                  <a:cxn ang="0">
                    <a:pos x="2674" y="54"/>
                  </a:cxn>
                  <a:cxn ang="0">
                    <a:pos x="2828" y="73"/>
                  </a:cxn>
                  <a:cxn ang="0">
                    <a:pos x="2966" y="92"/>
                  </a:cxn>
                  <a:cxn ang="0">
                    <a:pos x="2966" y="456"/>
                  </a:cxn>
                  <a:cxn ang="0">
                    <a:pos x="2833" y="434"/>
                  </a:cxn>
                  <a:cxn ang="0">
                    <a:pos x="2563" y="399"/>
                  </a:cxn>
                  <a:cxn ang="0">
                    <a:pos x="2382" y="382"/>
                  </a:cxn>
                  <a:cxn ang="0">
                    <a:pos x="2134" y="366"/>
                  </a:cxn>
                  <a:cxn ang="0">
                    <a:pos x="1944" y="358"/>
                  </a:cxn>
                  <a:cxn ang="0">
                    <a:pos x="1746" y="350"/>
                  </a:cxn>
                  <a:cxn ang="0">
                    <a:pos x="1529" y="350"/>
                  </a:cxn>
                  <a:cxn ang="0">
                    <a:pos x="1295" y="350"/>
                  </a:cxn>
                  <a:cxn ang="0">
                    <a:pos x="1047" y="355"/>
                  </a:cxn>
                  <a:cxn ang="0">
                    <a:pos x="853" y="363"/>
                  </a:cxn>
                  <a:cxn ang="0">
                    <a:pos x="654" y="374"/>
                  </a:cxn>
                  <a:cxn ang="0">
                    <a:pos x="468" y="388"/>
                  </a:cxn>
                  <a:cxn ang="0">
                    <a:pos x="296" y="404"/>
                  </a:cxn>
                  <a:cxn ang="0">
                    <a:pos x="150" y="423"/>
                  </a:cxn>
                  <a:cxn ang="0">
                    <a:pos x="13" y="445"/>
                  </a:cxn>
                  <a:cxn ang="0">
                    <a:pos x="0" y="122"/>
                  </a:cxn>
                </a:cxnLst>
                <a:rect l="0" t="0" r="r" b="b"/>
                <a:pathLst>
                  <a:path w="2967" h="457">
                    <a:moveTo>
                      <a:pt x="0" y="122"/>
                    </a:moveTo>
                    <a:lnTo>
                      <a:pt x="207" y="78"/>
                    </a:lnTo>
                    <a:lnTo>
                      <a:pt x="442" y="48"/>
                    </a:lnTo>
                    <a:lnTo>
                      <a:pt x="640" y="32"/>
                    </a:lnTo>
                    <a:lnTo>
                      <a:pt x="897" y="16"/>
                    </a:lnTo>
                    <a:lnTo>
                      <a:pt x="1215" y="2"/>
                    </a:lnTo>
                    <a:lnTo>
                      <a:pt x="1392" y="0"/>
                    </a:lnTo>
                    <a:lnTo>
                      <a:pt x="1710" y="0"/>
                    </a:lnTo>
                    <a:lnTo>
                      <a:pt x="1997" y="10"/>
                    </a:lnTo>
                    <a:lnTo>
                      <a:pt x="2258" y="21"/>
                    </a:lnTo>
                    <a:lnTo>
                      <a:pt x="2493" y="38"/>
                    </a:lnTo>
                    <a:lnTo>
                      <a:pt x="2674" y="54"/>
                    </a:lnTo>
                    <a:lnTo>
                      <a:pt x="2828" y="73"/>
                    </a:lnTo>
                    <a:lnTo>
                      <a:pt x="2966" y="92"/>
                    </a:lnTo>
                    <a:lnTo>
                      <a:pt x="2966" y="456"/>
                    </a:lnTo>
                    <a:lnTo>
                      <a:pt x="2833" y="434"/>
                    </a:lnTo>
                    <a:lnTo>
                      <a:pt x="2563" y="399"/>
                    </a:lnTo>
                    <a:lnTo>
                      <a:pt x="2382" y="382"/>
                    </a:lnTo>
                    <a:lnTo>
                      <a:pt x="2134" y="366"/>
                    </a:lnTo>
                    <a:lnTo>
                      <a:pt x="1944" y="358"/>
                    </a:lnTo>
                    <a:lnTo>
                      <a:pt x="1746" y="350"/>
                    </a:lnTo>
                    <a:lnTo>
                      <a:pt x="1529" y="350"/>
                    </a:lnTo>
                    <a:lnTo>
                      <a:pt x="1295" y="350"/>
                    </a:lnTo>
                    <a:lnTo>
                      <a:pt x="1047" y="355"/>
                    </a:lnTo>
                    <a:lnTo>
                      <a:pt x="853" y="363"/>
                    </a:lnTo>
                    <a:lnTo>
                      <a:pt x="654" y="374"/>
                    </a:lnTo>
                    <a:lnTo>
                      <a:pt x="468" y="388"/>
                    </a:lnTo>
                    <a:lnTo>
                      <a:pt x="296" y="404"/>
                    </a:lnTo>
                    <a:lnTo>
                      <a:pt x="150" y="423"/>
                    </a:lnTo>
                    <a:lnTo>
                      <a:pt x="13" y="445"/>
                    </a:lnTo>
                    <a:lnTo>
                      <a:pt x="0" y="122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59" name="Freeform 35"/>
              <p:cNvSpPr>
                <a:spLocks/>
              </p:cNvSpPr>
              <p:nvPr/>
            </p:nvSpPr>
            <p:spPr bwMode="ltGray">
              <a:xfrm>
                <a:off x="555" y="159"/>
                <a:ext cx="823" cy="431"/>
              </a:xfrm>
              <a:custGeom>
                <a:avLst/>
                <a:gdLst/>
                <a:ahLst/>
                <a:cxnLst>
                  <a:cxn ang="0">
                    <a:pos x="815" y="27"/>
                  </a:cxn>
                  <a:cxn ang="0">
                    <a:pos x="822" y="350"/>
                  </a:cxn>
                  <a:cxn ang="0">
                    <a:pos x="746" y="382"/>
                  </a:cxn>
                  <a:cxn ang="0">
                    <a:pos x="676" y="404"/>
                  </a:cxn>
                  <a:cxn ang="0">
                    <a:pos x="619" y="415"/>
                  </a:cxn>
                  <a:cxn ang="0">
                    <a:pos x="571" y="421"/>
                  </a:cxn>
                  <a:cxn ang="0">
                    <a:pos x="517" y="427"/>
                  </a:cxn>
                  <a:cxn ang="0">
                    <a:pos x="427" y="430"/>
                  </a:cxn>
                  <a:cxn ang="0">
                    <a:pos x="344" y="423"/>
                  </a:cxn>
                  <a:cxn ang="0">
                    <a:pos x="259" y="410"/>
                  </a:cxn>
                  <a:cxn ang="0">
                    <a:pos x="177" y="388"/>
                  </a:cxn>
                  <a:cxn ang="0">
                    <a:pos x="105" y="358"/>
                  </a:cxn>
                  <a:cxn ang="0">
                    <a:pos x="41" y="325"/>
                  </a:cxn>
                  <a:cxn ang="0">
                    <a:pos x="0" y="294"/>
                  </a:cxn>
                  <a:cxn ang="0">
                    <a:pos x="0" y="0"/>
                  </a:cxn>
                  <a:cxn ang="0">
                    <a:pos x="46" y="25"/>
                  </a:cxn>
                  <a:cxn ang="0">
                    <a:pos x="105" y="47"/>
                  </a:cxn>
                  <a:cxn ang="0">
                    <a:pos x="175" y="66"/>
                  </a:cxn>
                  <a:cxn ang="0">
                    <a:pos x="244" y="81"/>
                  </a:cxn>
                  <a:cxn ang="0">
                    <a:pos x="314" y="89"/>
                  </a:cxn>
                  <a:cxn ang="0">
                    <a:pos x="361" y="93"/>
                  </a:cxn>
                  <a:cxn ang="0">
                    <a:pos x="401" y="95"/>
                  </a:cxn>
                  <a:cxn ang="0">
                    <a:pos x="471" y="95"/>
                  </a:cxn>
                  <a:cxn ang="0">
                    <a:pos x="515" y="92"/>
                  </a:cxn>
                  <a:cxn ang="0">
                    <a:pos x="555" y="87"/>
                  </a:cxn>
                  <a:cxn ang="0">
                    <a:pos x="600" y="84"/>
                  </a:cxn>
                  <a:cxn ang="0">
                    <a:pos x="640" y="76"/>
                  </a:cxn>
                  <a:cxn ang="0">
                    <a:pos x="689" y="67"/>
                  </a:cxn>
                  <a:cxn ang="0">
                    <a:pos x="733" y="55"/>
                  </a:cxn>
                  <a:cxn ang="0">
                    <a:pos x="777" y="41"/>
                  </a:cxn>
                  <a:cxn ang="0">
                    <a:pos x="815" y="27"/>
                  </a:cxn>
                </a:cxnLst>
                <a:rect l="0" t="0" r="r" b="b"/>
                <a:pathLst>
                  <a:path w="823" h="431">
                    <a:moveTo>
                      <a:pt x="815" y="27"/>
                    </a:moveTo>
                    <a:lnTo>
                      <a:pt x="822" y="350"/>
                    </a:lnTo>
                    <a:lnTo>
                      <a:pt x="746" y="382"/>
                    </a:lnTo>
                    <a:lnTo>
                      <a:pt x="676" y="404"/>
                    </a:lnTo>
                    <a:lnTo>
                      <a:pt x="619" y="415"/>
                    </a:lnTo>
                    <a:lnTo>
                      <a:pt x="571" y="421"/>
                    </a:lnTo>
                    <a:lnTo>
                      <a:pt x="517" y="427"/>
                    </a:lnTo>
                    <a:lnTo>
                      <a:pt x="427" y="430"/>
                    </a:lnTo>
                    <a:lnTo>
                      <a:pt x="344" y="423"/>
                    </a:lnTo>
                    <a:lnTo>
                      <a:pt x="259" y="410"/>
                    </a:lnTo>
                    <a:lnTo>
                      <a:pt x="177" y="388"/>
                    </a:lnTo>
                    <a:lnTo>
                      <a:pt x="105" y="358"/>
                    </a:lnTo>
                    <a:lnTo>
                      <a:pt x="41" y="325"/>
                    </a:lnTo>
                    <a:lnTo>
                      <a:pt x="0" y="294"/>
                    </a:lnTo>
                    <a:lnTo>
                      <a:pt x="0" y="0"/>
                    </a:lnTo>
                    <a:lnTo>
                      <a:pt x="46" y="25"/>
                    </a:lnTo>
                    <a:lnTo>
                      <a:pt x="105" y="47"/>
                    </a:lnTo>
                    <a:lnTo>
                      <a:pt x="175" y="66"/>
                    </a:lnTo>
                    <a:lnTo>
                      <a:pt x="244" y="81"/>
                    </a:lnTo>
                    <a:lnTo>
                      <a:pt x="314" y="89"/>
                    </a:lnTo>
                    <a:lnTo>
                      <a:pt x="361" y="93"/>
                    </a:lnTo>
                    <a:lnTo>
                      <a:pt x="401" y="95"/>
                    </a:lnTo>
                    <a:lnTo>
                      <a:pt x="471" y="95"/>
                    </a:lnTo>
                    <a:lnTo>
                      <a:pt x="515" y="92"/>
                    </a:lnTo>
                    <a:lnTo>
                      <a:pt x="555" y="87"/>
                    </a:lnTo>
                    <a:lnTo>
                      <a:pt x="600" y="84"/>
                    </a:lnTo>
                    <a:lnTo>
                      <a:pt x="640" y="76"/>
                    </a:lnTo>
                    <a:lnTo>
                      <a:pt x="689" y="67"/>
                    </a:lnTo>
                    <a:lnTo>
                      <a:pt x="733" y="55"/>
                    </a:lnTo>
                    <a:lnTo>
                      <a:pt x="777" y="41"/>
                    </a:lnTo>
                    <a:lnTo>
                      <a:pt x="815" y="27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0" name="Freeform 36"/>
              <p:cNvSpPr>
                <a:spLocks/>
              </p:cNvSpPr>
              <p:nvPr/>
            </p:nvSpPr>
            <p:spPr bwMode="ltGray">
              <a:xfrm>
                <a:off x="102" y="573"/>
                <a:ext cx="551" cy="340"/>
              </a:xfrm>
              <a:custGeom>
                <a:avLst/>
                <a:gdLst/>
                <a:ahLst/>
                <a:cxnLst>
                  <a:cxn ang="0">
                    <a:pos x="16" y="53"/>
                  </a:cxn>
                  <a:cxn ang="0">
                    <a:pos x="0" y="122"/>
                  </a:cxn>
                  <a:cxn ang="0">
                    <a:pos x="10" y="146"/>
                  </a:cxn>
                  <a:cxn ang="0">
                    <a:pos x="33" y="184"/>
                  </a:cxn>
                  <a:cxn ang="0">
                    <a:pos x="57" y="217"/>
                  </a:cxn>
                  <a:cxn ang="0">
                    <a:pos x="85" y="244"/>
                  </a:cxn>
                  <a:cxn ang="0">
                    <a:pos x="120" y="271"/>
                  </a:cxn>
                  <a:cxn ang="0">
                    <a:pos x="153" y="290"/>
                  </a:cxn>
                  <a:cxn ang="0">
                    <a:pos x="189" y="309"/>
                  </a:cxn>
                  <a:cxn ang="0">
                    <a:pos x="235" y="325"/>
                  </a:cxn>
                  <a:cxn ang="0">
                    <a:pos x="270" y="333"/>
                  </a:cxn>
                  <a:cxn ang="0">
                    <a:pos x="312" y="339"/>
                  </a:cxn>
                  <a:cxn ang="0">
                    <a:pos x="351" y="339"/>
                  </a:cxn>
                  <a:cxn ang="0">
                    <a:pos x="393" y="334"/>
                  </a:cxn>
                  <a:cxn ang="0">
                    <a:pos x="436" y="322"/>
                  </a:cxn>
                  <a:cxn ang="0">
                    <a:pos x="475" y="303"/>
                  </a:cxn>
                  <a:cxn ang="0">
                    <a:pos x="498" y="287"/>
                  </a:cxn>
                  <a:cxn ang="0">
                    <a:pos x="526" y="263"/>
                  </a:cxn>
                  <a:cxn ang="0">
                    <a:pos x="541" y="243"/>
                  </a:cxn>
                  <a:cxn ang="0">
                    <a:pos x="550" y="227"/>
                  </a:cxn>
                  <a:cxn ang="0">
                    <a:pos x="550" y="209"/>
                  </a:cxn>
                  <a:cxn ang="0">
                    <a:pos x="544" y="187"/>
                  </a:cxn>
                  <a:cxn ang="0">
                    <a:pos x="532" y="171"/>
                  </a:cxn>
                  <a:cxn ang="0">
                    <a:pos x="523" y="135"/>
                  </a:cxn>
                  <a:cxn ang="0">
                    <a:pos x="519" y="116"/>
                  </a:cxn>
                  <a:cxn ang="0">
                    <a:pos x="267" y="133"/>
                  </a:cxn>
                  <a:cxn ang="0">
                    <a:pos x="234" y="126"/>
                  </a:cxn>
                  <a:cxn ang="0">
                    <a:pos x="193" y="114"/>
                  </a:cxn>
                  <a:cxn ang="0">
                    <a:pos x="162" y="97"/>
                  </a:cxn>
                  <a:cxn ang="0">
                    <a:pos x="129" y="77"/>
                  </a:cxn>
                  <a:cxn ang="0">
                    <a:pos x="97" y="48"/>
                  </a:cxn>
                  <a:cxn ang="0">
                    <a:pos x="78" y="24"/>
                  </a:cxn>
                  <a:cxn ang="0">
                    <a:pos x="60" y="0"/>
                  </a:cxn>
                  <a:cxn ang="0">
                    <a:pos x="16" y="53"/>
                  </a:cxn>
                </a:cxnLst>
                <a:rect l="0" t="0" r="r" b="b"/>
                <a:pathLst>
                  <a:path w="551" h="340">
                    <a:moveTo>
                      <a:pt x="16" y="53"/>
                    </a:moveTo>
                    <a:lnTo>
                      <a:pt x="0" y="122"/>
                    </a:lnTo>
                    <a:lnTo>
                      <a:pt x="10" y="146"/>
                    </a:lnTo>
                    <a:lnTo>
                      <a:pt x="33" y="184"/>
                    </a:lnTo>
                    <a:lnTo>
                      <a:pt x="57" y="217"/>
                    </a:lnTo>
                    <a:lnTo>
                      <a:pt x="85" y="244"/>
                    </a:lnTo>
                    <a:lnTo>
                      <a:pt x="120" y="271"/>
                    </a:lnTo>
                    <a:lnTo>
                      <a:pt x="153" y="290"/>
                    </a:lnTo>
                    <a:lnTo>
                      <a:pt x="189" y="309"/>
                    </a:lnTo>
                    <a:lnTo>
                      <a:pt x="235" y="325"/>
                    </a:lnTo>
                    <a:lnTo>
                      <a:pt x="270" y="333"/>
                    </a:lnTo>
                    <a:lnTo>
                      <a:pt x="312" y="339"/>
                    </a:lnTo>
                    <a:lnTo>
                      <a:pt x="351" y="339"/>
                    </a:lnTo>
                    <a:lnTo>
                      <a:pt x="393" y="334"/>
                    </a:lnTo>
                    <a:lnTo>
                      <a:pt x="436" y="322"/>
                    </a:lnTo>
                    <a:lnTo>
                      <a:pt x="475" y="303"/>
                    </a:lnTo>
                    <a:lnTo>
                      <a:pt x="498" y="287"/>
                    </a:lnTo>
                    <a:lnTo>
                      <a:pt x="526" y="263"/>
                    </a:lnTo>
                    <a:lnTo>
                      <a:pt x="541" y="243"/>
                    </a:lnTo>
                    <a:lnTo>
                      <a:pt x="550" y="227"/>
                    </a:lnTo>
                    <a:lnTo>
                      <a:pt x="550" y="209"/>
                    </a:lnTo>
                    <a:lnTo>
                      <a:pt x="544" y="187"/>
                    </a:lnTo>
                    <a:lnTo>
                      <a:pt x="532" y="171"/>
                    </a:lnTo>
                    <a:lnTo>
                      <a:pt x="523" y="135"/>
                    </a:lnTo>
                    <a:lnTo>
                      <a:pt x="519" y="116"/>
                    </a:lnTo>
                    <a:lnTo>
                      <a:pt x="267" y="133"/>
                    </a:lnTo>
                    <a:lnTo>
                      <a:pt x="234" y="126"/>
                    </a:lnTo>
                    <a:lnTo>
                      <a:pt x="193" y="114"/>
                    </a:lnTo>
                    <a:lnTo>
                      <a:pt x="162" y="97"/>
                    </a:lnTo>
                    <a:lnTo>
                      <a:pt x="129" y="77"/>
                    </a:lnTo>
                    <a:lnTo>
                      <a:pt x="97" y="48"/>
                    </a:lnTo>
                    <a:lnTo>
                      <a:pt x="78" y="24"/>
                    </a:lnTo>
                    <a:lnTo>
                      <a:pt x="60" y="0"/>
                    </a:lnTo>
                    <a:lnTo>
                      <a:pt x="16" y="53"/>
                    </a:lnTo>
                  </a:path>
                </a:pathLst>
              </a:custGeom>
              <a:gradFill rotWithShape="0">
                <a:gsLst>
                  <a:gs pos="0">
                    <a:schemeClr val="hlink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1" name="Freeform 37"/>
              <p:cNvSpPr>
                <a:spLocks/>
              </p:cNvSpPr>
              <p:nvPr/>
            </p:nvSpPr>
            <p:spPr bwMode="ltGray">
              <a:xfrm>
                <a:off x="82" y="160"/>
                <a:ext cx="475" cy="552"/>
              </a:xfrm>
              <a:custGeom>
                <a:avLst/>
                <a:gdLst/>
                <a:ahLst/>
                <a:cxnLst>
                  <a:cxn ang="0">
                    <a:pos x="474" y="0"/>
                  </a:cxn>
                  <a:cxn ang="0">
                    <a:pos x="474" y="294"/>
                  </a:cxn>
                  <a:cxn ang="0">
                    <a:pos x="446" y="291"/>
                  </a:cxn>
                  <a:cxn ang="0">
                    <a:pos x="411" y="293"/>
                  </a:cxn>
                  <a:cxn ang="0">
                    <a:pos x="353" y="299"/>
                  </a:cxn>
                  <a:cxn ang="0">
                    <a:pos x="296" y="310"/>
                  </a:cxn>
                  <a:cxn ang="0">
                    <a:pos x="243" y="323"/>
                  </a:cxn>
                  <a:cxn ang="0">
                    <a:pos x="200" y="339"/>
                  </a:cxn>
                  <a:cxn ang="0">
                    <a:pos x="149" y="364"/>
                  </a:cxn>
                  <a:cxn ang="0">
                    <a:pos x="110" y="390"/>
                  </a:cxn>
                  <a:cxn ang="0">
                    <a:pos x="81" y="415"/>
                  </a:cxn>
                  <a:cxn ang="0">
                    <a:pos x="60" y="439"/>
                  </a:cxn>
                  <a:cxn ang="0">
                    <a:pos x="47" y="461"/>
                  </a:cxn>
                  <a:cxn ang="0">
                    <a:pos x="35" y="488"/>
                  </a:cxn>
                  <a:cxn ang="0">
                    <a:pos x="30" y="513"/>
                  </a:cxn>
                  <a:cxn ang="0">
                    <a:pos x="23" y="551"/>
                  </a:cxn>
                  <a:cxn ang="0">
                    <a:pos x="17" y="518"/>
                  </a:cxn>
                  <a:cxn ang="0">
                    <a:pos x="8" y="481"/>
                  </a:cxn>
                  <a:cxn ang="0">
                    <a:pos x="5" y="453"/>
                  </a:cxn>
                  <a:cxn ang="0">
                    <a:pos x="0" y="420"/>
                  </a:cxn>
                  <a:cxn ang="0">
                    <a:pos x="2" y="393"/>
                  </a:cxn>
                  <a:cxn ang="0">
                    <a:pos x="8" y="361"/>
                  </a:cxn>
                  <a:cxn ang="0">
                    <a:pos x="15" y="317"/>
                  </a:cxn>
                  <a:cxn ang="0">
                    <a:pos x="30" y="279"/>
                  </a:cxn>
                  <a:cxn ang="0">
                    <a:pos x="50" y="238"/>
                  </a:cxn>
                  <a:cxn ang="0">
                    <a:pos x="75" y="196"/>
                  </a:cxn>
                  <a:cxn ang="0">
                    <a:pos x="111" y="152"/>
                  </a:cxn>
                  <a:cxn ang="0">
                    <a:pos x="152" y="116"/>
                  </a:cxn>
                  <a:cxn ang="0">
                    <a:pos x="188" y="87"/>
                  </a:cxn>
                  <a:cxn ang="0">
                    <a:pos x="233" y="60"/>
                  </a:cxn>
                  <a:cxn ang="0">
                    <a:pos x="279" y="40"/>
                  </a:cxn>
                  <a:cxn ang="0">
                    <a:pos x="333" y="21"/>
                  </a:cxn>
                  <a:cxn ang="0">
                    <a:pos x="380" y="10"/>
                  </a:cxn>
                  <a:cxn ang="0">
                    <a:pos x="435" y="3"/>
                  </a:cxn>
                  <a:cxn ang="0">
                    <a:pos x="474" y="0"/>
                  </a:cxn>
                </a:cxnLst>
                <a:rect l="0" t="0" r="r" b="b"/>
                <a:pathLst>
                  <a:path w="475" h="552">
                    <a:moveTo>
                      <a:pt x="474" y="0"/>
                    </a:moveTo>
                    <a:lnTo>
                      <a:pt x="474" y="294"/>
                    </a:lnTo>
                    <a:lnTo>
                      <a:pt x="446" y="291"/>
                    </a:lnTo>
                    <a:lnTo>
                      <a:pt x="411" y="293"/>
                    </a:lnTo>
                    <a:lnTo>
                      <a:pt x="353" y="299"/>
                    </a:lnTo>
                    <a:lnTo>
                      <a:pt x="296" y="310"/>
                    </a:lnTo>
                    <a:lnTo>
                      <a:pt x="243" y="323"/>
                    </a:lnTo>
                    <a:lnTo>
                      <a:pt x="200" y="339"/>
                    </a:lnTo>
                    <a:lnTo>
                      <a:pt x="149" y="364"/>
                    </a:lnTo>
                    <a:lnTo>
                      <a:pt x="110" y="390"/>
                    </a:lnTo>
                    <a:lnTo>
                      <a:pt x="81" y="415"/>
                    </a:lnTo>
                    <a:lnTo>
                      <a:pt x="60" y="439"/>
                    </a:lnTo>
                    <a:lnTo>
                      <a:pt x="47" y="461"/>
                    </a:lnTo>
                    <a:lnTo>
                      <a:pt x="35" y="488"/>
                    </a:lnTo>
                    <a:lnTo>
                      <a:pt x="30" y="513"/>
                    </a:lnTo>
                    <a:lnTo>
                      <a:pt x="23" y="551"/>
                    </a:lnTo>
                    <a:lnTo>
                      <a:pt x="17" y="518"/>
                    </a:lnTo>
                    <a:lnTo>
                      <a:pt x="8" y="481"/>
                    </a:lnTo>
                    <a:lnTo>
                      <a:pt x="5" y="453"/>
                    </a:lnTo>
                    <a:lnTo>
                      <a:pt x="0" y="420"/>
                    </a:lnTo>
                    <a:lnTo>
                      <a:pt x="2" y="393"/>
                    </a:lnTo>
                    <a:lnTo>
                      <a:pt x="8" y="361"/>
                    </a:lnTo>
                    <a:lnTo>
                      <a:pt x="15" y="317"/>
                    </a:lnTo>
                    <a:lnTo>
                      <a:pt x="30" y="279"/>
                    </a:lnTo>
                    <a:lnTo>
                      <a:pt x="50" y="238"/>
                    </a:lnTo>
                    <a:lnTo>
                      <a:pt x="75" y="196"/>
                    </a:lnTo>
                    <a:lnTo>
                      <a:pt x="111" y="152"/>
                    </a:lnTo>
                    <a:lnTo>
                      <a:pt x="152" y="116"/>
                    </a:lnTo>
                    <a:lnTo>
                      <a:pt x="188" y="87"/>
                    </a:lnTo>
                    <a:lnTo>
                      <a:pt x="233" y="60"/>
                    </a:lnTo>
                    <a:lnTo>
                      <a:pt x="279" y="40"/>
                    </a:lnTo>
                    <a:lnTo>
                      <a:pt x="333" y="21"/>
                    </a:lnTo>
                    <a:lnTo>
                      <a:pt x="380" y="10"/>
                    </a:lnTo>
                    <a:lnTo>
                      <a:pt x="435" y="3"/>
                    </a:lnTo>
                    <a:lnTo>
                      <a:pt x="474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2" name="Freeform 38"/>
              <p:cNvSpPr>
                <a:spLocks/>
              </p:cNvSpPr>
              <p:nvPr/>
            </p:nvSpPr>
            <p:spPr bwMode="ltGray">
              <a:xfrm>
                <a:off x="370" y="727"/>
                <a:ext cx="156" cy="118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21" y="19"/>
                  </a:cxn>
                  <a:cxn ang="0">
                    <a:pos x="3" y="46"/>
                  </a:cxn>
                  <a:cxn ang="0">
                    <a:pos x="0" y="70"/>
                  </a:cxn>
                  <a:cxn ang="0">
                    <a:pos x="0" y="84"/>
                  </a:cxn>
                  <a:cxn ang="0">
                    <a:pos x="9" y="100"/>
                  </a:cxn>
                  <a:cxn ang="0">
                    <a:pos x="29" y="108"/>
                  </a:cxn>
                  <a:cxn ang="0">
                    <a:pos x="50" y="114"/>
                  </a:cxn>
                  <a:cxn ang="0">
                    <a:pos x="69" y="117"/>
                  </a:cxn>
                  <a:cxn ang="0">
                    <a:pos x="86" y="117"/>
                  </a:cxn>
                  <a:cxn ang="0">
                    <a:pos x="114" y="112"/>
                  </a:cxn>
                  <a:cxn ang="0">
                    <a:pos x="134" y="107"/>
                  </a:cxn>
                  <a:cxn ang="0">
                    <a:pos x="146" y="98"/>
                  </a:cxn>
                  <a:cxn ang="0">
                    <a:pos x="153" y="90"/>
                  </a:cxn>
                  <a:cxn ang="0">
                    <a:pos x="155" y="78"/>
                  </a:cxn>
                  <a:cxn ang="0">
                    <a:pos x="153" y="60"/>
                  </a:cxn>
                  <a:cxn ang="0">
                    <a:pos x="146" y="11"/>
                  </a:cxn>
                  <a:cxn ang="0">
                    <a:pos x="72" y="0"/>
                  </a:cxn>
                </a:cxnLst>
                <a:rect l="0" t="0" r="r" b="b"/>
                <a:pathLst>
                  <a:path w="156" h="118">
                    <a:moveTo>
                      <a:pt x="72" y="0"/>
                    </a:moveTo>
                    <a:lnTo>
                      <a:pt x="21" y="19"/>
                    </a:lnTo>
                    <a:lnTo>
                      <a:pt x="3" y="46"/>
                    </a:lnTo>
                    <a:lnTo>
                      <a:pt x="0" y="70"/>
                    </a:lnTo>
                    <a:lnTo>
                      <a:pt x="0" y="84"/>
                    </a:lnTo>
                    <a:lnTo>
                      <a:pt x="9" y="100"/>
                    </a:lnTo>
                    <a:lnTo>
                      <a:pt x="29" y="108"/>
                    </a:lnTo>
                    <a:lnTo>
                      <a:pt x="50" y="114"/>
                    </a:lnTo>
                    <a:lnTo>
                      <a:pt x="69" y="117"/>
                    </a:lnTo>
                    <a:lnTo>
                      <a:pt x="86" y="117"/>
                    </a:lnTo>
                    <a:lnTo>
                      <a:pt x="114" y="112"/>
                    </a:lnTo>
                    <a:lnTo>
                      <a:pt x="134" y="107"/>
                    </a:lnTo>
                    <a:lnTo>
                      <a:pt x="146" y="98"/>
                    </a:lnTo>
                    <a:lnTo>
                      <a:pt x="153" y="90"/>
                    </a:lnTo>
                    <a:lnTo>
                      <a:pt x="155" y="78"/>
                    </a:lnTo>
                    <a:lnTo>
                      <a:pt x="153" y="60"/>
                    </a:lnTo>
                    <a:lnTo>
                      <a:pt x="146" y="11"/>
                    </a:lnTo>
                    <a:lnTo>
                      <a:pt x="72" y="0"/>
                    </a:lnTo>
                  </a:path>
                </a:pathLst>
              </a:custGeom>
              <a:gradFill rotWithShape="0">
                <a:gsLst>
                  <a:gs pos="0">
                    <a:schemeClr val="hlink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3" name="Freeform 39"/>
              <p:cNvSpPr>
                <a:spLocks/>
              </p:cNvSpPr>
              <p:nvPr/>
            </p:nvSpPr>
            <p:spPr bwMode="ltGray">
              <a:xfrm>
                <a:off x="442" y="741"/>
                <a:ext cx="88" cy="74"/>
              </a:xfrm>
              <a:custGeom>
                <a:avLst/>
                <a:gdLst/>
                <a:ahLst/>
                <a:cxnLst>
                  <a:cxn ang="0">
                    <a:pos x="87" y="67"/>
                  </a:cxn>
                  <a:cxn ang="0">
                    <a:pos x="76" y="0"/>
                  </a:cxn>
                  <a:cxn ang="0">
                    <a:pos x="33" y="5"/>
                  </a:cxn>
                  <a:cxn ang="0">
                    <a:pos x="0" y="8"/>
                  </a:cxn>
                  <a:cxn ang="0">
                    <a:pos x="9" y="73"/>
                  </a:cxn>
                  <a:cxn ang="0">
                    <a:pos x="12" y="57"/>
                  </a:cxn>
                  <a:cxn ang="0">
                    <a:pos x="22" y="47"/>
                  </a:cxn>
                  <a:cxn ang="0">
                    <a:pos x="40" y="43"/>
                  </a:cxn>
                  <a:cxn ang="0">
                    <a:pos x="60" y="44"/>
                  </a:cxn>
                  <a:cxn ang="0">
                    <a:pos x="76" y="51"/>
                  </a:cxn>
                  <a:cxn ang="0">
                    <a:pos x="87" y="67"/>
                  </a:cxn>
                </a:cxnLst>
                <a:rect l="0" t="0" r="r" b="b"/>
                <a:pathLst>
                  <a:path w="88" h="74">
                    <a:moveTo>
                      <a:pt x="87" y="67"/>
                    </a:moveTo>
                    <a:lnTo>
                      <a:pt x="76" y="0"/>
                    </a:lnTo>
                    <a:lnTo>
                      <a:pt x="33" y="5"/>
                    </a:lnTo>
                    <a:lnTo>
                      <a:pt x="0" y="8"/>
                    </a:lnTo>
                    <a:lnTo>
                      <a:pt x="9" y="73"/>
                    </a:lnTo>
                    <a:lnTo>
                      <a:pt x="12" y="57"/>
                    </a:lnTo>
                    <a:lnTo>
                      <a:pt x="22" y="47"/>
                    </a:lnTo>
                    <a:lnTo>
                      <a:pt x="40" y="43"/>
                    </a:lnTo>
                    <a:lnTo>
                      <a:pt x="60" y="44"/>
                    </a:lnTo>
                    <a:lnTo>
                      <a:pt x="76" y="51"/>
                    </a:lnTo>
                    <a:lnTo>
                      <a:pt x="87" y="67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4" name="Freeform 40"/>
              <p:cNvSpPr>
                <a:spLocks/>
              </p:cNvSpPr>
              <p:nvPr/>
            </p:nvSpPr>
            <p:spPr bwMode="ltGray">
              <a:xfrm>
                <a:off x="334" y="520"/>
                <a:ext cx="319" cy="286"/>
              </a:xfrm>
              <a:custGeom>
                <a:avLst/>
                <a:gdLst/>
                <a:ahLst/>
                <a:cxnLst>
                  <a:cxn ang="0">
                    <a:pos x="317" y="275"/>
                  </a:cxn>
                  <a:cxn ang="0">
                    <a:pos x="315" y="254"/>
                  </a:cxn>
                  <a:cxn ang="0">
                    <a:pos x="306" y="235"/>
                  </a:cxn>
                  <a:cxn ang="0">
                    <a:pos x="299" y="219"/>
                  </a:cxn>
                  <a:cxn ang="0">
                    <a:pos x="294" y="194"/>
                  </a:cxn>
                  <a:cxn ang="0">
                    <a:pos x="288" y="161"/>
                  </a:cxn>
                  <a:cxn ang="0">
                    <a:pos x="284" y="126"/>
                  </a:cxn>
                  <a:cxn ang="0">
                    <a:pos x="281" y="94"/>
                  </a:cxn>
                  <a:cxn ang="0">
                    <a:pos x="279" y="67"/>
                  </a:cxn>
                  <a:cxn ang="0">
                    <a:pos x="278" y="43"/>
                  </a:cxn>
                  <a:cxn ang="0">
                    <a:pos x="270" y="29"/>
                  </a:cxn>
                  <a:cxn ang="0">
                    <a:pos x="255" y="16"/>
                  </a:cxn>
                  <a:cxn ang="0">
                    <a:pos x="240" y="9"/>
                  </a:cxn>
                  <a:cxn ang="0">
                    <a:pos x="216" y="2"/>
                  </a:cxn>
                  <a:cxn ang="0">
                    <a:pos x="189" y="0"/>
                  </a:cxn>
                  <a:cxn ang="0">
                    <a:pos x="147" y="0"/>
                  </a:cxn>
                  <a:cxn ang="0">
                    <a:pos x="110" y="2"/>
                  </a:cxn>
                  <a:cxn ang="0">
                    <a:pos x="74" y="9"/>
                  </a:cxn>
                  <a:cxn ang="0">
                    <a:pos x="41" y="21"/>
                  </a:cxn>
                  <a:cxn ang="0">
                    <a:pos x="20" y="35"/>
                  </a:cxn>
                  <a:cxn ang="0">
                    <a:pos x="8" y="47"/>
                  </a:cxn>
                  <a:cxn ang="0">
                    <a:pos x="0" y="61"/>
                  </a:cxn>
                  <a:cxn ang="0">
                    <a:pos x="2" y="75"/>
                  </a:cxn>
                  <a:cxn ang="0">
                    <a:pos x="5" y="89"/>
                  </a:cxn>
                  <a:cxn ang="0">
                    <a:pos x="15" y="104"/>
                  </a:cxn>
                  <a:cxn ang="0">
                    <a:pos x="23" y="123"/>
                  </a:cxn>
                  <a:cxn ang="0">
                    <a:pos x="27" y="149"/>
                  </a:cxn>
                  <a:cxn ang="0">
                    <a:pos x="30" y="176"/>
                  </a:cxn>
                  <a:cxn ang="0">
                    <a:pos x="35" y="200"/>
                  </a:cxn>
                  <a:cxn ang="0">
                    <a:pos x="36" y="235"/>
                  </a:cxn>
                  <a:cxn ang="0">
                    <a:pos x="38" y="265"/>
                  </a:cxn>
                  <a:cxn ang="0">
                    <a:pos x="38" y="285"/>
                  </a:cxn>
                  <a:cxn ang="0">
                    <a:pos x="48" y="260"/>
                  </a:cxn>
                  <a:cxn ang="0">
                    <a:pos x="68" y="248"/>
                  </a:cxn>
                  <a:cxn ang="0">
                    <a:pos x="86" y="241"/>
                  </a:cxn>
                  <a:cxn ang="0">
                    <a:pos x="108" y="236"/>
                  </a:cxn>
                  <a:cxn ang="0">
                    <a:pos x="143" y="229"/>
                  </a:cxn>
                  <a:cxn ang="0">
                    <a:pos x="177" y="228"/>
                  </a:cxn>
                  <a:cxn ang="0">
                    <a:pos x="197" y="228"/>
                  </a:cxn>
                  <a:cxn ang="0">
                    <a:pos x="228" y="230"/>
                  </a:cxn>
                  <a:cxn ang="0">
                    <a:pos x="264" y="237"/>
                  </a:cxn>
                  <a:cxn ang="0">
                    <a:pos x="287" y="246"/>
                  </a:cxn>
                  <a:cxn ang="0">
                    <a:pos x="302" y="255"/>
                  </a:cxn>
                  <a:cxn ang="0">
                    <a:pos x="318" y="268"/>
                  </a:cxn>
                </a:cxnLst>
                <a:rect l="0" t="0" r="r" b="b"/>
                <a:pathLst>
                  <a:path w="319" h="286">
                    <a:moveTo>
                      <a:pt x="317" y="275"/>
                    </a:moveTo>
                    <a:lnTo>
                      <a:pt x="315" y="254"/>
                    </a:lnTo>
                    <a:lnTo>
                      <a:pt x="306" y="235"/>
                    </a:lnTo>
                    <a:lnTo>
                      <a:pt x="299" y="219"/>
                    </a:lnTo>
                    <a:lnTo>
                      <a:pt x="294" y="194"/>
                    </a:lnTo>
                    <a:lnTo>
                      <a:pt x="288" y="161"/>
                    </a:lnTo>
                    <a:lnTo>
                      <a:pt x="284" y="126"/>
                    </a:lnTo>
                    <a:lnTo>
                      <a:pt x="281" y="94"/>
                    </a:lnTo>
                    <a:lnTo>
                      <a:pt x="279" y="67"/>
                    </a:lnTo>
                    <a:lnTo>
                      <a:pt x="278" y="43"/>
                    </a:lnTo>
                    <a:lnTo>
                      <a:pt x="270" y="29"/>
                    </a:lnTo>
                    <a:lnTo>
                      <a:pt x="255" y="16"/>
                    </a:lnTo>
                    <a:lnTo>
                      <a:pt x="240" y="9"/>
                    </a:lnTo>
                    <a:lnTo>
                      <a:pt x="216" y="2"/>
                    </a:lnTo>
                    <a:lnTo>
                      <a:pt x="189" y="0"/>
                    </a:lnTo>
                    <a:lnTo>
                      <a:pt x="147" y="0"/>
                    </a:lnTo>
                    <a:lnTo>
                      <a:pt x="110" y="2"/>
                    </a:lnTo>
                    <a:lnTo>
                      <a:pt x="74" y="9"/>
                    </a:lnTo>
                    <a:lnTo>
                      <a:pt x="41" y="21"/>
                    </a:lnTo>
                    <a:lnTo>
                      <a:pt x="20" y="35"/>
                    </a:lnTo>
                    <a:lnTo>
                      <a:pt x="8" y="47"/>
                    </a:lnTo>
                    <a:lnTo>
                      <a:pt x="0" y="61"/>
                    </a:lnTo>
                    <a:lnTo>
                      <a:pt x="2" y="75"/>
                    </a:lnTo>
                    <a:lnTo>
                      <a:pt x="5" y="89"/>
                    </a:lnTo>
                    <a:lnTo>
                      <a:pt x="15" y="104"/>
                    </a:lnTo>
                    <a:lnTo>
                      <a:pt x="23" y="123"/>
                    </a:lnTo>
                    <a:lnTo>
                      <a:pt x="27" y="149"/>
                    </a:lnTo>
                    <a:lnTo>
                      <a:pt x="30" y="176"/>
                    </a:lnTo>
                    <a:lnTo>
                      <a:pt x="35" y="200"/>
                    </a:lnTo>
                    <a:lnTo>
                      <a:pt x="36" y="235"/>
                    </a:lnTo>
                    <a:lnTo>
                      <a:pt x="38" y="265"/>
                    </a:lnTo>
                    <a:lnTo>
                      <a:pt x="38" y="285"/>
                    </a:lnTo>
                    <a:lnTo>
                      <a:pt x="48" y="260"/>
                    </a:lnTo>
                    <a:lnTo>
                      <a:pt x="68" y="248"/>
                    </a:lnTo>
                    <a:lnTo>
                      <a:pt x="86" y="241"/>
                    </a:lnTo>
                    <a:lnTo>
                      <a:pt x="108" y="236"/>
                    </a:lnTo>
                    <a:lnTo>
                      <a:pt x="143" y="229"/>
                    </a:lnTo>
                    <a:lnTo>
                      <a:pt x="177" y="228"/>
                    </a:lnTo>
                    <a:lnTo>
                      <a:pt x="197" y="228"/>
                    </a:lnTo>
                    <a:lnTo>
                      <a:pt x="228" y="230"/>
                    </a:lnTo>
                    <a:lnTo>
                      <a:pt x="264" y="237"/>
                    </a:lnTo>
                    <a:lnTo>
                      <a:pt x="287" y="246"/>
                    </a:lnTo>
                    <a:lnTo>
                      <a:pt x="302" y="255"/>
                    </a:lnTo>
                    <a:lnTo>
                      <a:pt x="318" y="268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5" name="Freeform 41"/>
              <p:cNvSpPr>
                <a:spLocks/>
              </p:cNvSpPr>
              <p:nvPr/>
            </p:nvSpPr>
            <p:spPr bwMode="ltGray">
              <a:xfrm>
                <a:off x="5049" y="578"/>
                <a:ext cx="551" cy="335"/>
              </a:xfrm>
              <a:custGeom>
                <a:avLst/>
                <a:gdLst/>
                <a:ahLst/>
                <a:cxnLst>
                  <a:cxn ang="0">
                    <a:pos x="534" y="48"/>
                  </a:cxn>
                  <a:cxn ang="0">
                    <a:pos x="550" y="117"/>
                  </a:cxn>
                  <a:cxn ang="0">
                    <a:pos x="540" y="142"/>
                  </a:cxn>
                  <a:cxn ang="0">
                    <a:pos x="517" y="179"/>
                  </a:cxn>
                  <a:cxn ang="0">
                    <a:pos x="493" y="212"/>
                  </a:cxn>
                  <a:cxn ang="0">
                    <a:pos x="465" y="239"/>
                  </a:cxn>
                  <a:cxn ang="0">
                    <a:pos x="430" y="267"/>
                  </a:cxn>
                  <a:cxn ang="0">
                    <a:pos x="397" y="286"/>
                  </a:cxn>
                  <a:cxn ang="0">
                    <a:pos x="361" y="304"/>
                  </a:cxn>
                  <a:cxn ang="0">
                    <a:pos x="315" y="320"/>
                  </a:cxn>
                  <a:cxn ang="0">
                    <a:pos x="280" y="328"/>
                  </a:cxn>
                  <a:cxn ang="0">
                    <a:pos x="238" y="334"/>
                  </a:cxn>
                  <a:cxn ang="0">
                    <a:pos x="199" y="334"/>
                  </a:cxn>
                  <a:cxn ang="0">
                    <a:pos x="157" y="329"/>
                  </a:cxn>
                  <a:cxn ang="0">
                    <a:pos x="114" y="317"/>
                  </a:cxn>
                  <a:cxn ang="0">
                    <a:pos x="75" y="298"/>
                  </a:cxn>
                  <a:cxn ang="0">
                    <a:pos x="52" y="282"/>
                  </a:cxn>
                  <a:cxn ang="0">
                    <a:pos x="24" y="258"/>
                  </a:cxn>
                  <a:cxn ang="0">
                    <a:pos x="9" y="238"/>
                  </a:cxn>
                  <a:cxn ang="0">
                    <a:pos x="0" y="222"/>
                  </a:cxn>
                  <a:cxn ang="0">
                    <a:pos x="0" y="204"/>
                  </a:cxn>
                  <a:cxn ang="0">
                    <a:pos x="6" y="182"/>
                  </a:cxn>
                  <a:cxn ang="0">
                    <a:pos x="18" y="166"/>
                  </a:cxn>
                  <a:cxn ang="0">
                    <a:pos x="27" y="131"/>
                  </a:cxn>
                  <a:cxn ang="0">
                    <a:pos x="31" y="112"/>
                  </a:cxn>
                  <a:cxn ang="0">
                    <a:pos x="283" y="128"/>
                  </a:cxn>
                  <a:cxn ang="0">
                    <a:pos x="316" y="122"/>
                  </a:cxn>
                  <a:cxn ang="0">
                    <a:pos x="357" y="109"/>
                  </a:cxn>
                  <a:cxn ang="0">
                    <a:pos x="388" y="93"/>
                  </a:cxn>
                  <a:cxn ang="0">
                    <a:pos x="421" y="73"/>
                  </a:cxn>
                  <a:cxn ang="0">
                    <a:pos x="453" y="44"/>
                  </a:cxn>
                  <a:cxn ang="0">
                    <a:pos x="472" y="19"/>
                  </a:cxn>
                  <a:cxn ang="0">
                    <a:pos x="486" y="0"/>
                  </a:cxn>
                  <a:cxn ang="0">
                    <a:pos x="534" y="48"/>
                  </a:cxn>
                </a:cxnLst>
                <a:rect l="0" t="0" r="r" b="b"/>
                <a:pathLst>
                  <a:path w="551" h="335">
                    <a:moveTo>
                      <a:pt x="534" y="48"/>
                    </a:moveTo>
                    <a:lnTo>
                      <a:pt x="550" y="117"/>
                    </a:lnTo>
                    <a:lnTo>
                      <a:pt x="540" y="142"/>
                    </a:lnTo>
                    <a:lnTo>
                      <a:pt x="517" y="179"/>
                    </a:lnTo>
                    <a:lnTo>
                      <a:pt x="493" y="212"/>
                    </a:lnTo>
                    <a:lnTo>
                      <a:pt x="465" y="239"/>
                    </a:lnTo>
                    <a:lnTo>
                      <a:pt x="430" y="267"/>
                    </a:lnTo>
                    <a:lnTo>
                      <a:pt x="397" y="286"/>
                    </a:lnTo>
                    <a:lnTo>
                      <a:pt x="361" y="304"/>
                    </a:lnTo>
                    <a:lnTo>
                      <a:pt x="315" y="320"/>
                    </a:lnTo>
                    <a:lnTo>
                      <a:pt x="280" y="328"/>
                    </a:lnTo>
                    <a:lnTo>
                      <a:pt x="238" y="334"/>
                    </a:lnTo>
                    <a:lnTo>
                      <a:pt x="199" y="334"/>
                    </a:lnTo>
                    <a:lnTo>
                      <a:pt x="157" y="329"/>
                    </a:lnTo>
                    <a:lnTo>
                      <a:pt x="114" y="317"/>
                    </a:lnTo>
                    <a:lnTo>
                      <a:pt x="75" y="298"/>
                    </a:lnTo>
                    <a:lnTo>
                      <a:pt x="52" y="282"/>
                    </a:lnTo>
                    <a:lnTo>
                      <a:pt x="24" y="258"/>
                    </a:lnTo>
                    <a:lnTo>
                      <a:pt x="9" y="238"/>
                    </a:lnTo>
                    <a:lnTo>
                      <a:pt x="0" y="222"/>
                    </a:lnTo>
                    <a:lnTo>
                      <a:pt x="0" y="204"/>
                    </a:lnTo>
                    <a:lnTo>
                      <a:pt x="6" y="182"/>
                    </a:lnTo>
                    <a:lnTo>
                      <a:pt x="18" y="166"/>
                    </a:lnTo>
                    <a:lnTo>
                      <a:pt x="27" y="131"/>
                    </a:lnTo>
                    <a:lnTo>
                      <a:pt x="31" y="112"/>
                    </a:lnTo>
                    <a:lnTo>
                      <a:pt x="283" y="128"/>
                    </a:lnTo>
                    <a:lnTo>
                      <a:pt x="316" y="122"/>
                    </a:lnTo>
                    <a:lnTo>
                      <a:pt x="357" y="109"/>
                    </a:lnTo>
                    <a:lnTo>
                      <a:pt x="388" y="93"/>
                    </a:lnTo>
                    <a:lnTo>
                      <a:pt x="421" y="73"/>
                    </a:lnTo>
                    <a:lnTo>
                      <a:pt x="453" y="44"/>
                    </a:lnTo>
                    <a:lnTo>
                      <a:pt x="472" y="19"/>
                    </a:lnTo>
                    <a:lnTo>
                      <a:pt x="486" y="0"/>
                    </a:lnTo>
                    <a:lnTo>
                      <a:pt x="534" y="48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100000">
                    <a:schemeClr val="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6" name="Freeform 42"/>
              <p:cNvSpPr>
                <a:spLocks/>
              </p:cNvSpPr>
              <p:nvPr/>
            </p:nvSpPr>
            <p:spPr bwMode="ltGray">
              <a:xfrm>
                <a:off x="5145" y="160"/>
                <a:ext cx="475" cy="55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94"/>
                  </a:cxn>
                  <a:cxn ang="0">
                    <a:pos x="28" y="291"/>
                  </a:cxn>
                  <a:cxn ang="0">
                    <a:pos x="63" y="293"/>
                  </a:cxn>
                  <a:cxn ang="0">
                    <a:pos x="121" y="299"/>
                  </a:cxn>
                  <a:cxn ang="0">
                    <a:pos x="178" y="310"/>
                  </a:cxn>
                  <a:cxn ang="0">
                    <a:pos x="231" y="323"/>
                  </a:cxn>
                  <a:cxn ang="0">
                    <a:pos x="274" y="339"/>
                  </a:cxn>
                  <a:cxn ang="0">
                    <a:pos x="325" y="364"/>
                  </a:cxn>
                  <a:cxn ang="0">
                    <a:pos x="364" y="390"/>
                  </a:cxn>
                  <a:cxn ang="0">
                    <a:pos x="393" y="415"/>
                  </a:cxn>
                  <a:cxn ang="0">
                    <a:pos x="414" y="439"/>
                  </a:cxn>
                  <a:cxn ang="0">
                    <a:pos x="427" y="461"/>
                  </a:cxn>
                  <a:cxn ang="0">
                    <a:pos x="439" y="488"/>
                  </a:cxn>
                  <a:cxn ang="0">
                    <a:pos x="444" y="513"/>
                  </a:cxn>
                  <a:cxn ang="0">
                    <a:pos x="451" y="551"/>
                  </a:cxn>
                  <a:cxn ang="0">
                    <a:pos x="457" y="518"/>
                  </a:cxn>
                  <a:cxn ang="0">
                    <a:pos x="466" y="481"/>
                  </a:cxn>
                  <a:cxn ang="0">
                    <a:pos x="469" y="453"/>
                  </a:cxn>
                  <a:cxn ang="0">
                    <a:pos x="474" y="420"/>
                  </a:cxn>
                  <a:cxn ang="0">
                    <a:pos x="472" y="393"/>
                  </a:cxn>
                  <a:cxn ang="0">
                    <a:pos x="466" y="361"/>
                  </a:cxn>
                  <a:cxn ang="0">
                    <a:pos x="459" y="317"/>
                  </a:cxn>
                  <a:cxn ang="0">
                    <a:pos x="444" y="279"/>
                  </a:cxn>
                  <a:cxn ang="0">
                    <a:pos x="424" y="238"/>
                  </a:cxn>
                  <a:cxn ang="0">
                    <a:pos x="399" y="196"/>
                  </a:cxn>
                  <a:cxn ang="0">
                    <a:pos x="363" y="152"/>
                  </a:cxn>
                  <a:cxn ang="0">
                    <a:pos x="322" y="116"/>
                  </a:cxn>
                  <a:cxn ang="0">
                    <a:pos x="286" y="87"/>
                  </a:cxn>
                  <a:cxn ang="0">
                    <a:pos x="241" y="60"/>
                  </a:cxn>
                  <a:cxn ang="0">
                    <a:pos x="195" y="40"/>
                  </a:cxn>
                  <a:cxn ang="0">
                    <a:pos x="141" y="21"/>
                  </a:cxn>
                  <a:cxn ang="0">
                    <a:pos x="94" y="10"/>
                  </a:cxn>
                  <a:cxn ang="0">
                    <a:pos x="39" y="3"/>
                  </a:cxn>
                  <a:cxn ang="0">
                    <a:pos x="0" y="0"/>
                  </a:cxn>
                </a:cxnLst>
                <a:rect l="0" t="0" r="r" b="b"/>
                <a:pathLst>
                  <a:path w="475" h="552">
                    <a:moveTo>
                      <a:pt x="0" y="0"/>
                    </a:moveTo>
                    <a:lnTo>
                      <a:pt x="0" y="294"/>
                    </a:lnTo>
                    <a:lnTo>
                      <a:pt x="28" y="291"/>
                    </a:lnTo>
                    <a:lnTo>
                      <a:pt x="63" y="293"/>
                    </a:lnTo>
                    <a:lnTo>
                      <a:pt x="121" y="299"/>
                    </a:lnTo>
                    <a:lnTo>
                      <a:pt x="178" y="310"/>
                    </a:lnTo>
                    <a:lnTo>
                      <a:pt x="231" y="323"/>
                    </a:lnTo>
                    <a:lnTo>
                      <a:pt x="274" y="339"/>
                    </a:lnTo>
                    <a:lnTo>
                      <a:pt x="325" y="364"/>
                    </a:lnTo>
                    <a:lnTo>
                      <a:pt x="364" y="390"/>
                    </a:lnTo>
                    <a:lnTo>
                      <a:pt x="393" y="415"/>
                    </a:lnTo>
                    <a:lnTo>
                      <a:pt x="414" y="439"/>
                    </a:lnTo>
                    <a:lnTo>
                      <a:pt x="427" y="461"/>
                    </a:lnTo>
                    <a:lnTo>
                      <a:pt x="439" y="488"/>
                    </a:lnTo>
                    <a:lnTo>
                      <a:pt x="444" y="513"/>
                    </a:lnTo>
                    <a:lnTo>
                      <a:pt x="451" y="551"/>
                    </a:lnTo>
                    <a:lnTo>
                      <a:pt x="457" y="518"/>
                    </a:lnTo>
                    <a:lnTo>
                      <a:pt x="466" y="481"/>
                    </a:lnTo>
                    <a:lnTo>
                      <a:pt x="469" y="453"/>
                    </a:lnTo>
                    <a:lnTo>
                      <a:pt x="474" y="420"/>
                    </a:lnTo>
                    <a:lnTo>
                      <a:pt x="472" y="393"/>
                    </a:lnTo>
                    <a:lnTo>
                      <a:pt x="466" y="361"/>
                    </a:lnTo>
                    <a:lnTo>
                      <a:pt x="459" y="317"/>
                    </a:lnTo>
                    <a:lnTo>
                      <a:pt x="444" y="279"/>
                    </a:lnTo>
                    <a:lnTo>
                      <a:pt x="424" y="238"/>
                    </a:lnTo>
                    <a:lnTo>
                      <a:pt x="399" y="196"/>
                    </a:lnTo>
                    <a:lnTo>
                      <a:pt x="363" y="152"/>
                    </a:lnTo>
                    <a:lnTo>
                      <a:pt x="322" y="116"/>
                    </a:lnTo>
                    <a:lnTo>
                      <a:pt x="286" y="87"/>
                    </a:lnTo>
                    <a:lnTo>
                      <a:pt x="241" y="60"/>
                    </a:lnTo>
                    <a:lnTo>
                      <a:pt x="195" y="40"/>
                    </a:lnTo>
                    <a:lnTo>
                      <a:pt x="141" y="21"/>
                    </a:lnTo>
                    <a:lnTo>
                      <a:pt x="94" y="10"/>
                    </a:lnTo>
                    <a:lnTo>
                      <a:pt x="39" y="3"/>
                    </a:lnTo>
                    <a:lnTo>
                      <a:pt x="0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7" name="Freeform 43"/>
              <p:cNvSpPr>
                <a:spLocks/>
              </p:cNvSpPr>
              <p:nvPr/>
            </p:nvSpPr>
            <p:spPr bwMode="ltGray">
              <a:xfrm>
                <a:off x="5176" y="727"/>
                <a:ext cx="156" cy="118"/>
              </a:xfrm>
              <a:custGeom>
                <a:avLst/>
                <a:gdLst/>
                <a:ahLst/>
                <a:cxnLst>
                  <a:cxn ang="0">
                    <a:pos x="83" y="0"/>
                  </a:cxn>
                  <a:cxn ang="0">
                    <a:pos x="134" y="19"/>
                  </a:cxn>
                  <a:cxn ang="0">
                    <a:pos x="152" y="46"/>
                  </a:cxn>
                  <a:cxn ang="0">
                    <a:pos x="155" y="70"/>
                  </a:cxn>
                  <a:cxn ang="0">
                    <a:pos x="155" y="84"/>
                  </a:cxn>
                  <a:cxn ang="0">
                    <a:pos x="146" y="100"/>
                  </a:cxn>
                  <a:cxn ang="0">
                    <a:pos x="126" y="108"/>
                  </a:cxn>
                  <a:cxn ang="0">
                    <a:pos x="105" y="114"/>
                  </a:cxn>
                  <a:cxn ang="0">
                    <a:pos x="86" y="117"/>
                  </a:cxn>
                  <a:cxn ang="0">
                    <a:pos x="69" y="117"/>
                  </a:cxn>
                  <a:cxn ang="0">
                    <a:pos x="41" y="112"/>
                  </a:cxn>
                  <a:cxn ang="0">
                    <a:pos x="21" y="107"/>
                  </a:cxn>
                  <a:cxn ang="0">
                    <a:pos x="9" y="98"/>
                  </a:cxn>
                  <a:cxn ang="0">
                    <a:pos x="2" y="90"/>
                  </a:cxn>
                  <a:cxn ang="0">
                    <a:pos x="0" y="78"/>
                  </a:cxn>
                  <a:cxn ang="0">
                    <a:pos x="2" y="60"/>
                  </a:cxn>
                  <a:cxn ang="0">
                    <a:pos x="9" y="11"/>
                  </a:cxn>
                  <a:cxn ang="0">
                    <a:pos x="83" y="0"/>
                  </a:cxn>
                </a:cxnLst>
                <a:rect l="0" t="0" r="r" b="b"/>
                <a:pathLst>
                  <a:path w="156" h="118">
                    <a:moveTo>
                      <a:pt x="83" y="0"/>
                    </a:moveTo>
                    <a:lnTo>
                      <a:pt x="134" y="19"/>
                    </a:lnTo>
                    <a:lnTo>
                      <a:pt x="152" y="46"/>
                    </a:lnTo>
                    <a:lnTo>
                      <a:pt x="155" y="70"/>
                    </a:lnTo>
                    <a:lnTo>
                      <a:pt x="155" y="84"/>
                    </a:lnTo>
                    <a:lnTo>
                      <a:pt x="146" y="100"/>
                    </a:lnTo>
                    <a:lnTo>
                      <a:pt x="126" y="108"/>
                    </a:lnTo>
                    <a:lnTo>
                      <a:pt x="105" y="114"/>
                    </a:lnTo>
                    <a:lnTo>
                      <a:pt x="86" y="117"/>
                    </a:lnTo>
                    <a:lnTo>
                      <a:pt x="69" y="117"/>
                    </a:lnTo>
                    <a:lnTo>
                      <a:pt x="41" y="112"/>
                    </a:lnTo>
                    <a:lnTo>
                      <a:pt x="21" y="107"/>
                    </a:lnTo>
                    <a:lnTo>
                      <a:pt x="9" y="98"/>
                    </a:lnTo>
                    <a:lnTo>
                      <a:pt x="2" y="90"/>
                    </a:lnTo>
                    <a:lnTo>
                      <a:pt x="0" y="78"/>
                    </a:lnTo>
                    <a:lnTo>
                      <a:pt x="2" y="60"/>
                    </a:lnTo>
                    <a:lnTo>
                      <a:pt x="9" y="11"/>
                    </a:lnTo>
                    <a:lnTo>
                      <a:pt x="83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100000">
                    <a:schemeClr val="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8" name="Freeform 44"/>
              <p:cNvSpPr>
                <a:spLocks/>
              </p:cNvSpPr>
              <p:nvPr/>
            </p:nvSpPr>
            <p:spPr bwMode="ltGray">
              <a:xfrm>
                <a:off x="5172" y="740"/>
                <a:ext cx="88" cy="74"/>
              </a:xfrm>
              <a:custGeom>
                <a:avLst/>
                <a:gdLst/>
                <a:ahLst/>
                <a:cxnLst>
                  <a:cxn ang="0">
                    <a:pos x="0" y="68"/>
                  </a:cxn>
                  <a:cxn ang="0">
                    <a:pos x="11" y="0"/>
                  </a:cxn>
                  <a:cxn ang="0">
                    <a:pos x="54" y="5"/>
                  </a:cxn>
                  <a:cxn ang="0">
                    <a:pos x="87" y="9"/>
                  </a:cxn>
                  <a:cxn ang="0">
                    <a:pos x="78" y="73"/>
                  </a:cxn>
                  <a:cxn ang="0">
                    <a:pos x="75" y="58"/>
                  </a:cxn>
                  <a:cxn ang="0">
                    <a:pos x="65" y="47"/>
                  </a:cxn>
                  <a:cxn ang="0">
                    <a:pos x="47" y="44"/>
                  </a:cxn>
                  <a:cxn ang="0">
                    <a:pos x="27" y="45"/>
                  </a:cxn>
                  <a:cxn ang="0">
                    <a:pos x="11" y="52"/>
                  </a:cxn>
                  <a:cxn ang="0">
                    <a:pos x="0" y="68"/>
                  </a:cxn>
                </a:cxnLst>
                <a:rect l="0" t="0" r="r" b="b"/>
                <a:pathLst>
                  <a:path w="88" h="74">
                    <a:moveTo>
                      <a:pt x="0" y="68"/>
                    </a:moveTo>
                    <a:lnTo>
                      <a:pt x="11" y="0"/>
                    </a:lnTo>
                    <a:lnTo>
                      <a:pt x="54" y="5"/>
                    </a:lnTo>
                    <a:lnTo>
                      <a:pt x="87" y="9"/>
                    </a:lnTo>
                    <a:lnTo>
                      <a:pt x="78" y="73"/>
                    </a:lnTo>
                    <a:lnTo>
                      <a:pt x="75" y="58"/>
                    </a:lnTo>
                    <a:lnTo>
                      <a:pt x="65" y="47"/>
                    </a:lnTo>
                    <a:lnTo>
                      <a:pt x="47" y="44"/>
                    </a:lnTo>
                    <a:lnTo>
                      <a:pt x="27" y="45"/>
                    </a:lnTo>
                    <a:lnTo>
                      <a:pt x="11" y="52"/>
                    </a:lnTo>
                    <a:lnTo>
                      <a:pt x="0" y="68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9" name="Freeform 45"/>
              <p:cNvSpPr>
                <a:spLocks/>
              </p:cNvSpPr>
              <p:nvPr/>
            </p:nvSpPr>
            <p:spPr bwMode="ltGray">
              <a:xfrm>
                <a:off x="5049" y="520"/>
                <a:ext cx="319" cy="286"/>
              </a:xfrm>
              <a:custGeom>
                <a:avLst/>
                <a:gdLst/>
                <a:ahLst/>
                <a:cxnLst>
                  <a:cxn ang="0">
                    <a:pos x="1" y="275"/>
                  </a:cxn>
                  <a:cxn ang="0">
                    <a:pos x="3" y="254"/>
                  </a:cxn>
                  <a:cxn ang="0">
                    <a:pos x="12" y="235"/>
                  </a:cxn>
                  <a:cxn ang="0">
                    <a:pos x="19" y="219"/>
                  </a:cxn>
                  <a:cxn ang="0">
                    <a:pos x="24" y="194"/>
                  </a:cxn>
                  <a:cxn ang="0">
                    <a:pos x="30" y="161"/>
                  </a:cxn>
                  <a:cxn ang="0">
                    <a:pos x="34" y="126"/>
                  </a:cxn>
                  <a:cxn ang="0">
                    <a:pos x="37" y="94"/>
                  </a:cxn>
                  <a:cxn ang="0">
                    <a:pos x="39" y="67"/>
                  </a:cxn>
                  <a:cxn ang="0">
                    <a:pos x="40" y="43"/>
                  </a:cxn>
                  <a:cxn ang="0">
                    <a:pos x="48" y="29"/>
                  </a:cxn>
                  <a:cxn ang="0">
                    <a:pos x="63" y="16"/>
                  </a:cxn>
                  <a:cxn ang="0">
                    <a:pos x="78" y="9"/>
                  </a:cxn>
                  <a:cxn ang="0">
                    <a:pos x="102" y="2"/>
                  </a:cxn>
                  <a:cxn ang="0">
                    <a:pos x="129" y="0"/>
                  </a:cxn>
                  <a:cxn ang="0">
                    <a:pos x="171" y="0"/>
                  </a:cxn>
                  <a:cxn ang="0">
                    <a:pos x="208" y="2"/>
                  </a:cxn>
                  <a:cxn ang="0">
                    <a:pos x="244" y="9"/>
                  </a:cxn>
                  <a:cxn ang="0">
                    <a:pos x="277" y="21"/>
                  </a:cxn>
                  <a:cxn ang="0">
                    <a:pos x="298" y="35"/>
                  </a:cxn>
                  <a:cxn ang="0">
                    <a:pos x="310" y="47"/>
                  </a:cxn>
                  <a:cxn ang="0">
                    <a:pos x="318" y="61"/>
                  </a:cxn>
                  <a:cxn ang="0">
                    <a:pos x="316" y="75"/>
                  </a:cxn>
                  <a:cxn ang="0">
                    <a:pos x="313" y="89"/>
                  </a:cxn>
                  <a:cxn ang="0">
                    <a:pos x="303" y="104"/>
                  </a:cxn>
                  <a:cxn ang="0">
                    <a:pos x="295" y="123"/>
                  </a:cxn>
                  <a:cxn ang="0">
                    <a:pos x="291" y="149"/>
                  </a:cxn>
                  <a:cxn ang="0">
                    <a:pos x="288" y="176"/>
                  </a:cxn>
                  <a:cxn ang="0">
                    <a:pos x="283" y="200"/>
                  </a:cxn>
                  <a:cxn ang="0">
                    <a:pos x="282" y="235"/>
                  </a:cxn>
                  <a:cxn ang="0">
                    <a:pos x="280" y="265"/>
                  </a:cxn>
                  <a:cxn ang="0">
                    <a:pos x="280" y="285"/>
                  </a:cxn>
                  <a:cxn ang="0">
                    <a:pos x="270" y="260"/>
                  </a:cxn>
                  <a:cxn ang="0">
                    <a:pos x="250" y="248"/>
                  </a:cxn>
                  <a:cxn ang="0">
                    <a:pos x="232" y="241"/>
                  </a:cxn>
                  <a:cxn ang="0">
                    <a:pos x="210" y="236"/>
                  </a:cxn>
                  <a:cxn ang="0">
                    <a:pos x="175" y="229"/>
                  </a:cxn>
                  <a:cxn ang="0">
                    <a:pos x="141" y="228"/>
                  </a:cxn>
                  <a:cxn ang="0">
                    <a:pos x="121" y="228"/>
                  </a:cxn>
                  <a:cxn ang="0">
                    <a:pos x="90" y="230"/>
                  </a:cxn>
                  <a:cxn ang="0">
                    <a:pos x="54" y="237"/>
                  </a:cxn>
                  <a:cxn ang="0">
                    <a:pos x="31" y="246"/>
                  </a:cxn>
                  <a:cxn ang="0">
                    <a:pos x="16" y="255"/>
                  </a:cxn>
                  <a:cxn ang="0">
                    <a:pos x="0" y="268"/>
                  </a:cxn>
                </a:cxnLst>
                <a:rect l="0" t="0" r="r" b="b"/>
                <a:pathLst>
                  <a:path w="319" h="286">
                    <a:moveTo>
                      <a:pt x="1" y="275"/>
                    </a:moveTo>
                    <a:lnTo>
                      <a:pt x="3" y="254"/>
                    </a:lnTo>
                    <a:lnTo>
                      <a:pt x="12" y="235"/>
                    </a:lnTo>
                    <a:lnTo>
                      <a:pt x="19" y="219"/>
                    </a:lnTo>
                    <a:lnTo>
                      <a:pt x="24" y="194"/>
                    </a:lnTo>
                    <a:lnTo>
                      <a:pt x="30" y="161"/>
                    </a:lnTo>
                    <a:lnTo>
                      <a:pt x="34" y="126"/>
                    </a:lnTo>
                    <a:lnTo>
                      <a:pt x="37" y="94"/>
                    </a:lnTo>
                    <a:lnTo>
                      <a:pt x="39" y="67"/>
                    </a:lnTo>
                    <a:lnTo>
                      <a:pt x="40" y="43"/>
                    </a:lnTo>
                    <a:lnTo>
                      <a:pt x="48" y="29"/>
                    </a:lnTo>
                    <a:lnTo>
                      <a:pt x="63" y="16"/>
                    </a:lnTo>
                    <a:lnTo>
                      <a:pt x="78" y="9"/>
                    </a:lnTo>
                    <a:lnTo>
                      <a:pt x="102" y="2"/>
                    </a:lnTo>
                    <a:lnTo>
                      <a:pt x="129" y="0"/>
                    </a:lnTo>
                    <a:lnTo>
                      <a:pt x="171" y="0"/>
                    </a:lnTo>
                    <a:lnTo>
                      <a:pt x="208" y="2"/>
                    </a:lnTo>
                    <a:lnTo>
                      <a:pt x="244" y="9"/>
                    </a:lnTo>
                    <a:lnTo>
                      <a:pt x="277" y="21"/>
                    </a:lnTo>
                    <a:lnTo>
                      <a:pt x="298" y="35"/>
                    </a:lnTo>
                    <a:lnTo>
                      <a:pt x="310" y="47"/>
                    </a:lnTo>
                    <a:lnTo>
                      <a:pt x="318" y="61"/>
                    </a:lnTo>
                    <a:lnTo>
                      <a:pt x="316" y="75"/>
                    </a:lnTo>
                    <a:lnTo>
                      <a:pt x="313" y="89"/>
                    </a:lnTo>
                    <a:lnTo>
                      <a:pt x="303" y="104"/>
                    </a:lnTo>
                    <a:lnTo>
                      <a:pt x="295" y="123"/>
                    </a:lnTo>
                    <a:lnTo>
                      <a:pt x="291" y="149"/>
                    </a:lnTo>
                    <a:lnTo>
                      <a:pt x="288" y="176"/>
                    </a:lnTo>
                    <a:lnTo>
                      <a:pt x="283" y="200"/>
                    </a:lnTo>
                    <a:lnTo>
                      <a:pt x="282" y="235"/>
                    </a:lnTo>
                    <a:lnTo>
                      <a:pt x="280" y="265"/>
                    </a:lnTo>
                    <a:lnTo>
                      <a:pt x="280" y="285"/>
                    </a:lnTo>
                    <a:lnTo>
                      <a:pt x="270" y="260"/>
                    </a:lnTo>
                    <a:lnTo>
                      <a:pt x="250" y="248"/>
                    </a:lnTo>
                    <a:lnTo>
                      <a:pt x="232" y="241"/>
                    </a:lnTo>
                    <a:lnTo>
                      <a:pt x="210" y="236"/>
                    </a:lnTo>
                    <a:lnTo>
                      <a:pt x="175" y="229"/>
                    </a:lnTo>
                    <a:lnTo>
                      <a:pt x="141" y="228"/>
                    </a:lnTo>
                    <a:lnTo>
                      <a:pt x="121" y="228"/>
                    </a:lnTo>
                    <a:lnTo>
                      <a:pt x="90" y="230"/>
                    </a:lnTo>
                    <a:lnTo>
                      <a:pt x="54" y="237"/>
                    </a:lnTo>
                    <a:lnTo>
                      <a:pt x="31" y="246"/>
                    </a:lnTo>
                    <a:lnTo>
                      <a:pt x="16" y="255"/>
                    </a:lnTo>
                    <a:lnTo>
                      <a:pt x="0" y="268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70" name="Freeform 46"/>
              <p:cNvSpPr>
                <a:spLocks/>
              </p:cNvSpPr>
              <p:nvPr/>
            </p:nvSpPr>
            <p:spPr bwMode="ltGray">
              <a:xfrm>
                <a:off x="4319" y="160"/>
                <a:ext cx="832" cy="4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56"/>
                  </a:cxn>
                  <a:cxn ang="0">
                    <a:pos x="84" y="374"/>
                  </a:cxn>
                  <a:cxn ang="0">
                    <a:pos x="153" y="393"/>
                  </a:cxn>
                  <a:cxn ang="0">
                    <a:pos x="210" y="404"/>
                  </a:cxn>
                  <a:cxn ang="0">
                    <a:pos x="258" y="410"/>
                  </a:cxn>
                  <a:cxn ang="0">
                    <a:pos x="312" y="416"/>
                  </a:cxn>
                  <a:cxn ang="0">
                    <a:pos x="402" y="419"/>
                  </a:cxn>
                  <a:cxn ang="0">
                    <a:pos x="485" y="412"/>
                  </a:cxn>
                  <a:cxn ang="0">
                    <a:pos x="570" y="399"/>
                  </a:cxn>
                  <a:cxn ang="0">
                    <a:pos x="652" y="377"/>
                  </a:cxn>
                  <a:cxn ang="0">
                    <a:pos x="724" y="347"/>
                  </a:cxn>
                  <a:cxn ang="0">
                    <a:pos x="784" y="306"/>
                  </a:cxn>
                  <a:cxn ang="0">
                    <a:pos x="829" y="291"/>
                  </a:cxn>
                  <a:cxn ang="0">
                    <a:pos x="831" y="2"/>
                  </a:cxn>
                  <a:cxn ang="0">
                    <a:pos x="786" y="9"/>
                  </a:cxn>
                  <a:cxn ang="0">
                    <a:pos x="726" y="29"/>
                  </a:cxn>
                  <a:cxn ang="0">
                    <a:pos x="654" y="55"/>
                  </a:cxn>
                  <a:cxn ang="0">
                    <a:pos x="585" y="70"/>
                  </a:cxn>
                  <a:cxn ang="0">
                    <a:pos x="515" y="78"/>
                  </a:cxn>
                  <a:cxn ang="0">
                    <a:pos x="468" y="82"/>
                  </a:cxn>
                  <a:cxn ang="0">
                    <a:pos x="428" y="84"/>
                  </a:cxn>
                  <a:cxn ang="0">
                    <a:pos x="358" y="84"/>
                  </a:cxn>
                  <a:cxn ang="0">
                    <a:pos x="314" y="81"/>
                  </a:cxn>
                  <a:cxn ang="0">
                    <a:pos x="274" y="76"/>
                  </a:cxn>
                  <a:cxn ang="0">
                    <a:pos x="229" y="73"/>
                  </a:cxn>
                  <a:cxn ang="0">
                    <a:pos x="190" y="66"/>
                  </a:cxn>
                  <a:cxn ang="0">
                    <a:pos x="140" y="57"/>
                  </a:cxn>
                  <a:cxn ang="0">
                    <a:pos x="96" y="44"/>
                  </a:cxn>
                  <a:cxn ang="0">
                    <a:pos x="49" y="24"/>
                  </a:cxn>
                  <a:cxn ang="0">
                    <a:pos x="0" y="0"/>
                  </a:cxn>
                </a:cxnLst>
                <a:rect l="0" t="0" r="r" b="b"/>
                <a:pathLst>
                  <a:path w="832" h="420">
                    <a:moveTo>
                      <a:pt x="0" y="0"/>
                    </a:moveTo>
                    <a:lnTo>
                      <a:pt x="0" y="356"/>
                    </a:lnTo>
                    <a:lnTo>
                      <a:pt x="84" y="374"/>
                    </a:lnTo>
                    <a:lnTo>
                      <a:pt x="153" y="393"/>
                    </a:lnTo>
                    <a:lnTo>
                      <a:pt x="210" y="404"/>
                    </a:lnTo>
                    <a:lnTo>
                      <a:pt x="258" y="410"/>
                    </a:lnTo>
                    <a:lnTo>
                      <a:pt x="312" y="416"/>
                    </a:lnTo>
                    <a:lnTo>
                      <a:pt x="402" y="419"/>
                    </a:lnTo>
                    <a:lnTo>
                      <a:pt x="485" y="412"/>
                    </a:lnTo>
                    <a:lnTo>
                      <a:pt x="570" y="399"/>
                    </a:lnTo>
                    <a:lnTo>
                      <a:pt x="652" y="377"/>
                    </a:lnTo>
                    <a:lnTo>
                      <a:pt x="724" y="347"/>
                    </a:lnTo>
                    <a:lnTo>
                      <a:pt x="784" y="306"/>
                    </a:lnTo>
                    <a:lnTo>
                      <a:pt x="829" y="291"/>
                    </a:lnTo>
                    <a:lnTo>
                      <a:pt x="831" y="2"/>
                    </a:lnTo>
                    <a:lnTo>
                      <a:pt x="786" y="9"/>
                    </a:lnTo>
                    <a:lnTo>
                      <a:pt x="726" y="29"/>
                    </a:lnTo>
                    <a:lnTo>
                      <a:pt x="654" y="55"/>
                    </a:lnTo>
                    <a:lnTo>
                      <a:pt x="585" y="70"/>
                    </a:lnTo>
                    <a:lnTo>
                      <a:pt x="515" y="78"/>
                    </a:lnTo>
                    <a:lnTo>
                      <a:pt x="468" y="82"/>
                    </a:lnTo>
                    <a:lnTo>
                      <a:pt x="428" y="84"/>
                    </a:lnTo>
                    <a:lnTo>
                      <a:pt x="358" y="84"/>
                    </a:lnTo>
                    <a:lnTo>
                      <a:pt x="314" y="81"/>
                    </a:lnTo>
                    <a:lnTo>
                      <a:pt x="274" y="76"/>
                    </a:lnTo>
                    <a:lnTo>
                      <a:pt x="229" y="73"/>
                    </a:lnTo>
                    <a:lnTo>
                      <a:pt x="190" y="66"/>
                    </a:lnTo>
                    <a:lnTo>
                      <a:pt x="140" y="57"/>
                    </a:lnTo>
                    <a:lnTo>
                      <a:pt x="96" y="44"/>
                    </a:lnTo>
                    <a:lnTo>
                      <a:pt x="49" y="24"/>
                    </a:lnTo>
                    <a:lnTo>
                      <a:pt x="0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</p:grpSp>
      </p:grpSp>
      <p:sp>
        <p:nvSpPr>
          <p:cNvPr id="1073" name="Rectangle 49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9144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44" name="Rectangle 50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22860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75" name="Rectangle 5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618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1076" name="Rectangle 5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4008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1077" name="Rectangle 5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2618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C381EAB4-37B6-451E-A4A6-58884214378D}" type="slidenum">
              <a:rPr lang="en-US" smtClean="0">
                <a:solidFill>
                  <a:srgbClr val="F8F8F8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0773968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019" r:id="rId1"/>
    <p:sldLayoutId id="2147484020" r:id="rId2"/>
    <p:sldLayoutId id="2147484021" r:id="rId3"/>
    <p:sldLayoutId id="2147484022" r:id="rId4"/>
    <p:sldLayoutId id="2147484023" r:id="rId5"/>
    <p:sldLayoutId id="2147484024" r:id="rId6"/>
    <p:sldLayoutId id="2147484025" r:id="rId7"/>
    <p:sldLayoutId id="2147484026" r:id="rId8"/>
    <p:sldLayoutId id="2147484027" r:id="rId9"/>
    <p:sldLayoutId id="2147484028" r:id="rId10"/>
    <p:sldLayoutId id="2147484029" r:id="rId11"/>
    <p:sldLayoutId id="2147484030" r:id="rId12"/>
    <p:sldLayoutId id="214748403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48"/>
          <p:cNvGrpSpPr>
            <a:grpSpLocks/>
          </p:cNvGrpSpPr>
          <p:nvPr/>
        </p:nvGrpSpPr>
        <p:grpSpPr bwMode="auto">
          <a:xfrm>
            <a:off x="1" y="-17463"/>
            <a:ext cx="12238567" cy="6905626"/>
            <a:chOff x="0" y="-11"/>
            <a:chExt cx="5782" cy="4350"/>
          </a:xfrm>
        </p:grpSpPr>
        <p:sp>
          <p:nvSpPr>
            <p:cNvPr id="1026" name="Rectangle 2"/>
            <p:cNvSpPr>
              <a:spLocks noChangeArrowheads="1"/>
            </p:cNvSpPr>
            <p:nvPr/>
          </p:nvSpPr>
          <p:spPr bwMode="hidden">
            <a:xfrm>
              <a:off x="0" y="1008"/>
              <a:ext cx="5774" cy="3331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ru-RU" sz="2400">
                <a:solidFill>
                  <a:srgbClr val="F8F8F8"/>
                </a:solidFill>
              </a:endParaRPr>
            </a:p>
          </p:txBody>
        </p:sp>
        <p:sp>
          <p:nvSpPr>
            <p:cNvPr id="1027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5759" cy="864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ru-RU" sz="2400">
                <a:solidFill>
                  <a:srgbClr val="F8F8F8"/>
                </a:solidFill>
              </a:endParaRPr>
            </a:p>
          </p:txBody>
        </p:sp>
        <p:grpSp>
          <p:nvGrpSpPr>
            <p:cNvPr id="10250" name="Group 6"/>
            <p:cNvGrpSpPr>
              <a:grpSpLocks/>
            </p:cNvGrpSpPr>
            <p:nvPr/>
          </p:nvGrpSpPr>
          <p:grpSpPr bwMode="auto">
            <a:xfrm>
              <a:off x="5301" y="-11"/>
              <a:ext cx="481" cy="4284"/>
              <a:chOff x="5301" y="-11"/>
              <a:chExt cx="481" cy="4284"/>
            </a:xfrm>
          </p:grpSpPr>
          <p:sp>
            <p:nvSpPr>
              <p:cNvPr id="1028" name="Freeform 4"/>
              <p:cNvSpPr>
                <a:spLocks/>
              </p:cNvSpPr>
              <p:nvPr/>
            </p:nvSpPr>
            <p:spPr bwMode="ltGray">
              <a:xfrm>
                <a:off x="5301" y="-11"/>
                <a:ext cx="241" cy="4284"/>
              </a:xfrm>
              <a:custGeom>
                <a:avLst/>
                <a:gdLst/>
                <a:ahLst/>
                <a:cxnLst>
                  <a:cxn ang="0">
                    <a:pos x="0" y="4234"/>
                  </a:cxn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4234"/>
                  </a:cxn>
                  <a:cxn ang="0">
                    <a:pos x="192" y="4283"/>
                  </a:cxn>
                  <a:cxn ang="0">
                    <a:pos x="144" y="4281"/>
                  </a:cxn>
                  <a:cxn ang="0">
                    <a:pos x="112" y="4281"/>
                  </a:cxn>
                  <a:cxn ang="0">
                    <a:pos x="49" y="4281"/>
                  </a:cxn>
                  <a:cxn ang="0">
                    <a:pos x="0" y="4234"/>
                  </a:cxn>
                </a:cxnLst>
                <a:rect l="0" t="0" r="r" b="b"/>
                <a:pathLst>
                  <a:path w="241" h="4284">
                    <a:moveTo>
                      <a:pt x="0" y="4234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40" y="4234"/>
                    </a:lnTo>
                    <a:lnTo>
                      <a:pt x="192" y="4283"/>
                    </a:lnTo>
                    <a:lnTo>
                      <a:pt x="144" y="4281"/>
                    </a:lnTo>
                    <a:lnTo>
                      <a:pt x="112" y="4281"/>
                    </a:lnTo>
                    <a:lnTo>
                      <a:pt x="49" y="4281"/>
                    </a:lnTo>
                    <a:lnTo>
                      <a:pt x="0" y="4234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29" name="Freeform 5"/>
              <p:cNvSpPr>
                <a:spLocks/>
              </p:cNvSpPr>
              <p:nvPr/>
            </p:nvSpPr>
            <p:spPr bwMode="ltGray">
              <a:xfrm>
                <a:off x="5541" y="-11"/>
                <a:ext cx="241" cy="4284"/>
              </a:xfrm>
              <a:custGeom>
                <a:avLst/>
                <a:gdLst/>
                <a:ahLst/>
                <a:cxnLst>
                  <a:cxn ang="0">
                    <a:pos x="0" y="4234"/>
                  </a:cxn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4234"/>
                  </a:cxn>
                  <a:cxn ang="0">
                    <a:pos x="192" y="4283"/>
                  </a:cxn>
                  <a:cxn ang="0">
                    <a:pos x="144" y="4281"/>
                  </a:cxn>
                  <a:cxn ang="0">
                    <a:pos x="112" y="4281"/>
                  </a:cxn>
                  <a:cxn ang="0">
                    <a:pos x="49" y="4281"/>
                  </a:cxn>
                  <a:cxn ang="0">
                    <a:pos x="0" y="4234"/>
                  </a:cxn>
                </a:cxnLst>
                <a:rect l="0" t="0" r="r" b="b"/>
                <a:pathLst>
                  <a:path w="241" h="4284">
                    <a:moveTo>
                      <a:pt x="0" y="4234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40" y="4234"/>
                    </a:lnTo>
                    <a:lnTo>
                      <a:pt x="192" y="4283"/>
                    </a:lnTo>
                    <a:lnTo>
                      <a:pt x="144" y="4281"/>
                    </a:lnTo>
                    <a:lnTo>
                      <a:pt x="112" y="4281"/>
                    </a:lnTo>
                    <a:lnTo>
                      <a:pt x="49" y="4281"/>
                    </a:lnTo>
                    <a:lnTo>
                      <a:pt x="0" y="4234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</p:grpSp>
        <p:grpSp>
          <p:nvGrpSpPr>
            <p:cNvPr id="10251" name="Group 9"/>
            <p:cNvGrpSpPr>
              <a:grpSpLocks/>
            </p:cNvGrpSpPr>
            <p:nvPr/>
          </p:nvGrpSpPr>
          <p:grpSpPr bwMode="auto">
            <a:xfrm>
              <a:off x="0" y="0"/>
              <a:ext cx="481" cy="4273"/>
              <a:chOff x="0" y="0"/>
              <a:chExt cx="481" cy="4273"/>
            </a:xfrm>
          </p:grpSpPr>
          <p:sp>
            <p:nvSpPr>
              <p:cNvPr id="1031" name="Freeform 7"/>
              <p:cNvSpPr>
                <a:spLocks/>
              </p:cNvSpPr>
              <p:nvPr/>
            </p:nvSpPr>
            <p:spPr bwMode="ltGray">
              <a:xfrm>
                <a:off x="0" y="0"/>
                <a:ext cx="241" cy="4273"/>
              </a:xfrm>
              <a:custGeom>
                <a:avLst/>
                <a:gdLst/>
                <a:ahLst/>
                <a:cxnLst>
                  <a:cxn ang="0">
                    <a:pos x="0" y="4223"/>
                  </a:cxn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4223"/>
                  </a:cxn>
                  <a:cxn ang="0">
                    <a:pos x="192" y="4272"/>
                  </a:cxn>
                  <a:cxn ang="0">
                    <a:pos x="144" y="4270"/>
                  </a:cxn>
                  <a:cxn ang="0">
                    <a:pos x="112" y="4270"/>
                  </a:cxn>
                  <a:cxn ang="0">
                    <a:pos x="49" y="4270"/>
                  </a:cxn>
                  <a:cxn ang="0">
                    <a:pos x="0" y="4223"/>
                  </a:cxn>
                </a:cxnLst>
                <a:rect l="0" t="0" r="r" b="b"/>
                <a:pathLst>
                  <a:path w="241" h="4273">
                    <a:moveTo>
                      <a:pt x="0" y="4223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40" y="4223"/>
                    </a:lnTo>
                    <a:lnTo>
                      <a:pt x="192" y="4272"/>
                    </a:lnTo>
                    <a:lnTo>
                      <a:pt x="144" y="4270"/>
                    </a:lnTo>
                    <a:lnTo>
                      <a:pt x="112" y="4270"/>
                    </a:lnTo>
                    <a:lnTo>
                      <a:pt x="49" y="4270"/>
                    </a:lnTo>
                    <a:lnTo>
                      <a:pt x="0" y="4223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32" name="Freeform 8"/>
              <p:cNvSpPr>
                <a:spLocks/>
              </p:cNvSpPr>
              <p:nvPr/>
            </p:nvSpPr>
            <p:spPr bwMode="ltGray">
              <a:xfrm>
                <a:off x="240" y="0"/>
                <a:ext cx="241" cy="4273"/>
              </a:xfrm>
              <a:custGeom>
                <a:avLst/>
                <a:gdLst/>
                <a:ahLst/>
                <a:cxnLst>
                  <a:cxn ang="0">
                    <a:pos x="0" y="4223"/>
                  </a:cxn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4223"/>
                  </a:cxn>
                  <a:cxn ang="0">
                    <a:pos x="192" y="4272"/>
                  </a:cxn>
                  <a:cxn ang="0">
                    <a:pos x="144" y="4270"/>
                  </a:cxn>
                  <a:cxn ang="0">
                    <a:pos x="112" y="4270"/>
                  </a:cxn>
                  <a:cxn ang="0">
                    <a:pos x="49" y="4270"/>
                  </a:cxn>
                  <a:cxn ang="0">
                    <a:pos x="0" y="4223"/>
                  </a:cxn>
                </a:cxnLst>
                <a:rect l="0" t="0" r="r" b="b"/>
                <a:pathLst>
                  <a:path w="241" h="4273">
                    <a:moveTo>
                      <a:pt x="0" y="4223"/>
                    </a:moveTo>
                    <a:lnTo>
                      <a:pt x="0" y="0"/>
                    </a:lnTo>
                    <a:lnTo>
                      <a:pt x="240" y="0"/>
                    </a:lnTo>
                    <a:lnTo>
                      <a:pt x="240" y="4223"/>
                    </a:lnTo>
                    <a:lnTo>
                      <a:pt x="192" y="4272"/>
                    </a:lnTo>
                    <a:lnTo>
                      <a:pt x="144" y="4270"/>
                    </a:lnTo>
                    <a:lnTo>
                      <a:pt x="112" y="4270"/>
                    </a:lnTo>
                    <a:lnTo>
                      <a:pt x="49" y="4270"/>
                    </a:lnTo>
                    <a:lnTo>
                      <a:pt x="0" y="4223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</p:grpSp>
        <p:grpSp>
          <p:nvGrpSpPr>
            <p:cNvPr id="10252" name="Group 47"/>
            <p:cNvGrpSpPr>
              <a:grpSpLocks/>
            </p:cNvGrpSpPr>
            <p:nvPr/>
          </p:nvGrpSpPr>
          <p:grpSpPr bwMode="auto">
            <a:xfrm>
              <a:off x="82" y="22"/>
              <a:ext cx="5590" cy="891"/>
              <a:chOff x="82" y="22"/>
              <a:chExt cx="5590" cy="891"/>
            </a:xfrm>
          </p:grpSpPr>
          <p:grpSp>
            <p:nvGrpSpPr>
              <p:cNvPr id="10253" name="Group 28"/>
              <p:cNvGrpSpPr>
                <a:grpSpLocks/>
              </p:cNvGrpSpPr>
              <p:nvPr/>
            </p:nvGrpSpPr>
            <p:grpSpPr bwMode="auto">
              <a:xfrm>
                <a:off x="134" y="22"/>
                <a:ext cx="5538" cy="850"/>
                <a:chOff x="134" y="22"/>
                <a:chExt cx="5538" cy="850"/>
              </a:xfrm>
            </p:grpSpPr>
            <p:sp>
              <p:nvSpPr>
                <p:cNvPr id="1034" name="Freeform 10"/>
                <p:cNvSpPr>
                  <a:spLocks/>
                </p:cNvSpPr>
                <p:nvPr/>
              </p:nvSpPr>
              <p:spPr bwMode="ltGray">
                <a:xfrm>
                  <a:off x="5269" y="734"/>
                  <a:ext cx="156" cy="117"/>
                </a:xfrm>
                <a:custGeom>
                  <a:avLst/>
                  <a:gdLst/>
                  <a:ahLst/>
                  <a:cxnLst>
                    <a:cxn ang="0">
                      <a:pos x="83" y="0"/>
                    </a:cxn>
                    <a:cxn ang="0">
                      <a:pos x="134" y="19"/>
                    </a:cxn>
                    <a:cxn ang="0">
                      <a:pos x="152" y="45"/>
                    </a:cxn>
                    <a:cxn ang="0">
                      <a:pos x="155" y="70"/>
                    </a:cxn>
                    <a:cxn ang="0">
                      <a:pos x="155" y="83"/>
                    </a:cxn>
                    <a:cxn ang="0">
                      <a:pos x="146" y="99"/>
                    </a:cxn>
                    <a:cxn ang="0">
                      <a:pos x="126" y="107"/>
                    </a:cxn>
                    <a:cxn ang="0">
                      <a:pos x="105" y="113"/>
                    </a:cxn>
                    <a:cxn ang="0">
                      <a:pos x="86" y="116"/>
                    </a:cxn>
                    <a:cxn ang="0">
                      <a:pos x="69" y="116"/>
                    </a:cxn>
                    <a:cxn ang="0">
                      <a:pos x="41" y="111"/>
                    </a:cxn>
                    <a:cxn ang="0">
                      <a:pos x="21" y="106"/>
                    </a:cxn>
                    <a:cxn ang="0">
                      <a:pos x="9" y="98"/>
                    </a:cxn>
                    <a:cxn ang="0">
                      <a:pos x="2" y="89"/>
                    </a:cxn>
                    <a:cxn ang="0">
                      <a:pos x="0" y="78"/>
                    </a:cxn>
                    <a:cxn ang="0">
                      <a:pos x="2" y="60"/>
                    </a:cxn>
                    <a:cxn ang="0">
                      <a:pos x="9" y="11"/>
                    </a:cxn>
                    <a:cxn ang="0">
                      <a:pos x="83" y="0"/>
                    </a:cxn>
                  </a:cxnLst>
                  <a:rect l="0" t="0" r="r" b="b"/>
                  <a:pathLst>
                    <a:path w="156" h="117">
                      <a:moveTo>
                        <a:pt x="83" y="0"/>
                      </a:moveTo>
                      <a:lnTo>
                        <a:pt x="134" y="19"/>
                      </a:lnTo>
                      <a:lnTo>
                        <a:pt x="152" y="45"/>
                      </a:lnTo>
                      <a:lnTo>
                        <a:pt x="155" y="70"/>
                      </a:lnTo>
                      <a:lnTo>
                        <a:pt x="155" y="83"/>
                      </a:lnTo>
                      <a:lnTo>
                        <a:pt x="146" y="99"/>
                      </a:lnTo>
                      <a:lnTo>
                        <a:pt x="126" y="107"/>
                      </a:lnTo>
                      <a:lnTo>
                        <a:pt x="105" y="113"/>
                      </a:lnTo>
                      <a:lnTo>
                        <a:pt x="86" y="116"/>
                      </a:lnTo>
                      <a:lnTo>
                        <a:pt x="69" y="116"/>
                      </a:lnTo>
                      <a:lnTo>
                        <a:pt x="41" y="111"/>
                      </a:lnTo>
                      <a:lnTo>
                        <a:pt x="21" y="106"/>
                      </a:lnTo>
                      <a:lnTo>
                        <a:pt x="9" y="98"/>
                      </a:lnTo>
                      <a:lnTo>
                        <a:pt x="2" y="89"/>
                      </a:lnTo>
                      <a:lnTo>
                        <a:pt x="0" y="78"/>
                      </a:lnTo>
                      <a:lnTo>
                        <a:pt x="2" y="60"/>
                      </a:lnTo>
                      <a:lnTo>
                        <a:pt x="9" y="11"/>
                      </a:lnTo>
                      <a:lnTo>
                        <a:pt x="83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35" name="Freeform 11"/>
                <p:cNvSpPr>
                  <a:spLocks/>
                </p:cNvSpPr>
                <p:nvPr/>
              </p:nvSpPr>
              <p:spPr bwMode="ltGray">
                <a:xfrm>
                  <a:off x="5265" y="746"/>
                  <a:ext cx="88" cy="75"/>
                </a:xfrm>
                <a:custGeom>
                  <a:avLst/>
                  <a:gdLst/>
                  <a:ahLst/>
                  <a:cxnLst>
                    <a:cxn ang="0">
                      <a:pos x="0" y="69"/>
                    </a:cxn>
                    <a:cxn ang="0">
                      <a:pos x="11" y="0"/>
                    </a:cxn>
                    <a:cxn ang="0">
                      <a:pos x="54" y="5"/>
                    </a:cxn>
                    <a:cxn ang="0">
                      <a:pos x="87" y="9"/>
                    </a:cxn>
                    <a:cxn ang="0">
                      <a:pos x="78" y="74"/>
                    </a:cxn>
                    <a:cxn ang="0">
                      <a:pos x="75" y="59"/>
                    </a:cxn>
                    <a:cxn ang="0">
                      <a:pos x="65" y="48"/>
                    </a:cxn>
                    <a:cxn ang="0">
                      <a:pos x="47" y="44"/>
                    </a:cxn>
                    <a:cxn ang="0">
                      <a:pos x="27" y="45"/>
                    </a:cxn>
                    <a:cxn ang="0">
                      <a:pos x="11" y="52"/>
                    </a:cxn>
                    <a:cxn ang="0">
                      <a:pos x="0" y="69"/>
                    </a:cxn>
                  </a:cxnLst>
                  <a:rect l="0" t="0" r="r" b="b"/>
                  <a:pathLst>
                    <a:path w="88" h="75">
                      <a:moveTo>
                        <a:pt x="0" y="69"/>
                      </a:moveTo>
                      <a:lnTo>
                        <a:pt x="11" y="0"/>
                      </a:lnTo>
                      <a:lnTo>
                        <a:pt x="54" y="5"/>
                      </a:lnTo>
                      <a:lnTo>
                        <a:pt x="87" y="9"/>
                      </a:lnTo>
                      <a:lnTo>
                        <a:pt x="78" y="74"/>
                      </a:lnTo>
                      <a:lnTo>
                        <a:pt x="75" y="59"/>
                      </a:lnTo>
                      <a:lnTo>
                        <a:pt x="65" y="48"/>
                      </a:lnTo>
                      <a:lnTo>
                        <a:pt x="47" y="44"/>
                      </a:lnTo>
                      <a:lnTo>
                        <a:pt x="27" y="45"/>
                      </a:lnTo>
                      <a:lnTo>
                        <a:pt x="11" y="52"/>
                      </a:lnTo>
                      <a:lnTo>
                        <a:pt x="0" y="69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36" name="Freeform 12"/>
                <p:cNvSpPr>
                  <a:spLocks/>
                </p:cNvSpPr>
                <p:nvPr/>
              </p:nvSpPr>
              <p:spPr bwMode="ltGray">
                <a:xfrm>
                  <a:off x="475" y="725"/>
                  <a:ext cx="156" cy="117"/>
                </a:xfrm>
                <a:custGeom>
                  <a:avLst/>
                  <a:gdLst/>
                  <a:ahLst/>
                  <a:cxnLst>
                    <a:cxn ang="0">
                      <a:pos x="72" y="0"/>
                    </a:cxn>
                    <a:cxn ang="0">
                      <a:pos x="21" y="19"/>
                    </a:cxn>
                    <a:cxn ang="0">
                      <a:pos x="3" y="45"/>
                    </a:cxn>
                    <a:cxn ang="0">
                      <a:pos x="0" y="70"/>
                    </a:cxn>
                    <a:cxn ang="0">
                      <a:pos x="0" y="83"/>
                    </a:cxn>
                    <a:cxn ang="0">
                      <a:pos x="9" y="99"/>
                    </a:cxn>
                    <a:cxn ang="0">
                      <a:pos x="29" y="107"/>
                    </a:cxn>
                    <a:cxn ang="0">
                      <a:pos x="50" y="113"/>
                    </a:cxn>
                    <a:cxn ang="0">
                      <a:pos x="69" y="116"/>
                    </a:cxn>
                    <a:cxn ang="0">
                      <a:pos x="86" y="116"/>
                    </a:cxn>
                    <a:cxn ang="0">
                      <a:pos x="114" y="111"/>
                    </a:cxn>
                    <a:cxn ang="0">
                      <a:pos x="134" y="106"/>
                    </a:cxn>
                    <a:cxn ang="0">
                      <a:pos x="146" y="98"/>
                    </a:cxn>
                    <a:cxn ang="0">
                      <a:pos x="153" y="89"/>
                    </a:cxn>
                    <a:cxn ang="0">
                      <a:pos x="155" y="78"/>
                    </a:cxn>
                    <a:cxn ang="0">
                      <a:pos x="153" y="60"/>
                    </a:cxn>
                    <a:cxn ang="0">
                      <a:pos x="146" y="11"/>
                    </a:cxn>
                    <a:cxn ang="0">
                      <a:pos x="72" y="0"/>
                    </a:cxn>
                  </a:cxnLst>
                  <a:rect l="0" t="0" r="r" b="b"/>
                  <a:pathLst>
                    <a:path w="156" h="117">
                      <a:moveTo>
                        <a:pt x="72" y="0"/>
                      </a:moveTo>
                      <a:lnTo>
                        <a:pt x="21" y="19"/>
                      </a:lnTo>
                      <a:lnTo>
                        <a:pt x="3" y="45"/>
                      </a:lnTo>
                      <a:lnTo>
                        <a:pt x="0" y="70"/>
                      </a:lnTo>
                      <a:lnTo>
                        <a:pt x="0" y="83"/>
                      </a:lnTo>
                      <a:lnTo>
                        <a:pt x="9" y="99"/>
                      </a:lnTo>
                      <a:lnTo>
                        <a:pt x="29" y="107"/>
                      </a:lnTo>
                      <a:lnTo>
                        <a:pt x="50" y="113"/>
                      </a:lnTo>
                      <a:lnTo>
                        <a:pt x="69" y="116"/>
                      </a:lnTo>
                      <a:lnTo>
                        <a:pt x="86" y="116"/>
                      </a:lnTo>
                      <a:lnTo>
                        <a:pt x="114" y="111"/>
                      </a:lnTo>
                      <a:lnTo>
                        <a:pt x="134" y="106"/>
                      </a:lnTo>
                      <a:lnTo>
                        <a:pt x="146" y="98"/>
                      </a:lnTo>
                      <a:lnTo>
                        <a:pt x="153" y="89"/>
                      </a:lnTo>
                      <a:lnTo>
                        <a:pt x="155" y="78"/>
                      </a:lnTo>
                      <a:lnTo>
                        <a:pt x="153" y="60"/>
                      </a:lnTo>
                      <a:lnTo>
                        <a:pt x="146" y="11"/>
                      </a:lnTo>
                      <a:lnTo>
                        <a:pt x="72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37" name="Freeform 13"/>
                <p:cNvSpPr>
                  <a:spLocks/>
                </p:cNvSpPr>
                <p:nvPr/>
              </p:nvSpPr>
              <p:spPr bwMode="ltGray">
                <a:xfrm>
                  <a:off x="547" y="738"/>
                  <a:ext cx="88" cy="75"/>
                </a:xfrm>
                <a:custGeom>
                  <a:avLst/>
                  <a:gdLst/>
                  <a:ahLst/>
                  <a:cxnLst>
                    <a:cxn ang="0">
                      <a:pos x="87" y="68"/>
                    </a:cxn>
                    <a:cxn ang="0">
                      <a:pos x="76" y="0"/>
                    </a:cxn>
                    <a:cxn ang="0">
                      <a:pos x="33" y="5"/>
                    </a:cxn>
                    <a:cxn ang="0">
                      <a:pos x="0" y="9"/>
                    </a:cxn>
                    <a:cxn ang="0">
                      <a:pos x="9" y="74"/>
                    </a:cxn>
                    <a:cxn ang="0">
                      <a:pos x="12" y="58"/>
                    </a:cxn>
                    <a:cxn ang="0">
                      <a:pos x="22" y="47"/>
                    </a:cxn>
                    <a:cxn ang="0">
                      <a:pos x="40" y="44"/>
                    </a:cxn>
                    <a:cxn ang="0">
                      <a:pos x="60" y="45"/>
                    </a:cxn>
                    <a:cxn ang="0">
                      <a:pos x="76" y="52"/>
                    </a:cxn>
                    <a:cxn ang="0">
                      <a:pos x="87" y="68"/>
                    </a:cxn>
                  </a:cxnLst>
                  <a:rect l="0" t="0" r="r" b="b"/>
                  <a:pathLst>
                    <a:path w="88" h="75">
                      <a:moveTo>
                        <a:pt x="87" y="68"/>
                      </a:moveTo>
                      <a:lnTo>
                        <a:pt x="76" y="0"/>
                      </a:lnTo>
                      <a:lnTo>
                        <a:pt x="33" y="5"/>
                      </a:lnTo>
                      <a:lnTo>
                        <a:pt x="0" y="9"/>
                      </a:lnTo>
                      <a:lnTo>
                        <a:pt x="9" y="74"/>
                      </a:lnTo>
                      <a:lnTo>
                        <a:pt x="12" y="58"/>
                      </a:lnTo>
                      <a:lnTo>
                        <a:pt x="22" y="47"/>
                      </a:lnTo>
                      <a:lnTo>
                        <a:pt x="40" y="44"/>
                      </a:lnTo>
                      <a:lnTo>
                        <a:pt x="60" y="45"/>
                      </a:lnTo>
                      <a:lnTo>
                        <a:pt x="76" y="52"/>
                      </a:lnTo>
                      <a:lnTo>
                        <a:pt x="87" y="68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38" name="Line 14"/>
                <p:cNvSpPr>
                  <a:spLocks noChangeShapeType="1"/>
                </p:cNvSpPr>
                <p:nvPr/>
              </p:nvSpPr>
              <p:spPr bwMode="ltGray">
                <a:xfrm flipV="1">
                  <a:off x="2020" y="309"/>
                  <a:ext cx="192" cy="87"/>
                </a:xfrm>
                <a:prstGeom prst="line">
                  <a:avLst/>
                </a:prstGeom>
                <a:noFill/>
                <a:ln w="12700">
                  <a:solidFill>
                    <a:schemeClr val="hlink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39" name="Freeform 15"/>
                <p:cNvSpPr>
                  <a:spLocks/>
                </p:cNvSpPr>
                <p:nvPr/>
              </p:nvSpPr>
              <p:spPr bwMode="ltGray">
                <a:xfrm>
                  <a:off x="1408" y="22"/>
                  <a:ext cx="2967" cy="457"/>
                </a:xfrm>
                <a:custGeom>
                  <a:avLst/>
                  <a:gdLst/>
                  <a:ahLst/>
                  <a:cxnLst>
                    <a:cxn ang="0">
                      <a:pos x="0" y="122"/>
                    </a:cxn>
                    <a:cxn ang="0">
                      <a:pos x="207" y="78"/>
                    </a:cxn>
                    <a:cxn ang="0">
                      <a:pos x="442" y="48"/>
                    </a:cxn>
                    <a:cxn ang="0">
                      <a:pos x="640" y="32"/>
                    </a:cxn>
                    <a:cxn ang="0">
                      <a:pos x="897" y="16"/>
                    </a:cxn>
                    <a:cxn ang="0">
                      <a:pos x="1215" y="2"/>
                    </a:cxn>
                    <a:cxn ang="0">
                      <a:pos x="1392" y="0"/>
                    </a:cxn>
                    <a:cxn ang="0">
                      <a:pos x="1710" y="0"/>
                    </a:cxn>
                    <a:cxn ang="0">
                      <a:pos x="1997" y="10"/>
                    </a:cxn>
                    <a:cxn ang="0">
                      <a:pos x="2258" y="21"/>
                    </a:cxn>
                    <a:cxn ang="0">
                      <a:pos x="2493" y="38"/>
                    </a:cxn>
                    <a:cxn ang="0">
                      <a:pos x="2674" y="54"/>
                    </a:cxn>
                    <a:cxn ang="0">
                      <a:pos x="2828" y="73"/>
                    </a:cxn>
                    <a:cxn ang="0">
                      <a:pos x="2966" y="92"/>
                    </a:cxn>
                    <a:cxn ang="0">
                      <a:pos x="2966" y="456"/>
                    </a:cxn>
                    <a:cxn ang="0">
                      <a:pos x="2833" y="434"/>
                    </a:cxn>
                    <a:cxn ang="0">
                      <a:pos x="2563" y="399"/>
                    </a:cxn>
                    <a:cxn ang="0">
                      <a:pos x="2382" y="382"/>
                    </a:cxn>
                    <a:cxn ang="0">
                      <a:pos x="2134" y="366"/>
                    </a:cxn>
                    <a:cxn ang="0">
                      <a:pos x="1944" y="358"/>
                    </a:cxn>
                    <a:cxn ang="0">
                      <a:pos x="1746" y="350"/>
                    </a:cxn>
                    <a:cxn ang="0">
                      <a:pos x="1529" y="350"/>
                    </a:cxn>
                    <a:cxn ang="0">
                      <a:pos x="1295" y="350"/>
                    </a:cxn>
                    <a:cxn ang="0">
                      <a:pos x="1047" y="355"/>
                    </a:cxn>
                    <a:cxn ang="0">
                      <a:pos x="853" y="363"/>
                    </a:cxn>
                    <a:cxn ang="0">
                      <a:pos x="654" y="374"/>
                    </a:cxn>
                    <a:cxn ang="0">
                      <a:pos x="468" y="388"/>
                    </a:cxn>
                    <a:cxn ang="0">
                      <a:pos x="296" y="404"/>
                    </a:cxn>
                    <a:cxn ang="0">
                      <a:pos x="150" y="423"/>
                    </a:cxn>
                    <a:cxn ang="0">
                      <a:pos x="13" y="445"/>
                    </a:cxn>
                    <a:cxn ang="0">
                      <a:pos x="0" y="122"/>
                    </a:cxn>
                  </a:cxnLst>
                  <a:rect l="0" t="0" r="r" b="b"/>
                  <a:pathLst>
                    <a:path w="2967" h="457">
                      <a:moveTo>
                        <a:pt x="0" y="122"/>
                      </a:moveTo>
                      <a:lnTo>
                        <a:pt x="207" y="78"/>
                      </a:lnTo>
                      <a:lnTo>
                        <a:pt x="442" y="48"/>
                      </a:lnTo>
                      <a:lnTo>
                        <a:pt x="640" y="32"/>
                      </a:lnTo>
                      <a:lnTo>
                        <a:pt x="897" y="16"/>
                      </a:lnTo>
                      <a:lnTo>
                        <a:pt x="1215" y="2"/>
                      </a:lnTo>
                      <a:lnTo>
                        <a:pt x="1392" y="0"/>
                      </a:lnTo>
                      <a:lnTo>
                        <a:pt x="1710" y="0"/>
                      </a:lnTo>
                      <a:lnTo>
                        <a:pt x="1997" y="10"/>
                      </a:lnTo>
                      <a:lnTo>
                        <a:pt x="2258" y="21"/>
                      </a:lnTo>
                      <a:lnTo>
                        <a:pt x="2493" y="38"/>
                      </a:lnTo>
                      <a:lnTo>
                        <a:pt x="2674" y="54"/>
                      </a:lnTo>
                      <a:lnTo>
                        <a:pt x="2828" y="73"/>
                      </a:lnTo>
                      <a:lnTo>
                        <a:pt x="2966" y="92"/>
                      </a:lnTo>
                      <a:lnTo>
                        <a:pt x="2966" y="456"/>
                      </a:lnTo>
                      <a:lnTo>
                        <a:pt x="2833" y="434"/>
                      </a:lnTo>
                      <a:lnTo>
                        <a:pt x="2563" y="399"/>
                      </a:lnTo>
                      <a:lnTo>
                        <a:pt x="2382" y="382"/>
                      </a:lnTo>
                      <a:lnTo>
                        <a:pt x="2134" y="366"/>
                      </a:lnTo>
                      <a:lnTo>
                        <a:pt x="1944" y="358"/>
                      </a:lnTo>
                      <a:lnTo>
                        <a:pt x="1746" y="350"/>
                      </a:lnTo>
                      <a:lnTo>
                        <a:pt x="1529" y="350"/>
                      </a:lnTo>
                      <a:lnTo>
                        <a:pt x="1295" y="350"/>
                      </a:lnTo>
                      <a:lnTo>
                        <a:pt x="1047" y="355"/>
                      </a:lnTo>
                      <a:lnTo>
                        <a:pt x="853" y="363"/>
                      </a:lnTo>
                      <a:lnTo>
                        <a:pt x="654" y="374"/>
                      </a:lnTo>
                      <a:lnTo>
                        <a:pt x="468" y="388"/>
                      </a:lnTo>
                      <a:lnTo>
                        <a:pt x="296" y="404"/>
                      </a:lnTo>
                      <a:lnTo>
                        <a:pt x="150" y="423"/>
                      </a:lnTo>
                      <a:lnTo>
                        <a:pt x="13" y="445"/>
                      </a:lnTo>
                      <a:lnTo>
                        <a:pt x="0" y="122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0" name="Freeform 16"/>
                <p:cNvSpPr>
                  <a:spLocks/>
                </p:cNvSpPr>
                <p:nvPr/>
              </p:nvSpPr>
              <p:spPr bwMode="ltGray">
                <a:xfrm>
                  <a:off x="607" y="118"/>
                  <a:ext cx="823" cy="431"/>
                </a:xfrm>
                <a:custGeom>
                  <a:avLst/>
                  <a:gdLst/>
                  <a:ahLst/>
                  <a:cxnLst>
                    <a:cxn ang="0">
                      <a:pos x="815" y="27"/>
                    </a:cxn>
                    <a:cxn ang="0">
                      <a:pos x="822" y="350"/>
                    </a:cxn>
                    <a:cxn ang="0">
                      <a:pos x="746" y="382"/>
                    </a:cxn>
                    <a:cxn ang="0">
                      <a:pos x="676" y="404"/>
                    </a:cxn>
                    <a:cxn ang="0">
                      <a:pos x="619" y="415"/>
                    </a:cxn>
                    <a:cxn ang="0">
                      <a:pos x="571" y="421"/>
                    </a:cxn>
                    <a:cxn ang="0">
                      <a:pos x="517" y="427"/>
                    </a:cxn>
                    <a:cxn ang="0">
                      <a:pos x="427" y="430"/>
                    </a:cxn>
                    <a:cxn ang="0">
                      <a:pos x="344" y="423"/>
                    </a:cxn>
                    <a:cxn ang="0">
                      <a:pos x="259" y="410"/>
                    </a:cxn>
                    <a:cxn ang="0">
                      <a:pos x="177" y="388"/>
                    </a:cxn>
                    <a:cxn ang="0">
                      <a:pos x="105" y="358"/>
                    </a:cxn>
                    <a:cxn ang="0">
                      <a:pos x="41" y="325"/>
                    </a:cxn>
                    <a:cxn ang="0">
                      <a:pos x="0" y="294"/>
                    </a:cxn>
                    <a:cxn ang="0">
                      <a:pos x="0" y="0"/>
                    </a:cxn>
                    <a:cxn ang="0">
                      <a:pos x="46" y="25"/>
                    </a:cxn>
                    <a:cxn ang="0">
                      <a:pos x="105" y="47"/>
                    </a:cxn>
                    <a:cxn ang="0">
                      <a:pos x="175" y="66"/>
                    </a:cxn>
                    <a:cxn ang="0">
                      <a:pos x="244" y="81"/>
                    </a:cxn>
                    <a:cxn ang="0">
                      <a:pos x="314" y="89"/>
                    </a:cxn>
                    <a:cxn ang="0">
                      <a:pos x="361" y="93"/>
                    </a:cxn>
                    <a:cxn ang="0">
                      <a:pos x="401" y="95"/>
                    </a:cxn>
                    <a:cxn ang="0">
                      <a:pos x="471" y="95"/>
                    </a:cxn>
                    <a:cxn ang="0">
                      <a:pos x="515" y="92"/>
                    </a:cxn>
                    <a:cxn ang="0">
                      <a:pos x="555" y="87"/>
                    </a:cxn>
                    <a:cxn ang="0">
                      <a:pos x="600" y="84"/>
                    </a:cxn>
                    <a:cxn ang="0">
                      <a:pos x="640" y="76"/>
                    </a:cxn>
                    <a:cxn ang="0">
                      <a:pos x="689" y="67"/>
                    </a:cxn>
                    <a:cxn ang="0">
                      <a:pos x="733" y="55"/>
                    </a:cxn>
                    <a:cxn ang="0">
                      <a:pos x="777" y="41"/>
                    </a:cxn>
                    <a:cxn ang="0">
                      <a:pos x="815" y="27"/>
                    </a:cxn>
                  </a:cxnLst>
                  <a:rect l="0" t="0" r="r" b="b"/>
                  <a:pathLst>
                    <a:path w="823" h="431">
                      <a:moveTo>
                        <a:pt x="815" y="27"/>
                      </a:moveTo>
                      <a:lnTo>
                        <a:pt x="822" y="350"/>
                      </a:lnTo>
                      <a:lnTo>
                        <a:pt x="746" y="382"/>
                      </a:lnTo>
                      <a:lnTo>
                        <a:pt x="676" y="404"/>
                      </a:lnTo>
                      <a:lnTo>
                        <a:pt x="619" y="415"/>
                      </a:lnTo>
                      <a:lnTo>
                        <a:pt x="571" y="421"/>
                      </a:lnTo>
                      <a:lnTo>
                        <a:pt x="517" y="427"/>
                      </a:lnTo>
                      <a:lnTo>
                        <a:pt x="427" y="430"/>
                      </a:lnTo>
                      <a:lnTo>
                        <a:pt x="344" y="423"/>
                      </a:lnTo>
                      <a:lnTo>
                        <a:pt x="259" y="410"/>
                      </a:lnTo>
                      <a:lnTo>
                        <a:pt x="177" y="388"/>
                      </a:lnTo>
                      <a:lnTo>
                        <a:pt x="105" y="358"/>
                      </a:lnTo>
                      <a:lnTo>
                        <a:pt x="41" y="325"/>
                      </a:lnTo>
                      <a:lnTo>
                        <a:pt x="0" y="294"/>
                      </a:lnTo>
                      <a:lnTo>
                        <a:pt x="0" y="0"/>
                      </a:lnTo>
                      <a:lnTo>
                        <a:pt x="46" y="25"/>
                      </a:lnTo>
                      <a:lnTo>
                        <a:pt x="105" y="47"/>
                      </a:lnTo>
                      <a:lnTo>
                        <a:pt x="175" y="66"/>
                      </a:lnTo>
                      <a:lnTo>
                        <a:pt x="244" y="81"/>
                      </a:lnTo>
                      <a:lnTo>
                        <a:pt x="314" y="89"/>
                      </a:lnTo>
                      <a:lnTo>
                        <a:pt x="361" y="93"/>
                      </a:lnTo>
                      <a:lnTo>
                        <a:pt x="401" y="95"/>
                      </a:lnTo>
                      <a:lnTo>
                        <a:pt x="471" y="95"/>
                      </a:lnTo>
                      <a:lnTo>
                        <a:pt x="515" y="92"/>
                      </a:lnTo>
                      <a:lnTo>
                        <a:pt x="555" y="87"/>
                      </a:lnTo>
                      <a:lnTo>
                        <a:pt x="600" y="84"/>
                      </a:lnTo>
                      <a:lnTo>
                        <a:pt x="640" y="76"/>
                      </a:lnTo>
                      <a:lnTo>
                        <a:pt x="689" y="67"/>
                      </a:lnTo>
                      <a:lnTo>
                        <a:pt x="733" y="55"/>
                      </a:lnTo>
                      <a:lnTo>
                        <a:pt x="777" y="41"/>
                      </a:lnTo>
                      <a:lnTo>
                        <a:pt x="815" y="27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1" name="Freeform 17"/>
                <p:cNvSpPr>
                  <a:spLocks/>
                </p:cNvSpPr>
                <p:nvPr/>
              </p:nvSpPr>
              <p:spPr bwMode="ltGray">
                <a:xfrm>
                  <a:off x="154" y="533"/>
                  <a:ext cx="551" cy="339"/>
                </a:xfrm>
                <a:custGeom>
                  <a:avLst/>
                  <a:gdLst/>
                  <a:ahLst/>
                  <a:cxnLst>
                    <a:cxn ang="0">
                      <a:pos x="16" y="53"/>
                    </a:cxn>
                    <a:cxn ang="0">
                      <a:pos x="0" y="122"/>
                    </a:cxn>
                    <a:cxn ang="0">
                      <a:pos x="10" y="146"/>
                    </a:cxn>
                    <a:cxn ang="0">
                      <a:pos x="33" y="183"/>
                    </a:cxn>
                    <a:cxn ang="0">
                      <a:pos x="57" y="216"/>
                    </a:cxn>
                    <a:cxn ang="0">
                      <a:pos x="85" y="244"/>
                    </a:cxn>
                    <a:cxn ang="0">
                      <a:pos x="120" y="271"/>
                    </a:cxn>
                    <a:cxn ang="0">
                      <a:pos x="153" y="290"/>
                    </a:cxn>
                    <a:cxn ang="0">
                      <a:pos x="189" y="308"/>
                    </a:cxn>
                    <a:cxn ang="0">
                      <a:pos x="235" y="324"/>
                    </a:cxn>
                    <a:cxn ang="0">
                      <a:pos x="270" y="332"/>
                    </a:cxn>
                    <a:cxn ang="0">
                      <a:pos x="312" y="338"/>
                    </a:cxn>
                    <a:cxn ang="0">
                      <a:pos x="351" y="338"/>
                    </a:cxn>
                    <a:cxn ang="0">
                      <a:pos x="393" y="333"/>
                    </a:cxn>
                    <a:cxn ang="0">
                      <a:pos x="436" y="321"/>
                    </a:cxn>
                    <a:cxn ang="0">
                      <a:pos x="475" y="302"/>
                    </a:cxn>
                    <a:cxn ang="0">
                      <a:pos x="498" y="286"/>
                    </a:cxn>
                    <a:cxn ang="0">
                      <a:pos x="526" y="262"/>
                    </a:cxn>
                    <a:cxn ang="0">
                      <a:pos x="541" y="243"/>
                    </a:cxn>
                    <a:cxn ang="0">
                      <a:pos x="550" y="226"/>
                    </a:cxn>
                    <a:cxn ang="0">
                      <a:pos x="550" y="208"/>
                    </a:cxn>
                    <a:cxn ang="0">
                      <a:pos x="544" y="187"/>
                    </a:cxn>
                    <a:cxn ang="0">
                      <a:pos x="532" y="170"/>
                    </a:cxn>
                    <a:cxn ang="0">
                      <a:pos x="523" y="135"/>
                    </a:cxn>
                    <a:cxn ang="0">
                      <a:pos x="519" y="116"/>
                    </a:cxn>
                    <a:cxn ang="0">
                      <a:pos x="267" y="132"/>
                    </a:cxn>
                    <a:cxn ang="0">
                      <a:pos x="234" y="126"/>
                    </a:cxn>
                    <a:cxn ang="0">
                      <a:pos x="193" y="113"/>
                    </a:cxn>
                    <a:cxn ang="0">
                      <a:pos x="162" y="97"/>
                    </a:cxn>
                    <a:cxn ang="0">
                      <a:pos x="129" y="77"/>
                    </a:cxn>
                    <a:cxn ang="0">
                      <a:pos x="97" y="48"/>
                    </a:cxn>
                    <a:cxn ang="0">
                      <a:pos x="78" y="24"/>
                    </a:cxn>
                    <a:cxn ang="0">
                      <a:pos x="60" y="0"/>
                    </a:cxn>
                    <a:cxn ang="0">
                      <a:pos x="16" y="53"/>
                    </a:cxn>
                  </a:cxnLst>
                  <a:rect l="0" t="0" r="r" b="b"/>
                  <a:pathLst>
                    <a:path w="551" h="339">
                      <a:moveTo>
                        <a:pt x="16" y="53"/>
                      </a:moveTo>
                      <a:lnTo>
                        <a:pt x="0" y="122"/>
                      </a:lnTo>
                      <a:lnTo>
                        <a:pt x="10" y="146"/>
                      </a:lnTo>
                      <a:lnTo>
                        <a:pt x="33" y="183"/>
                      </a:lnTo>
                      <a:lnTo>
                        <a:pt x="57" y="216"/>
                      </a:lnTo>
                      <a:lnTo>
                        <a:pt x="85" y="244"/>
                      </a:lnTo>
                      <a:lnTo>
                        <a:pt x="120" y="271"/>
                      </a:lnTo>
                      <a:lnTo>
                        <a:pt x="153" y="290"/>
                      </a:lnTo>
                      <a:lnTo>
                        <a:pt x="189" y="308"/>
                      </a:lnTo>
                      <a:lnTo>
                        <a:pt x="235" y="324"/>
                      </a:lnTo>
                      <a:lnTo>
                        <a:pt x="270" y="332"/>
                      </a:lnTo>
                      <a:lnTo>
                        <a:pt x="312" y="338"/>
                      </a:lnTo>
                      <a:lnTo>
                        <a:pt x="351" y="338"/>
                      </a:lnTo>
                      <a:lnTo>
                        <a:pt x="393" y="333"/>
                      </a:lnTo>
                      <a:lnTo>
                        <a:pt x="436" y="321"/>
                      </a:lnTo>
                      <a:lnTo>
                        <a:pt x="475" y="302"/>
                      </a:lnTo>
                      <a:lnTo>
                        <a:pt x="498" y="286"/>
                      </a:lnTo>
                      <a:lnTo>
                        <a:pt x="526" y="262"/>
                      </a:lnTo>
                      <a:lnTo>
                        <a:pt x="541" y="243"/>
                      </a:lnTo>
                      <a:lnTo>
                        <a:pt x="550" y="226"/>
                      </a:lnTo>
                      <a:lnTo>
                        <a:pt x="550" y="208"/>
                      </a:lnTo>
                      <a:lnTo>
                        <a:pt x="544" y="187"/>
                      </a:lnTo>
                      <a:lnTo>
                        <a:pt x="532" y="170"/>
                      </a:lnTo>
                      <a:lnTo>
                        <a:pt x="523" y="135"/>
                      </a:lnTo>
                      <a:lnTo>
                        <a:pt x="519" y="116"/>
                      </a:lnTo>
                      <a:lnTo>
                        <a:pt x="267" y="132"/>
                      </a:lnTo>
                      <a:lnTo>
                        <a:pt x="234" y="126"/>
                      </a:lnTo>
                      <a:lnTo>
                        <a:pt x="193" y="113"/>
                      </a:lnTo>
                      <a:lnTo>
                        <a:pt x="162" y="97"/>
                      </a:lnTo>
                      <a:lnTo>
                        <a:pt x="129" y="77"/>
                      </a:lnTo>
                      <a:lnTo>
                        <a:pt x="97" y="48"/>
                      </a:lnTo>
                      <a:lnTo>
                        <a:pt x="78" y="24"/>
                      </a:lnTo>
                      <a:lnTo>
                        <a:pt x="60" y="0"/>
                      </a:lnTo>
                      <a:lnTo>
                        <a:pt x="16" y="53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2" name="Freeform 18"/>
                <p:cNvSpPr>
                  <a:spLocks/>
                </p:cNvSpPr>
                <p:nvPr/>
              </p:nvSpPr>
              <p:spPr bwMode="ltGray">
                <a:xfrm>
                  <a:off x="134" y="119"/>
                  <a:ext cx="475" cy="552"/>
                </a:xfrm>
                <a:custGeom>
                  <a:avLst/>
                  <a:gdLst/>
                  <a:ahLst/>
                  <a:cxnLst>
                    <a:cxn ang="0">
                      <a:pos x="474" y="0"/>
                    </a:cxn>
                    <a:cxn ang="0">
                      <a:pos x="474" y="294"/>
                    </a:cxn>
                    <a:cxn ang="0">
                      <a:pos x="446" y="291"/>
                    </a:cxn>
                    <a:cxn ang="0">
                      <a:pos x="411" y="293"/>
                    </a:cxn>
                    <a:cxn ang="0">
                      <a:pos x="353" y="299"/>
                    </a:cxn>
                    <a:cxn ang="0">
                      <a:pos x="296" y="310"/>
                    </a:cxn>
                    <a:cxn ang="0">
                      <a:pos x="243" y="323"/>
                    </a:cxn>
                    <a:cxn ang="0">
                      <a:pos x="200" y="339"/>
                    </a:cxn>
                    <a:cxn ang="0">
                      <a:pos x="149" y="364"/>
                    </a:cxn>
                    <a:cxn ang="0">
                      <a:pos x="110" y="390"/>
                    </a:cxn>
                    <a:cxn ang="0">
                      <a:pos x="81" y="415"/>
                    </a:cxn>
                    <a:cxn ang="0">
                      <a:pos x="60" y="439"/>
                    </a:cxn>
                    <a:cxn ang="0">
                      <a:pos x="47" y="461"/>
                    </a:cxn>
                    <a:cxn ang="0">
                      <a:pos x="35" y="488"/>
                    </a:cxn>
                    <a:cxn ang="0">
                      <a:pos x="30" y="513"/>
                    </a:cxn>
                    <a:cxn ang="0">
                      <a:pos x="23" y="551"/>
                    </a:cxn>
                    <a:cxn ang="0">
                      <a:pos x="17" y="518"/>
                    </a:cxn>
                    <a:cxn ang="0">
                      <a:pos x="8" y="481"/>
                    </a:cxn>
                    <a:cxn ang="0">
                      <a:pos x="5" y="453"/>
                    </a:cxn>
                    <a:cxn ang="0">
                      <a:pos x="0" y="420"/>
                    </a:cxn>
                    <a:cxn ang="0">
                      <a:pos x="2" y="393"/>
                    </a:cxn>
                    <a:cxn ang="0">
                      <a:pos x="8" y="361"/>
                    </a:cxn>
                    <a:cxn ang="0">
                      <a:pos x="15" y="317"/>
                    </a:cxn>
                    <a:cxn ang="0">
                      <a:pos x="30" y="279"/>
                    </a:cxn>
                    <a:cxn ang="0">
                      <a:pos x="50" y="238"/>
                    </a:cxn>
                    <a:cxn ang="0">
                      <a:pos x="75" y="196"/>
                    </a:cxn>
                    <a:cxn ang="0">
                      <a:pos x="111" y="152"/>
                    </a:cxn>
                    <a:cxn ang="0">
                      <a:pos x="152" y="116"/>
                    </a:cxn>
                    <a:cxn ang="0">
                      <a:pos x="188" y="87"/>
                    </a:cxn>
                    <a:cxn ang="0">
                      <a:pos x="233" y="60"/>
                    </a:cxn>
                    <a:cxn ang="0">
                      <a:pos x="279" y="40"/>
                    </a:cxn>
                    <a:cxn ang="0">
                      <a:pos x="333" y="21"/>
                    </a:cxn>
                    <a:cxn ang="0">
                      <a:pos x="380" y="10"/>
                    </a:cxn>
                    <a:cxn ang="0">
                      <a:pos x="435" y="3"/>
                    </a:cxn>
                    <a:cxn ang="0">
                      <a:pos x="474" y="0"/>
                    </a:cxn>
                  </a:cxnLst>
                  <a:rect l="0" t="0" r="r" b="b"/>
                  <a:pathLst>
                    <a:path w="475" h="552">
                      <a:moveTo>
                        <a:pt x="474" y="0"/>
                      </a:moveTo>
                      <a:lnTo>
                        <a:pt x="474" y="294"/>
                      </a:lnTo>
                      <a:lnTo>
                        <a:pt x="446" y="291"/>
                      </a:lnTo>
                      <a:lnTo>
                        <a:pt x="411" y="293"/>
                      </a:lnTo>
                      <a:lnTo>
                        <a:pt x="353" y="299"/>
                      </a:lnTo>
                      <a:lnTo>
                        <a:pt x="296" y="310"/>
                      </a:lnTo>
                      <a:lnTo>
                        <a:pt x="243" y="323"/>
                      </a:lnTo>
                      <a:lnTo>
                        <a:pt x="200" y="339"/>
                      </a:lnTo>
                      <a:lnTo>
                        <a:pt x="149" y="364"/>
                      </a:lnTo>
                      <a:lnTo>
                        <a:pt x="110" y="390"/>
                      </a:lnTo>
                      <a:lnTo>
                        <a:pt x="81" y="415"/>
                      </a:lnTo>
                      <a:lnTo>
                        <a:pt x="60" y="439"/>
                      </a:lnTo>
                      <a:lnTo>
                        <a:pt x="47" y="461"/>
                      </a:lnTo>
                      <a:lnTo>
                        <a:pt x="35" y="488"/>
                      </a:lnTo>
                      <a:lnTo>
                        <a:pt x="30" y="513"/>
                      </a:lnTo>
                      <a:lnTo>
                        <a:pt x="23" y="551"/>
                      </a:lnTo>
                      <a:lnTo>
                        <a:pt x="17" y="518"/>
                      </a:lnTo>
                      <a:lnTo>
                        <a:pt x="8" y="481"/>
                      </a:lnTo>
                      <a:lnTo>
                        <a:pt x="5" y="453"/>
                      </a:lnTo>
                      <a:lnTo>
                        <a:pt x="0" y="420"/>
                      </a:lnTo>
                      <a:lnTo>
                        <a:pt x="2" y="393"/>
                      </a:lnTo>
                      <a:lnTo>
                        <a:pt x="8" y="361"/>
                      </a:lnTo>
                      <a:lnTo>
                        <a:pt x="15" y="317"/>
                      </a:lnTo>
                      <a:lnTo>
                        <a:pt x="30" y="279"/>
                      </a:lnTo>
                      <a:lnTo>
                        <a:pt x="50" y="238"/>
                      </a:lnTo>
                      <a:lnTo>
                        <a:pt x="75" y="196"/>
                      </a:lnTo>
                      <a:lnTo>
                        <a:pt x="111" y="152"/>
                      </a:lnTo>
                      <a:lnTo>
                        <a:pt x="152" y="116"/>
                      </a:lnTo>
                      <a:lnTo>
                        <a:pt x="188" y="87"/>
                      </a:lnTo>
                      <a:lnTo>
                        <a:pt x="233" y="60"/>
                      </a:lnTo>
                      <a:lnTo>
                        <a:pt x="279" y="40"/>
                      </a:lnTo>
                      <a:lnTo>
                        <a:pt x="333" y="21"/>
                      </a:lnTo>
                      <a:lnTo>
                        <a:pt x="380" y="10"/>
                      </a:lnTo>
                      <a:lnTo>
                        <a:pt x="435" y="3"/>
                      </a:lnTo>
                      <a:lnTo>
                        <a:pt x="474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3" name="Freeform 19"/>
                <p:cNvSpPr>
                  <a:spLocks/>
                </p:cNvSpPr>
                <p:nvPr/>
              </p:nvSpPr>
              <p:spPr bwMode="ltGray">
                <a:xfrm>
                  <a:off x="422" y="687"/>
                  <a:ext cx="156" cy="117"/>
                </a:xfrm>
                <a:custGeom>
                  <a:avLst/>
                  <a:gdLst/>
                  <a:ahLst/>
                  <a:cxnLst>
                    <a:cxn ang="0">
                      <a:pos x="72" y="0"/>
                    </a:cxn>
                    <a:cxn ang="0">
                      <a:pos x="21" y="19"/>
                    </a:cxn>
                    <a:cxn ang="0">
                      <a:pos x="3" y="45"/>
                    </a:cxn>
                    <a:cxn ang="0">
                      <a:pos x="0" y="70"/>
                    </a:cxn>
                    <a:cxn ang="0">
                      <a:pos x="0" y="83"/>
                    </a:cxn>
                    <a:cxn ang="0">
                      <a:pos x="9" y="99"/>
                    </a:cxn>
                    <a:cxn ang="0">
                      <a:pos x="29" y="107"/>
                    </a:cxn>
                    <a:cxn ang="0">
                      <a:pos x="50" y="113"/>
                    </a:cxn>
                    <a:cxn ang="0">
                      <a:pos x="69" y="116"/>
                    </a:cxn>
                    <a:cxn ang="0">
                      <a:pos x="86" y="116"/>
                    </a:cxn>
                    <a:cxn ang="0">
                      <a:pos x="114" y="111"/>
                    </a:cxn>
                    <a:cxn ang="0">
                      <a:pos x="134" y="106"/>
                    </a:cxn>
                    <a:cxn ang="0">
                      <a:pos x="146" y="98"/>
                    </a:cxn>
                    <a:cxn ang="0">
                      <a:pos x="153" y="89"/>
                    </a:cxn>
                    <a:cxn ang="0">
                      <a:pos x="155" y="78"/>
                    </a:cxn>
                    <a:cxn ang="0">
                      <a:pos x="153" y="60"/>
                    </a:cxn>
                    <a:cxn ang="0">
                      <a:pos x="146" y="11"/>
                    </a:cxn>
                    <a:cxn ang="0">
                      <a:pos x="72" y="0"/>
                    </a:cxn>
                  </a:cxnLst>
                  <a:rect l="0" t="0" r="r" b="b"/>
                  <a:pathLst>
                    <a:path w="156" h="117">
                      <a:moveTo>
                        <a:pt x="72" y="0"/>
                      </a:moveTo>
                      <a:lnTo>
                        <a:pt x="21" y="19"/>
                      </a:lnTo>
                      <a:lnTo>
                        <a:pt x="3" y="45"/>
                      </a:lnTo>
                      <a:lnTo>
                        <a:pt x="0" y="70"/>
                      </a:lnTo>
                      <a:lnTo>
                        <a:pt x="0" y="83"/>
                      </a:lnTo>
                      <a:lnTo>
                        <a:pt x="9" y="99"/>
                      </a:lnTo>
                      <a:lnTo>
                        <a:pt x="29" y="107"/>
                      </a:lnTo>
                      <a:lnTo>
                        <a:pt x="50" y="113"/>
                      </a:lnTo>
                      <a:lnTo>
                        <a:pt x="69" y="116"/>
                      </a:lnTo>
                      <a:lnTo>
                        <a:pt x="86" y="116"/>
                      </a:lnTo>
                      <a:lnTo>
                        <a:pt x="114" y="111"/>
                      </a:lnTo>
                      <a:lnTo>
                        <a:pt x="134" y="106"/>
                      </a:lnTo>
                      <a:lnTo>
                        <a:pt x="146" y="98"/>
                      </a:lnTo>
                      <a:lnTo>
                        <a:pt x="153" y="89"/>
                      </a:lnTo>
                      <a:lnTo>
                        <a:pt x="155" y="78"/>
                      </a:lnTo>
                      <a:lnTo>
                        <a:pt x="153" y="60"/>
                      </a:lnTo>
                      <a:lnTo>
                        <a:pt x="146" y="11"/>
                      </a:lnTo>
                      <a:lnTo>
                        <a:pt x="72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4" name="Freeform 20"/>
                <p:cNvSpPr>
                  <a:spLocks/>
                </p:cNvSpPr>
                <p:nvPr/>
              </p:nvSpPr>
              <p:spPr bwMode="ltGray">
                <a:xfrm>
                  <a:off x="494" y="700"/>
                  <a:ext cx="88" cy="74"/>
                </a:xfrm>
                <a:custGeom>
                  <a:avLst/>
                  <a:gdLst/>
                  <a:ahLst/>
                  <a:cxnLst>
                    <a:cxn ang="0">
                      <a:pos x="87" y="67"/>
                    </a:cxn>
                    <a:cxn ang="0">
                      <a:pos x="76" y="0"/>
                    </a:cxn>
                    <a:cxn ang="0">
                      <a:pos x="33" y="5"/>
                    </a:cxn>
                    <a:cxn ang="0">
                      <a:pos x="0" y="8"/>
                    </a:cxn>
                    <a:cxn ang="0">
                      <a:pos x="9" y="73"/>
                    </a:cxn>
                    <a:cxn ang="0">
                      <a:pos x="12" y="57"/>
                    </a:cxn>
                    <a:cxn ang="0">
                      <a:pos x="22" y="47"/>
                    </a:cxn>
                    <a:cxn ang="0">
                      <a:pos x="40" y="43"/>
                    </a:cxn>
                    <a:cxn ang="0">
                      <a:pos x="60" y="44"/>
                    </a:cxn>
                    <a:cxn ang="0">
                      <a:pos x="76" y="51"/>
                    </a:cxn>
                    <a:cxn ang="0">
                      <a:pos x="87" y="67"/>
                    </a:cxn>
                  </a:cxnLst>
                  <a:rect l="0" t="0" r="r" b="b"/>
                  <a:pathLst>
                    <a:path w="88" h="74">
                      <a:moveTo>
                        <a:pt x="87" y="67"/>
                      </a:moveTo>
                      <a:lnTo>
                        <a:pt x="76" y="0"/>
                      </a:lnTo>
                      <a:lnTo>
                        <a:pt x="33" y="5"/>
                      </a:lnTo>
                      <a:lnTo>
                        <a:pt x="0" y="8"/>
                      </a:lnTo>
                      <a:lnTo>
                        <a:pt x="9" y="73"/>
                      </a:lnTo>
                      <a:lnTo>
                        <a:pt x="12" y="57"/>
                      </a:lnTo>
                      <a:lnTo>
                        <a:pt x="22" y="47"/>
                      </a:lnTo>
                      <a:lnTo>
                        <a:pt x="40" y="43"/>
                      </a:lnTo>
                      <a:lnTo>
                        <a:pt x="60" y="44"/>
                      </a:lnTo>
                      <a:lnTo>
                        <a:pt x="76" y="51"/>
                      </a:lnTo>
                      <a:lnTo>
                        <a:pt x="87" y="67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5" name="Freeform 21"/>
                <p:cNvSpPr>
                  <a:spLocks/>
                </p:cNvSpPr>
                <p:nvPr/>
              </p:nvSpPr>
              <p:spPr bwMode="ltGray">
                <a:xfrm>
                  <a:off x="386" y="479"/>
                  <a:ext cx="319" cy="286"/>
                </a:xfrm>
                <a:custGeom>
                  <a:avLst/>
                  <a:gdLst/>
                  <a:ahLst/>
                  <a:cxnLst>
                    <a:cxn ang="0">
                      <a:pos x="317" y="275"/>
                    </a:cxn>
                    <a:cxn ang="0">
                      <a:pos x="315" y="254"/>
                    </a:cxn>
                    <a:cxn ang="0">
                      <a:pos x="306" y="235"/>
                    </a:cxn>
                    <a:cxn ang="0">
                      <a:pos x="299" y="219"/>
                    </a:cxn>
                    <a:cxn ang="0">
                      <a:pos x="294" y="194"/>
                    </a:cxn>
                    <a:cxn ang="0">
                      <a:pos x="288" y="161"/>
                    </a:cxn>
                    <a:cxn ang="0">
                      <a:pos x="284" y="126"/>
                    </a:cxn>
                    <a:cxn ang="0">
                      <a:pos x="281" y="94"/>
                    </a:cxn>
                    <a:cxn ang="0">
                      <a:pos x="279" y="67"/>
                    </a:cxn>
                    <a:cxn ang="0">
                      <a:pos x="278" y="43"/>
                    </a:cxn>
                    <a:cxn ang="0">
                      <a:pos x="270" y="29"/>
                    </a:cxn>
                    <a:cxn ang="0">
                      <a:pos x="255" y="16"/>
                    </a:cxn>
                    <a:cxn ang="0">
                      <a:pos x="240" y="9"/>
                    </a:cxn>
                    <a:cxn ang="0">
                      <a:pos x="216" y="2"/>
                    </a:cxn>
                    <a:cxn ang="0">
                      <a:pos x="189" y="0"/>
                    </a:cxn>
                    <a:cxn ang="0">
                      <a:pos x="147" y="0"/>
                    </a:cxn>
                    <a:cxn ang="0">
                      <a:pos x="110" y="2"/>
                    </a:cxn>
                    <a:cxn ang="0">
                      <a:pos x="74" y="9"/>
                    </a:cxn>
                    <a:cxn ang="0">
                      <a:pos x="41" y="21"/>
                    </a:cxn>
                    <a:cxn ang="0">
                      <a:pos x="20" y="35"/>
                    </a:cxn>
                    <a:cxn ang="0">
                      <a:pos x="8" y="47"/>
                    </a:cxn>
                    <a:cxn ang="0">
                      <a:pos x="0" y="61"/>
                    </a:cxn>
                    <a:cxn ang="0">
                      <a:pos x="2" y="75"/>
                    </a:cxn>
                    <a:cxn ang="0">
                      <a:pos x="5" y="89"/>
                    </a:cxn>
                    <a:cxn ang="0">
                      <a:pos x="15" y="104"/>
                    </a:cxn>
                    <a:cxn ang="0">
                      <a:pos x="23" y="123"/>
                    </a:cxn>
                    <a:cxn ang="0">
                      <a:pos x="27" y="149"/>
                    </a:cxn>
                    <a:cxn ang="0">
                      <a:pos x="30" y="176"/>
                    </a:cxn>
                    <a:cxn ang="0">
                      <a:pos x="35" y="200"/>
                    </a:cxn>
                    <a:cxn ang="0">
                      <a:pos x="36" y="235"/>
                    </a:cxn>
                    <a:cxn ang="0">
                      <a:pos x="38" y="265"/>
                    </a:cxn>
                    <a:cxn ang="0">
                      <a:pos x="38" y="285"/>
                    </a:cxn>
                    <a:cxn ang="0">
                      <a:pos x="48" y="260"/>
                    </a:cxn>
                    <a:cxn ang="0">
                      <a:pos x="68" y="248"/>
                    </a:cxn>
                    <a:cxn ang="0">
                      <a:pos x="86" y="241"/>
                    </a:cxn>
                    <a:cxn ang="0">
                      <a:pos x="108" y="236"/>
                    </a:cxn>
                    <a:cxn ang="0">
                      <a:pos x="143" y="229"/>
                    </a:cxn>
                    <a:cxn ang="0">
                      <a:pos x="177" y="228"/>
                    </a:cxn>
                    <a:cxn ang="0">
                      <a:pos x="197" y="228"/>
                    </a:cxn>
                    <a:cxn ang="0">
                      <a:pos x="228" y="230"/>
                    </a:cxn>
                    <a:cxn ang="0">
                      <a:pos x="264" y="237"/>
                    </a:cxn>
                    <a:cxn ang="0">
                      <a:pos x="287" y="246"/>
                    </a:cxn>
                    <a:cxn ang="0">
                      <a:pos x="302" y="255"/>
                    </a:cxn>
                    <a:cxn ang="0">
                      <a:pos x="318" y="268"/>
                    </a:cxn>
                  </a:cxnLst>
                  <a:rect l="0" t="0" r="r" b="b"/>
                  <a:pathLst>
                    <a:path w="319" h="286">
                      <a:moveTo>
                        <a:pt x="317" y="275"/>
                      </a:moveTo>
                      <a:lnTo>
                        <a:pt x="315" y="254"/>
                      </a:lnTo>
                      <a:lnTo>
                        <a:pt x="306" y="235"/>
                      </a:lnTo>
                      <a:lnTo>
                        <a:pt x="299" y="219"/>
                      </a:lnTo>
                      <a:lnTo>
                        <a:pt x="294" y="194"/>
                      </a:lnTo>
                      <a:lnTo>
                        <a:pt x="288" y="161"/>
                      </a:lnTo>
                      <a:lnTo>
                        <a:pt x="284" y="126"/>
                      </a:lnTo>
                      <a:lnTo>
                        <a:pt x="281" y="94"/>
                      </a:lnTo>
                      <a:lnTo>
                        <a:pt x="279" y="67"/>
                      </a:lnTo>
                      <a:lnTo>
                        <a:pt x="278" y="43"/>
                      </a:lnTo>
                      <a:lnTo>
                        <a:pt x="270" y="29"/>
                      </a:lnTo>
                      <a:lnTo>
                        <a:pt x="255" y="16"/>
                      </a:lnTo>
                      <a:lnTo>
                        <a:pt x="240" y="9"/>
                      </a:lnTo>
                      <a:lnTo>
                        <a:pt x="216" y="2"/>
                      </a:lnTo>
                      <a:lnTo>
                        <a:pt x="189" y="0"/>
                      </a:lnTo>
                      <a:lnTo>
                        <a:pt x="147" y="0"/>
                      </a:lnTo>
                      <a:lnTo>
                        <a:pt x="110" y="2"/>
                      </a:lnTo>
                      <a:lnTo>
                        <a:pt x="74" y="9"/>
                      </a:lnTo>
                      <a:lnTo>
                        <a:pt x="41" y="21"/>
                      </a:lnTo>
                      <a:lnTo>
                        <a:pt x="20" y="35"/>
                      </a:lnTo>
                      <a:lnTo>
                        <a:pt x="8" y="47"/>
                      </a:lnTo>
                      <a:lnTo>
                        <a:pt x="0" y="61"/>
                      </a:lnTo>
                      <a:lnTo>
                        <a:pt x="2" y="75"/>
                      </a:lnTo>
                      <a:lnTo>
                        <a:pt x="5" y="89"/>
                      </a:lnTo>
                      <a:lnTo>
                        <a:pt x="15" y="104"/>
                      </a:lnTo>
                      <a:lnTo>
                        <a:pt x="23" y="123"/>
                      </a:lnTo>
                      <a:lnTo>
                        <a:pt x="27" y="149"/>
                      </a:lnTo>
                      <a:lnTo>
                        <a:pt x="30" y="176"/>
                      </a:lnTo>
                      <a:lnTo>
                        <a:pt x="35" y="200"/>
                      </a:lnTo>
                      <a:lnTo>
                        <a:pt x="36" y="235"/>
                      </a:lnTo>
                      <a:lnTo>
                        <a:pt x="38" y="265"/>
                      </a:lnTo>
                      <a:lnTo>
                        <a:pt x="38" y="285"/>
                      </a:lnTo>
                      <a:lnTo>
                        <a:pt x="48" y="260"/>
                      </a:lnTo>
                      <a:lnTo>
                        <a:pt x="68" y="248"/>
                      </a:lnTo>
                      <a:lnTo>
                        <a:pt x="86" y="241"/>
                      </a:lnTo>
                      <a:lnTo>
                        <a:pt x="108" y="236"/>
                      </a:lnTo>
                      <a:lnTo>
                        <a:pt x="143" y="229"/>
                      </a:lnTo>
                      <a:lnTo>
                        <a:pt x="177" y="228"/>
                      </a:lnTo>
                      <a:lnTo>
                        <a:pt x="197" y="228"/>
                      </a:lnTo>
                      <a:lnTo>
                        <a:pt x="228" y="230"/>
                      </a:lnTo>
                      <a:lnTo>
                        <a:pt x="264" y="237"/>
                      </a:lnTo>
                      <a:lnTo>
                        <a:pt x="287" y="246"/>
                      </a:lnTo>
                      <a:lnTo>
                        <a:pt x="302" y="255"/>
                      </a:lnTo>
                      <a:lnTo>
                        <a:pt x="318" y="268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6" name="Freeform 22"/>
                <p:cNvSpPr>
                  <a:spLocks/>
                </p:cNvSpPr>
                <p:nvPr/>
              </p:nvSpPr>
              <p:spPr bwMode="ltGray">
                <a:xfrm>
                  <a:off x="5101" y="537"/>
                  <a:ext cx="551" cy="335"/>
                </a:xfrm>
                <a:custGeom>
                  <a:avLst/>
                  <a:gdLst/>
                  <a:ahLst/>
                  <a:cxnLst>
                    <a:cxn ang="0">
                      <a:pos x="534" y="48"/>
                    </a:cxn>
                    <a:cxn ang="0">
                      <a:pos x="550" y="117"/>
                    </a:cxn>
                    <a:cxn ang="0">
                      <a:pos x="540" y="142"/>
                    </a:cxn>
                    <a:cxn ang="0">
                      <a:pos x="517" y="179"/>
                    </a:cxn>
                    <a:cxn ang="0">
                      <a:pos x="493" y="212"/>
                    </a:cxn>
                    <a:cxn ang="0">
                      <a:pos x="465" y="239"/>
                    </a:cxn>
                    <a:cxn ang="0">
                      <a:pos x="430" y="267"/>
                    </a:cxn>
                    <a:cxn ang="0">
                      <a:pos x="397" y="286"/>
                    </a:cxn>
                    <a:cxn ang="0">
                      <a:pos x="361" y="304"/>
                    </a:cxn>
                    <a:cxn ang="0">
                      <a:pos x="315" y="320"/>
                    </a:cxn>
                    <a:cxn ang="0">
                      <a:pos x="280" y="328"/>
                    </a:cxn>
                    <a:cxn ang="0">
                      <a:pos x="238" y="334"/>
                    </a:cxn>
                    <a:cxn ang="0">
                      <a:pos x="199" y="334"/>
                    </a:cxn>
                    <a:cxn ang="0">
                      <a:pos x="157" y="329"/>
                    </a:cxn>
                    <a:cxn ang="0">
                      <a:pos x="114" y="317"/>
                    </a:cxn>
                    <a:cxn ang="0">
                      <a:pos x="75" y="298"/>
                    </a:cxn>
                    <a:cxn ang="0">
                      <a:pos x="52" y="282"/>
                    </a:cxn>
                    <a:cxn ang="0">
                      <a:pos x="24" y="258"/>
                    </a:cxn>
                    <a:cxn ang="0">
                      <a:pos x="9" y="238"/>
                    </a:cxn>
                    <a:cxn ang="0">
                      <a:pos x="0" y="222"/>
                    </a:cxn>
                    <a:cxn ang="0">
                      <a:pos x="0" y="204"/>
                    </a:cxn>
                    <a:cxn ang="0">
                      <a:pos x="6" y="182"/>
                    </a:cxn>
                    <a:cxn ang="0">
                      <a:pos x="18" y="166"/>
                    </a:cxn>
                    <a:cxn ang="0">
                      <a:pos x="27" y="131"/>
                    </a:cxn>
                    <a:cxn ang="0">
                      <a:pos x="31" y="112"/>
                    </a:cxn>
                    <a:cxn ang="0">
                      <a:pos x="283" y="128"/>
                    </a:cxn>
                    <a:cxn ang="0">
                      <a:pos x="316" y="122"/>
                    </a:cxn>
                    <a:cxn ang="0">
                      <a:pos x="357" y="109"/>
                    </a:cxn>
                    <a:cxn ang="0">
                      <a:pos x="388" y="93"/>
                    </a:cxn>
                    <a:cxn ang="0">
                      <a:pos x="421" y="73"/>
                    </a:cxn>
                    <a:cxn ang="0">
                      <a:pos x="453" y="44"/>
                    </a:cxn>
                    <a:cxn ang="0">
                      <a:pos x="472" y="19"/>
                    </a:cxn>
                    <a:cxn ang="0">
                      <a:pos x="486" y="0"/>
                    </a:cxn>
                    <a:cxn ang="0">
                      <a:pos x="534" y="48"/>
                    </a:cxn>
                  </a:cxnLst>
                  <a:rect l="0" t="0" r="r" b="b"/>
                  <a:pathLst>
                    <a:path w="551" h="335">
                      <a:moveTo>
                        <a:pt x="534" y="48"/>
                      </a:moveTo>
                      <a:lnTo>
                        <a:pt x="550" y="117"/>
                      </a:lnTo>
                      <a:lnTo>
                        <a:pt x="540" y="142"/>
                      </a:lnTo>
                      <a:lnTo>
                        <a:pt x="517" y="179"/>
                      </a:lnTo>
                      <a:lnTo>
                        <a:pt x="493" y="212"/>
                      </a:lnTo>
                      <a:lnTo>
                        <a:pt x="465" y="239"/>
                      </a:lnTo>
                      <a:lnTo>
                        <a:pt x="430" y="267"/>
                      </a:lnTo>
                      <a:lnTo>
                        <a:pt x="397" y="286"/>
                      </a:lnTo>
                      <a:lnTo>
                        <a:pt x="361" y="304"/>
                      </a:lnTo>
                      <a:lnTo>
                        <a:pt x="315" y="320"/>
                      </a:lnTo>
                      <a:lnTo>
                        <a:pt x="280" y="328"/>
                      </a:lnTo>
                      <a:lnTo>
                        <a:pt x="238" y="334"/>
                      </a:lnTo>
                      <a:lnTo>
                        <a:pt x="199" y="334"/>
                      </a:lnTo>
                      <a:lnTo>
                        <a:pt x="157" y="329"/>
                      </a:lnTo>
                      <a:lnTo>
                        <a:pt x="114" y="317"/>
                      </a:lnTo>
                      <a:lnTo>
                        <a:pt x="75" y="298"/>
                      </a:lnTo>
                      <a:lnTo>
                        <a:pt x="52" y="282"/>
                      </a:lnTo>
                      <a:lnTo>
                        <a:pt x="24" y="258"/>
                      </a:lnTo>
                      <a:lnTo>
                        <a:pt x="9" y="238"/>
                      </a:lnTo>
                      <a:lnTo>
                        <a:pt x="0" y="222"/>
                      </a:lnTo>
                      <a:lnTo>
                        <a:pt x="0" y="204"/>
                      </a:lnTo>
                      <a:lnTo>
                        <a:pt x="6" y="182"/>
                      </a:lnTo>
                      <a:lnTo>
                        <a:pt x="18" y="166"/>
                      </a:lnTo>
                      <a:lnTo>
                        <a:pt x="27" y="131"/>
                      </a:lnTo>
                      <a:lnTo>
                        <a:pt x="31" y="112"/>
                      </a:lnTo>
                      <a:lnTo>
                        <a:pt x="283" y="128"/>
                      </a:lnTo>
                      <a:lnTo>
                        <a:pt x="316" y="122"/>
                      </a:lnTo>
                      <a:lnTo>
                        <a:pt x="357" y="109"/>
                      </a:lnTo>
                      <a:lnTo>
                        <a:pt x="388" y="93"/>
                      </a:lnTo>
                      <a:lnTo>
                        <a:pt x="421" y="73"/>
                      </a:lnTo>
                      <a:lnTo>
                        <a:pt x="453" y="44"/>
                      </a:lnTo>
                      <a:lnTo>
                        <a:pt x="472" y="19"/>
                      </a:lnTo>
                      <a:lnTo>
                        <a:pt x="486" y="0"/>
                      </a:lnTo>
                      <a:lnTo>
                        <a:pt x="534" y="48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7" name="Freeform 23"/>
                <p:cNvSpPr>
                  <a:spLocks/>
                </p:cNvSpPr>
                <p:nvPr/>
              </p:nvSpPr>
              <p:spPr bwMode="ltGray">
                <a:xfrm>
                  <a:off x="5197" y="119"/>
                  <a:ext cx="475" cy="55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94"/>
                    </a:cxn>
                    <a:cxn ang="0">
                      <a:pos x="28" y="291"/>
                    </a:cxn>
                    <a:cxn ang="0">
                      <a:pos x="63" y="293"/>
                    </a:cxn>
                    <a:cxn ang="0">
                      <a:pos x="121" y="299"/>
                    </a:cxn>
                    <a:cxn ang="0">
                      <a:pos x="178" y="310"/>
                    </a:cxn>
                    <a:cxn ang="0">
                      <a:pos x="231" y="323"/>
                    </a:cxn>
                    <a:cxn ang="0">
                      <a:pos x="274" y="339"/>
                    </a:cxn>
                    <a:cxn ang="0">
                      <a:pos x="325" y="364"/>
                    </a:cxn>
                    <a:cxn ang="0">
                      <a:pos x="364" y="390"/>
                    </a:cxn>
                    <a:cxn ang="0">
                      <a:pos x="393" y="415"/>
                    </a:cxn>
                    <a:cxn ang="0">
                      <a:pos x="414" y="439"/>
                    </a:cxn>
                    <a:cxn ang="0">
                      <a:pos x="427" y="461"/>
                    </a:cxn>
                    <a:cxn ang="0">
                      <a:pos x="439" y="488"/>
                    </a:cxn>
                    <a:cxn ang="0">
                      <a:pos x="444" y="513"/>
                    </a:cxn>
                    <a:cxn ang="0">
                      <a:pos x="451" y="551"/>
                    </a:cxn>
                    <a:cxn ang="0">
                      <a:pos x="457" y="518"/>
                    </a:cxn>
                    <a:cxn ang="0">
                      <a:pos x="466" y="481"/>
                    </a:cxn>
                    <a:cxn ang="0">
                      <a:pos x="469" y="453"/>
                    </a:cxn>
                    <a:cxn ang="0">
                      <a:pos x="474" y="420"/>
                    </a:cxn>
                    <a:cxn ang="0">
                      <a:pos x="472" y="393"/>
                    </a:cxn>
                    <a:cxn ang="0">
                      <a:pos x="466" y="361"/>
                    </a:cxn>
                    <a:cxn ang="0">
                      <a:pos x="459" y="317"/>
                    </a:cxn>
                    <a:cxn ang="0">
                      <a:pos x="444" y="279"/>
                    </a:cxn>
                    <a:cxn ang="0">
                      <a:pos x="424" y="238"/>
                    </a:cxn>
                    <a:cxn ang="0">
                      <a:pos x="399" y="196"/>
                    </a:cxn>
                    <a:cxn ang="0">
                      <a:pos x="363" y="152"/>
                    </a:cxn>
                    <a:cxn ang="0">
                      <a:pos x="322" y="116"/>
                    </a:cxn>
                    <a:cxn ang="0">
                      <a:pos x="286" y="87"/>
                    </a:cxn>
                    <a:cxn ang="0">
                      <a:pos x="241" y="60"/>
                    </a:cxn>
                    <a:cxn ang="0">
                      <a:pos x="195" y="40"/>
                    </a:cxn>
                    <a:cxn ang="0">
                      <a:pos x="141" y="21"/>
                    </a:cxn>
                    <a:cxn ang="0">
                      <a:pos x="94" y="10"/>
                    </a:cxn>
                    <a:cxn ang="0">
                      <a:pos x="39" y="3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75" h="552">
                      <a:moveTo>
                        <a:pt x="0" y="0"/>
                      </a:moveTo>
                      <a:lnTo>
                        <a:pt x="0" y="294"/>
                      </a:lnTo>
                      <a:lnTo>
                        <a:pt x="28" y="291"/>
                      </a:lnTo>
                      <a:lnTo>
                        <a:pt x="63" y="293"/>
                      </a:lnTo>
                      <a:lnTo>
                        <a:pt x="121" y="299"/>
                      </a:lnTo>
                      <a:lnTo>
                        <a:pt x="178" y="310"/>
                      </a:lnTo>
                      <a:lnTo>
                        <a:pt x="231" y="323"/>
                      </a:lnTo>
                      <a:lnTo>
                        <a:pt x="274" y="339"/>
                      </a:lnTo>
                      <a:lnTo>
                        <a:pt x="325" y="364"/>
                      </a:lnTo>
                      <a:lnTo>
                        <a:pt x="364" y="390"/>
                      </a:lnTo>
                      <a:lnTo>
                        <a:pt x="393" y="415"/>
                      </a:lnTo>
                      <a:lnTo>
                        <a:pt x="414" y="439"/>
                      </a:lnTo>
                      <a:lnTo>
                        <a:pt x="427" y="461"/>
                      </a:lnTo>
                      <a:lnTo>
                        <a:pt x="439" y="488"/>
                      </a:lnTo>
                      <a:lnTo>
                        <a:pt x="444" y="513"/>
                      </a:lnTo>
                      <a:lnTo>
                        <a:pt x="451" y="551"/>
                      </a:lnTo>
                      <a:lnTo>
                        <a:pt x="457" y="518"/>
                      </a:lnTo>
                      <a:lnTo>
                        <a:pt x="466" y="481"/>
                      </a:lnTo>
                      <a:lnTo>
                        <a:pt x="469" y="453"/>
                      </a:lnTo>
                      <a:lnTo>
                        <a:pt x="474" y="420"/>
                      </a:lnTo>
                      <a:lnTo>
                        <a:pt x="472" y="393"/>
                      </a:lnTo>
                      <a:lnTo>
                        <a:pt x="466" y="361"/>
                      </a:lnTo>
                      <a:lnTo>
                        <a:pt x="459" y="317"/>
                      </a:lnTo>
                      <a:lnTo>
                        <a:pt x="444" y="279"/>
                      </a:lnTo>
                      <a:lnTo>
                        <a:pt x="424" y="238"/>
                      </a:lnTo>
                      <a:lnTo>
                        <a:pt x="399" y="196"/>
                      </a:lnTo>
                      <a:lnTo>
                        <a:pt x="363" y="152"/>
                      </a:lnTo>
                      <a:lnTo>
                        <a:pt x="322" y="116"/>
                      </a:lnTo>
                      <a:lnTo>
                        <a:pt x="286" y="87"/>
                      </a:lnTo>
                      <a:lnTo>
                        <a:pt x="241" y="60"/>
                      </a:lnTo>
                      <a:lnTo>
                        <a:pt x="195" y="40"/>
                      </a:lnTo>
                      <a:lnTo>
                        <a:pt x="141" y="21"/>
                      </a:lnTo>
                      <a:lnTo>
                        <a:pt x="94" y="10"/>
                      </a:lnTo>
                      <a:lnTo>
                        <a:pt x="39" y="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8" name="Freeform 24"/>
                <p:cNvSpPr>
                  <a:spLocks/>
                </p:cNvSpPr>
                <p:nvPr/>
              </p:nvSpPr>
              <p:spPr bwMode="ltGray">
                <a:xfrm>
                  <a:off x="5228" y="687"/>
                  <a:ext cx="156" cy="117"/>
                </a:xfrm>
                <a:custGeom>
                  <a:avLst/>
                  <a:gdLst/>
                  <a:ahLst/>
                  <a:cxnLst>
                    <a:cxn ang="0">
                      <a:pos x="83" y="0"/>
                    </a:cxn>
                    <a:cxn ang="0">
                      <a:pos x="134" y="19"/>
                    </a:cxn>
                    <a:cxn ang="0">
                      <a:pos x="152" y="45"/>
                    </a:cxn>
                    <a:cxn ang="0">
                      <a:pos x="155" y="70"/>
                    </a:cxn>
                    <a:cxn ang="0">
                      <a:pos x="155" y="83"/>
                    </a:cxn>
                    <a:cxn ang="0">
                      <a:pos x="146" y="99"/>
                    </a:cxn>
                    <a:cxn ang="0">
                      <a:pos x="126" y="107"/>
                    </a:cxn>
                    <a:cxn ang="0">
                      <a:pos x="105" y="113"/>
                    </a:cxn>
                    <a:cxn ang="0">
                      <a:pos x="86" y="116"/>
                    </a:cxn>
                    <a:cxn ang="0">
                      <a:pos x="69" y="116"/>
                    </a:cxn>
                    <a:cxn ang="0">
                      <a:pos x="41" y="111"/>
                    </a:cxn>
                    <a:cxn ang="0">
                      <a:pos x="21" y="106"/>
                    </a:cxn>
                    <a:cxn ang="0">
                      <a:pos x="9" y="98"/>
                    </a:cxn>
                    <a:cxn ang="0">
                      <a:pos x="2" y="89"/>
                    </a:cxn>
                    <a:cxn ang="0">
                      <a:pos x="0" y="78"/>
                    </a:cxn>
                    <a:cxn ang="0">
                      <a:pos x="2" y="60"/>
                    </a:cxn>
                    <a:cxn ang="0">
                      <a:pos x="9" y="11"/>
                    </a:cxn>
                    <a:cxn ang="0">
                      <a:pos x="83" y="0"/>
                    </a:cxn>
                  </a:cxnLst>
                  <a:rect l="0" t="0" r="r" b="b"/>
                  <a:pathLst>
                    <a:path w="156" h="117">
                      <a:moveTo>
                        <a:pt x="83" y="0"/>
                      </a:moveTo>
                      <a:lnTo>
                        <a:pt x="134" y="19"/>
                      </a:lnTo>
                      <a:lnTo>
                        <a:pt x="152" y="45"/>
                      </a:lnTo>
                      <a:lnTo>
                        <a:pt x="155" y="70"/>
                      </a:lnTo>
                      <a:lnTo>
                        <a:pt x="155" y="83"/>
                      </a:lnTo>
                      <a:lnTo>
                        <a:pt x="146" y="99"/>
                      </a:lnTo>
                      <a:lnTo>
                        <a:pt x="126" y="107"/>
                      </a:lnTo>
                      <a:lnTo>
                        <a:pt x="105" y="113"/>
                      </a:lnTo>
                      <a:lnTo>
                        <a:pt x="86" y="116"/>
                      </a:lnTo>
                      <a:lnTo>
                        <a:pt x="69" y="116"/>
                      </a:lnTo>
                      <a:lnTo>
                        <a:pt x="41" y="111"/>
                      </a:lnTo>
                      <a:lnTo>
                        <a:pt x="21" y="106"/>
                      </a:lnTo>
                      <a:lnTo>
                        <a:pt x="9" y="98"/>
                      </a:lnTo>
                      <a:lnTo>
                        <a:pt x="2" y="89"/>
                      </a:lnTo>
                      <a:lnTo>
                        <a:pt x="0" y="78"/>
                      </a:lnTo>
                      <a:lnTo>
                        <a:pt x="2" y="60"/>
                      </a:lnTo>
                      <a:lnTo>
                        <a:pt x="9" y="11"/>
                      </a:lnTo>
                      <a:lnTo>
                        <a:pt x="83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49" name="Freeform 25"/>
                <p:cNvSpPr>
                  <a:spLocks/>
                </p:cNvSpPr>
                <p:nvPr/>
              </p:nvSpPr>
              <p:spPr bwMode="ltGray">
                <a:xfrm>
                  <a:off x="5224" y="699"/>
                  <a:ext cx="88" cy="75"/>
                </a:xfrm>
                <a:custGeom>
                  <a:avLst/>
                  <a:gdLst/>
                  <a:ahLst/>
                  <a:cxnLst>
                    <a:cxn ang="0">
                      <a:pos x="0" y="69"/>
                    </a:cxn>
                    <a:cxn ang="0">
                      <a:pos x="11" y="0"/>
                    </a:cxn>
                    <a:cxn ang="0">
                      <a:pos x="54" y="5"/>
                    </a:cxn>
                    <a:cxn ang="0">
                      <a:pos x="87" y="9"/>
                    </a:cxn>
                    <a:cxn ang="0">
                      <a:pos x="78" y="74"/>
                    </a:cxn>
                    <a:cxn ang="0">
                      <a:pos x="75" y="59"/>
                    </a:cxn>
                    <a:cxn ang="0">
                      <a:pos x="65" y="48"/>
                    </a:cxn>
                    <a:cxn ang="0">
                      <a:pos x="47" y="44"/>
                    </a:cxn>
                    <a:cxn ang="0">
                      <a:pos x="27" y="45"/>
                    </a:cxn>
                    <a:cxn ang="0">
                      <a:pos x="11" y="52"/>
                    </a:cxn>
                    <a:cxn ang="0">
                      <a:pos x="0" y="69"/>
                    </a:cxn>
                  </a:cxnLst>
                  <a:rect l="0" t="0" r="r" b="b"/>
                  <a:pathLst>
                    <a:path w="88" h="75">
                      <a:moveTo>
                        <a:pt x="0" y="69"/>
                      </a:moveTo>
                      <a:lnTo>
                        <a:pt x="11" y="0"/>
                      </a:lnTo>
                      <a:lnTo>
                        <a:pt x="54" y="5"/>
                      </a:lnTo>
                      <a:lnTo>
                        <a:pt x="87" y="9"/>
                      </a:lnTo>
                      <a:lnTo>
                        <a:pt x="78" y="74"/>
                      </a:lnTo>
                      <a:lnTo>
                        <a:pt x="75" y="59"/>
                      </a:lnTo>
                      <a:lnTo>
                        <a:pt x="65" y="48"/>
                      </a:lnTo>
                      <a:lnTo>
                        <a:pt x="47" y="44"/>
                      </a:lnTo>
                      <a:lnTo>
                        <a:pt x="27" y="45"/>
                      </a:lnTo>
                      <a:lnTo>
                        <a:pt x="11" y="52"/>
                      </a:lnTo>
                      <a:lnTo>
                        <a:pt x="0" y="69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50" name="Freeform 26"/>
                <p:cNvSpPr>
                  <a:spLocks/>
                </p:cNvSpPr>
                <p:nvPr/>
              </p:nvSpPr>
              <p:spPr bwMode="ltGray">
                <a:xfrm>
                  <a:off x="5101" y="479"/>
                  <a:ext cx="319" cy="286"/>
                </a:xfrm>
                <a:custGeom>
                  <a:avLst/>
                  <a:gdLst/>
                  <a:ahLst/>
                  <a:cxnLst>
                    <a:cxn ang="0">
                      <a:pos x="1" y="275"/>
                    </a:cxn>
                    <a:cxn ang="0">
                      <a:pos x="3" y="254"/>
                    </a:cxn>
                    <a:cxn ang="0">
                      <a:pos x="12" y="235"/>
                    </a:cxn>
                    <a:cxn ang="0">
                      <a:pos x="19" y="219"/>
                    </a:cxn>
                    <a:cxn ang="0">
                      <a:pos x="24" y="194"/>
                    </a:cxn>
                    <a:cxn ang="0">
                      <a:pos x="30" y="161"/>
                    </a:cxn>
                    <a:cxn ang="0">
                      <a:pos x="34" y="126"/>
                    </a:cxn>
                    <a:cxn ang="0">
                      <a:pos x="37" y="94"/>
                    </a:cxn>
                    <a:cxn ang="0">
                      <a:pos x="39" y="67"/>
                    </a:cxn>
                    <a:cxn ang="0">
                      <a:pos x="40" y="43"/>
                    </a:cxn>
                    <a:cxn ang="0">
                      <a:pos x="48" y="29"/>
                    </a:cxn>
                    <a:cxn ang="0">
                      <a:pos x="63" y="16"/>
                    </a:cxn>
                    <a:cxn ang="0">
                      <a:pos x="78" y="9"/>
                    </a:cxn>
                    <a:cxn ang="0">
                      <a:pos x="102" y="2"/>
                    </a:cxn>
                    <a:cxn ang="0">
                      <a:pos x="129" y="0"/>
                    </a:cxn>
                    <a:cxn ang="0">
                      <a:pos x="171" y="0"/>
                    </a:cxn>
                    <a:cxn ang="0">
                      <a:pos x="208" y="2"/>
                    </a:cxn>
                    <a:cxn ang="0">
                      <a:pos x="244" y="9"/>
                    </a:cxn>
                    <a:cxn ang="0">
                      <a:pos x="277" y="21"/>
                    </a:cxn>
                    <a:cxn ang="0">
                      <a:pos x="298" y="35"/>
                    </a:cxn>
                    <a:cxn ang="0">
                      <a:pos x="310" y="47"/>
                    </a:cxn>
                    <a:cxn ang="0">
                      <a:pos x="318" y="61"/>
                    </a:cxn>
                    <a:cxn ang="0">
                      <a:pos x="316" y="75"/>
                    </a:cxn>
                    <a:cxn ang="0">
                      <a:pos x="313" y="89"/>
                    </a:cxn>
                    <a:cxn ang="0">
                      <a:pos x="303" y="104"/>
                    </a:cxn>
                    <a:cxn ang="0">
                      <a:pos x="295" y="123"/>
                    </a:cxn>
                    <a:cxn ang="0">
                      <a:pos x="291" y="149"/>
                    </a:cxn>
                    <a:cxn ang="0">
                      <a:pos x="288" y="176"/>
                    </a:cxn>
                    <a:cxn ang="0">
                      <a:pos x="283" y="200"/>
                    </a:cxn>
                    <a:cxn ang="0">
                      <a:pos x="282" y="235"/>
                    </a:cxn>
                    <a:cxn ang="0">
                      <a:pos x="280" y="265"/>
                    </a:cxn>
                    <a:cxn ang="0">
                      <a:pos x="280" y="285"/>
                    </a:cxn>
                    <a:cxn ang="0">
                      <a:pos x="270" y="260"/>
                    </a:cxn>
                    <a:cxn ang="0">
                      <a:pos x="250" y="248"/>
                    </a:cxn>
                    <a:cxn ang="0">
                      <a:pos x="232" y="241"/>
                    </a:cxn>
                    <a:cxn ang="0">
                      <a:pos x="210" y="236"/>
                    </a:cxn>
                    <a:cxn ang="0">
                      <a:pos x="175" y="229"/>
                    </a:cxn>
                    <a:cxn ang="0">
                      <a:pos x="141" y="228"/>
                    </a:cxn>
                    <a:cxn ang="0">
                      <a:pos x="121" y="228"/>
                    </a:cxn>
                    <a:cxn ang="0">
                      <a:pos x="90" y="230"/>
                    </a:cxn>
                    <a:cxn ang="0">
                      <a:pos x="54" y="237"/>
                    </a:cxn>
                    <a:cxn ang="0">
                      <a:pos x="31" y="246"/>
                    </a:cxn>
                    <a:cxn ang="0">
                      <a:pos x="16" y="255"/>
                    </a:cxn>
                    <a:cxn ang="0">
                      <a:pos x="0" y="268"/>
                    </a:cxn>
                  </a:cxnLst>
                  <a:rect l="0" t="0" r="r" b="b"/>
                  <a:pathLst>
                    <a:path w="319" h="286">
                      <a:moveTo>
                        <a:pt x="1" y="275"/>
                      </a:moveTo>
                      <a:lnTo>
                        <a:pt x="3" y="254"/>
                      </a:lnTo>
                      <a:lnTo>
                        <a:pt x="12" y="235"/>
                      </a:lnTo>
                      <a:lnTo>
                        <a:pt x="19" y="219"/>
                      </a:lnTo>
                      <a:lnTo>
                        <a:pt x="24" y="194"/>
                      </a:lnTo>
                      <a:lnTo>
                        <a:pt x="30" y="161"/>
                      </a:lnTo>
                      <a:lnTo>
                        <a:pt x="34" y="126"/>
                      </a:lnTo>
                      <a:lnTo>
                        <a:pt x="37" y="94"/>
                      </a:lnTo>
                      <a:lnTo>
                        <a:pt x="39" y="67"/>
                      </a:lnTo>
                      <a:lnTo>
                        <a:pt x="40" y="43"/>
                      </a:lnTo>
                      <a:lnTo>
                        <a:pt x="48" y="29"/>
                      </a:lnTo>
                      <a:lnTo>
                        <a:pt x="63" y="16"/>
                      </a:lnTo>
                      <a:lnTo>
                        <a:pt x="78" y="9"/>
                      </a:lnTo>
                      <a:lnTo>
                        <a:pt x="102" y="2"/>
                      </a:lnTo>
                      <a:lnTo>
                        <a:pt x="129" y="0"/>
                      </a:lnTo>
                      <a:lnTo>
                        <a:pt x="171" y="0"/>
                      </a:lnTo>
                      <a:lnTo>
                        <a:pt x="208" y="2"/>
                      </a:lnTo>
                      <a:lnTo>
                        <a:pt x="244" y="9"/>
                      </a:lnTo>
                      <a:lnTo>
                        <a:pt x="277" y="21"/>
                      </a:lnTo>
                      <a:lnTo>
                        <a:pt x="298" y="35"/>
                      </a:lnTo>
                      <a:lnTo>
                        <a:pt x="310" y="47"/>
                      </a:lnTo>
                      <a:lnTo>
                        <a:pt x="318" y="61"/>
                      </a:lnTo>
                      <a:lnTo>
                        <a:pt x="316" y="75"/>
                      </a:lnTo>
                      <a:lnTo>
                        <a:pt x="313" y="89"/>
                      </a:lnTo>
                      <a:lnTo>
                        <a:pt x="303" y="104"/>
                      </a:lnTo>
                      <a:lnTo>
                        <a:pt x="295" y="123"/>
                      </a:lnTo>
                      <a:lnTo>
                        <a:pt x="291" y="149"/>
                      </a:lnTo>
                      <a:lnTo>
                        <a:pt x="288" y="176"/>
                      </a:lnTo>
                      <a:lnTo>
                        <a:pt x="283" y="200"/>
                      </a:lnTo>
                      <a:lnTo>
                        <a:pt x="282" y="235"/>
                      </a:lnTo>
                      <a:lnTo>
                        <a:pt x="280" y="265"/>
                      </a:lnTo>
                      <a:lnTo>
                        <a:pt x="280" y="285"/>
                      </a:lnTo>
                      <a:lnTo>
                        <a:pt x="270" y="260"/>
                      </a:lnTo>
                      <a:lnTo>
                        <a:pt x="250" y="248"/>
                      </a:lnTo>
                      <a:lnTo>
                        <a:pt x="232" y="241"/>
                      </a:lnTo>
                      <a:lnTo>
                        <a:pt x="210" y="236"/>
                      </a:lnTo>
                      <a:lnTo>
                        <a:pt x="175" y="229"/>
                      </a:lnTo>
                      <a:lnTo>
                        <a:pt x="141" y="228"/>
                      </a:lnTo>
                      <a:lnTo>
                        <a:pt x="121" y="228"/>
                      </a:lnTo>
                      <a:lnTo>
                        <a:pt x="90" y="230"/>
                      </a:lnTo>
                      <a:lnTo>
                        <a:pt x="54" y="237"/>
                      </a:lnTo>
                      <a:lnTo>
                        <a:pt x="31" y="246"/>
                      </a:lnTo>
                      <a:lnTo>
                        <a:pt x="16" y="255"/>
                      </a:lnTo>
                      <a:lnTo>
                        <a:pt x="0" y="268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  <p:sp>
              <p:nvSpPr>
                <p:cNvPr id="1051" name="Freeform 27"/>
                <p:cNvSpPr>
                  <a:spLocks/>
                </p:cNvSpPr>
                <p:nvPr/>
              </p:nvSpPr>
              <p:spPr bwMode="ltGray">
                <a:xfrm>
                  <a:off x="4371" y="119"/>
                  <a:ext cx="832" cy="42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356"/>
                    </a:cxn>
                    <a:cxn ang="0">
                      <a:pos x="84" y="374"/>
                    </a:cxn>
                    <a:cxn ang="0">
                      <a:pos x="153" y="393"/>
                    </a:cxn>
                    <a:cxn ang="0">
                      <a:pos x="210" y="404"/>
                    </a:cxn>
                    <a:cxn ang="0">
                      <a:pos x="258" y="410"/>
                    </a:cxn>
                    <a:cxn ang="0">
                      <a:pos x="312" y="416"/>
                    </a:cxn>
                    <a:cxn ang="0">
                      <a:pos x="402" y="419"/>
                    </a:cxn>
                    <a:cxn ang="0">
                      <a:pos x="485" y="412"/>
                    </a:cxn>
                    <a:cxn ang="0">
                      <a:pos x="570" y="399"/>
                    </a:cxn>
                    <a:cxn ang="0">
                      <a:pos x="652" y="377"/>
                    </a:cxn>
                    <a:cxn ang="0">
                      <a:pos x="724" y="347"/>
                    </a:cxn>
                    <a:cxn ang="0">
                      <a:pos x="784" y="306"/>
                    </a:cxn>
                    <a:cxn ang="0">
                      <a:pos x="829" y="291"/>
                    </a:cxn>
                    <a:cxn ang="0">
                      <a:pos x="831" y="2"/>
                    </a:cxn>
                    <a:cxn ang="0">
                      <a:pos x="786" y="9"/>
                    </a:cxn>
                    <a:cxn ang="0">
                      <a:pos x="726" y="29"/>
                    </a:cxn>
                    <a:cxn ang="0">
                      <a:pos x="654" y="55"/>
                    </a:cxn>
                    <a:cxn ang="0">
                      <a:pos x="585" y="70"/>
                    </a:cxn>
                    <a:cxn ang="0">
                      <a:pos x="515" y="78"/>
                    </a:cxn>
                    <a:cxn ang="0">
                      <a:pos x="468" y="82"/>
                    </a:cxn>
                    <a:cxn ang="0">
                      <a:pos x="428" y="84"/>
                    </a:cxn>
                    <a:cxn ang="0">
                      <a:pos x="358" y="84"/>
                    </a:cxn>
                    <a:cxn ang="0">
                      <a:pos x="314" y="81"/>
                    </a:cxn>
                    <a:cxn ang="0">
                      <a:pos x="274" y="76"/>
                    </a:cxn>
                    <a:cxn ang="0">
                      <a:pos x="229" y="73"/>
                    </a:cxn>
                    <a:cxn ang="0">
                      <a:pos x="190" y="66"/>
                    </a:cxn>
                    <a:cxn ang="0">
                      <a:pos x="140" y="57"/>
                    </a:cxn>
                    <a:cxn ang="0">
                      <a:pos x="96" y="44"/>
                    </a:cxn>
                    <a:cxn ang="0">
                      <a:pos x="49" y="24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832" h="420">
                      <a:moveTo>
                        <a:pt x="0" y="0"/>
                      </a:moveTo>
                      <a:lnTo>
                        <a:pt x="0" y="356"/>
                      </a:lnTo>
                      <a:lnTo>
                        <a:pt x="84" y="374"/>
                      </a:lnTo>
                      <a:lnTo>
                        <a:pt x="153" y="393"/>
                      </a:lnTo>
                      <a:lnTo>
                        <a:pt x="210" y="404"/>
                      </a:lnTo>
                      <a:lnTo>
                        <a:pt x="258" y="410"/>
                      </a:lnTo>
                      <a:lnTo>
                        <a:pt x="312" y="416"/>
                      </a:lnTo>
                      <a:lnTo>
                        <a:pt x="402" y="419"/>
                      </a:lnTo>
                      <a:lnTo>
                        <a:pt x="485" y="412"/>
                      </a:lnTo>
                      <a:lnTo>
                        <a:pt x="570" y="399"/>
                      </a:lnTo>
                      <a:lnTo>
                        <a:pt x="652" y="377"/>
                      </a:lnTo>
                      <a:lnTo>
                        <a:pt x="724" y="347"/>
                      </a:lnTo>
                      <a:lnTo>
                        <a:pt x="784" y="306"/>
                      </a:lnTo>
                      <a:lnTo>
                        <a:pt x="829" y="291"/>
                      </a:lnTo>
                      <a:lnTo>
                        <a:pt x="831" y="2"/>
                      </a:lnTo>
                      <a:lnTo>
                        <a:pt x="786" y="9"/>
                      </a:lnTo>
                      <a:lnTo>
                        <a:pt x="726" y="29"/>
                      </a:lnTo>
                      <a:lnTo>
                        <a:pt x="654" y="55"/>
                      </a:lnTo>
                      <a:lnTo>
                        <a:pt x="585" y="70"/>
                      </a:lnTo>
                      <a:lnTo>
                        <a:pt x="515" y="78"/>
                      </a:lnTo>
                      <a:lnTo>
                        <a:pt x="468" y="82"/>
                      </a:lnTo>
                      <a:lnTo>
                        <a:pt x="428" y="84"/>
                      </a:lnTo>
                      <a:lnTo>
                        <a:pt x="358" y="84"/>
                      </a:lnTo>
                      <a:lnTo>
                        <a:pt x="314" y="81"/>
                      </a:lnTo>
                      <a:lnTo>
                        <a:pt x="274" y="76"/>
                      </a:lnTo>
                      <a:lnTo>
                        <a:pt x="229" y="73"/>
                      </a:lnTo>
                      <a:lnTo>
                        <a:pt x="190" y="66"/>
                      </a:lnTo>
                      <a:lnTo>
                        <a:pt x="140" y="57"/>
                      </a:lnTo>
                      <a:lnTo>
                        <a:pt x="96" y="44"/>
                      </a:lnTo>
                      <a:lnTo>
                        <a:pt x="49" y="2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2">
                    <a:alpha val="50000"/>
                  </a:schemeClr>
                </a:solidFill>
                <a:ln w="9525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ru-RU" sz="2400">
                    <a:solidFill>
                      <a:srgbClr val="F8F8F8"/>
                    </a:solidFill>
                  </a:endParaRPr>
                </a:p>
              </p:txBody>
            </p:sp>
          </p:grpSp>
          <p:sp>
            <p:nvSpPr>
              <p:cNvPr id="1053" name="Freeform 29"/>
              <p:cNvSpPr>
                <a:spLocks/>
              </p:cNvSpPr>
              <p:nvPr/>
            </p:nvSpPr>
            <p:spPr bwMode="ltGray">
              <a:xfrm>
                <a:off x="5217" y="774"/>
                <a:ext cx="156" cy="118"/>
              </a:xfrm>
              <a:custGeom>
                <a:avLst/>
                <a:gdLst/>
                <a:ahLst/>
                <a:cxnLst>
                  <a:cxn ang="0">
                    <a:pos x="83" y="0"/>
                  </a:cxn>
                  <a:cxn ang="0">
                    <a:pos x="134" y="19"/>
                  </a:cxn>
                  <a:cxn ang="0">
                    <a:pos x="152" y="46"/>
                  </a:cxn>
                  <a:cxn ang="0">
                    <a:pos x="155" y="70"/>
                  </a:cxn>
                  <a:cxn ang="0">
                    <a:pos x="155" y="84"/>
                  </a:cxn>
                  <a:cxn ang="0">
                    <a:pos x="146" y="100"/>
                  </a:cxn>
                  <a:cxn ang="0">
                    <a:pos x="126" y="108"/>
                  </a:cxn>
                  <a:cxn ang="0">
                    <a:pos x="105" y="114"/>
                  </a:cxn>
                  <a:cxn ang="0">
                    <a:pos x="86" y="117"/>
                  </a:cxn>
                  <a:cxn ang="0">
                    <a:pos x="69" y="117"/>
                  </a:cxn>
                  <a:cxn ang="0">
                    <a:pos x="41" y="112"/>
                  </a:cxn>
                  <a:cxn ang="0">
                    <a:pos x="21" y="107"/>
                  </a:cxn>
                  <a:cxn ang="0">
                    <a:pos x="9" y="98"/>
                  </a:cxn>
                  <a:cxn ang="0">
                    <a:pos x="2" y="90"/>
                  </a:cxn>
                  <a:cxn ang="0">
                    <a:pos x="0" y="78"/>
                  </a:cxn>
                  <a:cxn ang="0">
                    <a:pos x="2" y="60"/>
                  </a:cxn>
                  <a:cxn ang="0">
                    <a:pos x="9" y="11"/>
                  </a:cxn>
                  <a:cxn ang="0">
                    <a:pos x="83" y="0"/>
                  </a:cxn>
                </a:cxnLst>
                <a:rect l="0" t="0" r="r" b="b"/>
                <a:pathLst>
                  <a:path w="156" h="118">
                    <a:moveTo>
                      <a:pt x="83" y="0"/>
                    </a:moveTo>
                    <a:lnTo>
                      <a:pt x="134" y="19"/>
                    </a:lnTo>
                    <a:lnTo>
                      <a:pt x="152" y="46"/>
                    </a:lnTo>
                    <a:lnTo>
                      <a:pt x="155" y="70"/>
                    </a:lnTo>
                    <a:lnTo>
                      <a:pt x="155" y="84"/>
                    </a:lnTo>
                    <a:lnTo>
                      <a:pt x="146" y="100"/>
                    </a:lnTo>
                    <a:lnTo>
                      <a:pt x="126" y="108"/>
                    </a:lnTo>
                    <a:lnTo>
                      <a:pt x="105" y="114"/>
                    </a:lnTo>
                    <a:lnTo>
                      <a:pt x="86" y="117"/>
                    </a:lnTo>
                    <a:lnTo>
                      <a:pt x="69" y="117"/>
                    </a:lnTo>
                    <a:lnTo>
                      <a:pt x="41" y="112"/>
                    </a:lnTo>
                    <a:lnTo>
                      <a:pt x="21" y="107"/>
                    </a:lnTo>
                    <a:lnTo>
                      <a:pt x="9" y="98"/>
                    </a:lnTo>
                    <a:lnTo>
                      <a:pt x="2" y="90"/>
                    </a:lnTo>
                    <a:lnTo>
                      <a:pt x="0" y="78"/>
                    </a:lnTo>
                    <a:lnTo>
                      <a:pt x="2" y="60"/>
                    </a:lnTo>
                    <a:lnTo>
                      <a:pt x="9" y="11"/>
                    </a:lnTo>
                    <a:lnTo>
                      <a:pt x="83" y="0"/>
                    </a:lnTo>
                  </a:path>
                </a:pathLst>
              </a:custGeom>
              <a:solidFill>
                <a:schemeClr val="bg2">
                  <a:alpha val="50000"/>
                </a:schemeClr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54" name="Freeform 30"/>
              <p:cNvSpPr>
                <a:spLocks/>
              </p:cNvSpPr>
              <p:nvPr/>
            </p:nvSpPr>
            <p:spPr bwMode="ltGray">
              <a:xfrm>
                <a:off x="5213" y="787"/>
                <a:ext cx="88" cy="74"/>
              </a:xfrm>
              <a:custGeom>
                <a:avLst/>
                <a:gdLst/>
                <a:ahLst/>
                <a:cxnLst>
                  <a:cxn ang="0">
                    <a:pos x="0" y="68"/>
                  </a:cxn>
                  <a:cxn ang="0">
                    <a:pos x="11" y="0"/>
                  </a:cxn>
                  <a:cxn ang="0">
                    <a:pos x="54" y="5"/>
                  </a:cxn>
                  <a:cxn ang="0">
                    <a:pos x="87" y="9"/>
                  </a:cxn>
                  <a:cxn ang="0">
                    <a:pos x="78" y="73"/>
                  </a:cxn>
                  <a:cxn ang="0">
                    <a:pos x="75" y="58"/>
                  </a:cxn>
                  <a:cxn ang="0">
                    <a:pos x="65" y="47"/>
                  </a:cxn>
                  <a:cxn ang="0">
                    <a:pos x="47" y="44"/>
                  </a:cxn>
                  <a:cxn ang="0">
                    <a:pos x="27" y="45"/>
                  </a:cxn>
                  <a:cxn ang="0">
                    <a:pos x="11" y="52"/>
                  </a:cxn>
                  <a:cxn ang="0">
                    <a:pos x="0" y="68"/>
                  </a:cxn>
                </a:cxnLst>
                <a:rect l="0" t="0" r="r" b="b"/>
                <a:pathLst>
                  <a:path w="88" h="74">
                    <a:moveTo>
                      <a:pt x="0" y="68"/>
                    </a:moveTo>
                    <a:lnTo>
                      <a:pt x="11" y="0"/>
                    </a:lnTo>
                    <a:lnTo>
                      <a:pt x="54" y="5"/>
                    </a:lnTo>
                    <a:lnTo>
                      <a:pt x="87" y="9"/>
                    </a:lnTo>
                    <a:lnTo>
                      <a:pt x="78" y="73"/>
                    </a:lnTo>
                    <a:lnTo>
                      <a:pt x="75" y="58"/>
                    </a:lnTo>
                    <a:lnTo>
                      <a:pt x="65" y="47"/>
                    </a:lnTo>
                    <a:lnTo>
                      <a:pt x="47" y="44"/>
                    </a:lnTo>
                    <a:lnTo>
                      <a:pt x="27" y="45"/>
                    </a:lnTo>
                    <a:lnTo>
                      <a:pt x="11" y="52"/>
                    </a:lnTo>
                    <a:lnTo>
                      <a:pt x="0" y="68"/>
                    </a:lnTo>
                  </a:path>
                </a:pathLst>
              </a:custGeom>
              <a:solidFill>
                <a:schemeClr val="bg2">
                  <a:alpha val="50000"/>
                </a:schemeClr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55" name="Freeform 31"/>
              <p:cNvSpPr>
                <a:spLocks/>
              </p:cNvSpPr>
              <p:nvPr/>
            </p:nvSpPr>
            <p:spPr bwMode="ltGray">
              <a:xfrm>
                <a:off x="423" y="765"/>
                <a:ext cx="156" cy="118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21" y="19"/>
                  </a:cxn>
                  <a:cxn ang="0">
                    <a:pos x="3" y="46"/>
                  </a:cxn>
                  <a:cxn ang="0">
                    <a:pos x="0" y="70"/>
                  </a:cxn>
                  <a:cxn ang="0">
                    <a:pos x="0" y="84"/>
                  </a:cxn>
                  <a:cxn ang="0">
                    <a:pos x="9" y="100"/>
                  </a:cxn>
                  <a:cxn ang="0">
                    <a:pos x="29" y="108"/>
                  </a:cxn>
                  <a:cxn ang="0">
                    <a:pos x="50" y="114"/>
                  </a:cxn>
                  <a:cxn ang="0">
                    <a:pos x="69" y="117"/>
                  </a:cxn>
                  <a:cxn ang="0">
                    <a:pos x="86" y="117"/>
                  </a:cxn>
                  <a:cxn ang="0">
                    <a:pos x="114" y="112"/>
                  </a:cxn>
                  <a:cxn ang="0">
                    <a:pos x="134" y="107"/>
                  </a:cxn>
                  <a:cxn ang="0">
                    <a:pos x="146" y="98"/>
                  </a:cxn>
                  <a:cxn ang="0">
                    <a:pos x="153" y="90"/>
                  </a:cxn>
                  <a:cxn ang="0">
                    <a:pos x="155" y="78"/>
                  </a:cxn>
                  <a:cxn ang="0">
                    <a:pos x="153" y="60"/>
                  </a:cxn>
                  <a:cxn ang="0">
                    <a:pos x="146" y="11"/>
                  </a:cxn>
                  <a:cxn ang="0">
                    <a:pos x="72" y="0"/>
                  </a:cxn>
                </a:cxnLst>
                <a:rect l="0" t="0" r="r" b="b"/>
                <a:pathLst>
                  <a:path w="156" h="118">
                    <a:moveTo>
                      <a:pt x="72" y="0"/>
                    </a:moveTo>
                    <a:lnTo>
                      <a:pt x="21" y="19"/>
                    </a:lnTo>
                    <a:lnTo>
                      <a:pt x="3" y="46"/>
                    </a:lnTo>
                    <a:lnTo>
                      <a:pt x="0" y="70"/>
                    </a:lnTo>
                    <a:lnTo>
                      <a:pt x="0" y="84"/>
                    </a:lnTo>
                    <a:lnTo>
                      <a:pt x="9" y="100"/>
                    </a:lnTo>
                    <a:lnTo>
                      <a:pt x="29" y="108"/>
                    </a:lnTo>
                    <a:lnTo>
                      <a:pt x="50" y="114"/>
                    </a:lnTo>
                    <a:lnTo>
                      <a:pt x="69" y="117"/>
                    </a:lnTo>
                    <a:lnTo>
                      <a:pt x="86" y="117"/>
                    </a:lnTo>
                    <a:lnTo>
                      <a:pt x="114" y="112"/>
                    </a:lnTo>
                    <a:lnTo>
                      <a:pt x="134" y="107"/>
                    </a:lnTo>
                    <a:lnTo>
                      <a:pt x="146" y="98"/>
                    </a:lnTo>
                    <a:lnTo>
                      <a:pt x="153" y="90"/>
                    </a:lnTo>
                    <a:lnTo>
                      <a:pt x="155" y="78"/>
                    </a:lnTo>
                    <a:lnTo>
                      <a:pt x="153" y="60"/>
                    </a:lnTo>
                    <a:lnTo>
                      <a:pt x="146" y="11"/>
                    </a:lnTo>
                    <a:lnTo>
                      <a:pt x="72" y="0"/>
                    </a:lnTo>
                  </a:path>
                </a:pathLst>
              </a:custGeom>
              <a:solidFill>
                <a:schemeClr val="bg2">
                  <a:alpha val="50000"/>
                </a:schemeClr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56" name="Freeform 32"/>
              <p:cNvSpPr>
                <a:spLocks/>
              </p:cNvSpPr>
              <p:nvPr/>
            </p:nvSpPr>
            <p:spPr bwMode="ltGray">
              <a:xfrm>
                <a:off x="495" y="779"/>
                <a:ext cx="88" cy="74"/>
              </a:xfrm>
              <a:custGeom>
                <a:avLst/>
                <a:gdLst/>
                <a:ahLst/>
                <a:cxnLst>
                  <a:cxn ang="0">
                    <a:pos x="87" y="67"/>
                  </a:cxn>
                  <a:cxn ang="0">
                    <a:pos x="76" y="0"/>
                  </a:cxn>
                  <a:cxn ang="0">
                    <a:pos x="33" y="5"/>
                  </a:cxn>
                  <a:cxn ang="0">
                    <a:pos x="0" y="8"/>
                  </a:cxn>
                  <a:cxn ang="0">
                    <a:pos x="9" y="73"/>
                  </a:cxn>
                  <a:cxn ang="0">
                    <a:pos x="12" y="57"/>
                  </a:cxn>
                  <a:cxn ang="0">
                    <a:pos x="22" y="47"/>
                  </a:cxn>
                  <a:cxn ang="0">
                    <a:pos x="40" y="43"/>
                  </a:cxn>
                  <a:cxn ang="0">
                    <a:pos x="60" y="44"/>
                  </a:cxn>
                  <a:cxn ang="0">
                    <a:pos x="76" y="51"/>
                  </a:cxn>
                  <a:cxn ang="0">
                    <a:pos x="87" y="67"/>
                  </a:cxn>
                </a:cxnLst>
                <a:rect l="0" t="0" r="r" b="b"/>
                <a:pathLst>
                  <a:path w="88" h="74">
                    <a:moveTo>
                      <a:pt x="87" y="67"/>
                    </a:moveTo>
                    <a:lnTo>
                      <a:pt x="76" y="0"/>
                    </a:lnTo>
                    <a:lnTo>
                      <a:pt x="33" y="5"/>
                    </a:lnTo>
                    <a:lnTo>
                      <a:pt x="0" y="8"/>
                    </a:lnTo>
                    <a:lnTo>
                      <a:pt x="9" y="73"/>
                    </a:lnTo>
                    <a:lnTo>
                      <a:pt x="12" y="57"/>
                    </a:lnTo>
                    <a:lnTo>
                      <a:pt x="22" y="47"/>
                    </a:lnTo>
                    <a:lnTo>
                      <a:pt x="40" y="43"/>
                    </a:lnTo>
                    <a:lnTo>
                      <a:pt x="60" y="44"/>
                    </a:lnTo>
                    <a:lnTo>
                      <a:pt x="76" y="51"/>
                    </a:lnTo>
                    <a:lnTo>
                      <a:pt x="87" y="67"/>
                    </a:lnTo>
                  </a:path>
                </a:pathLst>
              </a:custGeom>
              <a:solidFill>
                <a:schemeClr val="bg2">
                  <a:alpha val="50000"/>
                </a:schemeClr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57" name="Line 33"/>
              <p:cNvSpPr>
                <a:spLocks noChangeShapeType="1"/>
              </p:cNvSpPr>
              <p:nvPr/>
            </p:nvSpPr>
            <p:spPr bwMode="ltGray">
              <a:xfrm flipV="1">
                <a:off x="1968" y="350"/>
                <a:ext cx="192" cy="87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58" name="Freeform 34"/>
              <p:cNvSpPr>
                <a:spLocks/>
              </p:cNvSpPr>
              <p:nvPr/>
            </p:nvSpPr>
            <p:spPr bwMode="ltGray">
              <a:xfrm>
                <a:off x="1356" y="63"/>
                <a:ext cx="2967" cy="457"/>
              </a:xfrm>
              <a:custGeom>
                <a:avLst/>
                <a:gdLst/>
                <a:ahLst/>
                <a:cxnLst>
                  <a:cxn ang="0">
                    <a:pos x="0" y="122"/>
                  </a:cxn>
                  <a:cxn ang="0">
                    <a:pos x="207" y="78"/>
                  </a:cxn>
                  <a:cxn ang="0">
                    <a:pos x="442" y="48"/>
                  </a:cxn>
                  <a:cxn ang="0">
                    <a:pos x="640" y="32"/>
                  </a:cxn>
                  <a:cxn ang="0">
                    <a:pos x="897" y="16"/>
                  </a:cxn>
                  <a:cxn ang="0">
                    <a:pos x="1215" y="2"/>
                  </a:cxn>
                  <a:cxn ang="0">
                    <a:pos x="1392" y="0"/>
                  </a:cxn>
                  <a:cxn ang="0">
                    <a:pos x="1710" y="0"/>
                  </a:cxn>
                  <a:cxn ang="0">
                    <a:pos x="1997" y="10"/>
                  </a:cxn>
                  <a:cxn ang="0">
                    <a:pos x="2258" y="21"/>
                  </a:cxn>
                  <a:cxn ang="0">
                    <a:pos x="2493" y="38"/>
                  </a:cxn>
                  <a:cxn ang="0">
                    <a:pos x="2674" y="54"/>
                  </a:cxn>
                  <a:cxn ang="0">
                    <a:pos x="2828" y="73"/>
                  </a:cxn>
                  <a:cxn ang="0">
                    <a:pos x="2966" y="92"/>
                  </a:cxn>
                  <a:cxn ang="0">
                    <a:pos x="2966" y="456"/>
                  </a:cxn>
                  <a:cxn ang="0">
                    <a:pos x="2833" y="434"/>
                  </a:cxn>
                  <a:cxn ang="0">
                    <a:pos x="2563" y="399"/>
                  </a:cxn>
                  <a:cxn ang="0">
                    <a:pos x="2382" y="382"/>
                  </a:cxn>
                  <a:cxn ang="0">
                    <a:pos x="2134" y="366"/>
                  </a:cxn>
                  <a:cxn ang="0">
                    <a:pos x="1944" y="358"/>
                  </a:cxn>
                  <a:cxn ang="0">
                    <a:pos x="1746" y="350"/>
                  </a:cxn>
                  <a:cxn ang="0">
                    <a:pos x="1529" y="350"/>
                  </a:cxn>
                  <a:cxn ang="0">
                    <a:pos x="1295" y="350"/>
                  </a:cxn>
                  <a:cxn ang="0">
                    <a:pos x="1047" y="355"/>
                  </a:cxn>
                  <a:cxn ang="0">
                    <a:pos x="853" y="363"/>
                  </a:cxn>
                  <a:cxn ang="0">
                    <a:pos x="654" y="374"/>
                  </a:cxn>
                  <a:cxn ang="0">
                    <a:pos x="468" y="388"/>
                  </a:cxn>
                  <a:cxn ang="0">
                    <a:pos x="296" y="404"/>
                  </a:cxn>
                  <a:cxn ang="0">
                    <a:pos x="150" y="423"/>
                  </a:cxn>
                  <a:cxn ang="0">
                    <a:pos x="13" y="445"/>
                  </a:cxn>
                  <a:cxn ang="0">
                    <a:pos x="0" y="122"/>
                  </a:cxn>
                </a:cxnLst>
                <a:rect l="0" t="0" r="r" b="b"/>
                <a:pathLst>
                  <a:path w="2967" h="457">
                    <a:moveTo>
                      <a:pt x="0" y="122"/>
                    </a:moveTo>
                    <a:lnTo>
                      <a:pt x="207" y="78"/>
                    </a:lnTo>
                    <a:lnTo>
                      <a:pt x="442" y="48"/>
                    </a:lnTo>
                    <a:lnTo>
                      <a:pt x="640" y="32"/>
                    </a:lnTo>
                    <a:lnTo>
                      <a:pt x="897" y="16"/>
                    </a:lnTo>
                    <a:lnTo>
                      <a:pt x="1215" y="2"/>
                    </a:lnTo>
                    <a:lnTo>
                      <a:pt x="1392" y="0"/>
                    </a:lnTo>
                    <a:lnTo>
                      <a:pt x="1710" y="0"/>
                    </a:lnTo>
                    <a:lnTo>
                      <a:pt x="1997" y="10"/>
                    </a:lnTo>
                    <a:lnTo>
                      <a:pt x="2258" y="21"/>
                    </a:lnTo>
                    <a:lnTo>
                      <a:pt x="2493" y="38"/>
                    </a:lnTo>
                    <a:lnTo>
                      <a:pt x="2674" y="54"/>
                    </a:lnTo>
                    <a:lnTo>
                      <a:pt x="2828" y="73"/>
                    </a:lnTo>
                    <a:lnTo>
                      <a:pt x="2966" y="92"/>
                    </a:lnTo>
                    <a:lnTo>
                      <a:pt x="2966" y="456"/>
                    </a:lnTo>
                    <a:lnTo>
                      <a:pt x="2833" y="434"/>
                    </a:lnTo>
                    <a:lnTo>
                      <a:pt x="2563" y="399"/>
                    </a:lnTo>
                    <a:lnTo>
                      <a:pt x="2382" y="382"/>
                    </a:lnTo>
                    <a:lnTo>
                      <a:pt x="2134" y="366"/>
                    </a:lnTo>
                    <a:lnTo>
                      <a:pt x="1944" y="358"/>
                    </a:lnTo>
                    <a:lnTo>
                      <a:pt x="1746" y="350"/>
                    </a:lnTo>
                    <a:lnTo>
                      <a:pt x="1529" y="350"/>
                    </a:lnTo>
                    <a:lnTo>
                      <a:pt x="1295" y="350"/>
                    </a:lnTo>
                    <a:lnTo>
                      <a:pt x="1047" y="355"/>
                    </a:lnTo>
                    <a:lnTo>
                      <a:pt x="853" y="363"/>
                    </a:lnTo>
                    <a:lnTo>
                      <a:pt x="654" y="374"/>
                    </a:lnTo>
                    <a:lnTo>
                      <a:pt x="468" y="388"/>
                    </a:lnTo>
                    <a:lnTo>
                      <a:pt x="296" y="404"/>
                    </a:lnTo>
                    <a:lnTo>
                      <a:pt x="150" y="423"/>
                    </a:lnTo>
                    <a:lnTo>
                      <a:pt x="13" y="445"/>
                    </a:lnTo>
                    <a:lnTo>
                      <a:pt x="0" y="122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59" name="Freeform 35"/>
              <p:cNvSpPr>
                <a:spLocks/>
              </p:cNvSpPr>
              <p:nvPr/>
            </p:nvSpPr>
            <p:spPr bwMode="ltGray">
              <a:xfrm>
                <a:off x="555" y="159"/>
                <a:ext cx="823" cy="431"/>
              </a:xfrm>
              <a:custGeom>
                <a:avLst/>
                <a:gdLst/>
                <a:ahLst/>
                <a:cxnLst>
                  <a:cxn ang="0">
                    <a:pos x="815" y="27"/>
                  </a:cxn>
                  <a:cxn ang="0">
                    <a:pos x="822" y="350"/>
                  </a:cxn>
                  <a:cxn ang="0">
                    <a:pos x="746" y="382"/>
                  </a:cxn>
                  <a:cxn ang="0">
                    <a:pos x="676" y="404"/>
                  </a:cxn>
                  <a:cxn ang="0">
                    <a:pos x="619" y="415"/>
                  </a:cxn>
                  <a:cxn ang="0">
                    <a:pos x="571" y="421"/>
                  </a:cxn>
                  <a:cxn ang="0">
                    <a:pos x="517" y="427"/>
                  </a:cxn>
                  <a:cxn ang="0">
                    <a:pos x="427" y="430"/>
                  </a:cxn>
                  <a:cxn ang="0">
                    <a:pos x="344" y="423"/>
                  </a:cxn>
                  <a:cxn ang="0">
                    <a:pos x="259" y="410"/>
                  </a:cxn>
                  <a:cxn ang="0">
                    <a:pos x="177" y="388"/>
                  </a:cxn>
                  <a:cxn ang="0">
                    <a:pos x="105" y="358"/>
                  </a:cxn>
                  <a:cxn ang="0">
                    <a:pos x="41" y="325"/>
                  </a:cxn>
                  <a:cxn ang="0">
                    <a:pos x="0" y="294"/>
                  </a:cxn>
                  <a:cxn ang="0">
                    <a:pos x="0" y="0"/>
                  </a:cxn>
                  <a:cxn ang="0">
                    <a:pos x="46" y="25"/>
                  </a:cxn>
                  <a:cxn ang="0">
                    <a:pos x="105" y="47"/>
                  </a:cxn>
                  <a:cxn ang="0">
                    <a:pos x="175" y="66"/>
                  </a:cxn>
                  <a:cxn ang="0">
                    <a:pos x="244" y="81"/>
                  </a:cxn>
                  <a:cxn ang="0">
                    <a:pos x="314" y="89"/>
                  </a:cxn>
                  <a:cxn ang="0">
                    <a:pos x="361" y="93"/>
                  </a:cxn>
                  <a:cxn ang="0">
                    <a:pos x="401" y="95"/>
                  </a:cxn>
                  <a:cxn ang="0">
                    <a:pos x="471" y="95"/>
                  </a:cxn>
                  <a:cxn ang="0">
                    <a:pos x="515" y="92"/>
                  </a:cxn>
                  <a:cxn ang="0">
                    <a:pos x="555" y="87"/>
                  </a:cxn>
                  <a:cxn ang="0">
                    <a:pos x="600" y="84"/>
                  </a:cxn>
                  <a:cxn ang="0">
                    <a:pos x="640" y="76"/>
                  </a:cxn>
                  <a:cxn ang="0">
                    <a:pos x="689" y="67"/>
                  </a:cxn>
                  <a:cxn ang="0">
                    <a:pos x="733" y="55"/>
                  </a:cxn>
                  <a:cxn ang="0">
                    <a:pos x="777" y="41"/>
                  </a:cxn>
                  <a:cxn ang="0">
                    <a:pos x="815" y="27"/>
                  </a:cxn>
                </a:cxnLst>
                <a:rect l="0" t="0" r="r" b="b"/>
                <a:pathLst>
                  <a:path w="823" h="431">
                    <a:moveTo>
                      <a:pt x="815" y="27"/>
                    </a:moveTo>
                    <a:lnTo>
                      <a:pt x="822" y="350"/>
                    </a:lnTo>
                    <a:lnTo>
                      <a:pt x="746" y="382"/>
                    </a:lnTo>
                    <a:lnTo>
                      <a:pt x="676" y="404"/>
                    </a:lnTo>
                    <a:lnTo>
                      <a:pt x="619" y="415"/>
                    </a:lnTo>
                    <a:lnTo>
                      <a:pt x="571" y="421"/>
                    </a:lnTo>
                    <a:lnTo>
                      <a:pt x="517" y="427"/>
                    </a:lnTo>
                    <a:lnTo>
                      <a:pt x="427" y="430"/>
                    </a:lnTo>
                    <a:lnTo>
                      <a:pt x="344" y="423"/>
                    </a:lnTo>
                    <a:lnTo>
                      <a:pt x="259" y="410"/>
                    </a:lnTo>
                    <a:lnTo>
                      <a:pt x="177" y="388"/>
                    </a:lnTo>
                    <a:lnTo>
                      <a:pt x="105" y="358"/>
                    </a:lnTo>
                    <a:lnTo>
                      <a:pt x="41" y="325"/>
                    </a:lnTo>
                    <a:lnTo>
                      <a:pt x="0" y="294"/>
                    </a:lnTo>
                    <a:lnTo>
                      <a:pt x="0" y="0"/>
                    </a:lnTo>
                    <a:lnTo>
                      <a:pt x="46" y="25"/>
                    </a:lnTo>
                    <a:lnTo>
                      <a:pt x="105" y="47"/>
                    </a:lnTo>
                    <a:lnTo>
                      <a:pt x="175" y="66"/>
                    </a:lnTo>
                    <a:lnTo>
                      <a:pt x="244" y="81"/>
                    </a:lnTo>
                    <a:lnTo>
                      <a:pt x="314" y="89"/>
                    </a:lnTo>
                    <a:lnTo>
                      <a:pt x="361" y="93"/>
                    </a:lnTo>
                    <a:lnTo>
                      <a:pt x="401" y="95"/>
                    </a:lnTo>
                    <a:lnTo>
                      <a:pt x="471" y="95"/>
                    </a:lnTo>
                    <a:lnTo>
                      <a:pt x="515" y="92"/>
                    </a:lnTo>
                    <a:lnTo>
                      <a:pt x="555" y="87"/>
                    </a:lnTo>
                    <a:lnTo>
                      <a:pt x="600" y="84"/>
                    </a:lnTo>
                    <a:lnTo>
                      <a:pt x="640" y="76"/>
                    </a:lnTo>
                    <a:lnTo>
                      <a:pt x="689" y="67"/>
                    </a:lnTo>
                    <a:lnTo>
                      <a:pt x="733" y="55"/>
                    </a:lnTo>
                    <a:lnTo>
                      <a:pt x="777" y="41"/>
                    </a:lnTo>
                    <a:lnTo>
                      <a:pt x="815" y="27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0" name="Freeform 36"/>
              <p:cNvSpPr>
                <a:spLocks/>
              </p:cNvSpPr>
              <p:nvPr/>
            </p:nvSpPr>
            <p:spPr bwMode="ltGray">
              <a:xfrm>
                <a:off x="102" y="573"/>
                <a:ext cx="551" cy="340"/>
              </a:xfrm>
              <a:custGeom>
                <a:avLst/>
                <a:gdLst/>
                <a:ahLst/>
                <a:cxnLst>
                  <a:cxn ang="0">
                    <a:pos x="16" y="53"/>
                  </a:cxn>
                  <a:cxn ang="0">
                    <a:pos x="0" y="122"/>
                  </a:cxn>
                  <a:cxn ang="0">
                    <a:pos x="10" y="146"/>
                  </a:cxn>
                  <a:cxn ang="0">
                    <a:pos x="33" y="184"/>
                  </a:cxn>
                  <a:cxn ang="0">
                    <a:pos x="57" y="217"/>
                  </a:cxn>
                  <a:cxn ang="0">
                    <a:pos x="85" y="244"/>
                  </a:cxn>
                  <a:cxn ang="0">
                    <a:pos x="120" y="271"/>
                  </a:cxn>
                  <a:cxn ang="0">
                    <a:pos x="153" y="290"/>
                  </a:cxn>
                  <a:cxn ang="0">
                    <a:pos x="189" y="309"/>
                  </a:cxn>
                  <a:cxn ang="0">
                    <a:pos x="235" y="325"/>
                  </a:cxn>
                  <a:cxn ang="0">
                    <a:pos x="270" y="333"/>
                  </a:cxn>
                  <a:cxn ang="0">
                    <a:pos x="312" y="339"/>
                  </a:cxn>
                  <a:cxn ang="0">
                    <a:pos x="351" y="339"/>
                  </a:cxn>
                  <a:cxn ang="0">
                    <a:pos x="393" y="334"/>
                  </a:cxn>
                  <a:cxn ang="0">
                    <a:pos x="436" y="322"/>
                  </a:cxn>
                  <a:cxn ang="0">
                    <a:pos x="475" y="303"/>
                  </a:cxn>
                  <a:cxn ang="0">
                    <a:pos x="498" y="287"/>
                  </a:cxn>
                  <a:cxn ang="0">
                    <a:pos x="526" y="263"/>
                  </a:cxn>
                  <a:cxn ang="0">
                    <a:pos x="541" y="243"/>
                  </a:cxn>
                  <a:cxn ang="0">
                    <a:pos x="550" y="227"/>
                  </a:cxn>
                  <a:cxn ang="0">
                    <a:pos x="550" y="209"/>
                  </a:cxn>
                  <a:cxn ang="0">
                    <a:pos x="544" y="187"/>
                  </a:cxn>
                  <a:cxn ang="0">
                    <a:pos x="532" y="171"/>
                  </a:cxn>
                  <a:cxn ang="0">
                    <a:pos x="523" y="135"/>
                  </a:cxn>
                  <a:cxn ang="0">
                    <a:pos x="519" y="116"/>
                  </a:cxn>
                  <a:cxn ang="0">
                    <a:pos x="267" y="133"/>
                  </a:cxn>
                  <a:cxn ang="0">
                    <a:pos x="234" y="126"/>
                  </a:cxn>
                  <a:cxn ang="0">
                    <a:pos x="193" y="114"/>
                  </a:cxn>
                  <a:cxn ang="0">
                    <a:pos x="162" y="97"/>
                  </a:cxn>
                  <a:cxn ang="0">
                    <a:pos x="129" y="77"/>
                  </a:cxn>
                  <a:cxn ang="0">
                    <a:pos x="97" y="48"/>
                  </a:cxn>
                  <a:cxn ang="0">
                    <a:pos x="78" y="24"/>
                  </a:cxn>
                  <a:cxn ang="0">
                    <a:pos x="60" y="0"/>
                  </a:cxn>
                  <a:cxn ang="0">
                    <a:pos x="16" y="53"/>
                  </a:cxn>
                </a:cxnLst>
                <a:rect l="0" t="0" r="r" b="b"/>
                <a:pathLst>
                  <a:path w="551" h="340">
                    <a:moveTo>
                      <a:pt x="16" y="53"/>
                    </a:moveTo>
                    <a:lnTo>
                      <a:pt x="0" y="122"/>
                    </a:lnTo>
                    <a:lnTo>
                      <a:pt x="10" y="146"/>
                    </a:lnTo>
                    <a:lnTo>
                      <a:pt x="33" y="184"/>
                    </a:lnTo>
                    <a:lnTo>
                      <a:pt x="57" y="217"/>
                    </a:lnTo>
                    <a:lnTo>
                      <a:pt x="85" y="244"/>
                    </a:lnTo>
                    <a:lnTo>
                      <a:pt x="120" y="271"/>
                    </a:lnTo>
                    <a:lnTo>
                      <a:pt x="153" y="290"/>
                    </a:lnTo>
                    <a:lnTo>
                      <a:pt x="189" y="309"/>
                    </a:lnTo>
                    <a:lnTo>
                      <a:pt x="235" y="325"/>
                    </a:lnTo>
                    <a:lnTo>
                      <a:pt x="270" y="333"/>
                    </a:lnTo>
                    <a:lnTo>
                      <a:pt x="312" y="339"/>
                    </a:lnTo>
                    <a:lnTo>
                      <a:pt x="351" y="339"/>
                    </a:lnTo>
                    <a:lnTo>
                      <a:pt x="393" y="334"/>
                    </a:lnTo>
                    <a:lnTo>
                      <a:pt x="436" y="322"/>
                    </a:lnTo>
                    <a:lnTo>
                      <a:pt x="475" y="303"/>
                    </a:lnTo>
                    <a:lnTo>
                      <a:pt x="498" y="287"/>
                    </a:lnTo>
                    <a:lnTo>
                      <a:pt x="526" y="263"/>
                    </a:lnTo>
                    <a:lnTo>
                      <a:pt x="541" y="243"/>
                    </a:lnTo>
                    <a:lnTo>
                      <a:pt x="550" y="227"/>
                    </a:lnTo>
                    <a:lnTo>
                      <a:pt x="550" y="209"/>
                    </a:lnTo>
                    <a:lnTo>
                      <a:pt x="544" y="187"/>
                    </a:lnTo>
                    <a:lnTo>
                      <a:pt x="532" y="171"/>
                    </a:lnTo>
                    <a:lnTo>
                      <a:pt x="523" y="135"/>
                    </a:lnTo>
                    <a:lnTo>
                      <a:pt x="519" y="116"/>
                    </a:lnTo>
                    <a:lnTo>
                      <a:pt x="267" y="133"/>
                    </a:lnTo>
                    <a:lnTo>
                      <a:pt x="234" y="126"/>
                    </a:lnTo>
                    <a:lnTo>
                      <a:pt x="193" y="114"/>
                    </a:lnTo>
                    <a:lnTo>
                      <a:pt x="162" y="97"/>
                    </a:lnTo>
                    <a:lnTo>
                      <a:pt x="129" y="77"/>
                    </a:lnTo>
                    <a:lnTo>
                      <a:pt x="97" y="48"/>
                    </a:lnTo>
                    <a:lnTo>
                      <a:pt x="78" y="24"/>
                    </a:lnTo>
                    <a:lnTo>
                      <a:pt x="60" y="0"/>
                    </a:lnTo>
                    <a:lnTo>
                      <a:pt x="16" y="53"/>
                    </a:lnTo>
                  </a:path>
                </a:pathLst>
              </a:custGeom>
              <a:gradFill rotWithShape="0">
                <a:gsLst>
                  <a:gs pos="0">
                    <a:schemeClr val="hlink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1" name="Freeform 37"/>
              <p:cNvSpPr>
                <a:spLocks/>
              </p:cNvSpPr>
              <p:nvPr/>
            </p:nvSpPr>
            <p:spPr bwMode="ltGray">
              <a:xfrm>
                <a:off x="82" y="160"/>
                <a:ext cx="475" cy="552"/>
              </a:xfrm>
              <a:custGeom>
                <a:avLst/>
                <a:gdLst/>
                <a:ahLst/>
                <a:cxnLst>
                  <a:cxn ang="0">
                    <a:pos x="474" y="0"/>
                  </a:cxn>
                  <a:cxn ang="0">
                    <a:pos x="474" y="294"/>
                  </a:cxn>
                  <a:cxn ang="0">
                    <a:pos x="446" y="291"/>
                  </a:cxn>
                  <a:cxn ang="0">
                    <a:pos x="411" y="293"/>
                  </a:cxn>
                  <a:cxn ang="0">
                    <a:pos x="353" y="299"/>
                  </a:cxn>
                  <a:cxn ang="0">
                    <a:pos x="296" y="310"/>
                  </a:cxn>
                  <a:cxn ang="0">
                    <a:pos x="243" y="323"/>
                  </a:cxn>
                  <a:cxn ang="0">
                    <a:pos x="200" y="339"/>
                  </a:cxn>
                  <a:cxn ang="0">
                    <a:pos x="149" y="364"/>
                  </a:cxn>
                  <a:cxn ang="0">
                    <a:pos x="110" y="390"/>
                  </a:cxn>
                  <a:cxn ang="0">
                    <a:pos x="81" y="415"/>
                  </a:cxn>
                  <a:cxn ang="0">
                    <a:pos x="60" y="439"/>
                  </a:cxn>
                  <a:cxn ang="0">
                    <a:pos x="47" y="461"/>
                  </a:cxn>
                  <a:cxn ang="0">
                    <a:pos x="35" y="488"/>
                  </a:cxn>
                  <a:cxn ang="0">
                    <a:pos x="30" y="513"/>
                  </a:cxn>
                  <a:cxn ang="0">
                    <a:pos x="23" y="551"/>
                  </a:cxn>
                  <a:cxn ang="0">
                    <a:pos x="17" y="518"/>
                  </a:cxn>
                  <a:cxn ang="0">
                    <a:pos x="8" y="481"/>
                  </a:cxn>
                  <a:cxn ang="0">
                    <a:pos x="5" y="453"/>
                  </a:cxn>
                  <a:cxn ang="0">
                    <a:pos x="0" y="420"/>
                  </a:cxn>
                  <a:cxn ang="0">
                    <a:pos x="2" y="393"/>
                  </a:cxn>
                  <a:cxn ang="0">
                    <a:pos x="8" y="361"/>
                  </a:cxn>
                  <a:cxn ang="0">
                    <a:pos x="15" y="317"/>
                  </a:cxn>
                  <a:cxn ang="0">
                    <a:pos x="30" y="279"/>
                  </a:cxn>
                  <a:cxn ang="0">
                    <a:pos x="50" y="238"/>
                  </a:cxn>
                  <a:cxn ang="0">
                    <a:pos x="75" y="196"/>
                  </a:cxn>
                  <a:cxn ang="0">
                    <a:pos x="111" y="152"/>
                  </a:cxn>
                  <a:cxn ang="0">
                    <a:pos x="152" y="116"/>
                  </a:cxn>
                  <a:cxn ang="0">
                    <a:pos x="188" y="87"/>
                  </a:cxn>
                  <a:cxn ang="0">
                    <a:pos x="233" y="60"/>
                  </a:cxn>
                  <a:cxn ang="0">
                    <a:pos x="279" y="40"/>
                  </a:cxn>
                  <a:cxn ang="0">
                    <a:pos x="333" y="21"/>
                  </a:cxn>
                  <a:cxn ang="0">
                    <a:pos x="380" y="10"/>
                  </a:cxn>
                  <a:cxn ang="0">
                    <a:pos x="435" y="3"/>
                  </a:cxn>
                  <a:cxn ang="0">
                    <a:pos x="474" y="0"/>
                  </a:cxn>
                </a:cxnLst>
                <a:rect l="0" t="0" r="r" b="b"/>
                <a:pathLst>
                  <a:path w="475" h="552">
                    <a:moveTo>
                      <a:pt x="474" y="0"/>
                    </a:moveTo>
                    <a:lnTo>
                      <a:pt x="474" y="294"/>
                    </a:lnTo>
                    <a:lnTo>
                      <a:pt x="446" y="291"/>
                    </a:lnTo>
                    <a:lnTo>
                      <a:pt x="411" y="293"/>
                    </a:lnTo>
                    <a:lnTo>
                      <a:pt x="353" y="299"/>
                    </a:lnTo>
                    <a:lnTo>
                      <a:pt x="296" y="310"/>
                    </a:lnTo>
                    <a:lnTo>
                      <a:pt x="243" y="323"/>
                    </a:lnTo>
                    <a:lnTo>
                      <a:pt x="200" y="339"/>
                    </a:lnTo>
                    <a:lnTo>
                      <a:pt x="149" y="364"/>
                    </a:lnTo>
                    <a:lnTo>
                      <a:pt x="110" y="390"/>
                    </a:lnTo>
                    <a:lnTo>
                      <a:pt x="81" y="415"/>
                    </a:lnTo>
                    <a:lnTo>
                      <a:pt x="60" y="439"/>
                    </a:lnTo>
                    <a:lnTo>
                      <a:pt x="47" y="461"/>
                    </a:lnTo>
                    <a:lnTo>
                      <a:pt x="35" y="488"/>
                    </a:lnTo>
                    <a:lnTo>
                      <a:pt x="30" y="513"/>
                    </a:lnTo>
                    <a:lnTo>
                      <a:pt x="23" y="551"/>
                    </a:lnTo>
                    <a:lnTo>
                      <a:pt x="17" y="518"/>
                    </a:lnTo>
                    <a:lnTo>
                      <a:pt x="8" y="481"/>
                    </a:lnTo>
                    <a:lnTo>
                      <a:pt x="5" y="453"/>
                    </a:lnTo>
                    <a:lnTo>
                      <a:pt x="0" y="420"/>
                    </a:lnTo>
                    <a:lnTo>
                      <a:pt x="2" y="393"/>
                    </a:lnTo>
                    <a:lnTo>
                      <a:pt x="8" y="361"/>
                    </a:lnTo>
                    <a:lnTo>
                      <a:pt x="15" y="317"/>
                    </a:lnTo>
                    <a:lnTo>
                      <a:pt x="30" y="279"/>
                    </a:lnTo>
                    <a:lnTo>
                      <a:pt x="50" y="238"/>
                    </a:lnTo>
                    <a:lnTo>
                      <a:pt x="75" y="196"/>
                    </a:lnTo>
                    <a:lnTo>
                      <a:pt x="111" y="152"/>
                    </a:lnTo>
                    <a:lnTo>
                      <a:pt x="152" y="116"/>
                    </a:lnTo>
                    <a:lnTo>
                      <a:pt x="188" y="87"/>
                    </a:lnTo>
                    <a:lnTo>
                      <a:pt x="233" y="60"/>
                    </a:lnTo>
                    <a:lnTo>
                      <a:pt x="279" y="40"/>
                    </a:lnTo>
                    <a:lnTo>
                      <a:pt x="333" y="21"/>
                    </a:lnTo>
                    <a:lnTo>
                      <a:pt x="380" y="10"/>
                    </a:lnTo>
                    <a:lnTo>
                      <a:pt x="435" y="3"/>
                    </a:lnTo>
                    <a:lnTo>
                      <a:pt x="474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2" name="Freeform 38"/>
              <p:cNvSpPr>
                <a:spLocks/>
              </p:cNvSpPr>
              <p:nvPr/>
            </p:nvSpPr>
            <p:spPr bwMode="ltGray">
              <a:xfrm>
                <a:off x="370" y="727"/>
                <a:ext cx="156" cy="118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21" y="19"/>
                  </a:cxn>
                  <a:cxn ang="0">
                    <a:pos x="3" y="46"/>
                  </a:cxn>
                  <a:cxn ang="0">
                    <a:pos x="0" y="70"/>
                  </a:cxn>
                  <a:cxn ang="0">
                    <a:pos x="0" y="84"/>
                  </a:cxn>
                  <a:cxn ang="0">
                    <a:pos x="9" y="100"/>
                  </a:cxn>
                  <a:cxn ang="0">
                    <a:pos x="29" y="108"/>
                  </a:cxn>
                  <a:cxn ang="0">
                    <a:pos x="50" y="114"/>
                  </a:cxn>
                  <a:cxn ang="0">
                    <a:pos x="69" y="117"/>
                  </a:cxn>
                  <a:cxn ang="0">
                    <a:pos x="86" y="117"/>
                  </a:cxn>
                  <a:cxn ang="0">
                    <a:pos x="114" y="112"/>
                  </a:cxn>
                  <a:cxn ang="0">
                    <a:pos x="134" y="107"/>
                  </a:cxn>
                  <a:cxn ang="0">
                    <a:pos x="146" y="98"/>
                  </a:cxn>
                  <a:cxn ang="0">
                    <a:pos x="153" y="90"/>
                  </a:cxn>
                  <a:cxn ang="0">
                    <a:pos x="155" y="78"/>
                  </a:cxn>
                  <a:cxn ang="0">
                    <a:pos x="153" y="60"/>
                  </a:cxn>
                  <a:cxn ang="0">
                    <a:pos x="146" y="11"/>
                  </a:cxn>
                  <a:cxn ang="0">
                    <a:pos x="72" y="0"/>
                  </a:cxn>
                </a:cxnLst>
                <a:rect l="0" t="0" r="r" b="b"/>
                <a:pathLst>
                  <a:path w="156" h="118">
                    <a:moveTo>
                      <a:pt x="72" y="0"/>
                    </a:moveTo>
                    <a:lnTo>
                      <a:pt x="21" y="19"/>
                    </a:lnTo>
                    <a:lnTo>
                      <a:pt x="3" y="46"/>
                    </a:lnTo>
                    <a:lnTo>
                      <a:pt x="0" y="70"/>
                    </a:lnTo>
                    <a:lnTo>
                      <a:pt x="0" y="84"/>
                    </a:lnTo>
                    <a:lnTo>
                      <a:pt x="9" y="100"/>
                    </a:lnTo>
                    <a:lnTo>
                      <a:pt x="29" y="108"/>
                    </a:lnTo>
                    <a:lnTo>
                      <a:pt x="50" y="114"/>
                    </a:lnTo>
                    <a:lnTo>
                      <a:pt x="69" y="117"/>
                    </a:lnTo>
                    <a:lnTo>
                      <a:pt x="86" y="117"/>
                    </a:lnTo>
                    <a:lnTo>
                      <a:pt x="114" y="112"/>
                    </a:lnTo>
                    <a:lnTo>
                      <a:pt x="134" y="107"/>
                    </a:lnTo>
                    <a:lnTo>
                      <a:pt x="146" y="98"/>
                    </a:lnTo>
                    <a:lnTo>
                      <a:pt x="153" y="90"/>
                    </a:lnTo>
                    <a:lnTo>
                      <a:pt x="155" y="78"/>
                    </a:lnTo>
                    <a:lnTo>
                      <a:pt x="153" y="60"/>
                    </a:lnTo>
                    <a:lnTo>
                      <a:pt x="146" y="11"/>
                    </a:lnTo>
                    <a:lnTo>
                      <a:pt x="72" y="0"/>
                    </a:lnTo>
                  </a:path>
                </a:pathLst>
              </a:custGeom>
              <a:gradFill rotWithShape="0">
                <a:gsLst>
                  <a:gs pos="0">
                    <a:schemeClr val="hlink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3" name="Freeform 39"/>
              <p:cNvSpPr>
                <a:spLocks/>
              </p:cNvSpPr>
              <p:nvPr/>
            </p:nvSpPr>
            <p:spPr bwMode="ltGray">
              <a:xfrm>
                <a:off x="442" y="741"/>
                <a:ext cx="88" cy="74"/>
              </a:xfrm>
              <a:custGeom>
                <a:avLst/>
                <a:gdLst/>
                <a:ahLst/>
                <a:cxnLst>
                  <a:cxn ang="0">
                    <a:pos x="87" y="67"/>
                  </a:cxn>
                  <a:cxn ang="0">
                    <a:pos x="76" y="0"/>
                  </a:cxn>
                  <a:cxn ang="0">
                    <a:pos x="33" y="5"/>
                  </a:cxn>
                  <a:cxn ang="0">
                    <a:pos x="0" y="8"/>
                  </a:cxn>
                  <a:cxn ang="0">
                    <a:pos x="9" y="73"/>
                  </a:cxn>
                  <a:cxn ang="0">
                    <a:pos x="12" y="57"/>
                  </a:cxn>
                  <a:cxn ang="0">
                    <a:pos x="22" y="47"/>
                  </a:cxn>
                  <a:cxn ang="0">
                    <a:pos x="40" y="43"/>
                  </a:cxn>
                  <a:cxn ang="0">
                    <a:pos x="60" y="44"/>
                  </a:cxn>
                  <a:cxn ang="0">
                    <a:pos x="76" y="51"/>
                  </a:cxn>
                  <a:cxn ang="0">
                    <a:pos x="87" y="67"/>
                  </a:cxn>
                </a:cxnLst>
                <a:rect l="0" t="0" r="r" b="b"/>
                <a:pathLst>
                  <a:path w="88" h="74">
                    <a:moveTo>
                      <a:pt x="87" y="67"/>
                    </a:moveTo>
                    <a:lnTo>
                      <a:pt x="76" y="0"/>
                    </a:lnTo>
                    <a:lnTo>
                      <a:pt x="33" y="5"/>
                    </a:lnTo>
                    <a:lnTo>
                      <a:pt x="0" y="8"/>
                    </a:lnTo>
                    <a:lnTo>
                      <a:pt x="9" y="73"/>
                    </a:lnTo>
                    <a:lnTo>
                      <a:pt x="12" y="57"/>
                    </a:lnTo>
                    <a:lnTo>
                      <a:pt x="22" y="47"/>
                    </a:lnTo>
                    <a:lnTo>
                      <a:pt x="40" y="43"/>
                    </a:lnTo>
                    <a:lnTo>
                      <a:pt x="60" y="44"/>
                    </a:lnTo>
                    <a:lnTo>
                      <a:pt x="76" y="51"/>
                    </a:lnTo>
                    <a:lnTo>
                      <a:pt x="87" y="67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4" name="Freeform 40"/>
              <p:cNvSpPr>
                <a:spLocks/>
              </p:cNvSpPr>
              <p:nvPr/>
            </p:nvSpPr>
            <p:spPr bwMode="ltGray">
              <a:xfrm>
                <a:off x="334" y="520"/>
                <a:ext cx="319" cy="286"/>
              </a:xfrm>
              <a:custGeom>
                <a:avLst/>
                <a:gdLst/>
                <a:ahLst/>
                <a:cxnLst>
                  <a:cxn ang="0">
                    <a:pos x="317" y="275"/>
                  </a:cxn>
                  <a:cxn ang="0">
                    <a:pos x="315" y="254"/>
                  </a:cxn>
                  <a:cxn ang="0">
                    <a:pos x="306" y="235"/>
                  </a:cxn>
                  <a:cxn ang="0">
                    <a:pos x="299" y="219"/>
                  </a:cxn>
                  <a:cxn ang="0">
                    <a:pos x="294" y="194"/>
                  </a:cxn>
                  <a:cxn ang="0">
                    <a:pos x="288" y="161"/>
                  </a:cxn>
                  <a:cxn ang="0">
                    <a:pos x="284" y="126"/>
                  </a:cxn>
                  <a:cxn ang="0">
                    <a:pos x="281" y="94"/>
                  </a:cxn>
                  <a:cxn ang="0">
                    <a:pos x="279" y="67"/>
                  </a:cxn>
                  <a:cxn ang="0">
                    <a:pos x="278" y="43"/>
                  </a:cxn>
                  <a:cxn ang="0">
                    <a:pos x="270" y="29"/>
                  </a:cxn>
                  <a:cxn ang="0">
                    <a:pos x="255" y="16"/>
                  </a:cxn>
                  <a:cxn ang="0">
                    <a:pos x="240" y="9"/>
                  </a:cxn>
                  <a:cxn ang="0">
                    <a:pos x="216" y="2"/>
                  </a:cxn>
                  <a:cxn ang="0">
                    <a:pos x="189" y="0"/>
                  </a:cxn>
                  <a:cxn ang="0">
                    <a:pos x="147" y="0"/>
                  </a:cxn>
                  <a:cxn ang="0">
                    <a:pos x="110" y="2"/>
                  </a:cxn>
                  <a:cxn ang="0">
                    <a:pos x="74" y="9"/>
                  </a:cxn>
                  <a:cxn ang="0">
                    <a:pos x="41" y="21"/>
                  </a:cxn>
                  <a:cxn ang="0">
                    <a:pos x="20" y="35"/>
                  </a:cxn>
                  <a:cxn ang="0">
                    <a:pos x="8" y="47"/>
                  </a:cxn>
                  <a:cxn ang="0">
                    <a:pos x="0" y="61"/>
                  </a:cxn>
                  <a:cxn ang="0">
                    <a:pos x="2" y="75"/>
                  </a:cxn>
                  <a:cxn ang="0">
                    <a:pos x="5" y="89"/>
                  </a:cxn>
                  <a:cxn ang="0">
                    <a:pos x="15" y="104"/>
                  </a:cxn>
                  <a:cxn ang="0">
                    <a:pos x="23" y="123"/>
                  </a:cxn>
                  <a:cxn ang="0">
                    <a:pos x="27" y="149"/>
                  </a:cxn>
                  <a:cxn ang="0">
                    <a:pos x="30" y="176"/>
                  </a:cxn>
                  <a:cxn ang="0">
                    <a:pos x="35" y="200"/>
                  </a:cxn>
                  <a:cxn ang="0">
                    <a:pos x="36" y="235"/>
                  </a:cxn>
                  <a:cxn ang="0">
                    <a:pos x="38" y="265"/>
                  </a:cxn>
                  <a:cxn ang="0">
                    <a:pos x="38" y="285"/>
                  </a:cxn>
                  <a:cxn ang="0">
                    <a:pos x="48" y="260"/>
                  </a:cxn>
                  <a:cxn ang="0">
                    <a:pos x="68" y="248"/>
                  </a:cxn>
                  <a:cxn ang="0">
                    <a:pos x="86" y="241"/>
                  </a:cxn>
                  <a:cxn ang="0">
                    <a:pos x="108" y="236"/>
                  </a:cxn>
                  <a:cxn ang="0">
                    <a:pos x="143" y="229"/>
                  </a:cxn>
                  <a:cxn ang="0">
                    <a:pos x="177" y="228"/>
                  </a:cxn>
                  <a:cxn ang="0">
                    <a:pos x="197" y="228"/>
                  </a:cxn>
                  <a:cxn ang="0">
                    <a:pos x="228" y="230"/>
                  </a:cxn>
                  <a:cxn ang="0">
                    <a:pos x="264" y="237"/>
                  </a:cxn>
                  <a:cxn ang="0">
                    <a:pos x="287" y="246"/>
                  </a:cxn>
                  <a:cxn ang="0">
                    <a:pos x="302" y="255"/>
                  </a:cxn>
                  <a:cxn ang="0">
                    <a:pos x="318" y="268"/>
                  </a:cxn>
                </a:cxnLst>
                <a:rect l="0" t="0" r="r" b="b"/>
                <a:pathLst>
                  <a:path w="319" h="286">
                    <a:moveTo>
                      <a:pt x="317" y="275"/>
                    </a:moveTo>
                    <a:lnTo>
                      <a:pt x="315" y="254"/>
                    </a:lnTo>
                    <a:lnTo>
                      <a:pt x="306" y="235"/>
                    </a:lnTo>
                    <a:lnTo>
                      <a:pt x="299" y="219"/>
                    </a:lnTo>
                    <a:lnTo>
                      <a:pt x="294" y="194"/>
                    </a:lnTo>
                    <a:lnTo>
                      <a:pt x="288" y="161"/>
                    </a:lnTo>
                    <a:lnTo>
                      <a:pt x="284" y="126"/>
                    </a:lnTo>
                    <a:lnTo>
                      <a:pt x="281" y="94"/>
                    </a:lnTo>
                    <a:lnTo>
                      <a:pt x="279" y="67"/>
                    </a:lnTo>
                    <a:lnTo>
                      <a:pt x="278" y="43"/>
                    </a:lnTo>
                    <a:lnTo>
                      <a:pt x="270" y="29"/>
                    </a:lnTo>
                    <a:lnTo>
                      <a:pt x="255" y="16"/>
                    </a:lnTo>
                    <a:lnTo>
                      <a:pt x="240" y="9"/>
                    </a:lnTo>
                    <a:lnTo>
                      <a:pt x="216" y="2"/>
                    </a:lnTo>
                    <a:lnTo>
                      <a:pt x="189" y="0"/>
                    </a:lnTo>
                    <a:lnTo>
                      <a:pt x="147" y="0"/>
                    </a:lnTo>
                    <a:lnTo>
                      <a:pt x="110" y="2"/>
                    </a:lnTo>
                    <a:lnTo>
                      <a:pt x="74" y="9"/>
                    </a:lnTo>
                    <a:lnTo>
                      <a:pt x="41" y="21"/>
                    </a:lnTo>
                    <a:lnTo>
                      <a:pt x="20" y="35"/>
                    </a:lnTo>
                    <a:lnTo>
                      <a:pt x="8" y="47"/>
                    </a:lnTo>
                    <a:lnTo>
                      <a:pt x="0" y="61"/>
                    </a:lnTo>
                    <a:lnTo>
                      <a:pt x="2" y="75"/>
                    </a:lnTo>
                    <a:lnTo>
                      <a:pt x="5" y="89"/>
                    </a:lnTo>
                    <a:lnTo>
                      <a:pt x="15" y="104"/>
                    </a:lnTo>
                    <a:lnTo>
                      <a:pt x="23" y="123"/>
                    </a:lnTo>
                    <a:lnTo>
                      <a:pt x="27" y="149"/>
                    </a:lnTo>
                    <a:lnTo>
                      <a:pt x="30" y="176"/>
                    </a:lnTo>
                    <a:lnTo>
                      <a:pt x="35" y="200"/>
                    </a:lnTo>
                    <a:lnTo>
                      <a:pt x="36" y="235"/>
                    </a:lnTo>
                    <a:lnTo>
                      <a:pt x="38" y="265"/>
                    </a:lnTo>
                    <a:lnTo>
                      <a:pt x="38" y="285"/>
                    </a:lnTo>
                    <a:lnTo>
                      <a:pt x="48" y="260"/>
                    </a:lnTo>
                    <a:lnTo>
                      <a:pt x="68" y="248"/>
                    </a:lnTo>
                    <a:lnTo>
                      <a:pt x="86" y="241"/>
                    </a:lnTo>
                    <a:lnTo>
                      <a:pt x="108" y="236"/>
                    </a:lnTo>
                    <a:lnTo>
                      <a:pt x="143" y="229"/>
                    </a:lnTo>
                    <a:lnTo>
                      <a:pt x="177" y="228"/>
                    </a:lnTo>
                    <a:lnTo>
                      <a:pt x="197" y="228"/>
                    </a:lnTo>
                    <a:lnTo>
                      <a:pt x="228" y="230"/>
                    </a:lnTo>
                    <a:lnTo>
                      <a:pt x="264" y="237"/>
                    </a:lnTo>
                    <a:lnTo>
                      <a:pt x="287" y="246"/>
                    </a:lnTo>
                    <a:lnTo>
                      <a:pt x="302" y="255"/>
                    </a:lnTo>
                    <a:lnTo>
                      <a:pt x="318" y="268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5" name="Freeform 41"/>
              <p:cNvSpPr>
                <a:spLocks/>
              </p:cNvSpPr>
              <p:nvPr/>
            </p:nvSpPr>
            <p:spPr bwMode="ltGray">
              <a:xfrm>
                <a:off x="5049" y="578"/>
                <a:ext cx="551" cy="335"/>
              </a:xfrm>
              <a:custGeom>
                <a:avLst/>
                <a:gdLst/>
                <a:ahLst/>
                <a:cxnLst>
                  <a:cxn ang="0">
                    <a:pos x="534" y="48"/>
                  </a:cxn>
                  <a:cxn ang="0">
                    <a:pos x="550" y="117"/>
                  </a:cxn>
                  <a:cxn ang="0">
                    <a:pos x="540" y="142"/>
                  </a:cxn>
                  <a:cxn ang="0">
                    <a:pos x="517" y="179"/>
                  </a:cxn>
                  <a:cxn ang="0">
                    <a:pos x="493" y="212"/>
                  </a:cxn>
                  <a:cxn ang="0">
                    <a:pos x="465" y="239"/>
                  </a:cxn>
                  <a:cxn ang="0">
                    <a:pos x="430" y="267"/>
                  </a:cxn>
                  <a:cxn ang="0">
                    <a:pos x="397" y="286"/>
                  </a:cxn>
                  <a:cxn ang="0">
                    <a:pos x="361" y="304"/>
                  </a:cxn>
                  <a:cxn ang="0">
                    <a:pos x="315" y="320"/>
                  </a:cxn>
                  <a:cxn ang="0">
                    <a:pos x="280" y="328"/>
                  </a:cxn>
                  <a:cxn ang="0">
                    <a:pos x="238" y="334"/>
                  </a:cxn>
                  <a:cxn ang="0">
                    <a:pos x="199" y="334"/>
                  </a:cxn>
                  <a:cxn ang="0">
                    <a:pos x="157" y="329"/>
                  </a:cxn>
                  <a:cxn ang="0">
                    <a:pos x="114" y="317"/>
                  </a:cxn>
                  <a:cxn ang="0">
                    <a:pos x="75" y="298"/>
                  </a:cxn>
                  <a:cxn ang="0">
                    <a:pos x="52" y="282"/>
                  </a:cxn>
                  <a:cxn ang="0">
                    <a:pos x="24" y="258"/>
                  </a:cxn>
                  <a:cxn ang="0">
                    <a:pos x="9" y="238"/>
                  </a:cxn>
                  <a:cxn ang="0">
                    <a:pos x="0" y="222"/>
                  </a:cxn>
                  <a:cxn ang="0">
                    <a:pos x="0" y="204"/>
                  </a:cxn>
                  <a:cxn ang="0">
                    <a:pos x="6" y="182"/>
                  </a:cxn>
                  <a:cxn ang="0">
                    <a:pos x="18" y="166"/>
                  </a:cxn>
                  <a:cxn ang="0">
                    <a:pos x="27" y="131"/>
                  </a:cxn>
                  <a:cxn ang="0">
                    <a:pos x="31" y="112"/>
                  </a:cxn>
                  <a:cxn ang="0">
                    <a:pos x="283" y="128"/>
                  </a:cxn>
                  <a:cxn ang="0">
                    <a:pos x="316" y="122"/>
                  </a:cxn>
                  <a:cxn ang="0">
                    <a:pos x="357" y="109"/>
                  </a:cxn>
                  <a:cxn ang="0">
                    <a:pos x="388" y="93"/>
                  </a:cxn>
                  <a:cxn ang="0">
                    <a:pos x="421" y="73"/>
                  </a:cxn>
                  <a:cxn ang="0">
                    <a:pos x="453" y="44"/>
                  </a:cxn>
                  <a:cxn ang="0">
                    <a:pos x="472" y="19"/>
                  </a:cxn>
                  <a:cxn ang="0">
                    <a:pos x="486" y="0"/>
                  </a:cxn>
                  <a:cxn ang="0">
                    <a:pos x="534" y="48"/>
                  </a:cxn>
                </a:cxnLst>
                <a:rect l="0" t="0" r="r" b="b"/>
                <a:pathLst>
                  <a:path w="551" h="335">
                    <a:moveTo>
                      <a:pt x="534" y="48"/>
                    </a:moveTo>
                    <a:lnTo>
                      <a:pt x="550" y="117"/>
                    </a:lnTo>
                    <a:lnTo>
                      <a:pt x="540" y="142"/>
                    </a:lnTo>
                    <a:lnTo>
                      <a:pt x="517" y="179"/>
                    </a:lnTo>
                    <a:lnTo>
                      <a:pt x="493" y="212"/>
                    </a:lnTo>
                    <a:lnTo>
                      <a:pt x="465" y="239"/>
                    </a:lnTo>
                    <a:lnTo>
                      <a:pt x="430" y="267"/>
                    </a:lnTo>
                    <a:lnTo>
                      <a:pt x="397" y="286"/>
                    </a:lnTo>
                    <a:lnTo>
                      <a:pt x="361" y="304"/>
                    </a:lnTo>
                    <a:lnTo>
                      <a:pt x="315" y="320"/>
                    </a:lnTo>
                    <a:lnTo>
                      <a:pt x="280" y="328"/>
                    </a:lnTo>
                    <a:lnTo>
                      <a:pt x="238" y="334"/>
                    </a:lnTo>
                    <a:lnTo>
                      <a:pt x="199" y="334"/>
                    </a:lnTo>
                    <a:lnTo>
                      <a:pt x="157" y="329"/>
                    </a:lnTo>
                    <a:lnTo>
                      <a:pt x="114" y="317"/>
                    </a:lnTo>
                    <a:lnTo>
                      <a:pt x="75" y="298"/>
                    </a:lnTo>
                    <a:lnTo>
                      <a:pt x="52" y="282"/>
                    </a:lnTo>
                    <a:lnTo>
                      <a:pt x="24" y="258"/>
                    </a:lnTo>
                    <a:lnTo>
                      <a:pt x="9" y="238"/>
                    </a:lnTo>
                    <a:lnTo>
                      <a:pt x="0" y="222"/>
                    </a:lnTo>
                    <a:lnTo>
                      <a:pt x="0" y="204"/>
                    </a:lnTo>
                    <a:lnTo>
                      <a:pt x="6" y="182"/>
                    </a:lnTo>
                    <a:lnTo>
                      <a:pt x="18" y="166"/>
                    </a:lnTo>
                    <a:lnTo>
                      <a:pt x="27" y="131"/>
                    </a:lnTo>
                    <a:lnTo>
                      <a:pt x="31" y="112"/>
                    </a:lnTo>
                    <a:lnTo>
                      <a:pt x="283" y="128"/>
                    </a:lnTo>
                    <a:lnTo>
                      <a:pt x="316" y="122"/>
                    </a:lnTo>
                    <a:lnTo>
                      <a:pt x="357" y="109"/>
                    </a:lnTo>
                    <a:lnTo>
                      <a:pt x="388" y="93"/>
                    </a:lnTo>
                    <a:lnTo>
                      <a:pt x="421" y="73"/>
                    </a:lnTo>
                    <a:lnTo>
                      <a:pt x="453" y="44"/>
                    </a:lnTo>
                    <a:lnTo>
                      <a:pt x="472" y="19"/>
                    </a:lnTo>
                    <a:lnTo>
                      <a:pt x="486" y="0"/>
                    </a:lnTo>
                    <a:lnTo>
                      <a:pt x="534" y="48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100000">
                    <a:schemeClr val="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6" name="Freeform 42"/>
              <p:cNvSpPr>
                <a:spLocks/>
              </p:cNvSpPr>
              <p:nvPr/>
            </p:nvSpPr>
            <p:spPr bwMode="ltGray">
              <a:xfrm>
                <a:off x="5145" y="160"/>
                <a:ext cx="475" cy="55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94"/>
                  </a:cxn>
                  <a:cxn ang="0">
                    <a:pos x="28" y="291"/>
                  </a:cxn>
                  <a:cxn ang="0">
                    <a:pos x="63" y="293"/>
                  </a:cxn>
                  <a:cxn ang="0">
                    <a:pos x="121" y="299"/>
                  </a:cxn>
                  <a:cxn ang="0">
                    <a:pos x="178" y="310"/>
                  </a:cxn>
                  <a:cxn ang="0">
                    <a:pos x="231" y="323"/>
                  </a:cxn>
                  <a:cxn ang="0">
                    <a:pos x="274" y="339"/>
                  </a:cxn>
                  <a:cxn ang="0">
                    <a:pos x="325" y="364"/>
                  </a:cxn>
                  <a:cxn ang="0">
                    <a:pos x="364" y="390"/>
                  </a:cxn>
                  <a:cxn ang="0">
                    <a:pos x="393" y="415"/>
                  </a:cxn>
                  <a:cxn ang="0">
                    <a:pos x="414" y="439"/>
                  </a:cxn>
                  <a:cxn ang="0">
                    <a:pos x="427" y="461"/>
                  </a:cxn>
                  <a:cxn ang="0">
                    <a:pos x="439" y="488"/>
                  </a:cxn>
                  <a:cxn ang="0">
                    <a:pos x="444" y="513"/>
                  </a:cxn>
                  <a:cxn ang="0">
                    <a:pos x="451" y="551"/>
                  </a:cxn>
                  <a:cxn ang="0">
                    <a:pos x="457" y="518"/>
                  </a:cxn>
                  <a:cxn ang="0">
                    <a:pos x="466" y="481"/>
                  </a:cxn>
                  <a:cxn ang="0">
                    <a:pos x="469" y="453"/>
                  </a:cxn>
                  <a:cxn ang="0">
                    <a:pos x="474" y="420"/>
                  </a:cxn>
                  <a:cxn ang="0">
                    <a:pos x="472" y="393"/>
                  </a:cxn>
                  <a:cxn ang="0">
                    <a:pos x="466" y="361"/>
                  </a:cxn>
                  <a:cxn ang="0">
                    <a:pos x="459" y="317"/>
                  </a:cxn>
                  <a:cxn ang="0">
                    <a:pos x="444" y="279"/>
                  </a:cxn>
                  <a:cxn ang="0">
                    <a:pos x="424" y="238"/>
                  </a:cxn>
                  <a:cxn ang="0">
                    <a:pos x="399" y="196"/>
                  </a:cxn>
                  <a:cxn ang="0">
                    <a:pos x="363" y="152"/>
                  </a:cxn>
                  <a:cxn ang="0">
                    <a:pos x="322" y="116"/>
                  </a:cxn>
                  <a:cxn ang="0">
                    <a:pos x="286" y="87"/>
                  </a:cxn>
                  <a:cxn ang="0">
                    <a:pos x="241" y="60"/>
                  </a:cxn>
                  <a:cxn ang="0">
                    <a:pos x="195" y="40"/>
                  </a:cxn>
                  <a:cxn ang="0">
                    <a:pos x="141" y="21"/>
                  </a:cxn>
                  <a:cxn ang="0">
                    <a:pos x="94" y="10"/>
                  </a:cxn>
                  <a:cxn ang="0">
                    <a:pos x="39" y="3"/>
                  </a:cxn>
                  <a:cxn ang="0">
                    <a:pos x="0" y="0"/>
                  </a:cxn>
                </a:cxnLst>
                <a:rect l="0" t="0" r="r" b="b"/>
                <a:pathLst>
                  <a:path w="475" h="552">
                    <a:moveTo>
                      <a:pt x="0" y="0"/>
                    </a:moveTo>
                    <a:lnTo>
                      <a:pt x="0" y="294"/>
                    </a:lnTo>
                    <a:lnTo>
                      <a:pt x="28" y="291"/>
                    </a:lnTo>
                    <a:lnTo>
                      <a:pt x="63" y="293"/>
                    </a:lnTo>
                    <a:lnTo>
                      <a:pt x="121" y="299"/>
                    </a:lnTo>
                    <a:lnTo>
                      <a:pt x="178" y="310"/>
                    </a:lnTo>
                    <a:lnTo>
                      <a:pt x="231" y="323"/>
                    </a:lnTo>
                    <a:lnTo>
                      <a:pt x="274" y="339"/>
                    </a:lnTo>
                    <a:lnTo>
                      <a:pt x="325" y="364"/>
                    </a:lnTo>
                    <a:lnTo>
                      <a:pt x="364" y="390"/>
                    </a:lnTo>
                    <a:lnTo>
                      <a:pt x="393" y="415"/>
                    </a:lnTo>
                    <a:lnTo>
                      <a:pt x="414" y="439"/>
                    </a:lnTo>
                    <a:lnTo>
                      <a:pt x="427" y="461"/>
                    </a:lnTo>
                    <a:lnTo>
                      <a:pt x="439" y="488"/>
                    </a:lnTo>
                    <a:lnTo>
                      <a:pt x="444" y="513"/>
                    </a:lnTo>
                    <a:lnTo>
                      <a:pt x="451" y="551"/>
                    </a:lnTo>
                    <a:lnTo>
                      <a:pt x="457" y="518"/>
                    </a:lnTo>
                    <a:lnTo>
                      <a:pt x="466" y="481"/>
                    </a:lnTo>
                    <a:lnTo>
                      <a:pt x="469" y="453"/>
                    </a:lnTo>
                    <a:lnTo>
                      <a:pt x="474" y="420"/>
                    </a:lnTo>
                    <a:lnTo>
                      <a:pt x="472" y="393"/>
                    </a:lnTo>
                    <a:lnTo>
                      <a:pt x="466" y="361"/>
                    </a:lnTo>
                    <a:lnTo>
                      <a:pt x="459" y="317"/>
                    </a:lnTo>
                    <a:lnTo>
                      <a:pt x="444" y="279"/>
                    </a:lnTo>
                    <a:lnTo>
                      <a:pt x="424" y="238"/>
                    </a:lnTo>
                    <a:lnTo>
                      <a:pt x="399" y="196"/>
                    </a:lnTo>
                    <a:lnTo>
                      <a:pt x="363" y="152"/>
                    </a:lnTo>
                    <a:lnTo>
                      <a:pt x="322" y="116"/>
                    </a:lnTo>
                    <a:lnTo>
                      <a:pt x="286" y="87"/>
                    </a:lnTo>
                    <a:lnTo>
                      <a:pt x="241" y="60"/>
                    </a:lnTo>
                    <a:lnTo>
                      <a:pt x="195" y="40"/>
                    </a:lnTo>
                    <a:lnTo>
                      <a:pt x="141" y="21"/>
                    </a:lnTo>
                    <a:lnTo>
                      <a:pt x="94" y="10"/>
                    </a:lnTo>
                    <a:lnTo>
                      <a:pt x="39" y="3"/>
                    </a:lnTo>
                    <a:lnTo>
                      <a:pt x="0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7" name="Freeform 43"/>
              <p:cNvSpPr>
                <a:spLocks/>
              </p:cNvSpPr>
              <p:nvPr/>
            </p:nvSpPr>
            <p:spPr bwMode="ltGray">
              <a:xfrm>
                <a:off x="5176" y="727"/>
                <a:ext cx="156" cy="118"/>
              </a:xfrm>
              <a:custGeom>
                <a:avLst/>
                <a:gdLst/>
                <a:ahLst/>
                <a:cxnLst>
                  <a:cxn ang="0">
                    <a:pos x="83" y="0"/>
                  </a:cxn>
                  <a:cxn ang="0">
                    <a:pos x="134" y="19"/>
                  </a:cxn>
                  <a:cxn ang="0">
                    <a:pos x="152" y="46"/>
                  </a:cxn>
                  <a:cxn ang="0">
                    <a:pos x="155" y="70"/>
                  </a:cxn>
                  <a:cxn ang="0">
                    <a:pos x="155" y="84"/>
                  </a:cxn>
                  <a:cxn ang="0">
                    <a:pos x="146" y="100"/>
                  </a:cxn>
                  <a:cxn ang="0">
                    <a:pos x="126" y="108"/>
                  </a:cxn>
                  <a:cxn ang="0">
                    <a:pos x="105" y="114"/>
                  </a:cxn>
                  <a:cxn ang="0">
                    <a:pos x="86" y="117"/>
                  </a:cxn>
                  <a:cxn ang="0">
                    <a:pos x="69" y="117"/>
                  </a:cxn>
                  <a:cxn ang="0">
                    <a:pos x="41" y="112"/>
                  </a:cxn>
                  <a:cxn ang="0">
                    <a:pos x="21" y="107"/>
                  </a:cxn>
                  <a:cxn ang="0">
                    <a:pos x="9" y="98"/>
                  </a:cxn>
                  <a:cxn ang="0">
                    <a:pos x="2" y="90"/>
                  </a:cxn>
                  <a:cxn ang="0">
                    <a:pos x="0" y="78"/>
                  </a:cxn>
                  <a:cxn ang="0">
                    <a:pos x="2" y="60"/>
                  </a:cxn>
                  <a:cxn ang="0">
                    <a:pos x="9" y="11"/>
                  </a:cxn>
                  <a:cxn ang="0">
                    <a:pos x="83" y="0"/>
                  </a:cxn>
                </a:cxnLst>
                <a:rect l="0" t="0" r="r" b="b"/>
                <a:pathLst>
                  <a:path w="156" h="118">
                    <a:moveTo>
                      <a:pt x="83" y="0"/>
                    </a:moveTo>
                    <a:lnTo>
                      <a:pt x="134" y="19"/>
                    </a:lnTo>
                    <a:lnTo>
                      <a:pt x="152" y="46"/>
                    </a:lnTo>
                    <a:lnTo>
                      <a:pt x="155" y="70"/>
                    </a:lnTo>
                    <a:lnTo>
                      <a:pt x="155" y="84"/>
                    </a:lnTo>
                    <a:lnTo>
                      <a:pt x="146" y="100"/>
                    </a:lnTo>
                    <a:lnTo>
                      <a:pt x="126" y="108"/>
                    </a:lnTo>
                    <a:lnTo>
                      <a:pt x="105" y="114"/>
                    </a:lnTo>
                    <a:lnTo>
                      <a:pt x="86" y="117"/>
                    </a:lnTo>
                    <a:lnTo>
                      <a:pt x="69" y="117"/>
                    </a:lnTo>
                    <a:lnTo>
                      <a:pt x="41" y="112"/>
                    </a:lnTo>
                    <a:lnTo>
                      <a:pt x="21" y="107"/>
                    </a:lnTo>
                    <a:lnTo>
                      <a:pt x="9" y="98"/>
                    </a:lnTo>
                    <a:lnTo>
                      <a:pt x="2" y="90"/>
                    </a:lnTo>
                    <a:lnTo>
                      <a:pt x="0" y="78"/>
                    </a:lnTo>
                    <a:lnTo>
                      <a:pt x="2" y="60"/>
                    </a:lnTo>
                    <a:lnTo>
                      <a:pt x="9" y="11"/>
                    </a:lnTo>
                    <a:lnTo>
                      <a:pt x="83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100000">
                    <a:schemeClr val="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8" name="Freeform 44"/>
              <p:cNvSpPr>
                <a:spLocks/>
              </p:cNvSpPr>
              <p:nvPr/>
            </p:nvSpPr>
            <p:spPr bwMode="ltGray">
              <a:xfrm>
                <a:off x="5172" y="740"/>
                <a:ext cx="88" cy="74"/>
              </a:xfrm>
              <a:custGeom>
                <a:avLst/>
                <a:gdLst/>
                <a:ahLst/>
                <a:cxnLst>
                  <a:cxn ang="0">
                    <a:pos x="0" y="68"/>
                  </a:cxn>
                  <a:cxn ang="0">
                    <a:pos x="11" y="0"/>
                  </a:cxn>
                  <a:cxn ang="0">
                    <a:pos x="54" y="5"/>
                  </a:cxn>
                  <a:cxn ang="0">
                    <a:pos x="87" y="9"/>
                  </a:cxn>
                  <a:cxn ang="0">
                    <a:pos x="78" y="73"/>
                  </a:cxn>
                  <a:cxn ang="0">
                    <a:pos x="75" y="58"/>
                  </a:cxn>
                  <a:cxn ang="0">
                    <a:pos x="65" y="47"/>
                  </a:cxn>
                  <a:cxn ang="0">
                    <a:pos x="47" y="44"/>
                  </a:cxn>
                  <a:cxn ang="0">
                    <a:pos x="27" y="45"/>
                  </a:cxn>
                  <a:cxn ang="0">
                    <a:pos x="11" y="52"/>
                  </a:cxn>
                  <a:cxn ang="0">
                    <a:pos x="0" y="68"/>
                  </a:cxn>
                </a:cxnLst>
                <a:rect l="0" t="0" r="r" b="b"/>
                <a:pathLst>
                  <a:path w="88" h="74">
                    <a:moveTo>
                      <a:pt x="0" y="68"/>
                    </a:moveTo>
                    <a:lnTo>
                      <a:pt x="11" y="0"/>
                    </a:lnTo>
                    <a:lnTo>
                      <a:pt x="54" y="5"/>
                    </a:lnTo>
                    <a:lnTo>
                      <a:pt x="87" y="9"/>
                    </a:lnTo>
                    <a:lnTo>
                      <a:pt x="78" y="73"/>
                    </a:lnTo>
                    <a:lnTo>
                      <a:pt x="75" y="58"/>
                    </a:lnTo>
                    <a:lnTo>
                      <a:pt x="65" y="47"/>
                    </a:lnTo>
                    <a:lnTo>
                      <a:pt x="47" y="44"/>
                    </a:lnTo>
                    <a:lnTo>
                      <a:pt x="27" y="45"/>
                    </a:lnTo>
                    <a:lnTo>
                      <a:pt x="11" y="52"/>
                    </a:lnTo>
                    <a:lnTo>
                      <a:pt x="0" y="68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69" name="Freeform 45"/>
              <p:cNvSpPr>
                <a:spLocks/>
              </p:cNvSpPr>
              <p:nvPr/>
            </p:nvSpPr>
            <p:spPr bwMode="ltGray">
              <a:xfrm>
                <a:off x="5049" y="520"/>
                <a:ext cx="319" cy="286"/>
              </a:xfrm>
              <a:custGeom>
                <a:avLst/>
                <a:gdLst/>
                <a:ahLst/>
                <a:cxnLst>
                  <a:cxn ang="0">
                    <a:pos x="1" y="275"/>
                  </a:cxn>
                  <a:cxn ang="0">
                    <a:pos x="3" y="254"/>
                  </a:cxn>
                  <a:cxn ang="0">
                    <a:pos x="12" y="235"/>
                  </a:cxn>
                  <a:cxn ang="0">
                    <a:pos x="19" y="219"/>
                  </a:cxn>
                  <a:cxn ang="0">
                    <a:pos x="24" y="194"/>
                  </a:cxn>
                  <a:cxn ang="0">
                    <a:pos x="30" y="161"/>
                  </a:cxn>
                  <a:cxn ang="0">
                    <a:pos x="34" y="126"/>
                  </a:cxn>
                  <a:cxn ang="0">
                    <a:pos x="37" y="94"/>
                  </a:cxn>
                  <a:cxn ang="0">
                    <a:pos x="39" y="67"/>
                  </a:cxn>
                  <a:cxn ang="0">
                    <a:pos x="40" y="43"/>
                  </a:cxn>
                  <a:cxn ang="0">
                    <a:pos x="48" y="29"/>
                  </a:cxn>
                  <a:cxn ang="0">
                    <a:pos x="63" y="16"/>
                  </a:cxn>
                  <a:cxn ang="0">
                    <a:pos x="78" y="9"/>
                  </a:cxn>
                  <a:cxn ang="0">
                    <a:pos x="102" y="2"/>
                  </a:cxn>
                  <a:cxn ang="0">
                    <a:pos x="129" y="0"/>
                  </a:cxn>
                  <a:cxn ang="0">
                    <a:pos x="171" y="0"/>
                  </a:cxn>
                  <a:cxn ang="0">
                    <a:pos x="208" y="2"/>
                  </a:cxn>
                  <a:cxn ang="0">
                    <a:pos x="244" y="9"/>
                  </a:cxn>
                  <a:cxn ang="0">
                    <a:pos x="277" y="21"/>
                  </a:cxn>
                  <a:cxn ang="0">
                    <a:pos x="298" y="35"/>
                  </a:cxn>
                  <a:cxn ang="0">
                    <a:pos x="310" y="47"/>
                  </a:cxn>
                  <a:cxn ang="0">
                    <a:pos x="318" y="61"/>
                  </a:cxn>
                  <a:cxn ang="0">
                    <a:pos x="316" y="75"/>
                  </a:cxn>
                  <a:cxn ang="0">
                    <a:pos x="313" y="89"/>
                  </a:cxn>
                  <a:cxn ang="0">
                    <a:pos x="303" y="104"/>
                  </a:cxn>
                  <a:cxn ang="0">
                    <a:pos x="295" y="123"/>
                  </a:cxn>
                  <a:cxn ang="0">
                    <a:pos x="291" y="149"/>
                  </a:cxn>
                  <a:cxn ang="0">
                    <a:pos x="288" y="176"/>
                  </a:cxn>
                  <a:cxn ang="0">
                    <a:pos x="283" y="200"/>
                  </a:cxn>
                  <a:cxn ang="0">
                    <a:pos x="282" y="235"/>
                  </a:cxn>
                  <a:cxn ang="0">
                    <a:pos x="280" y="265"/>
                  </a:cxn>
                  <a:cxn ang="0">
                    <a:pos x="280" y="285"/>
                  </a:cxn>
                  <a:cxn ang="0">
                    <a:pos x="270" y="260"/>
                  </a:cxn>
                  <a:cxn ang="0">
                    <a:pos x="250" y="248"/>
                  </a:cxn>
                  <a:cxn ang="0">
                    <a:pos x="232" y="241"/>
                  </a:cxn>
                  <a:cxn ang="0">
                    <a:pos x="210" y="236"/>
                  </a:cxn>
                  <a:cxn ang="0">
                    <a:pos x="175" y="229"/>
                  </a:cxn>
                  <a:cxn ang="0">
                    <a:pos x="141" y="228"/>
                  </a:cxn>
                  <a:cxn ang="0">
                    <a:pos x="121" y="228"/>
                  </a:cxn>
                  <a:cxn ang="0">
                    <a:pos x="90" y="230"/>
                  </a:cxn>
                  <a:cxn ang="0">
                    <a:pos x="54" y="237"/>
                  </a:cxn>
                  <a:cxn ang="0">
                    <a:pos x="31" y="246"/>
                  </a:cxn>
                  <a:cxn ang="0">
                    <a:pos x="16" y="255"/>
                  </a:cxn>
                  <a:cxn ang="0">
                    <a:pos x="0" y="268"/>
                  </a:cxn>
                </a:cxnLst>
                <a:rect l="0" t="0" r="r" b="b"/>
                <a:pathLst>
                  <a:path w="319" h="286">
                    <a:moveTo>
                      <a:pt x="1" y="275"/>
                    </a:moveTo>
                    <a:lnTo>
                      <a:pt x="3" y="254"/>
                    </a:lnTo>
                    <a:lnTo>
                      <a:pt x="12" y="235"/>
                    </a:lnTo>
                    <a:lnTo>
                      <a:pt x="19" y="219"/>
                    </a:lnTo>
                    <a:lnTo>
                      <a:pt x="24" y="194"/>
                    </a:lnTo>
                    <a:lnTo>
                      <a:pt x="30" y="161"/>
                    </a:lnTo>
                    <a:lnTo>
                      <a:pt x="34" y="126"/>
                    </a:lnTo>
                    <a:lnTo>
                      <a:pt x="37" y="94"/>
                    </a:lnTo>
                    <a:lnTo>
                      <a:pt x="39" y="67"/>
                    </a:lnTo>
                    <a:lnTo>
                      <a:pt x="40" y="43"/>
                    </a:lnTo>
                    <a:lnTo>
                      <a:pt x="48" y="29"/>
                    </a:lnTo>
                    <a:lnTo>
                      <a:pt x="63" y="16"/>
                    </a:lnTo>
                    <a:lnTo>
                      <a:pt x="78" y="9"/>
                    </a:lnTo>
                    <a:lnTo>
                      <a:pt x="102" y="2"/>
                    </a:lnTo>
                    <a:lnTo>
                      <a:pt x="129" y="0"/>
                    </a:lnTo>
                    <a:lnTo>
                      <a:pt x="171" y="0"/>
                    </a:lnTo>
                    <a:lnTo>
                      <a:pt x="208" y="2"/>
                    </a:lnTo>
                    <a:lnTo>
                      <a:pt x="244" y="9"/>
                    </a:lnTo>
                    <a:lnTo>
                      <a:pt x="277" y="21"/>
                    </a:lnTo>
                    <a:lnTo>
                      <a:pt x="298" y="35"/>
                    </a:lnTo>
                    <a:lnTo>
                      <a:pt x="310" y="47"/>
                    </a:lnTo>
                    <a:lnTo>
                      <a:pt x="318" y="61"/>
                    </a:lnTo>
                    <a:lnTo>
                      <a:pt x="316" y="75"/>
                    </a:lnTo>
                    <a:lnTo>
                      <a:pt x="313" y="89"/>
                    </a:lnTo>
                    <a:lnTo>
                      <a:pt x="303" y="104"/>
                    </a:lnTo>
                    <a:lnTo>
                      <a:pt x="295" y="123"/>
                    </a:lnTo>
                    <a:lnTo>
                      <a:pt x="291" y="149"/>
                    </a:lnTo>
                    <a:lnTo>
                      <a:pt x="288" y="176"/>
                    </a:lnTo>
                    <a:lnTo>
                      <a:pt x="283" y="200"/>
                    </a:lnTo>
                    <a:lnTo>
                      <a:pt x="282" y="235"/>
                    </a:lnTo>
                    <a:lnTo>
                      <a:pt x="280" y="265"/>
                    </a:lnTo>
                    <a:lnTo>
                      <a:pt x="280" y="285"/>
                    </a:lnTo>
                    <a:lnTo>
                      <a:pt x="270" y="260"/>
                    </a:lnTo>
                    <a:lnTo>
                      <a:pt x="250" y="248"/>
                    </a:lnTo>
                    <a:lnTo>
                      <a:pt x="232" y="241"/>
                    </a:lnTo>
                    <a:lnTo>
                      <a:pt x="210" y="236"/>
                    </a:lnTo>
                    <a:lnTo>
                      <a:pt x="175" y="229"/>
                    </a:lnTo>
                    <a:lnTo>
                      <a:pt x="141" y="228"/>
                    </a:lnTo>
                    <a:lnTo>
                      <a:pt x="121" y="228"/>
                    </a:lnTo>
                    <a:lnTo>
                      <a:pt x="90" y="230"/>
                    </a:lnTo>
                    <a:lnTo>
                      <a:pt x="54" y="237"/>
                    </a:lnTo>
                    <a:lnTo>
                      <a:pt x="31" y="246"/>
                    </a:lnTo>
                    <a:lnTo>
                      <a:pt x="16" y="255"/>
                    </a:lnTo>
                    <a:lnTo>
                      <a:pt x="0" y="268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  <p:sp>
            <p:nvSpPr>
              <p:cNvPr id="1070" name="Freeform 46"/>
              <p:cNvSpPr>
                <a:spLocks/>
              </p:cNvSpPr>
              <p:nvPr/>
            </p:nvSpPr>
            <p:spPr bwMode="ltGray">
              <a:xfrm>
                <a:off x="4319" y="160"/>
                <a:ext cx="832" cy="4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56"/>
                  </a:cxn>
                  <a:cxn ang="0">
                    <a:pos x="84" y="374"/>
                  </a:cxn>
                  <a:cxn ang="0">
                    <a:pos x="153" y="393"/>
                  </a:cxn>
                  <a:cxn ang="0">
                    <a:pos x="210" y="404"/>
                  </a:cxn>
                  <a:cxn ang="0">
                    <a:pos x="258" y="410"/>
                  </a:cxn>
                  <a:cxn ang="0">
                    <a:pos x="312" y="416"/>
                  </a:cxn>
                  <a:cxn ang="0">
                    <a:pos x="402" y="419"/>
                  </a:cxn>
                  <a:cxn ang="0">
                    <a:pos x="485" y="412"/>
                  </a:cxn>
                  <a:cxn ang="0">
                    <a:pos x="570" y="399"/>
                  </a:cxn>
                  <a:cxn ang="0">
                    <a:pos x="652" y="377"/>
                  </a:cxn>
                  <a:cxn ang="0">
                    <a:pos x="724" y="347"/>
                  </a:cxn>
                  <a:cxn ang="0">
                    <a:pos x="784" y="306"/>
                  </a:cxn>
                  <a:cxn ang="0">
                    <a:pos x="829" y="291"/>
                  </a:cxn>
                  <a:cxn ang="0">
                    <a:pos x="831" y="2"/>
                  </a:cxn>
                  <a:cxn ang="0">
                    <a:pos x="786" y="9"/>
                  </a:cxn>
                  <a:cxn ang="0">
                    <a:pos x="726" y="29"/>
                  </a:cxn>
                  <a:cxn ang="0">
                    <a:pos x="654" y="55"/>
                  </a:cxn>
                  <a:cxn ang="0">
                    <a:pos x="585" y="70"/>
                  </a:cxn>
                  <a:cxn ang="0">
                    <a:pos x="515" y="78"/>
                  </a:cxn>
                  <a:cxn ang="0">
                    <a:pos x="468" y="82"/>
                  </a:cxn>
                  <a:cxn ang="0">
                    <a:pos x="428" y="84"/>
                  </a:cxn>
                  <a:cxn ang="0">
                    <a:pos x="358" y="84"/>
                  </a:cxn>
                  <a:cxn ang="0">
                    <a:pos x="314" y="81"/>
                  </a:cxn>
                  <a:cxn ang="0">
                    <a:pos x="274" y="76"/>
                  </a:cxn>
                  <a:cxn ang="0">
                    <a:pos x="229" y="73"/>
                  </a:cxn>
                  <a:cxn ang="0">
                    <a:pos x="190" y="66"/>
                  </a:cxn>
                  <a:cxn ang="0">
                    <a:pos x="140" y="57"/>
                  </a:cxn>
                  <a:cxn ang="0">
                    <a:pos x="96" y="44"/>
                  </a:cxn>
                  <a:cxn ang="0">
                    <a:pos x="49" y="24"/>
                  </a:cxn>
                  <a:cxn ang="0">
                    <a:pos x="0" y="0"/>
                  </a:cxn>
                </a:cxnLst>
                <a:rect l="0" t="0" r="r" b="b"/>
                <a:pathLst>
                  <a:path w="832" h="420">
                    <a:moveTo>
                      <a:pt x="0" y="0"/>
                    </a:moveTo>
                    <a:lnTo>
                      <a:pt x="0" y="356"/>
                    </a:lnTo>
                    <a:lnTo>
                      <a:pt x="84" y="374"/>
                    </a:lnTo>
                    <a:lnTo>
                      <a:pt x="153" y="393"/>
                    </a:lnTo>
                    <a:lnTo>
                      <a:pt x="210" y="404"/>
                    </a:lnTo>
                    <a:lnTo>
                      <a:pt x="258" y="410"/>
                    </a:lnTo>
                    <a:lnTo>
                      <a:pt x="312" y="416"/>
                    </a:lnTo>
                    <a:lnTo>
                      <a:pt x="402" y="419"/>
                    </a:lnTo>
                    <a:lnTo>
                      <a:pt x="485" y="412"/>
                    </a:lnTo>
                    <a:lnTo>
                      <a:pt x="570" y="399"/>
                    </a:lnTo>
                    <a:lnTo>
                      <a:pt x="652" y="377"/>
                    </a:lnTo>
                    <a:lnTo>
                      <a:pt x="724" y="347"/>
                    </a:lnTo>
                    <a:lnTo>
                      <a:pt x="784" y="306"/>
                    </a:lnTo>
                    <a:lnTo>
                      <a:pt x="829" y="291"/>
                    </a:lnTo>
                    <a:lnTo>
                      <a:pt x="831" y="2"/>
                    </a:lnTo>
                    <a:lnTo>
                      <a:pt x="786" y="9"/>
                    </a:lnTo>
                    <a:lnTo>
                      <a:pt x="726" y="29"/>
                    </a:lnTo>
                    <a:lnTo>
                      <a:pt x="654" y="55"/>
                    </a:lnTo>
                    <a:lnTo>
                      <a:pt x="585" y="70"/>
                    </a:lnTo>
                    <a:lnTo>
                      <a:pt x="515" y="78"/>
                    </a:lnTo>
                    <a:lnTo>
                      <a:pt x="468" y="82"/>
                    </a:lnTo>
                    <a:lnTo>
                      <a:pt x="428" y="84"/>
                    </a:lnTo>
                    <a:lnTo>
                      <a:pt x="358" y="84"/>
                    </a:lnTo>
                    <a:lnTo>
                      <a:pt x="314" y="81"/>
                    </a:lnTo>
                    <a:lnTo>
                      <a:pt x="274" y="76"/>
                    </a:lnTo>
                    <a:lnTo>
                      <a:pt x="229" y="73"/>
                    </a:lnTo>
                    <a:lnTo>
                      <a:pt x="190" y="66"/>
                    </a:lnTo>
                    <a:lnTo>
                      <a:pt x="140" y="57"/>
                    </a:lnTo>
                    <a:lnTo>
                      <a:pt x="96" y="44"/>
                    </a:lnTo>
                    <a:lnTo>
                      <a:pt x="49" y="24"/>
                    </a:lnTo>
                    <a:lnTo>
                      <a:pt x="0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50000">
                    <a:schemeClr val="accent1"/>
                  </a:gs>
                  <a:gs pos="100000">
                    <a:schemeClr val="folHlink"/>
                  </a:gs>
                </a:gsLst>
                <a:lin ang="0" scaled="1"/>
              </a:gra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ru-RU" sz="2400">
                  <a:solidFill>
                    <a:srgbClr val="F8F8F8"/>
                  </a:solidFill>
                </a:endParaRPr>
              </a:p>
            </p:txBody>
          </p:sp>
        </p:grpSp>
      </p:grpSp>
      <p:sp>
        <p:nvSpPr>
          <p:cNvPr id="1073" name="Rectangle 49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9144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44" name="Rectangle 50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22860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75" name="Rectangle 5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618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1076" name="Rectangle 5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4008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F8F8F8"/>
              </a:solidFill>
            </a:endParaRPr>
          </a:p>
        </p:txBody>
      </p:sp>
      <p:sp>
        <p:nvSpPr>
          <p:cNvPr id="1077" name="Rectangle 5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2618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C381EAB4-37B6-451E-A4A6-58884214378D}" type="slidenum">
              <a:rPr lang="en-US" smtClean="0">
                <a:solidFill>
                  <a:srgbClr val="F8F8F8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360829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C2BD7BB-1D08-4236-9BCF-5A5FC9896EEE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395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2" r:id="rId1"/>
    <p:sldLayoutId id="2147484063" r:id="rId2"/>
    <p:sldLayoutId id="2147484064" r:id="rId3"/>
    <p:sldLayoutId id="2147484065" r:id="rId4"/>
    <p:sldLayoutId id="2147484066" r:id="rId5"/>
    <p:sldLayoutId id="2147484067" r:id="rId6"/>
    <p:sldLayoutId id="2147484068" r:id="rId7"/>
    <p:sldLayoutId id="2147484069" r:id="rId8"/>
    <p:sldLayoutId id="2147484070" r:id="rId9"/>
    <p:sldLayoutId id="2147484071" r:id="rId10"/>
    <p:sldLayoutId id="2147484072" r:id="rId11"/>
    <p:sldLayoutId id="2147484073" r:id="rId12"/>
    <p:sldLayoutId id="2147484074" r:id="rId13"/>
    <p:sldLayoutId id="2147484075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emf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39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5.png"/><Relationship Id="rId5" Type="http://schemas.openxmlformats.org/officeDocument/2006/relationships/image" Target="../media/image24.wmf"/><Relationship Id="rId4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27.e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26.emf"/><Relationship Id="rId4" Type="http://schemas.openxmlformats.org/officeDocument/2006/relationships/oleObject" Target="../embeddings/oleObject5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9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0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1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32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33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4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35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7.e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36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9.e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38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40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43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5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44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46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8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47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49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50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52.e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51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54.e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53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55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57.e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56.e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58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59.w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63.wmf"/><Relationship Id="rId4" Type="http://schemas.openxmlformats.org/officeDocument/2006/relationships/image" Target="../media/image60.wmf"/><Relationship Id="rId9" Type="http://schemas.openxmlformats.org/officeDocument/2006/relationships/oleObject" Target="../embeddings/oleObject41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oleObject" Target="../embeddings/oleObject47.bin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68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67.wmf"/><Relationship Id="rId4" Type="http://schemas.openxmlformats.org/officeDocument/2006/relationships/image" Target="../media/image64.png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69.w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70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72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75.wmf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5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78.png"/><Relationship Id="rId5" Type="http://schemas.openxmlformats.org/officeDocument/2006/relationships/oleObject" Target="../embeddings/oleObject55.bin"/><Relationship Id="rId4" Type="http://schemas.openxmlformats.org/officeDocument/2006/relationships/image" Target="../media/image77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2" Type="http://schemas.openxmlformats.org/officeDocument/2006/relationships/slideLayout" Target="../slideLayouts/slideLayout26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81.png"/><Relationship Id="rId5" Type="http://schemas.openxmlformats.org/officeDocument/2006/relationships/oleObject" Target="../embeddings/oleObject58.bin"/><Relationship Id="rId4" Type="http://schemas.openxmlformats.org/officeDocument/2006/relationships/image" Target="../media/image80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83.wmf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86.w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88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87.wmf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921" y="2437622"/>
            <a:ext cx="9265299" cy="409650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sz="quarter"/>
          </p:nvPr>
        </p:nvSpPr>
        <p:spPr>
          <a:xfrm>
            <a:off x="1184988" y="171062"/>
            <a:ext cx="9918441" cy="1167882"/>
          </a:xfr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ru-RU" sz="2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ТЕОРИЯ ВЕРОЯТНОСТЕЙ </a:t>
            </a:r>
            <a:br>
              <a:rPr lang="ru-RU" sz="2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</a:t>
            </a:r>
            <a:br>
              <a:rPr lang="ru-RU" sz="2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МАТЕМАТИЧЕСКАЯ СТАТИСТИКА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sz="quarter" idx="1"/>
          </p:nvPr>
        </p:nvSpPr>
        <p:spPr>
          <a:xfrm>
            <a:off x="2178275" y="1581538"/>
            <a:ext cx="8273921" cy="2038739"/>
          </a:xfrm>
          <a:noFill/>
          <a:ln>
            <a:noFill/>
          </a:ln>
        </p:spPr>
        <p:txBody>
          <a:bodyPr anchor="ctr">
            <a:prstTxWarp prst="textArchUp">
              <a:avLst/>
            </a:prstTxWarp>
            <a:norm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r>
              <a:rPr lang="ru-RU" sz="3600" b="1" dirty="0">
                <a:ln>
                  <a:solidFill>
                    <a:srgbClr val="FFFF00"/>
                  </a:solidFill>
                </a:ln>
                <a:solidFill>
                  <a:srgbClr val="7030A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Презентация дисциплины</a:t>
            </a:r>
          </a:p>
        </p:txBody>
      </p:sp>
    </p:spTree>
    <p:extLst>
      <p:ext uri="{BB962C8B-B14F-4D97-AF65-F5344CB8AC3E}">
        <p14:creationId xmlns:p14="http://schemas.microsoft.com/office/powerpoint/2010/main" val="2445195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Этапы </a:t>
            </a:r>
            <a:r>
              <a:rPr lang="ru-RU" dirty="0" smtClean="0"/>
              <a:t>развития</a:t>
            </a:r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1676400"/>
            <a:ext cx="8915400" cy="5181600"/>
          </a:xfrm>
        </p:spPr>
        <p:txBody>
          <a:bodyPr>
            <a:normAutofit/>
          </a:bodyPr>
          <a:lstStyle/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dirty="0">
                <a:solidFill>
                  <a:srgbClr val="BEEB2D"/>
                </a:solidFill>
                <a:sym typeface="Wingdings" panose="05000000000000000000" pitchFamily="2" charset="2"/>
              </a:rPr>
              <a:t>    </a:t>
            </a:r>
            <a:r>
              <a:rPr lang="ru-RU" sz="2800" dirty="0">
                <a:solidFill>
                  <a:schemeClr val="accent1"/>
                </a:solidFill>
              </a:rPr>
              <a:t> </a:t>
            </a:r>
            <a:r>
              <a:rPr lang="ru-RU" sz="2400" b="1" dirty="0">
                <a:solidFill>
                  <a:srgbClr val="FFFF00"/>
                </a:solidFill>
              </a:rPr>
              <a:t>Возникновение теории вероятностей как науки</a:t>
            </a:r>
            <a:endParaRPr lang="ru-RU" sz="2400" dirty="0">
              <a:solidFill>
                <a:srgbClr val="FFFF00"/>
              </a:solidFill>
            </a:endParaRPr>
          </a:p>
          <a:p>
            <a:pPr lvl="0" algn="just">
              <a:lnSpc>
                <a:spcPct val="80000"/>
              </a:lnSpc>
              <a:buNone/>
            </a:pPr>
            <a:r>
              <a:rPr lang="ru-RU" sz="2400" dirty="0">
                <a:solidFill>
                  <a:srgbClr val="EDF9EE"/>
                </a:solidFill>
              </a:rPr>
              <a:t>    К середине, XVII в. вероятностные вопросы и проблемы, возникающие в статистической практике, в практике страховых обществ, при обработке результатов наблюдений и в других областях, привлекли  внимание ученых, так как они стали актуальными вопросами. В первую очередь это относится к Б. Паскалю, П. Ферма и X. Гюйгенсу. В этот период вырабатываются первые специфические понятия, такие, как математическое ожидание и вероятность (в форме отношения шансов), устанавливаются и используются первые свойства вероятности: теоремы сложения и умножения вероятностей. В это время теория вероятностей находит свои первые применения в демографии, страховом деле, в оценке ошибок наблюдения, широко используя при этом понятие вероятности</a:t>
            </a:r>
            <a:r>
              <a:rPr lang="ru-RU" sz="2400" u="sng" dirty="0">
                <a:solidFill>
                  <a:srgbClr val="EDF9EE"/>
                </a:solidFill>
              </a:rPr>
              <a:t>.</a:t>
            </a:r>
            <a:r>
              <a:rPr lang="ru-RU" sz="2400" dirty="0">
                <a:solidFill>
                  <a:srgbClr val="EDF9EE"/>
                </a:solidFill>
              </a:rPr>
              <a:t> </a:t>
            </a:r>
          </a:p>
        </p:txBody>
      </p:sp>
      <p:pic>
        <p:nvPicPr>
          <p:cNvPr id="5" name="Picture 6" descr="паскаль Б"/>
          <p:cNvPicPr>
            <a:picLocks noChangeAspect="1" noChangeArrowheads="1"/>
          </p:cNvPicPr>
          <p:nvPr/>
        </p:nvPicPr>
        <p:blipFill>
          <a:blip r:embed="rId2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747" y="1921781"/>
            <a:ext cx="1393031" cy="1869396"/>
          </a:xfrm>
          <a:prstGeom prst="rect">
            <a:avLst/>
          </a:prstGeom>
          <a:noFill/>
          <a:ln w="57150" cmpd="thickThin">
            <a:solidFill>
              <a:srgbClr val="A5301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304800" y="3791177"/>
            <a:ext cx="14189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b="1" dirty="0">
                <a:solidFill>
                  <a:srgbClr val="A53010"/>
                </a:solidFill>
                <a:latin typeface="Century Gothic" panose="020B0502020202020204"/>
              </a:rPr>
              <a:t>Б</a:t>
            </a:r>
            <a:r>
              <a:rPr lang="ru-RU" b="1" dirty="0">
                <a:solidFill>
                  <a:srgbClr val="A53010"/>
                </a:solidFill>
                <a:latin typeface="Albertus Extra Bold" pitchFamily="34" charset="0"/>
              </a:rPr>
              <a:t>. </a:t>
            </a:r>
            <a:r>
              <a:rPr lang="ru-RU" b="1" dirty="0">
                <a:solidFill>
                  <a:srgbClr val="A53010"/>
                </a:solidFill>
                <a:latin typeface="Century Gothic" panose="020B0502020202020204"/>
              </a:rPr>
              <a:t>Паскаль</a:t>
            </a:r>
          </a:p>
        </p:txBody>
      </p:sp>
      <p:pic>
        <p:nvPicPr>
          <p:cNvPr id="7" name="Picture 8" descr="ферма П"/>
          <p:cNvPicPr>
            <a:picLocks noChangeAspect="1" noChangeArrowheads="1"/>
          </p:cNvPicPr>
          <p:nvPr/>
        </p:nvPicPr>
        <p:blipFill>
          <a:blip r:embed="rId3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747" y="4160509"/>
            <a:ext cx="1393031" cy="1857374"/>
          </a:xfrm>
          <a:prstGeom prst="rect">
            <a:avLst/>
          </a:prstGeom>
          <a:noFill/>
          <a:ln w="57150" cmpd="thickThin">
            <a:solidFill>
              <a:srgbClr val="A5301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526690" y="6138017"/>
            <a:ext cx="15252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A53010"/>
                </a:solidFill>
                <a:effectLst/>
                <a:uLnTx/>
                <a:uFillTx/>
              </a:rPr>
              <a:t>П</a:t>
            </a: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A53010"/>
                </a:solidFill>
                <a:effectLst/>
                <a:uLnTx/>
                <a:uFillTx/>
                <a:latin typeface="Albertus Extra Bold" pitchFamily="34" charset="0"/>
              </a:rPr>
              <a:t>.</a:t>
            </a: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A53010"/>
                </a:solidFill>
                <a:effectLst/>
                <a:uLnTx/>
                <a:uFillTx/>
              </a:rPr>
              <a:t>Ферма</a:t>
            </a:r>
          </a:p>
        </p:txBody>
      </p:sp>
      <p:pic>
        <p:nvPicPr>
          <p:cNvPr id="9" name="Picture 10" descr="гюйгенс Х"/>
          <p:cNvPicPr>
            <a:picLocks noChangeAspect="1" noChangeArrowheads="1"/>
          </p:cNvPicPr>
          <p:nvPr/>
        </p:nvPicPr>
        <p:blipFill>
          <a:blip r:embed="rId4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7227" y="2856479"/>
            <a:ext cx="1262645" cy="1708768"/>
          </a:xfrm>
          <a:prstGeom prst="rect">
            <a:avLst/>
          </a:prstGeom>
          <a:noFill/>
          <a:ln w="57150" cmpd="thickThin">
            <a:solidFill>
              <a:srgbClr val="A5301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10477840" y="4775264"/>
            <a:ext cx="1441420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80000"/>
              </a:lnSpc>
              <a:buNone/>
            </a:pPr>
            <a:r>
              <a:rPr lang="ru-RU" b="1" dirty="0">
                <a:solidFill>
                  <a:srgbClr val="A53010"/>
                </a:solidFill>
                <a:latin typeface="Century Gothic" panose="020B0502020202020204"/>
              </a:rPr>
              <a:t>Х. Гюйгенс</a:t>
            </a:r>
          </a:p>
        </p:txBody>
      </p:sp>
    </p:spTree>
    <p:extLst>
      <p:ext uri="{BB962C8B-B14F-4D97-AF65-F5344CB8AC3E}">
        <p14:creationId xmlns:p14="http://schemas.microsoft.com/office/powerpoint/2010/main" val="3753467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Этапы </a:t>
            </a:r>
            <a:r>
              <a:rPr lang="ru-RU" dirty="0" smtClean="0"/>
              <a:t>развития</a:t>
            </a:r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2998788" y="1676400"/>
            <a:ext cx="7669212" cy="5181600"/>
          </a:xfrm>
        </p:spPr>
        <p:txBody>
          <a:bodyPr/>
          <a:lstStyle/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sz="2400" b="1" dirty="0">
                <a:solidFill>
                  <a:srgbClr val="BEEB2D"/>
                </a:solidFill>
              </a:rPr>
              <a:t>    </a:t>
            </a:r>
            <a:r>
              <a:rPr lang="ru-RU" sz="2400" b="1" dirty="0">
                <a:solidFill>
                  <a:srgbClr val="FFFF00"/>
                </a:solidFill>
              </a:rPr>
              <a:t>Классическое определение вероятности</a:t>
            </a:r>
            <a:r>
              <a:rPr lang="ru-RU" sz="2400" dirty="0">
                <a:solidFill>
                  <a:srgbClr val="FFFF00"/>
                </a:solidFill>
              </a:rPr>
              <a:t> </a:t>
            </a:r>
            <a:endParaRPr lang="ru-RU" sz="2400" dirty="0" smtClean="0">
              <a:solidFill>
                <a:srgbClr val="FFFF00"/>
              </a:solidFill>
            </a:endParaRP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sz="2400" dirty="0">
                <a:solidFill>
                  <a:srgbClr val="FFFF00"/>
                </a:solidFill>
              </a:rPr>
              <a:t> </a:t>
            </a:r>
            <a:r>
              <a:rPr lang="ru-RU" sz="2400" dirty="0" smtClean="0">
                <a:solidFill>
                  <a:srgbClr val="FFFF00"/>
                </a:solidFill>
              </a:rPr>
              <a:t>   </a:t>
            </a:r>
            <a:r>
              <a:rPr lang="ru-RU" sz="2300" dirty="0" smtClean="0">
                <a:solidFill>
                  <a:srgbClr val="EDF9EE"/>
                </a:solidFill>
              </a:rPr>
              <a:t>Следующий </a:t>
            </a:r>
            <a:r>
              <a:rPr lang="ru-RU" sz="2300" dirty="0">
                <a:solidFill>
                  <a:srgbClr val="EDF9EE"/>
                </a:solidFill>
              </a:rPr>
              <a:t>период начинается с появления работы Я. Бернулли "Искусство предположений" (1713), в которой впервые была  строго доказана первая предельная теорема — простейший случай закона больших чисел. К этому периоду, который продолжался до середины XIX в., относятся работы Муавра, Лапласа, Гаусса и др. В центре внимания в это время стоят предельные теоремы. Теория вероятностей начинает широко применяться в различных областях естествознания. И хотя в этот период начинают применяться различные понятия вероятности (геометрическая вероятность, статистическая вероятность), господствующее положение занимает, в особенности после работ Лапласа, так называемое классическое определение вероятности.</a:t>
            </a:r>
            <a:r>
              <a:rPr lang="ru-RU" sz="2400" dirty="0">
                <a:solidFill>
                  <a:srgbClr val="EDF9EE"/>
                </a:solidFill>
              </a:rPr>
              <a:t> </a:t>
            </a:r>
          </a:p>
        </p:txBody>
      </p:sp>
      <p:pic>
        <p:nvPicPr>
          <p:cNvPr id="1843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9" y="2781300"/>
            <a:ext cx="1514475" cy="2089150"/>
          </a:xfrm>
          <a:prstGeom prst="rect">
            <a:avLst/>
          </a:prstGeom>
          <a:noFill/>
          <a:ln w="57150" cap="sq" cmpd="thickThin">
            <a:solidFill>
              <a:schemeClr val="accent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7" name="Rectangle 9"/>
          <p:cNvSpPr>
            <a:spLocks noChangeArrowheads="1"/>
          </p:cNvSpPr>
          <p:nvPr/>
        </p:nvSpPr>
        <p:spPr bwMode="auto">
          <a:xfrm>
            <a:off x="1699993" y="4864528"/>
            <a:ext cx="162127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BEEB2D"/>
                </a:solidFill>
              </a:rPr>
              <a:t>Якоб </a:t>
            </a:r>
            <a:endParaRPr lang="ru-RU">
              <a:solidFill>
                <a:srgbClr val="BEEB2D"/>
              </a:solidFill>
            </a:endParaRP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BEEB2D"/>
                </a:solidFill>
              </a:rPr>
              <a:t>Бернулли</a:t>
            </a:r>
            <a:r>
              <a:rPr lang="en-US">
                <a:solidFill>
                  <a:srgbClr val="BEEB2D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878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774826" y="553244"/>
            <a:ext cx="8686800" cy="1219200"/>
          </a:xfrm>
        </p:spPr>
        <p:txBody>
          <a:bodyPr/>
          <a:lstStyle/>
          <a:p>
            <a:pPr algn="ctr"/>
            <a:r>
              <a:rPr lang="ru-RU" dirty="0"/>
              <a:t>Этапы развития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3432176" y="1676400"/>
            <a:ext cx="7235825" cy="5181600"/>
          </a:xfrm>
        </p:spPr>
        <p:txBody>
          <a:bodyPr/>
          <a:lstStyle/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sz="2400" dirty="0">
                <a:solidFill>
                  <a:srgbClr val="FFFF00"/>
                </a:solidFill>
              </a:rPr>
              <a:t> </a:t>
            </a:r>
            <a:r>
              <a:rPr lang="ru-RU" sz="2400" dirty="0" smtClean="0">
                <a:solidFill>
                  <a:srgbClr val="FFFF00"/>
                </a:solidFill>
              </a:rPr>
              <a:t>   </a:t>
            </a:r>
            <a:r>
              <a:rPr lang="ru-RU" sz="2400" b="1" dirty="0" smtClean="0">
                <a:solidFill>
                  <a:srgbClr val="FFFF00"/>
                </a:solidFill>
              </a:rPr>
              <a:t>Современный </a:t>
            </a:r>
            <a:r>
              <a:rPr lang="ru-RU" sz="2400" b="1" dirty="0">
                <a:solidFill>
                  <a:srgbClr val="FFFF00"/>
                </a:solidFill>
              </a:rPr>
              <a:t>период развития теории вероятностей</a:t>
            </a:r>
            <a:r>
              <a:rPr lang="ru-RU" sz="2400" dirty="0">
                <a:solidFill>
                  <a:srgbClr val="FFFF00"/>
                </a:solidFill>
              </a:rPr>
              <a:t> </a:t>
            </a:r>
            <a:r>
              <a:rPr lang="ru-RU" sz="2300" dirty="0">
                <a:solidFill>
                  <a:srgbClr val="EDF9EE"/>
                </a:solidFill>
              </a:rPr>
              <a:t>начался с установления аксиоматики. Этого прежде всего требовала практика, так как для успешного применения теории вероятностей в физике, биологии и других областях науки, а также в технике и военном деле необходимо было уточнить и привести в стройную систему ее основные понятия. Благодаря аксиоматике теория вероятностей стала абстрактно-дедуктивной математической дисциплиной, тесно связанной с другими математическими дисциплинами. Это обусловило небывалую широту исследований по теории вероятностей и ее применениям, начиная от хозяйственно-прикладных вопросов и кончая самыми тонкими теоретическими вопросами теории информации и теории случайных процессов</a:t>
            </a:r>
            <a:r>
              <a:rPr lang="ru-RU" sz="2400" dirty="0">
                <a:solidFill>
                  <a:srgbClr val="EDF9EE"/>
                </a:solidFill>
              </a:rPr>
              <a:t>.</a:t>
            </a:r>
            <a:r>
              <a:rPr lang="ru-RU" sz="2400" dirty="0"/>
              <a:t> </a:t>
            </a:r>
          </a:p>
        </p:txBody>
      </p:sp>
      <p:pic>
        <p:nvPicPr>
          <p:cNvPr id="20484" name="Picture 9" descr="ED00019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6" y="1700213"/>
            <a:ext cx="1800225" cy="157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10" descr="EN00397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6" y="3429001"/>
            <a:ext cx="1655763" cy="159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6" name="Picture 11" descr="FD00779_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6" y="5373689"/>
            <a:ext cx="1692275" cy="110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3712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ru-RU" sz="2400" b="1">
                <a:solidFill>
                  <a:srgbClr val="EDF9EE"/>
                </a:solidFill>
              </a:rPr>
              <a:t>    Строгое логическое обоснование теории вероятностей произошло в XX в. и связано с именами советских математиков С. Н. Бернштейна и А. Н. Колмогорова.</a:t>
            </a:r>
          </a:p>
          <a:p>
            <a:endParaRPr lang="ru-RU" sz="2400">
              <a:solidFill>
                <a:srgbClr val="EDF9EE"/>
              </a:solidFill>
            </a:endParaRPr>
          </a:p>
        </p:txBody>
      </p:sp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1752600" y="996950"/>
            <a:ext cx="86868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4400" b="1">
                <a:solidFill>
                  <a:srgbClr val="FFC000"/>
                </a:solidFill>
                <a:latin typeface="+mj-lt"/>
              </a:rPr>
              <a:t>Основатели </a:t>
            </a:r>
            <a:r>
              <a:rPr lang="ru-RU" sz="4400" b="1" smtClean="0">
                <a:solidFill>
                  <a:srgbClr val="FFC000"/>
                </a:solidFill>
                <a:latin typeface="+mj-lt"/>
              </a:rPr>
              <a:t>современной </a:t>
            </a:r>
            <a:r>
              <a:rPr lang="ru-RU" sz="4400" b="1" dirty="0" smtClean="0">
                <a:solidFill>
                  <a:srgbClr val="FFC000"/>
                </a:solidFill>
                <a:latin typeface="+mj-lt"/>
              </a:rPr>
              <a:t>теории </a:t>
            </a:r>
            <a:r>
              <a:rPr lang="ru-RU" sz="4400" b="1" dirty="0">
                <a:solidFill>
                  <a:srgbClr val="FFC000"/>
                </a:solidFill>
                <a:latin typeface="+mj-lt"/>
              </a:rPr>
              <a:t>вероятностей</a:t>
            </a:r>
          </a:p>
        </p:txBody>
      </p:sp>
      <p:pic>
        <p:nvPicPr>
          <p:cNvPr id="21510" name="Picture 7" descr="бернштейн С"/>
          <p:cNvPicPr>
            <a:picLocks noChangeAspect="1" noChangeArrowheads="1"/>
          </p:cNvPicPr>
          <p:nvPr/>
        </p:nvPicPr>
        <p:blipFill>
          <a:blip r:embed="rId2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3" y="3573464"/>
            <a:ext cx="1712912" cy="2376487"/>
          </a:xfrm>
          <a:prstGeom prst="rect">
            <a:avLst/>
          </a:prstGeom>
          <a:noFill/>
          <a:ln w="57150" cmpd="thickThin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11" name="Rectangle 8"/>
          <p:cNvSpPr>
            <a:spLocks noChangeArrowheads="1"/>
          </p:cNvSpPr>
          <p:nvPr/>
        </p:nvSpPr>
        <p:spPr bwMode="auto">
          <a:xfrm>
            <a:off x="2424113" y="6165851"/>
            <a:ext cx="21574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ru-RU" sz="2000" b="1">
                <a:solidFill>
                  <a:srgbClr val="93D598"/>
                </a:solidFill>
              </a:rPr>
              <a:t>С</a:t>
            </a:r>
            <a:r>
              <a:rPr lang="ru-RU" sz="2000" b="1">
                <a:solidFill>
                  <a:srgbClr val="93D598"/>
                </a:solidFill>
                <a:latin typeface="Albertus Extra Bold" pitchFamily="34" charset="0"/>
              </a:rPr>
              <a:t>. </a:t>
            </a:r>
            <a:r>
              <a:rPr lang="ru-RU" sz="2000" b="1">
                <a:solidFill>
                  <a:srgbClr val="93D598"/>
                </a:solidFill>
              </a:rPr>
              <a:t>Н</a:t>
            </a:r>
            <a:r>
              <a:rPr lang="ru-RU" sz="2000" b="1">
                <a:solidFill>
                  <a:srgbClr val="93D598"/>
                </a:solidFill>
                <a:latin typeface="Albertus Extra Bold" pitchFamily="34" charset="0"/>
              </a:rPr>
              <a:t>. </a:t>
            </a:r>
            <a:r>
              <a:rPr lang="ru-RU" sz="2000" b="1">
                <a:solidFill>
                  <a:srgbClr val="93D598"/>
                </a:solidFill>
              </a:rPr>
              <a:t>Бернштейн</a:t>
            </a:r>
            <a:endParaRPr lang="ru-RU" b="1">
              <a:solidFill>
                <a:srgbClr val="93D598"/>
              </a:solidFill>
            </a:endParaRPr>
          </a:p>
        </p:txBody>
      </p:sp>
      <p:pic>
        <p:nvPicPr>
          <p:cNvPr id="21512" name="Picture 9" descr="колмогоров"/>
          <p:cNvPicPr>
            <a:picLocks noChangeAspect="1" noChangeArrowheads="1"/>
          </p:cNvPicPr>
          <p:nvPr/>
        </p:nvPicPr>
        <p:blipFill>
          <a:blip r:embed="rId3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964" y="3644901"/>
            <a:ext cx="1717675" cy="2232025"/>
          </a:xfrm>
          <a:prstGeom prst="rect">
            <a:avLst/>
          </a:prstGeom>
          <a:noFill/>
          <a:ln w="57150" cmpd="thickThin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13" name="Rectangle 10"/>
          <p:cNvSpPr>
            <a:spLocks noChangeArrowheads="1"/>
          </p:cNvSpPr>
          <p:nvPr/>
        </p:nvSpPr>
        <p:spPr bwMode="auto">
          <a:xfrm>
            <a:off x="7007226" y="6092826"/>
            <a:ext cx="2246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ru-RU" sz="2000" b="1">
                <a:solidFill>
                  <a:srgbClr val="93D598"/>
                </a:solidFill>
              </a:rPr>
              <a:t>А</a:t>
            </a:r>
            <a:r>
              <a:rPr lang="ru-RU" sz="2000" b="1">
                <a:solidFill>
                  <a:srgbClr val="93D598"/>
                </a:solidFill>
                <a:latin typeface="Albertus Extra Bold" pitchFamily="34" charset="0"/>
              </a:rPr>
              <a:t>. </a:t>
            </a:r>
            <a:r>
              <a:rPr lang="ru-RU" sz="2000" b="1">
                <a:solidFill>
                  <a:srgbClr val="93D598"/>
                </a:solidFill>
              </a:rPr>
              <a:t>Н</a:t>
            </a:r>
            <a:r>
              <a:rPr lang="ru-RU" sz="2000" b="1">
                <a:solidFill>
                  <a:srgbClr val="93D598"/>
                </a:solidFill>
                <a:latin typeface="Albertus Extra Bold" pitchFamily="34" charset="0"/>
              </a:rPr>
              <a:t>. </a:t>
            </a:r>
            <a:r>
              <a:rPr lang="ru-RU" sz="2000" b="1">
                <a:solidFill>
                  <a:srgbClr val="93D598"/>
                </a:solidFill>
              </a:rPr>
              <a:t>Колмогоров</a:t>
            </a:r>
            <a:endParaRPr lang="ru-RU" b="1">
              <a:solidFill>
                <a:srgbClr val="93D59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084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007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-242888"/>
            <a:ext cx="9753600" cy="7315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4" descr="kj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3213100"/>
            <a:ext cx="2951163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5" descr="checkmark_blue%5B1%5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3357563"/>
            <a:ext cx="36036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WordArt 6"/>
          <p:cNvSpPr>
            <a:spLocks noChangeArrowheads="1" noChangeShapeType="1" noTextEdit="1"/>
          </p:cNvSpPr>
          <p:nvPr/>
        </p:nvSpPr>
        <p:spPr bwMode="auto">
          <a:xfrm>
            <a:off x="3287713" y="620713"/>
            <a:ext cx="5473700" cy="792162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3600" b="1" kern="10" spc="720">
                <a:gradFill rotWithShape="1">
                  <a:gsLst>
                    <a:gs pos="0">
                      <a:srgbClr val="1010CE"/>
                    </a:gs>
                    <a:gs pos="100000">
                      <a:srgbClr val="DDDDDD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79999"/>
                    </a:srgbClr>
                  </a:outerShdw>
                </a:effectLst>
                <a:cs typeface="Arial" panose="020B0604020202020204" pitchFamily="34" charset="0"/>
              </a:rPr>
              <a:t>СОБЫТИЯ</a:t>
            </a:r>
          </a:p>
        </p:txBody>
      </p:sp>
      <p:sp>
        <p:nvSpPr>
          <p:cNvPr id="8198" name="Text Box 9"/>
          <p:cNvSpPr txBox="1">
            <a:spLocks noChangeArrowheads="1"/>
          </p:cNvSpPr>
          <p:nvPr/>
        </p:nvSpPr>
        <p:spPr bwMode="auto">
          <a:xfrm>
            <a:off x="1524001" y="2781301"/>
            <a:ext cx="3095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ru-RU" b="1">
                <a:solidFill>
                  <a:srgbClr val="000000"/>
                </a:solidFill>
              </a:rPr>
              <a:t>ДОСТОВЕРНЫЕ</a:t>
            </a:r>
          </a:p>
        </p:txBody>
      </p:sp>
      <p:sp>
        <p:nvSpPr>
          <p:cNvPr id="8199" name="Text Box 10"/>
          <p:cNvSpPr txBox="1">
            <a:spLocks noChangeArrowheads="1"/>
          </p:cNvSpPr>
          <p:nvPr/>
        </p:nvSpPr>
        <p:spPr bwMode="auto">
          <a:xfrm>
            <a:off x="7104064" y="2708276"/>
            <a:ext cx="3095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ru-RU" b="1">
                <a:solidFill>
                  <a:srgbClr val="000000"/>
                </a:solidFill>
              </a:rPr>
              <a:t>СЛУЧАЙНЫЕ</a:t>
            </a:r>
          </a:p>
        </p:txBody>
      </p:sp>
      <p:pic>
        <p:nvPicPr>
          <p:cNvPr id="8200" name="Picture 11" descr="kj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175500" y="3141664"/>
            <a:ext cx="3024188" cy="302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Picture 12" descr="checkmark_blue%5B1%5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1" y="3284538"/>
            <a:ext cx="36036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2" name="Text Box 13"/>
          <p:cNvSpPr txBox="1">
            <a:spLocks noChangeArrowheads="1"/>
          </p:cNvSpPr>
          <p:nvPr/>
        </p:nvSpPr>
        <p:spPr bwMode="auto">
          <a:xfrm>
            <a:off x="1774825" y="3429001"/>
            <a:ext cx="2376488" cy="256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ru-RU" b="1">
                <a:solidFill>
                  <a:srgbClr val="0F0FB9"/>
                </a:solidFill>
              </a:rPr>
              <a:t>Происходят при каждом проведении опыта</a:t>
            </a:r>
            <a:r>
              <a:rPr lang="ru-RU" b="1">
                <a:solidFill>
                  <a:srgbClr val="000000"/>
                </a:solidFill>
              </a:rPr>
              <a:t> (Солнце всходит в определенное время, тело падает вниз, вода закипает при нагревании и т.п.).</a:t>
            </a:r>
          </a:p>
        </p:txBody>
      </p:sp>
      <p:sp>
        <p:nvSpPr>
          <p:cNvPr id="8203" name="Text Box 14"/>
          <p:cNvSpPr txBox="1">
            <a:spLocks noChangeArrowheads="1"/>
          </p:cNvSpPr>
          <p:nvPr/>
        </p:nvSpPr>
        <p:spPr bwMode="auto">
          <a:xfrm>
            <a:off x="7751764" y="3284538"/>
            <a:ext cx="2916237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ru-RU" b="1">
                <a:solidFill>
                  <a:srgbClr val="0F0FB9"/>
                </a:solidFill>
              </a:rPr>
              <a:t>Происходят в определенных условиях, но при каждом проведении опыта: одни происходят чаще, другие реже </a:t>
            </a:r>
            <a:r>
              <a:rPr lang="ru-RU" b="1">
                <a:solidFill>
                  <a:srgbClr val="000000"/>
                </a:solidFill>
              </a:rPr>
              <a:t> (бутерброд чаще падает маслом вниз и т.п.).</a:t>
            </a:r>
          </a:p>
        </p:txBody>
      </p:sp>
      <p:sp>
        <p:nvSpPr>
          <p:cNvPr id="8204" name="Line 15"/>
          <p:cNvSpPr>
            <a:spLocks noChangeShapeType="1"/>
          </p:cNvSpPr>
          <p:nvPr/>
        </p:nvSpPr>
        <p:spPr bwMode="auto">
          <a:xfrm flipH="1">
            <a:off x="2855914" y="1557338"/>
            <a:ext cx="1800225" cy="1223962"/>
          </a:xfrm>
          <a:prstGeom prst="line">
            <a:avLst/>
          </a:prstGeom>
          <a:noFill/>
          <a:ln w="28575">
            <a:solidFill>
              <a:srgbClr val="9E9AF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8205" name="Line 16"/>
          <p:cNvSpPr>
            <a:spLocks noChangeShapeType="1"/>
          </p:cNvSpPr>
          <p:nvPr/>
        </p:nvSpPr>
        <p:spPr bwMode="auto">
          <a:xfrm>
            <a:off x="7175500" y="1557339"/>
            <a:ext cx="1441450" cy="1150937"/>
          </a:xfrm>
          <a:prstGeom prst="line">
            <a:avLst/>
          </a:prstGeom>
          <a:noFill/>
          <a:ln w="28575">
            <a:solidFill>
              <a:srgbClr val="9E9AF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8206" name="Text Box 17"/>
          <p:cNvSpPr txBox="1">
            <a:spLocks noChangeArrowheads="1"/>
          </p:cNvSpPr>
          <p:nvPr/>
        </p:nvSpPr>
        <p:spPr bwMode="auto">
          <a:xfrm>
            <a:off x="4367214" y="4076701"/>
            <a:ext cx="3095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ru-RU" b="1">
                <a:solidFill>
                  <a:srgbClr val="000000"/>
                </a:solidFill>
              </a:rPr>
              <a:t>НЕВОЗМОЖНЫЕ</a:t>
            </a:r>
          </a:p>
        </p:txBody>
      </p:sp>
      <p:sp>
        <p:nvSpPr>
          <p:cNvPr id="8207" name="Line 18"/>
          <p:cNvSpPr>
            <a:spLocks noChangeShapeType="1"/>
          </p:cNvSpPr>
          <p:nvPr/>
        </p:nvSpPr>
        <p:spPr bwMode="auto">
          <a:xfrm flipH="1">
            <a:off x="5808664" y="1557338"/>
            <a:ext cx="71437" cy="2519362"/>
          </a:xfrm>
          <a:prstGeom prst="line">
            <a:avLst/>
          </a:prstGeom>
          <a:noFill/>
          <a:ln w="28575">
            <a:solidFill>
              <a:srgbClr val="9E9AF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118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Диаграммы Эйлера-Венна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-RU" dirty="0"/>
              <a:t>   Графические изображения на плоскости соотношений между множествами называются </a:t>
            </a:r>
            <a:r>
              <a:rPr lang="ru-RU" i="1" dirty="0"/>
              <a:t>диаграммами Эйлера-Венна.</a:t>
            </a:r>
          </a:p>
        </p:txBody>
      </p:sp>
      <p:pic>
        <p:nvPicPr>
          <p:cNvPr id="19460" name="Picture 6" descr="Рисунок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350" y="3789364"/>
            <a:ext cx="7143750" cy="178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6727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Line 23"/>
          <p:cNvSpPr>
            <a:spLocks noChangeShapeType="1"/>
          </p:cNvSpPr>
          <p:nvPr/>
        </p:nvSpPr>
        <p:spPr bwMode="auto">
          <a:xfrm>
            <a:off x="2782888" y="2852739"/>
            <a:ext cx="2520950" cy="2232025"/>
          </a:xfrm>
          <a:prstGeom prst="line">
            <a:avLst/>
          </a:prstGeom>
          <a:noFill/>
          <a:ln w="38100">
            <a:solidFill>
              <a:srgbClr val="EAEAE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23555" name="AutoShape 8"/>
          <p:cNvSpPr>
            <a:spLocks noChangeArrowheads="1"/>
          </p:cNvSpPr>
          <p:nvPr/>
        </p:nvSpPr>
        <p:spPr bwMode="auto">
          <a:xfrm>
            <a:off x="1703388" y="3860801"/>
            <a:ext cx="2519362" cy="7207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1010CE"/>
              </a:gs>
              <a:gs pos="50000">
                <a:srgbClr val="EAEAEA"/>
              </a:gs>
              <a:gs pos="100000">
                <a:srgbClr val="1010CE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ru-RU" b="1" dirty="0">
                <a:solidFill>
                  <a:srgbClr val="000000"/>
                </a:solidFill>
                <a:latin typeface="Arial"/>
              </a:rPr>
              <a:t>СТАТИСТИЧЕСКОЕ</a:t>
            </a:r>
          </a:p>
        </p:txBody>
      </p:sp>
      <p:sp>
        <p:nvSpPr>
          <p:cNvPr id="23556" name="AutoShape 16"/>
          <p:cNvSpPr>
            <a:spLocks noChangeArrowheads="1"/>
          </p:cNvSpPr>
          <p:nvPr/>
        </p:nvSpPr>
        <p:spPr bwMode="auto">
          <a:xfrm>
            <a:off x="4008438" y="5084764"/>
            <a:ext cx="2519362" cy="7207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1010CE"/>
              </a:gs>
              <a:gs pos="50000">
                <a:srgbClr val="EAEAEA"/>
              </a:gs>
              <a:gs pos="100000">
                <a:srgbClr val="1010CE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ru-RU" b="1" dirty="0">
                <a:solidFill>
                  <a:srgbClr val="000000"/>
                </a:solidFill>
              </a:rPr>
              <a:t>КЛАССИЧЕСКОЕ</a:t>
            </a:r>
          </a:p>
        </p:txBody>
      </p:sp>
      <p:sp>
        <p:nvSpPr>
          <p:cNvPr id="23557" name="AutoShape 17"/>
          <p:cNvSpPr>
            <a:spLocks noChangeArrowheads="1"/>
          </p:cNvSpPr>
          <p:nvPr/>
        </p:nvSpPr>
        <p:spPr bwMode="auto">
          <a:xfrm>
            <a:off x="6959601" y="5661026"/>
            <a:ext cx="2519363" cy="7207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1010CE"/>
              </a:gs>
              <a:gs pos="50000">
                <a:srgbClr val="EAEAEA"/>
              </a:gs>
              <a:gs pos="100000">
                <a:srgbClr val="1010CE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ru-RU" b="1">
                <a:solidFill>
                  <a:srgbClr val="000000"/>
                </a:solidFill>
              </a:rPr>
              <a:t>ГЕОМЕТРИЧЕСКОЕ</a:t>
            </a:r>
          </a:p>
        </p:txBody>
      </p:sp>
      <p:sp>
        <p:nvSpPr>
          <p:cNvPr id="24596" name="Text Box 20"/>
          <p:cNvSpPr txBox="1">
            <a:spLocks noChangeArrowheads="1"/>
          </p:cNvSpPr>
          <p:nvPr/>
        </p:nvSpPr>
        <p:spPr bwMode="auto">
          <a:xfrm>
            <a:off x="1847851" y="1628776"/>
            <a:ext cx="180022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ru-RU" sz="1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ОПРЕДЕЛЕНИЕ ВЕРОЯТНОСТИ</a:t>
            </a:r>
          </a:p>
        </p:txBody>
      </p:sp>
      <p:sp>
        <p:nvSpPr>
          <p:cNvPr id="23559" name="Line 22"/>
          <p:cNvSpPr>
            <a:spLocks noChangeShapeType="1"/>
          </p:cNvSpPr>
          <p:nvPr/>
        </p:nvSpPr>
        <p:spPr bwMode="auto">
          <a:xfrm>
            <a:off x="2782889" y="2852738"/>
            <a:ext cx="217487" cy="1008062"/>
          </a:xfrm>
          <a:prstGeom prst="line">
            <a:avLst/>
          </a:prstGeom>
          <a:noFill/>
          <a:ln w="38100">
            <a:solidFill>
              <a:srgbClr val="EAEAE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23560" name="Line 24"/>
          <p:cNvSpPr>
            <a:spLocks noChangeShapeType="1"/>
          </p:cNvSpPr>
          <p:nvPr/>
        </p:nvSpPr>
        <p:spPr bwMode="auto">
          <a:xfrm>
            <a:off x="2782889" y="2852739"/>
            <a:ext cx="5400675" cy="2808287"/>
          </a:xfrm>
          <a:prstGeom prst="line">
            <a:avLst/>
          </a:prstGeom>
          <a:noFill/>
          <a:ln w="38100">
            <a:solidFill>
              <a:srgbClr val="EAEAE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315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Статистическая вероятность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buFontTx/>
              <a:buNone/>
              <a:defRPr/>
            </a:pPr>
            <a:r>
              <a:rPr lang="ru-RU" dirty="0"/>
              <a:t>   </a:t>
            </a:r>
            <a:r>
              <a:rPr lang="ru-RU" sz="28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Вероятность случайного события</a:t>
            </a:r>
            <a:r>
              <a:rPr lang="ru-RU" sz="2800" dirty="0"/>
              <a:t> приближенно равна частоте этого события, полученной при проведении большого числа случайных экспериментов:                </a:t>
            </a:r>
            <a:r>
              <a:rPr lang="en-US" sz="2800" dirty="0"/>
              <a:t>  </a:t>
            </a:r>
            <a:r>
              <a:rPr lang="ru-RU" sz="2800" dirty="0"/>
              <a:t>, </a:t>
            </a:r>
            <a:endParaRPr lang="en-US" sz="2800" dirty="0"/>
          </a:p>
          <a:p>
            <a:pPr algn="just">
              <a:buFontTx/>
              <a:buNone/>
              <a:defRPr/>
            </a:pPr>
            <a:endParaRPr lang="ru-RU" sz="2800" dirty="0"/>
          </a:p>
          <a:p>
            <a:pPr algn="just">
              <a:buFontTx/>
              <a:buNone/>
              <a:defRPr/>
            </a:pPr>
            <a:r>
              <a:rPr lang="ru-RU" sz="2800" dirty="0"/>
              <a:t>    где     </a:t>
            </a:r>
            <a:r>
              <a:rPr lang="en-US" sz="2800" dirty="0"/>
              <a:t>   </a:t>
            </a:r>
            <a:r>
              <a:rPr lang="ru-RU" sz="2800" dirty="0"/>
              <a:t>- число испытаний, в которых наступило событие А, </a:t>
            </a:r>
            <a:r>
              <a:rPr lang="en-US" sz="2800" dirty="0"/>
              <a:t> </a:t>
            </a:r>
          </a:p>
          <a:p>
            <a:pPr algn="just">
              <a:buFontTx/>
              <a:buNone/>
              <a:defRPr/>
            </a:pPr>
            <a:r>
              <a:rPr lang="en-US" sz="2800" i="1" dirty="0"/>
              <a:t>            N</a:t>
            </a:r>
            <a:r>
              <a:rPr lang="en-US" sz="2800" dirty="0"/>
              <a:t> </a:t>
            </a:r>
            <a:r>
              <a:rPr lang="ru-RU" sz="2800" dirty="0"/>
              <a:t>– общее число испытаний.</a:t>
            </a:r>
          </a:p>
        </p:txBody>
      </p:sp>
      <p:sp>
        <p:nvSpPr>
          <p:cNvPr id="8198" name="Rectangle 5"/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F8F8F8"/>
              </a:solidFill>
            </a:endParaRPr>
          </a:p>
        </p:txBody>
      </p:sp>
      <p:graphicFrame>
        <p:nvGraphicFramePr>
          <p:cNvPr id="297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3137366"/>
              </p:ext>
            </p:extLst>
          </p:nvPr>
        </p:nvGraphicFramePr>
        <p:xfrm>
          <a:off x="5550937" y="3088632"/>
          <a:ext cx="151130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" r:id="rId3" imgW="748975" imgH="406224" progId="Equation.3">
                  <p:embed/>
                </p:oleObj>
              </mc:Choice>
              <mc:Fallback>
                <p:oleObj r:id="rId3" imgW="748975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0937" y="3088632"/>
                        <a:ext cx="1511300" cy="820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1524001" y="30886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F8F8F8"/>
              </a:solidFill>
            </a:endParaRPr>
          </a:p>
        </p:txBody>
      </p:sp>
      <p:graphicFrame>
        <p:nvGraphicFramePr>
          <p:cNvPr id="297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90249"/>
              </p:ext>
            </p:extLst>
          </p:nvPr>
        </p:nvGraphicFramePr>
        <p:xfrm>
          <a:off x="2066537" y="4343400"/>
          <a:ext cx="5032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" name="Уравнение" r:id="rId5" imgW="228501" imgH="215806" progId="Equation.3">
                  <p:embed/>
                </p:oleObj>
              </mc:Choice>
              <mc:Fallback>
                <p:oleObj name="Уравнение" r:id="rId5" imgW="228501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6537" y="4343400"/>
                        <a:ext cx="503238" cy="457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40653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3997471" y="1485900"/>
            <a:ext cx="6343958" cy="30469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just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ru-RU" sz="3200" dirty="0">
                <a:solidFill>
                  <a:srgbClr val="F8F8F8"/>
                </a:solidFill>
              </a:rPr>
              <a:t> Французский естествоиспытатель Бюффон  (</a:t>
            </a:r>
            <a:r>
              <a:rPr lang="en-US" sz="3200" dirty="0">
                <a:solidFill>
                  <a:srgbClr val="F8F8F8"/>
                </a:solidFill>
              </a:rPr>
              <a:t>XVIII</a:t>
            </a:r>
            <a:r>
              <a:rPr lang="ru-RU" sz="3200" dirty="0">
                <a:solidFill>
                  <a:srgbClr val="F8F8F8"/>
                </a:solidFill>
              </a:rPr>
              <a:t> в.) бросил монету 4040 раз,  и при этом герб выпал в 2048 случаях. </a:t>
            </a:r>
            <a:r>
              <a:rPr lang="en-US" sz="3200" dirty="0">
                <a:solidFill>
                  <a:srgbClr val="F8F8F8"/>
                </a:solidFill>
              </a:rPr>
              <a:t>Следовательно, </a:t>
            </a:r>
            <a:r>
              <a:rPr lang="ru-RU" sz="3200" dirty="0">
                <a:solidFill>
                  <a:srgbClr val="F8F8F8"/>
                </a:solidFill>
              </a:rPr>
              <a:t>  </a:t>
            </a:r>
            <a:r>
              <a:rPr lang="en-US" sz="3200" dirty="0">
                <a:solidFill>
                  <a:srgbClr val="F8F8F8"/>
                </a:solidFill>
              </a:rPr>
              <a:t>частота выпадения</a:t>
            </a:r>
            <a:r>
              <a:rPr lang="ru-RU" sz="3200" dirty="0">
                <a:solidFill>
                  <a:srgbClr val="F8F8F8"/>
                </a:solidFill>
              </a:rPr>
              <a:t> </a:t>
            </a:r>
            <a:r>
              <a:rPr lang="en-US" sz="3200" dirty="0">
                <a:solidFill>
                  <a:srgbClr val="F8F8F8"/>
                </a:solidFill>
              </a:rPr>
              <a:t> герба</a:t>
            </a:r>
            <a:r>
              <a:rPr lang="ru-RU" sz="3200" dirty="0">
                <a:solidFill>
                  <a:srgbClr val="F8F8F8"/>
                </a:solidFill>
              </a:rPr>
              <a:t> </a:t>
            </a:r>
            <a:r>
              <a:rPr lang="en-US" sz="3200" dirty="0">
                <a:solidFill>
                  <a:srgbClr val="F8F8F8"/>
                </a:solidFill>
              </a:rPr>
              <a:t> в данной</a:t>
            </a:r>
            <a:r>
              <a:rPr lang="ru-RU" sz="3200" dirty="0">
                <a:solidFill>
                  <a:srgbClr val="F8F8F8"/>
                </a:solidFill>
              </a:rPr>
              <a:t> </a:t>
            </a:r>
            <a:r>
              <a:rPr lang="en-US" sz="3200" dirty="0">
                <a:solidFill>
                  <a:srgbClr val="F8F8F8"/>
                </a:solidFill>
              </a:rPr>
              <a:t> серии</a:t>
            </a:r>
            <a:r>
              <a:rPr lang="ru-RU" sz="3200" dirty="0">
                <a:solidFill>
                  <a:srgbClr val="F8F8F8"/>
                </a:solidFill>
              </a:rPr>
              <a:t> </a:t>
            </a:r>
            <a:r>
              <a:rPr lang="en-US" sz="3200" dirty="0">
                <a:solidFill>
                  <a:srgbClr val="F8F8F8"/>
                </a:solidFill>
              </a:rPr>
              <a:t> испытаний</a:t>
            </a:r>
            <a:r>
              <a:rPr lang="ru-RU" sz="3200" dirty="0">
                <a:solidFill>
                  <a:srgbClr val="F8F8F8"/>
                </a:solidFill>
              </a:rPr>
              <a:t> </a:t>
            </a:r>
            <a:r>
              <a:rPr lang="en-US" sz="3200" dirty="0">
                <a:solidFill>
                  <a:srgbClr val="F8F8F8"/>
                </a:solidFill>
              </a:rPr>
              <a:t> равна:</a:t>
            </a:r>
            <a:endParaRPr lang="ru-RU" sz="3200" dirty="0">
              <a:solidFill>
                <a:srgbClr val="F8F8F8"/>
              </a:solidFill>
            </a:endParaRPr>
          </a:p>
        </p:txBody>
      </p:sp>
      <p:pic>
        <p:nvPicPr>
          <p:cNvPr id="8201" name="Picture 9" descr="buff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366" y="1894682"/>
            <a:ext cx="1944688" cy="2592387"/>
          </a:xfrm>
          <a:prstGeom prst="rect">
            <a:avLst/>
          </a:prstGeom>
          <a:noFill/>
          <a:ln w="76200" cmpd="tri">
            <a:pattFill prst="pct90">
              <a:fgClr>
                <a:schemeClr val="accent1"/>
              </a:fgClr>
              <a:bgClr>
                <a:srgbClr val="FFFFFF"/>
              </a:bgClr>
            </a:patt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1616366" y="4791149"/>
            <a:ext cx="2236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98BAFF"/>
                </a:solidFill>
              </a:rPr>
              <a:t>Жорж Бюффон </a:t>
            </a:r>
          </a:p>
        </p:txBody>
      </p:sp>
      <p:sp>
        <p:nvSpPr>
          <p:cNvPr id="6151" name="Rectangle 12"/>
          <p:cNvSpPr>
            <a:spLocks noChangeArrowheads="1"/>
          </p:cNvSpPr>
          <p:nvPr/>
        </p:nvSpPr>
        <p:spPr bwMode="auto">
          <a:xfrm>
            <a:off x="1524001" y="2950519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F8F8F8"/>
              </a:solidFill>
            </a:endParaRPr>
          </a:p>
        </p:txBody>
      </p:sp>
      <p:sp>
        <p:nvSpPr>
          <p:cNvPr id="6152" name="Rectangle 14"/>
          <p:cNvSpPr>
            <a:spLocks noChangeArrowheads="1"/>
          </p:cNvSpPr>
          <p:nvPr/>
        </p:nvSpPr>
        <p:spPr bwMode="auto">
          <a:xfrm>
            <a:off x="1524001" y="2960044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F8F8F8"/>
              </a:solidFill>
            </a:endParaRPr>
          </a:p>
        </p:txBody>
      </p:sp>
      <p:graphicFrame>
        <p:nvGraphicFramePr>
          <p:cNvPr id="82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3988966"/>
              </p:ext>
            </p:extLst>
          </p:nvPr>
        </p:nvGraphicFramePr>
        <p:xfrm>
          <a:off x="5467579" y="4847505"/>
          <a:ext cx="2808287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" r:id="rId4" imgW="1384300" imgH="393700" progId="Equation.3">
                  <p:embed/>
                </p:oleObj>
              </mc:Choice>
              <mc:Fallback>
                <p:oleObj r:id="rId4" imgW="1384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7579" y="4847505"/>
                        <a:ext cx="2808287" cy="801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1134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9" grpId="0"/>
      <p:bldP spid="820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4800600" y="1557339"/>
            <a:ext cx="5113338" cy="353943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ru-RU" sz="3200" dirty="0">
                <a:solidFill>
                  <a:srgbClr val="F8F8F8"/>
                </a:solidFill>
              </a:rPr>
              <a:t>Английский математик Карл Пирсон (1857-1936) бросал монету 24000 раз, причем герб выпал 12012 раз. Следовательно, частота выпадения герба в данной серии испытаний равна:</a:t>
            </a: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2495551" y="4941888"/>
            <a:ext cx="1966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>
                <a:solidFill>
                  <a:srgbClr val="98BAFF"/>
                </a:solidFill>
              </a:rPr>
              <a:t>Карл Пирсон </a:t>
            </a:r>
            <a:endParaRPr lang="en-US">
              <a:solidFill>
                <a:srgbClr val="98BAFF"/>
              </a:solidFill>
            </a:endParaRPr>
          </a:p>
        </p:txBody>
      </p:sp>
      <p:sp>
        <p:nvSpPr>
          <p:cNvPr id="2" name="Rectangle 6"/>
          <p:cNvSpPr>
            <a:spLocks noChangeArrowheads="1"/>
          </p:cNvSpPr>
          <p:nvPr/>
        </p:nvSpPr>
        <p:spPr bwMode="auto">
          <a:xfrm>
            <a:off x="1524001" y="2950519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F8F8F8"/>
              </a:solidFill>
            </a:endParaRPr>
          </a:p>
        </p:txBody>
      </p:sp>
      <p:sp>
        <p:nvSpPr>
          <p:cNvPr id="25606" name="Rectangle 9"/>
          <p:cNvSpPr>
            <a:spLocks noChangeArrowheads="1"/>
          </p:cNvSpPr>
          <p:nvPr/>
        </p:nvSpPr>
        <p:spPr bwMode="auto">
          <a:xfrm>
            <a:off x="1524001" y="2960044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F8F8F8"/>
              </a:solidFill>
            </a:endParaRPr>
          </a:p>
        </p:txBody>
      </p:sp>
      <p:pic>
        <p:nvPicPr>
          <p:cNvPr id="25611" name="Picture 11" descr="Karl_Pears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4" y="1989138"/>
            <a:ext cx="1970087" cy="27368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12" name="Picture 1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1" y="5661026"/>
            <a:ext cx="2735263" cy="823913"/>
          </a:xfrm>
          <a:noFill/>
        </p:spPr>
      </p:pic>
    </p:spTree>
    <p:extLst>
      <p:ext uri="{BB962C8B-B14F-4D97-AF65-F5344CB8AC3E}">
        <p14:creationId xmlns:p14="http://schemas.microsoft.com/office/powerpoint/2010/main" val="1433342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/>
      <p:bldP spid="2560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" descr="007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9" y="332242"/>
            <a:ext cx="9668228" cy="6395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WordArt 5"/>
          <p:cNvSpPr>
            <a:spLocks noChangeArrowheads="1" noChangeShapeType="1" noTextEdit="1"/>
          </p:cNvSpPr>
          <p:nvPr/>
        </p:nvSpPr>
        <p:spPr bwMode="auto">
          <a:xfrm>
            <a:off x="3359150" y="981076"/>
            <a:ext cx="5473700" cy="79216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3600" b="1" kern="10" spc="720">
                <a:gradFill rotWithShape="1">
                  <a:gsLst>
                    <a:gs pos="0">
                      <a:srgbClr val="1010CE"/>
                    </a:gs>
                    <a:gs pos="100000">
                      <a:srgbClr val="DDDDDD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79999"/>
                    </a:srgbClr>
                  </a:outerShdw>
                </a:effectLst>
                <a:cs typeface="Arial" panose="020B0604020202020204" pitchFamily="34" charset="0"/>
              </a:rPr>
              <a:t>ВЕРОЯТНОСТЬ</a:t>
            </a:r>
          </a:p>
        </p:txBody>
      </p:sp>
      <p:sp>
        <p:nvSpPr>
          <p:cNvPr id="1029" name="Text Box 14"/>
          <p:cNvSpPr txBox="1">
            <a:spLocks noChangeArrowheads="1"/>
          </p:cNvSpPr>
          <p:nvPr/>
        </p:nvSpPr>
        <p:spPr bwMode="auto">
          <a:xfrm>
            <a:off x="1524000" y="1989139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ru-RU" sz="2000" b="1">
                <a:solidFill>
                  <a:srgbClr val="0F0FB9"/>
                </a:solidFill>
              </a:rPr>
              <a:t>– ЭТО ЧИСЛЕННАЯ МЕРА ОБЪЕКТИВНОЙ ВОЗМОЖНОСТИ ПОЯВЛЕНИЯ СЛУЧАЙНОГО СОБЫТИЯ.</a:t>
            </a:r>
          </a:p>
        </p:txBody>
      </p:sp>
      <p:sp>
        <p:nvSpPr>
          <p:cNvPr id="1030" name="Text Box 15"/>
          <p:cNvSpPr txBox="1">
            <a:spLocks noChangeArrowheads="1"/>
          </p:cNvSpPr>
          <p:nvPr/>
        </p:nvSpPr>
        <p:spPr bwMode="auto">
          <a:xfrm>
            <a:off x="1919289" y="2781300"/>
            <a:ext cx="8353425" cy="4170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ru-RU" b="1" dirty="0">
                <a:solidFill>
                  <a:srgbClr val="000000"/>
                </a:solidFill>
              </a:rPr>
              <a:t>ТЕОРИЯ ВЕРОЯТНОСТЕЙ ДАЕТ СПОСОБ НАХОЖДЕНИЯ     ЧИСЛЕННОГО ЗНАЧЕНИЯ ВЕРОЯТНОСТИ СОБЫТИЯ (</a:t>
            </a:r>
            <a:r>
              <a:rPr lang="ru-RU" sz="2000" b="1" i="1" dirty="0">
                <a:solidFill>
                  <a:srgbClr val="C00000"/>
                </a:solidFill>
              </a:rPr>
              <a:t>классическое определение вероятности</a:t>
            </a:r>
            <a:r>
              <a:rPr lang="ru-RU" b="1" dirty="0">
                <a:solidFill>
                  <a:srgbClr val="000000"/>
                </a:solidFill>
              </a:rPr>
              <a:t>):</a:t>
            </a: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endParaRPr lang="ru-RU" b="1" dirty="0">
              <a:solidFill>
                <a:srgbClr val="000000"/>
              </a:solidFill>
            </a:endParaRP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ru-RU" b="1" dirty="0">
                <a:solidFill>
                  <a:srgbClr val="000000"/>
                </a:solidFill>
              </a:rPr>
              <a:t>А – некоторое событие,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b="1" dirty="0">
                <a:solidFill>
                  <a:srgbClr val="000000"/>
                </a:solidFill>
              </a:rPr>
              <a:t>m – </a:t>
            </a:r>
            <a:r>
              <a:rPr lang="ru-RU" b="1" dirty="0">
                <a:solidFill>
                  <a:srgbClr val="000000"/>
                </a:solidFill>
              </a:rPr>
              <a:t>количество исходов, при которых событие А появляется,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b="1" dirty="0">
                <a:solidFill>
                  <a:srgbClr val="000000"/>
                </a:solidFill>
              </a:rPr>
              <a:t>n – </a:t>
            </a:r>
            <a:r>
              <a:rPr lang="ru-RU" b="1" dirty="0">
                <a:solidFill>
                  <a:srgbClr val="000000"/>
                </a:solidFill>
              </a:rPr>
              <a:t>конечное число равновозможных исходов.</a:t>
            </a:r>
            <a:endParaRPr lang="ru-RU" sz="1000" b="1" dirty="0">
              <a:solidFill>
                <a:srgbClr val="000000"/>
              </a:solidFill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dirty="0">
                <a:solidFill>
                  <a:srgbClr val="002060"/>
                </a:solidFill>
              </a:rPr>
              <a:t>P – </a:t>
            </a:r>
            <a:r>
              <a:rPr lang="ru-RU" dirty="0">
                <a:solidFill>
                  <a:srgbClr val="002060"/>
                </a:solidFill>
              </a:rPr>
              <a:t>обозначение происходит от первой буквы французского слова </a:t>
            </a:r>
            <a:r>
              <a:rPr lang="en-US" i="1" dirty="0">
                <a:solidFill>
                  <a:srgbClr val="002060"/>
                </a:solidFill>
              </a:rPr>
              <a:t>probabilite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i="1" dirty="0">
                <a:solidFill>
                  <a:srgbClr val="002060"/>
                </a:solidFill>
              </a:rPr>
              <a:t>– </a:t>
            </a:r>
            <a:r>
              <a:rPr lang="ru-RU" i="1" dirty="0">
                <a:solidFill>
                  <a:srgbClr val="002060"/>
                </a:solidFill>
              </a:rPr>
              <a:t>вероятность.</a:t>
            </a: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endParaRPr lang="ru-RU" i="1" dirty="0">
              <a:solidFill>
                <a:srgbClr val="002060"/>
              </a:solidFill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endParaRPr lang="ru-RU" i="1" dirty="0">
              <a:solidFill>
                <a:srgbClr val="000000"/>
              </a:solidFill>
            </a:endParaRPr>
          </a:p>
        </p:txBody>
      </p:sp>
      <p:sp>
        <p:nvSpPr>
          <p:cNvPr id="1031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000000"/>
              </a:solidFill>
            </a:endParaRPr>
          </a:p>
        </p:txBody>
      </p:sp>
      <p:graphicFrame>
        <p:nvGraphicFramePr>
          <p:cNvPr id="1026" name="Object 22"/>
          <p:cNvGraphicFramePr>
            <a:graphicFrameLocks noChangeAspect="1"/>
          </p:cNvGraphicFramePr>
          <p:nvPr/>
        </p:nvGraphicFramePr>
        <p:xfrm>
          <a:off x="5470071" y="3638037"/>
          <a:ext cx="144145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1" r:id="rId4" imgW="660113" imgH="393529" progId="Equation.3">
                  <p:embed/>
                </p:oleObj>
              </mc:Choice>
              <mc:Fallback>
                <p:oleObj r:id="rId4" imgW="660113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0071" y="3638037"/>
                        <a:ext cx="1441450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78" y="3156404"/>
            <a:ext cx="1471454" cy="1959882"/>
          </a:xfrm>
          <a:prstGeom prst="rect">
            <a:avLst/>
          </a:prstGeom>
          <a:noFill/>
          <a:ln w="63500">
            <a:pattFill prst="openDmnd">
              <a:fgClr>
                <a:schemeClr val="bg1"/>
              </a:fgClr>
              <a:bgClr>
                <a:srgbClr val="1010CA"/>
              </a:bgClr>
            </a:patt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-42658" y="5206772"/>
            <a:ext cx="20313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400" b="1" dirty="0">
                <a:solidFill>
                  <a:srgbClr val="FF0000"/>
                </a:solidFill>
              </a:rPr>
              <a:t>Пьер-Симо́н Лапла́с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29630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dirty="0"/>
              <a:t>Геометрическое определение вероятности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3429000" y="1981200"/>
            <a:ext cx="6553200" cy="4687888"/>
          </a:xfrm>
        </p:spPr>
        <p:txBody>
          <a:bodyPr/>
          <a:lstStyle/>
          <a:p>
            <a:pPr>
              <a:lnSpc>
                <a:spcPct val="80000"/>
              </a:lnSpc>
              <a:buFontTx/>
              <a:buBlip>
                <a:blip r:embed="rId3"/>
              </a:buBlip>
            </a:pPr>
            <a:r>
              <a:rPr lang="ru-RU" sz="2600" dirty="0">
                <a:solidFill>
                  <a:srgbClr val="FFFF00"/>
                </a:solidFill>
              </a:rPr>
              <a:t>Если предположить, что попадание в любую точку области </a:t>
            </a:r>
            <a:r>
              <a:rPr lang="ru-RU" sz="2600" dirty="0">
                <a:solidFill>
                  <a:srgbClr val="FFFF00"/>
                </a:solidFill>
                <a:sym typeface="Symbol" panose="05050102010706020507" pitchFamily="18" charset="2"/>
              </a:rPr>
              <a:t></a:t>
            </a:r>
            <a:r>
              <a:rPr lang="ru-RU" sz="2600" dirty="0">
                <a:solidFill>
                  <a:srgbClr val="FFFF00"/>
                </a:solidFill>
              </a:rPr>
              <a:t> равновозможно, то вероятность попадания случайной точки в заданное множество</a:t>
            </a:r>
            <a:r>
              <a:rPr lang="ru-RU" sz="2600" i="1" dirty="0">
                <a:solidFill>
                  <a:srgbClr val="FFFF00"/>
                </a:solidFill>
              </a:rPr>
              <a:t> А</a:t>
            </a:r>
            <a:r>
              <a:rPr lang="ru-RU" sz="2600" dirty="0">
                <a:solidFill>
                  <a:srgbClr val="FFFF00"/>
                </a:solidFill>
              </a:rPr>
              <a:t> будет равна отношению площадей: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ru-RU" sz="2600" dirty="0">
                <a:solidFill>
                  <a:srgbClr val="FFFF00"/>
                </a:solidFill>
              </a:rPr>
              <a:t> 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sz="2600" dirty="0">
              <a:solidFill>
                <a:srgbClr val="FFFF00"/>
              </a:solidFill>
            </a:endParaRPr>
          </a:p>
          <a:p>
            <a:pPr>
              <a:lnSpc>
                <a:spcPct val="80000"/>
              </a:lnSpc>
              <a:buFontTx/>
              <a:buBlip>
                <a:blip r:embed="rId3"/>
              </a:buBlip>
            </a:pPr>
            <a:r>
              <a:rPr lang="ru-RU" sz="2600" dirty="0">
                <a:solidFill>
                  <a:srgbClr val="FFFF00"/>
                </a:solidFill>
              </a:rPr>
              <a:t>Можно определить геометрическую вероятность в пространстве и на прямой</a:t>
            </a:r>
            <a:r>
              <a:rPr lang="ru-RU" sz="2600" dirty="0">
                <a:solidFill>
                  <a:srgbClr val="CC6600"/>
                </a:solidFill>
              </a:rPr>
              <a:t>:</a:t>
            </a:r>
          </a:p>
          <a:p>
            <a:pPr>
              <a:lnSpc>
                <a:spcPct val="80000"/>
              </a:lnSpc>
              <a:buFontTx/>
              <a:buBlip>
                <a:blip r:embed="rId3"/>
              </a:buBlip>
            </a:pPr>
            <a:endParaRPr lang="ru-RU" sz="2600" dirty="0">
              <a:solidFill>
                <a:srgbClr val="CC660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ru-RU" sz="2600" dirty="0">
              <a:solidFill>
                <a:srgbClr val="CC6600"/>
              </a:solidFill>
            </a:endParaRPr>
          </a:p>
        </p:txBody>
      </p:sp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10483270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000000"/>
              </a:solidFill>
            </a:endParaRPr>
          </a:p>
        </p:txBody>
      </p:sp>
      <p:graphicFrame>
        <p:nvGraphicFramePr>
          <p:cNvPr id="143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148859"/>
              </p:ext>
            </p:extLst>
          </p:nvPr>
        </p:nvGraphicFramePr>
        <p:xfrm>
          <a:off x="5754688" y="3678240"/>
          <a:ext cx="1655762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2" r:id="rId4" imgW="863225" imgH="418918" progId="Equation.3">
                  <p:embed/>
                </p:oleObj>
              </mc:Choice>
              <mc:Fallback>
                <p:oleObj r:id="rId4" imgW="863225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4688" y="3678240"/>
                        <a:ext cx="1655762" cy="801687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10483270" y="2988619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000000"/>
              </a:solidFill>
            </a:endParaRPr>
          </a:p>
        </p:txBody>
      </p:sp>
      <p:graphicFrame>
        <p:nvGraphicFramePr>
          <p:cNvPr id="143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8742111"/>
              </p:ext>
            </p:extLst>
          </p:nvPr>
        </p:nvGraphicFramePr>
        <p:xfrm>
          <a:off x="5121275" y="5269369"/>
          <a:ext cx="316865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3" r:id="rId6" imgW="1765300" imgH="419100" progId="Equation.3">
                  <p:embed/>
                </p:oleObj>
              </mc:Choice>
              <mc:Fallback>
                <p:oleObj r:id="rId6" imgW="17653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1275" y="5269369"/>
                        <a:ext cx="3168650" cy="752475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24452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2019300" y="2013857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ru-RU" sz="3200" b="1" dirty="0"/>
              <a:t>СЛУЧАЙНЫЕ ВЕЛИЧИНЫ И ИХ ЗАКОНЫ РАСПРЕДЕЛЕНИЯ</a:t>
            </a:r>
            <a:r>
              <a:rPr lang="ru-RU" sz="3200" dirty="0"/>
              <a:t> </a:t>
            </a:r>
            <a:br>
              <a:rPr lang="ru-RU" sz="3200" dirty="0"/>
            </a:br>
            <a:r>
              <a:rPr lang="ru-RU" sz="1600" dirty="0"/>
              <a:t/>
            </a:r>
            <a:br>
              <a:rPr lang="ru-RU" sz="1600" dirty="0"/>
            </a:br>
            <a:r>
              <a:rPr lang="ru-RU" sz="3200" b="1" dirty="0">
                <a:solidFill>
                  <a:srgbClr val="00FFFF"/>
                </a:solidFill>
              </a:rPr>
              <a:t>Ряд распределения. Многоугольник распределения</a:t>
            </a:r>
            <a:r>
              <a:rPr lang="ru-RU" sz="3200" dirty="0"/>
              <a:t> </a:t>
            </a:r>
          </a:p>
        </p:txBody>
      </p:sp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1981200" y="3759881"/>
            <a:ext cx="8305800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651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sz="2800" b="1" i="1" dirty="0">
                <a:solidFill>
                  <a:srgbClr val="FFFF00"/>
                </a:solidFill>
              </a:rPr>
              <a:t>Законом распределения </a:t>
            </a:r>
            <a:r>
              <a:rPr lang="ru-RU" sz="2800" b="1" dirty="0"/>
              <a:t>случайной величины называется всякое соотношение, устанавливающее связь между возможными значениями случайной величины и соответствующими им вероятностями.</a:t>
            </a:r>
            <a:r>
              <a:rPr lang="ru-RU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62720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620486"/>
            <a:ext cx="8229600" cy="4533900"/>
          </a:xfrm>
        </p:spPr>
        <p:txBody>
          <a:bodyPr/>
          <a:lstStyle/>
          <a:p>
            <a:pPr marL="0" indent="365125" algn="just" eaLnBrk="1" hangingPunct="1">
              <a:lnSpc>
                <a:spcPct val="90000"/>
              </a:lnSpc>
              <a:buNone/>
              <a:defRPr/>
            </a:pPr>
            <a:r>
              <a:rPr lang="ru-RU" sz="2400" dirty="0"/>
              <a:t>Рассмотрим прерывную случайную величину </a:t>
            </a:r>
            <a:r>
              <a:rPr lang="ru-RU" sz="2400" i="1" dirty="0"/>
              <a:t>X </a:t>
            </a:r>
            <a:r>
              <a:rPr lang="ru-RU" sz="2400" dirty="0"/>
              <a:t>с возможными значениями  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dirty="0"/>
              <a:t>, </a:t>
            </a:r>
            <a:r>
              <a:rPr lang="ru-RU" sz="2400" i="1" dirty="0"/>
              <a:t>х</a:t>
            </a:r>
            <a:r>
              <a:rPr lang="ru-RU" sz="2400" i="1" baseline="-25000" dirty="0"/>
              <a:t>2</a:t>
            </a:r>
            <a:r>
              <a:rPr lang="ru-RU" sz="2400" i="1" dirty="0"/>
              <a:t>, …, х</a:t>
            </a:r>
            <a:r>
              <a:rPr lang="en-US" sz="2400" i="1" baseline="-25000" dirty="0"/>
              <a:t>n</a:t>
            </a:r>
            <a:r>
              <a:rPr lang="ru-RU" sz="2400" i="1" dirty="0"/>
              <a:t>. </a:t>
            </a:r>
            <a:r>
              <a:rPr lang="ru-RU" sz="2400" dirty="0"/>
              <a:t>Каждое из этих значений возможно, но не достоверно, и величина </a:t>
            </a:r>
            <a:r>
              <a:rPr lang="ru-RU" sz="2400" i="1" dirty="0"/>
              <a:t>X </a:t>
            </a:r>
            <a:r>
              <a:rPr lang="ru-RU" sz="2400" dirty="0"/>
              <a:t>может принять каждое из них с некоторой вероятностью. В результате опыта величина </a:t>
            </a:r>
            <a:r>
              <a:rPr lang="ru-RU" sz="2400" i="1" dirty="0"/>
              <a:t>X </a:t>
            </a:r>
            <a:r>
              <a:rPr lang="ru-RU" sz="2400" dirty="0"/>
              <a:t>примет одно из этих значений, т. е. произойдет одно из полной группы несовместных событий.</a:t>
            </a:r>
          </a:p>
          <a:p>
            <a:pPr marL="0" indent="365125" algn="just" eaLnBrk="1" hangingPunct="1">
              <a:lnSpc>
                <a:spcPct val="90000"/>
              </a:lnSpc>
              <a:buNone/>
              <a:defRPr/>
            </a:pPr>
            <a:r>
              <a:rPr lang="ru-RU" sz="2400" dirty="0"/>
              <a:t>Обозначим вероятности этих событий буквами </a:t>
            </a:r>
            <a:r>
              <a:rPr lang="ru-RU" sz="2400" i="1" dirty="0"/>
              <a:t>р </a:t>
            </a:r>
            <a:r>
              <a:rPr lang="ru-RU" sz="2400" dirty="0"/>
              <a:t>с соответствующими индексами:</a:t>
            </a:r>
            <a:endParaRPr lang="ru-RU" sz="2400" i="1" dirty="0"/>
          </a:p>
          <a:p>
            <a:pPr marL="0" indent="365125" algn="ctr" eaLnBrk="1" hangingPunct="1">
              <a:lnSpc>
                <a:spcPct val="90000"/>
              </a:lnSpc>
              <a:buNone/>
              <a:defRPr/>
            </a:pPr>
            <a:r>
              <a:rPr lang="ru-RU" sz="2400" i="1" dirty="0"/>
              <a:t>Р(Х=х</a:t>
            </a:r>
            <a:r>
              <a:rPr lang="ru-RU" sz="2400" i="1" baseline="-25000" dirty="0"/>
              <a:t>1</a:t>
            </a:r>
            <a:r>
              <a:rPr lang="ru-RU" sz="2400" i="1" dirty="0"/>
              <a:t>)=р</a:t>
            </a:r>
            <a:r>
              <a:rPr lang="ru-RU" sz="2400" i="1" baseline="-25000" dirty="0"/>
              <a:t>1</a:t>
            </a:r>
            <a:r>
              <a:rPr lang="ru-RU" sz="2400" i="1" dirty="0"/>
              <a:t>;   Р(Х=х</a:t>
            </a:r>
            <a:r>
              <a:rPr lang="ru-RU" sz="2400" i="1" baseline="-25000" dirty="0"/>
              <a:t>2</a:t>
            </a:r>
            <a:r>
              <a:rPr lang="ru-RU" sz="2400" i="1" dirty="0"/>
              <a:t>) = р</a:t>
            </a:r>
            <a:r>
              <a:rPr lang="ru-RU" sz="2400" i="1" baseline="-25000" dirty="0"/>
              <a:t>2</a:t>
            </a:r>
            <a:r>
              <a:rPr lang="ru-RU" sz="2400" i="1" dirty="0"/>
              <a:t>;   ...;   Р(Х = х</a:t>
            </a:r>
            <a:r>
              <a:rPr lang="en-US" sz="2400" i="1" baseline="-25000" dirty="0"/>
              <a:t>n</a:t>
            </a:r>
            <a:r>
              <a:rPr lang="ru-RU" sz="2400" i="1" dirty="0"/>
              <a:t>) = р</a:t>
            </a:r>
            <a:r>
              <a:rPr lang="en-US" sz="2400" i="1" baseline="-25000" dirty="0"/>
              <a:t>n</a:t>
            </a:r>
            <a:r>
              <a:rPr lang="ru-RU" sz="2400" i="1" dirty="0"/>
              <a:t>.</a:t>
            </a: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1981200" y="4216312"/>
            <a:ext cx="8229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Low" eaLnBrk="1" hangingPunct="1"/>
            <a:r>
              <a:rPr lang="ru-RU" sz="2400"/>
              <a:t>Так как несовместные события образуют полную группу, то сумма вероятностей всех возможных значений случайной величины равна единице 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/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5338764" y="5338764"/>
          <a:ext cx="1666875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" name="Формула" r:id="rId3" imgW="850680" imgH="660240" progId="Equation.3">
                  <p:embed/>
                </p:oleObj>
              </mc:Choice>
              <mc:Fallback>
                <p:oleObj name="Формула" r:id="rId3" imgW="850680" imgH="660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8764" y="5338764"/>
                        <a:ext cx="1666875" cy="1292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7397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fld id="{A41E739D-8BFB-41D0-AE36-368DA0B497DF}" type="slidenum">
              <a:rPr lang="ru-RU"/>
              <a:pPr/>
              <a:t>16</a:t>
            </a:fld>
            <a:endParaRPr lang="ru-RU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609600"/>
            <a:ext cx="8153400" cy="1066800"/>
          </a:xfrm>
        </p:spPr>
        <p:txBody>
          <a:bodyPr/>
          <a:lstStyle/>
          <a:p>
            <a:pPr marL="0" indent="365125" algn="just" eaLnBrk="1" hangingPunct="1">
              <a:buNone/>
              <a:defRPr/>
            </a:pPr>
            <a:r>
              <a:rPr lang="ru-RU" sz="2800" b="1" i="1" dirty="0">
                <a:solidFill>
                  <a:srgbClr val="FFFF00"/>
                </a:solidFill>
              </a:rPr>
              <a:t>Ряд распределения </a:t>
            </a:r>
            <a:r>
              <a:rPr lang="ru-RU" sz="2800" b="1" dirty="0"/>
              <a:t>случайной величины </a:t>
            </a:r>
            <a:r>
              <a:rPr lang="ru-RU" sz="2800" b="1" i="1" dirty="0"/>
              <a:t>X</a:t>
            </a:r>
            <a:r>
              <a:rPr lang="ru-RU" sz="2800" b="1" dirty="0"/>
              <a:t> имеет следующий вид</a:t>
            </a:r>
          </a:p>
        </p:txBody>
      </p:sp>
      <p:graphicFrame>
        <p:nvGraphicFramePr>
          <p:cNvPr id="46177" name="Group 97"/>
          <p:cNvGraphicFramePr>
            <a:graphicFrameLocks noGrp="1"/>
          </p:cNvGraphicFramePr>
          <p:nvPr>
            <p:ph sz="half" idx="2"/>
          </p:nvPr>
        </p:nvGraphicFramePr>
        <p:xfrm>
          <a:off x="3352800" y="1752600"/>
          <a:ext cx="5867400" cy="914400"/>
        </p:xfrm>
        <a:graphic>
          <a:graphicData uri="http://schemas.openxmlformats.org/drawingml/2006/table">
            <a:tbl>
              <a:tblPr/>
              <a:tblGrid>
                <a:gridCol w="11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4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4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4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4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4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4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4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4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6179" name="Rectangle 99"/>
          <p:cNvSpPr>
            <a:spLocks noChangeArrowheads="1"/>
          </p:cNvSpPr>
          <p:nvPr/>
        </p:nvSpPr>
        <p:spPr bwMode="auto">
          <a:xfrm>
            <a:off x="1981200" y="3090864"/>
            <a:ext cx="8153400" cy="308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365125" algn="just">
              <a:defRPr/>
            </a:pPr>
            <a:r>
              <a:rPr lang="ru-RU" sz="2800" dirty="0">
                <a:latin typeface="+mj-lt"/>
              </a:rPr>
              <a:t>Чтобы придать ряду распределения более наглядный вид, часто прибегают к его </a:t>
            </a:r>
            <a:r>
              <a:rPr lang="ru-RU" sz="28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графическому изображению</a:t>
            </a:r>
            <a:r>
              <a:rPr lang="ru-RU" sz="2800" dirty="0">
                <a:latin typeface="+mj-lt"/>
              </a:rPr>
              <a:t>: по оси абсцисс откла­дываются возможные значения случайной величины, а по оси ординат — вероятности этих значений. Такая фигура называется </a:t>
            </a:r>
            <a:r>
              <a:rPr lang="ru-RU" sz="2800" i="1" dirty="0">
                <a:solidFill>
                  <a:srgbClr val="FFFF00"/>
                </a:solidFill>
                <a:latin typeface="+mj-lt"/>
              </a:rPr>
              <a:t>многоугольником  распределения</a:t>
            </a:r>
            <a:r>
              <a:rPr lang="ru-RU" sz="2800" i="1" dirty="0">
                <a:latin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7347476"/>
      </p:ext>
    </p:extLst>
  </p:cSld>
  <p:clrMapOvr>
    <a:masterClrMapping/>
  </p:clrMapOvr>
  <p:transition spd="med"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457200"/>
            <a:ext cx="8229600" cy="4533900"/>
          </a:xfrm>
        </p:spPr>
        <p:txBody>
          <a:bodyPr/>
          <a:lstStyle/>
          <a:p>
            <a:pPr marL="0" indent="365125" algn="just" eaLnBrk="1" hangingPunct="1">
              <a:buNone/>
              <a:defRPr/>
            </a:pPr>
            <a:r>
              <a:rPr lang="ru-RU" sz="2800"/>
              <a:t>Многоугольник  распределения, так же как и ряд распределения, полностью характеризует случайную величину; он является одной из форм закона распределения.</a:t>
            </a:r>
          </a:p>
        </p:txBody>
      </p:sp>
      <p:sp>
        <p:nvSpPr>
          <p:cNvPr id="2052" name="Rectangle 5"/>
          <p:cNvSpPr>
            <a:spLocks noChangeArrowheads="1"/>
          </p:cNvSpPr>
          <p:nvPr/>
        </p:nvSpPr>
        <p:spPr bwMode="auto">
          <a:xfrm>
            <a:off x="1524001" y="22156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/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2971800" y="2139950"/>
          <a:ext cx="6910388" cy="471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7" name="Visio" r:id="rId3" imgW="4795560" imgH="3286080" progId="Visio.Drawing.11">
                  <p:embed/>
                </p:oleObj>
              </mc:Choice>
              <mc:Fallback>
                <p:oleObj name="Visio" r:id="rId3" imgW="4795560" imgH="328608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139950"/>
                        <a:ext cx="6910388" cy="4718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1664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sz="3600" b="1" dirty="0">
                <a:solidFill>
                  <a:srgbClr val="FFC000"/>
                </a:solidFill>
              </a:rPr>
              <a:t>Функция распределения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924844"/>
            <a:ext cx="8229600" cy="4533900"/>
          </a:xfrm>
        </p:spPr>
        <p:txBody>
          <a:bodyPr/>
          <a:lstStyle/>
          <a:p>
            <a:pPr marL="0" indent="365125" algn="just" eaLnBrk="1" hangingPunct="1">
              <a:lnSpc>
                <a:spcPct val="80000"/>
              </a:lnSpc>
              <a:buNone/>
              <a:defRPr/>
            </a:pPr>
            <a:r>
              <a:rPr lang="ru-RU" sz="2800" dirty="0"/>
              <a:t>Для количественной характеристики распределения вероятностей удобно воспользоваться не вероятностью события </a:t>
            </a:r>
            <a:r>
              <a:rPr lang="ru-RU" sz="2800" i="1" dirty="0"/>
              <a:t>Х=х</a:t>
            </a:r>
            <a:r>
              <a:rPr lang="ru-RU" sz="2800" dirty="0"/>
              <a:t>, а вероятностью события </a:t>
            </a:r>
            <a:r>
              <a:rPr lang="en-US" sz="2800" i="1" dirty="0"/>
              <a:t>X&lt;x</a:t>
            </a:r>
            <a:r>
              <a:rPr lang="ru-RU" sz="2800" dirty="0"/>
              <a:t>, где </a:t>
            </a:r>
            <a:r>
              <a:rPr lang="ru-RU" sz="2800" i="1" dirty="0"/>
              <a:t>х</a:t>
            </a:r>
            <a:r>
              <a:rPr lang="ru-RU" sz="2800" dirty="0"/>
              <a:t> – некоторая текущая переменная. Вероятность этого события зависит от </a:t>
            </a:r>
            <a:r>
              <a:rPr lang="ru-RU" sz="2800" i="1" dirty="0"/>
              <a:t>х</a:t>
            </a:r>
            <a:r>
              <a:rPr lang="ru-RU" sz="2800" dirty="0"/>
              <a:t>, есть некоторая функция от </a:t>
            </a:r>
            <a:r>
              <a:rPr lang="ru-RU" sz="2800" i="1" dirty="0"/>
              <a:t>х</a:t>
            </a:r>
            <a:r>
              <a:rPr lang="ru-RU" sz="2800" dirty="0"/>
              <a:t>. Эта функция называется функцией распределения случайной величины </a:t>
            </a:r>
            <a:r>
              <a:rPr lang="ru-RU" sz="2800" i="1" dirty="0"/>
              <a:t>Х</a:t>
            </a:r>
            <a:r>
              <a:rPr lang="ru-RU" sz="2800" dirty="0"/>
              <a:t> и обозначается </a:t>
            </a:r>
            <a:r>
              <a:rPr lang="en-US" sz="2800" i="1" dirty="0"/>
              <a:t>F(x)</a:t>
            </a:r>
            <a:r>
              <a:rPr lang="en-US" sz="2800" dirty="0"/>
              <a:t>:</a:t>
            </a:r>
            <a:endParaRPr lang="ru-RU" sz="2800" dirty="0"/>
          </a:p>
          <a:p>
            <a:pPr marL="0" indent="365125" algn="just" eaLnBrk="1" hangingPunct="1">
              <a:lnSpc>
                <a:spcPct val="80000"/>
              </a:lnSpc>
              <a:buNone/>
              <a:defRPr/>
            </a:pPr>
            <a:endParaRPr lang="en-US" sz="2800" dirty="0"/>
          </a:p>
          <a:p>
            <a:pPr marL="0" indent="365125" algn="ctr" eaLnBrk="1" hangingPunct="1">
              <a:lnSpc>
                <a:spcPct val="80000"/>
              </a:lnSpc>
              <a:buNone/>
              <a:defRPr/>
            </a:pPr>
            <a:r>
              <a:rPr lang="en-US" sz="2800" b="1" i="1" dirty="0"/>
              <a:t>F(x)=P(X&lt;x)</a:t>
            </a:r>
            <a:endParaRPr lang="ru-RU" sz="2800" b="1" i="1" dirty="0"/>
          </a:p>
        </p:txBody>
      </p:sp>
    </p:spTree>
    <p:extLst>
      <p:ext uri="{BB962C8B-B14F-4D97-AF65-F5344CB8AC3E}">
        <p14:creationId xmlns:p14="http://schemas.microsoft.com/office/powerpoint/2010/main" val="2145976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48543" y="992188"/>
            <a:ext cx="8229600" cy="5334000"/>
          </a:xfrm>
        </p:spPr>
        <p:txBody>
          <a:bodyPr/>
          <a:lstStyle/>
          <a:p>
            <a:pPr marL="0" indent="365125" algn="just" eaLnBrk="1" hangingPunct="1">
              <a:lnSpc>
                <a:spcPct val="80000"/>
              </a:lnSpc>
              <a:buNone/>
              <a:defRPr/>
            </a:pPr>
            <a:r>
              <a:rPr lang="ru-RU" sz="2800" b="1" i="1" dirty="0">
                <a:solidFill>
                  <a:srgbClr val="FFC000"/>
                </a:solidFill>
              </a:rPr>
              <a:t>Функция распределения </a:t>
            </a:r>
            <a:r>
              <a:rPr lang="en-US" sz="2800" i="1" dirty="0"/>
              <a:t>F(x)</a:t>
            </a:r>
            <a:r>
              <a:rPr lang="ru-RU" sz="2800" i="1" dirty="0"/>
              <a:t> </a:t>
            </a:r>
            <a:r>
              <a:rPr lang="ru-RU" sz="2800" dirty="0"/>
              <a:t>иногда называют также </a:t>
            </a:r>
            <a:r>
              <a:rPr lang="ru-RU" sz="2800" i="1" dirty="0"/>
              <a:t>интегральной функцией распределения или интегральным законом распределения.</a:t>
            </a:r>
          </a:p>
          <a:p>
            <a:pPr marL="0" indent="365125" algn="just" eaLnBrk="1" hangingPunct="1">
              <a:lnSpc>
                <a:spcPct val="80000"/>
              </a:lnSpc>
              <a:defRPr/>
            </a:pPr>
            <a:endParaRPr lang="ru-RU" sz="2800" i="1" dirty="0"/>
          </a:p>
          <a:p>
            <a:pPr marL="0" indent="365125" algn="just" eaLnBrk="1" hangingPunct="1">
              <a:lnSpc>
                <a:spcPct val="80000"/>
              </a:lnSpc>
              <a:buNone/>
              <a:defRPr/>
            </a:pPr>
            <a:r>
              <a:rPr lang="ru-RU" sz="2800" b="1" i="1" dirty="0">
                <a:solidFill>
                  <a:srgbClr val="FFC000"/>
                </a:solidFill>
              </a:rPr>
              <a:t>Функция распределения </a:t>
            </a:r>
            <a:r>
              <a:rPr lang="ru-RU" sz="2800" dirty="0"/>
              <a:t>– самая универсальная характеристика случайной величины. Она существует для всех случайных величин: как прерывных, так и непрерывных. Функция распределения полностью характеризует случайную величину с вероятностной точки зрения, т.е. является одной из форм закона распределения.</a:t>
            </a:r>
          </a:p>
          <a:p>
            <a:pPr marL="0" indent="365125" eaLnBrk="1" hangingPunct="1">
              <a:lnSpc>
                <a:spcPct val="80000"/>
              </a:lnSpc>
              <a:defRPr/>
            </a:pPr>
            <a:endParaRPr lang="ru-RU" sz="2800" dirty="0"/>
          </a:p>
          <a:p>
            <a:pPr marL="0" indent="365125" eaLnBrk="1" hangingPunct="1">
              <a:lnSpc>
                <a:spcPct val="80000"/>
              </a:lnSpc>
              <a:buNone/>
              <a:defRPr/>
            </a:pPr>
            <a:endParaRPr lang="ru-RU" sz="2000" dirty="0"/>
          </a:p>
          <a:p>
            <a:pPr marL="0" indent="365125" eaLnBrk="1" hangingPunct="1">
              <a:lnSpc>
                <a:spcPct val="80000"/>
              </a:lnSpc>
              <a:buNone/>
              <a:defRPr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56557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077686"/>
            <a:ext cx="8229600" cy="4533900"/>
          </a:xfrm>
        </p:spPr>
        <p:txBody>
          <a:bodyPr/>
          <a:lstStyle/>
          <a:p>
            <a:pPr marL="0" indent="365125" algn="just" eaLnBrk="1" hangingPunct="1">
              <a:lnSpc>
                <a:spcPct val="90000"/>
              </a:lnSpc>
              <a:buNone/>
              <a:defRPr/>
            </a:pPr>
            <a:r>
              <a:rPr lang="ru-RU" sz="2800" dirty="0"/>
              <a:t>Сформулируем некоторые общие свойства функции распределения.</a:t>
            </a:r>
          </a:p>
          <a:p>
            <a:pPr marL="0" indent="365125" algn="just" eaLnBrk="1" hangingPunct="1">
              <a:lnSpc>
                <a:spcPct val="90000"/>
              </a:lnSpc>
              <a:buNone/>
              <a:defRPr/>
            </a:pPr>
            <a:endParaRPr lang="ru-RU" sz="1400" dirty="0"/>
          </a:p>
          <a:p>
            <a:pPr marL="0" indent="365125" algn="just" eaLnBrk="1" hangingPunct="1">
              <a:lnSpc>
                <a:spcPct val="90000"/>
              </a:lnSpc>
              <a:buClr>
                <a:schemeClr val="folHlink"/>
              </a:buClr>
              <a:buFont typeface="Wingdings" panose="05000000000000000000" pitchFamily="2" charset="2"/>
              <a:buAutoNum type="arabicPeriod"/>
              <a:defRPr/>
            </a:pPr>
            <a:r>
              <a:rPr lang="ru-RU" sz="2800" dirty="0"/>
              <a:t>Функция  распределения   </a:t>
            </a:r>
            <a:r>
              <a:rPr lang="en-US" sz="2800" i="1" dirty="0"/>
              <a:t>F</a:t>
            </a:r>
            <a:r>
              <a:rPr lang="ru-RU" sz="2800" i="1" dirty="0"/>
              <a:t>(</a:t>
            </a:r>
            <a:r>
              <a:rPr lang="en-US" sz="2800" i="1" dirty="0"/>
              <a:t>x</a:t>
            </a:r>
            <a:r>
              <a:rPr lang="ru-RU" sz="2800" i="1" dirty="0"/>
              <a:t>)   </a:t>
            </a:r>
            <a:r>
              <a:rPr lang="ru-RU" sz="2800" dirty="0"/>
              <a:t>есть   неубывающая   функция своего аргумента, т. е. при </a:t>
            </a:r>
            <a:r>
              <a:rPr lang="ru-RU" sz="2800" i="1" dirty="0"/>
              <a:t>х</a:t>
            </a:r>
            <a:r>
              <a:rPr lang="ru-RU" sz="2800" i="1" baseline="-25000" dirty="0"/>
              <a:t>2</a:t>
            </a:r>
            <a:r>
              <a:rPr lang="ru-RU" sz="2800" i="1" dirty="0"/>
              <a:t> &gt; х</a:t>
            </a:r>
            <a:r>
              <a:rPr lang="ru-RU" sz="2800" i="1" baseline="-25000" dirty="0"/>
              <a:t>1</a:t>
            </a:r>
            <a:r>
              <a:rPr lang="ru-RU" sz="2800" i="1" dirty="0"/>
              <a:t> </a:t>
            </a:r>
          </a:p>
          <a:p>
            <a:pPr marL="0" indent="365125" algn="ctr" eaLnBrk="1" hangingPunct="1">
              <a:lnSpc>
                <a:spcPct val="90000"/>
              </a:lnSpc>
              <a:buNone/>
              <a:defRPr/>
            </a:pPr>
            <a:r>
              <a:rPr lang="ru-RU" sz="2800" i="1" dirty="0"/>
              <a:t> </a:t>
            </a:r>
            <a:r>
              <a:rPr lang="en-US" sz="2800" i="1" dirty="0"/>
              <a:t>F</a:t>
            </a:r>
            <a:r>
              <a:rPr lang="ru-RU" sz="2800" i="1" dirty="0"/>
              <a:t>(х</a:t>
            </a:r>
            <a:r>
              <a:rPr lang="ru-RU" sz="2800" i="1" baseline="-25000" dirty="0"/>
              <a:t>2</a:t>
            </a:r>
            <a:r>
              <a:rPr lang="ru-RU" sz="2800" i="1" dirty="0"/>
              <a:t>) ≥  </a:t>
            </a:r>
            <a:r>
              <a:rPr lang="en-US" sz="2800" i="1" dirty="0"/>
              <a:t>F</a:t>
            </a:r>
            <a:r>
              <a:rPr lang="ru-RU" sz="2800" i="1" dirty="0"/>
              <a:t>(</a:t>
            </a:r>
            <a:r>
              <a:rPr lang="en-US" sz="2800" i="1" dirty="0"/>
              <a:t>x</a:t>
            </a:r>
            <a:r>
              <a:rPr lang="ru-RU" sz="2800" i="1" baseline="-25000" dirty="0"/>
              <a:t>1</a:t>
            </a:r>
            <a:r>
              <a:rPr lang="ru-RU" sz="2800" i="1" dirty="0"/>
              <a:t>).</a:t>
            </a:r>
          </a:p>
          <a:p>
            <a:pPr marL="0" indent="365125" algn="just" eaLnBrk="1" hangingPunct="1">
              <a:lnSpc>
                <a:spcPct val="90000"/>
              </a:lnSpc>
              <a:buClr>
                <a:schemeClr val="folHlink"/>
              </a:buClr>
              <a:buFont typeface="Wingdings" panose="05000000000000000000" pitchFamily="2" charset="2"/>
              <a:buAutoNum type="arabicPeriod" startAt="2"/>
              <a:defRPr/>
            </a:pPr>
            <a:r>
              <a:rPr lang="ru-RU" sz="2800" dirty="0"/>
              <a:t>На минус бесконечности функция распределения равна нулю:</a:t>
            </a:r>
            <a:endParaRPr lang="ru-RU" sz="2800" i="1" dirty="0"/>
          </a:p>
          <a:p>
            <a:pPr marL="0" indent="365125" algn="ctr" eaLnBrk="1" hangingPunct="1">
              <a:lnSpc>
                <a:spcPct val="90000"/>
              </a:lnSpc>
              <a:buNone/>
              <a:defRPr/>
            </a:pPr>
            <a:r>
              <a:rPr lang="en-US" sz="2800" i="1" dirty="0"/>
              <a:t>F </a:t>
            </a:r>
            <a:r>
              <a:rPr lang="ru-RU" sz="2800" dirty="0"/>
              <a:t>(- ∞) = 0.</a:t>
            </a:r>
          </a:p>
          <a:p>
            <a:pPr marL="0" indent="365125" algn="just" eaLnBrk="1" hangingPunct="1">
              <a:lnSpc>
                <a:spcPct val="90000"/>
              </a:lnSpc>
              <a:buClr>
                <a:schemeClr val="folHlink"/>
              </a:buClr>
              <a:buFont typeface="Wingdings" panose="05000000000000000000" pitchFamily="2" charset="2"/>
              <a:buAutoNum type="arabicPeriod" startAt="3"/>
              <a:defRPr/>
            </a:pPr>
            <a:r>
              <a:rPr lang="ru-RU" sz="2800" dirty="0"/>
              <a:t>На плюс бесконечности  функция  распределения  равна  единице:</a:t>
            </a:r>
            <a:endParaRPr lang="en-US" sz="2800" i="1" dirty="0"/>
          </a:p>
          <a:p>
            <a:pPr marL="0" indent="365125" algn="ctr" eaLnBrk="1" hangingPunct="1">
              <a:lnSpc>
                <a:spcPct val="90000"/>
              </a:lnSpc>
              <a:buNone/>
              <a:defRPr/>
            </a:pPr>
            <a:r>
              <a:rPr lang="en-US" sz="2800" i="1" dirty="0"/>
              <a:t>F </a:t>
            </a:r>
            <a:r>
              <a:rPr lang="ru-RU" sz="2800" dirty="0"/>
              <a:t>(+ ∞) = 1.</a:t>
            </a:r>
          </a:p>
        </p:txBody>
      </p:sp>
    </p:spTree>
    <p:extLst>
      <p:ext uri="{BB962C8B-B14F-4D97-AF65-F5344CB8AC3E}">
        <p14:creationId xmlns:p14="http://schemas.microsoft.com/office/powerpoint/2010/main" val="14088201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2725990" y="936159"/>
            <a:ext cx="72255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sz="2800" dirty="0">
                <a:solidFill>
                  <a:srgbClr val="FFC000"/>
                </a:solidFill>
                <a:latin typeface="+mj-lt"/>
              </a:rPr>
              <a:t>График функции распределения вероятностей</a:t>
            </a:r>
            <a:endParaRPr lang="ru-RU" sz="2800" dirty="0">
              <a:solidFill>
                <a:schemeClr val="folHlink"/>
              </a:solidFill>
              <a:latin typeface="+mj-lt"/>
            </a:endParaRPr>
          </a:p>
        </p:txBody>
      </p:sp>
      <p:graphicFrame>
        <p:nvGraphicFramePr>
          <p:cNvPr id="3074" name="Object 6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1247128550"/>
              </p:ext>
            </p:extLst>
          </p:nvPr>
        </p:nvGraphicFramePr>
        <p:xfrm>
          <a:off x="2477862" y="1457325"/>
          <a:ext cx="7273925" cy="5097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1" name="Visio" r:id="rId3" imgW="6424920" imgH="4501440" progId="Visio.Drawing.11">
                  <p:embed/>
                </p:oleObj>
              </mc:Choice>
              <mc:Fallback>
                <p:oleObj name="Visio" r:id="rId3" imgW="6424920" imgH="450144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7862" y="1457325"/>
                        <a:ext cx="7273925" cy="5097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74641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9928" y="918091"/>
            <a:ext cx="8229600" cy="6210300"/>
          </a:xfrm>
        </p:spPr>
        <p:txBody>
          <a:bodyPr/>
          <a:lstStyle/>
          <a:p>
            <a:pPr marL="0" indent="365125" algn="just" eaLnBrk="1" hangingPunct="1">
              <a:buNone/>
              <a:defRPr/>
            </a:pPr>
            <a:r>
              <a:rPr lang="ru-RU" sz="2800" dirty="0"/>
              <a:t>Не давая строгого доказательства этих свойств, проиллюстрируем их с помощью наглядной  геометрической интерпретации. Для этого будем   рассматривать   случайную величину </a:t>
            </a:r>
            <a:r>
              <a:rPr lang="ru-RU" sz="2800" i="1" dirty="0"/>
              <a:t>X </a:t>
            </a:r>
            <a:r>
              <a:rPr lang="ru-RU" sz="2800" dirty="0"/>
              <a:t>как  случайную точку </a:t>
            </a:r>
            <a:r>
              <a:rPr lang="ru-RU" sz="2800" i="1" dirty="0"/>
              <a:t>X</a:t>
            </a:r>
            <a:r>
              <a:rPr lang="ru-RU" sz="2800" dirty="0"/>
              <a:t>  на оси </a:t>
            </a:r>
            <a:r>
              <a:rPr lang="ru-RU" sz="2800" i="1" dirty="0"/>
              <a:t>Ох, </a:t>
            </a:r>
            <a:r>
              <a:rPr lang="ru-RU" sz="2800" dirty="0"/>
              <a:t>которая в результате опыта может занять то или иное положение. </a:t>
            </a:r>
          </a:p>
          <a:p>
            <a:pPr marL="0" indent="365125" algn="just" eaLnBrk="1" hangingPunct="1">
              <a:buNone/>
              <a:defRPr/>
            </a:pPr>
            <a:endParaRPr lang="ru-RU" sz="2800" dirty="0"/>
          </a:p>
          <a:p>
            <a:pPr marL="0" indent="365125" algn="just" eaLnBrk="1" hangingPunct="1">
              <a:buNone/>
              <a:defRPr/>
            </a:pPr>
            <a:endParaRPr lang="ru-RU" sz="2800" dirty="0"/>
          </a:p>
          <a:p>
            <a:pPr marL="0" indent="365125" algn="just" eaLnBrk="1" hangingPunct="1">
              <a:buNone/>
              <a:defRPr/>
            </a:pPr>
            <a:endParaRPr lang="ru-RU" sz="2800" dirty="0"/>
          </a:p>
          <a:p>
            <a:pPr marL="0" indent="365125" algn="just" eaLnBrk="1" hangingPunct="1">
              <a:buNone/>
              <a:defRPr/>
            </a:pPr>
            <a:r>
              <a:rPr lang="ru-RU" sz="2800" dirty="0"/>
              <a:t>Тогда функция распределения </a:t>
            </a:r>
            <a:r>
              <a:rPr lang="en-US" sz="2800" i="1" dirty="0"/>
              <a:t>F</a:t>
            </a:r>
            <a:r>
              <a:rPr lang="ru-RU" sz="2800" i="1" dirty="0"/>
              <a:t>(</a:t>
            </a:r>
            <a:r>
              <a:rPr lang="en-US" sz="2800" i="1" dirty="0"/>
              <a:t>x</a:t>
            </a:r>
            <a:r>
              <a:rPr lang="ru-RU" sz="2800" i="1" dirty="0"/>
              <a:t>) </a:t>
            </a:r>
            <a:r>
              <a:rPr lang="ru-RU" sz="2800" dirty="0"/>
              <a:t>есть вероятность того, что случайная точка </a:t>
            </a:r>
            <a:r>
              <a:rPr lang="ru-RU" sz="2800" i="1" dirty="0"/>
              <a:t>X </a:t>
            </a:r>
            <a:r>
              <a:rPr lang="ru-RU" sz="2800" dirty="0"/>
              <a:t>в результате опыта попадет левее точки </a:t>
            </a:r>
            <a:r>
              <a:rPr lang="ru-RU" sz="2800" i="1" dirty="0"/>
              <a:t>х.</a:t>
            </a:r>
          </a:p>
        </p:txBody>
      </p:sp>
      <p:sp>
        <p:nvSpPr>
          <p:cNvPr id="4100" name="Rectangle 5"/>
          <p:cNvSpPr>
            <a:spLocks noChangeArrowheads="1"/>
          </p:cNvSpPr>
          <p:nvPr/>
        </p:nvSpPr>
        <p:spPr bwMode="auto">
          <a:xfrm>
            <a:off x="1524001" y="289190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/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/>
        </p:nvGraphicFramePr>
        <p:xfrm>
          <a:off x="3429000" y="3505200"/>
          <a:ext cx="58674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5" name="Visio" r:id="rId3" imgW="3639149" imgH="1000647" progId="Visio.Drawing.11">
                  <p:embed/>
                </p:oleObj>
              </mc:Choice>
              <mc:Fallback>
                <p:oleObj name="Visio" r:id="rId3" imgW="3639149" imgH="1000647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505200"/>
                        <a:ext cx="5867400" cy="160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2084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sz="3600" b="1" dirty="0">
                <a:solidFill>
                  <a:srgbClr val="FFC000"/>
                </a:solidFill>
              </a:rPr>
              <a:t>Плотность распределения</a:t>
            </a:r>
            <a:r>
              <a:rPr lang="ru-RU" sz="3600" dirty="0">
                <a:solidFill>
                  <a:srgbClr val="FFC000"/>
                </a:solidFill>
              </a:rPr>
              <a:t> 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40429" y="2628901"/>
            <a:ext cx="8229600" cy="3924299"/>
          </a:xfrm>
        </p:spPr>
        <p:txBody>
          <a:bodyPr/>
          <a:lstStyle/>
          <a:p>
            <a:pPr marL="0" indent="365125" algn="just" eaLnBrk="1" hangingPunct="1">
              <a:lnSpc>
                <a:spcPct val="90000"/>
              </a:lnSpc>
              <a:buNone/>
              <a:defRPr/>
            </a:pPr>
            <a:r>
              <a:rPr lang="ru-RU" sz="2400" dirty="0"/>
              <a:t>Функция </a:t>
            </a:r>
            <a:r>
              <a:rPr lang="en-US" sz="2400" b="1" i="1" dirty="0"/>
              <a:t>f(x)</a:t>
            </a:r>
            <a:r>
              <a:rPr lang="ru-RU" sz="2400" b="1" i="1" dirty="0"/>
              <a:t> </a:t>
            </a:r>
            <a:r>
              <a:rPr lang="ru-RU" sz="2400" dirty="0"/>
              <a:t>– произвольная функция распределения                                                                          характеризует как бы плотность, с которой распределяются значения случайной величины в данной точке. Эта функция называется </a:t>
            </a:r>
            <a:r>
              <a:rPr lang="ru-RU" sz="2400" i="1" dirty="0">
                <a:solidFill>
                  <a:srgbClr val="FFC000"/>
                </a:solidFill>
              </a:rPr>
              <a:t>плотностью распределения </a:t>
            </a:r>
            <a:r>
              <a:rPr lang="ru-RU" sz="2400" dirty="0"/>
              <a:t>(иначе – «плотность вероятностей») непрерывной случайной величины.</a:t>
            </a:r>
          </a:p>
          <a:p>
            <a:pPr marL="0" indent="365125" algn="just" eaLnBrk="1" hangingPunct="1">
              <a:lnSpc>
                <a:spcPct val="90000"/>
              </a:lnSpc>
              <a:defRPr/>
            </a:pPr>
            <a:endParaRPr lang="ru-RU" sz="2400" dirty="0"/>
          </a:p>
          <a:p>
            <a:pPr marL="0" indent="365125" algn="just" eaLnBrk="1" hangingPunct="1">
              <a:lnSpc>
                <a:spcPct val="90000"/>
              </a:lnSpc>
              <a:buNone/>
              <a:defRPr/>
            </a:pPr>
            <a:r>
              <a:rPr lang="ru-RU" sz="2400" dirty="0"/>
              <a:t>Иногда функцию </a:t>
            </a:r>
            <a:r>
              <a:rPr lang="en-US" sz="2400" b="1" i="1" dirty="0"/>
              <a:t>f(x)</a:t>
            </a:r>
            <a:r>
              <a:rPr lang="ru-RU" sz="2400" b="1" i="1" dirty="0"/>
              <a:t> </a:t>
            </a:r>
            <a:r>
              <a:rPr lang="ru-RU" sz="2400" dirty="0"/>
              <a:t>называют также </a:t>
            </a:r>
            <a:r>
              <a:rPr lang="ru-RU" sz="2400" dirty="0">
                <a:solidFill>
                  <a:schemeClr val="folHlink"/>
                </a:solidFill>
              </a:rPr>
              <a:t>«дифференциальной функцией распределения»</a:t>
            </a:r>
            <a:r>
              <a:rPr lang="ru-RU" sz="2400" dirty="0"/>
              <a:t> или «дифференциальным законом распределения» величины </a:t>
            </a:r>
            <a:r>
              <a:rPr lang="ru-RU" sz="2400" i="1" dirty="0"/>
              <a:t>Х</a:t>
            </a:r>
            <a:r>
              <a:rPr lang="ru-RU" sz="2400" dirty="0"/>
              <a:t>. </a:t>
            </a:r>
          </a:p>
          <a:p>
            <a:pPr marL="0" indent="365125" algn="just" eaLnBrk="1" hangingPunct="1">
              <a:lnSpc>
                <a:spcPct val="90000"/>
              </a:lnSpc>
              <a:buNone/>
              <a:defRPr/>
            </a:pPr>
            <a:endParaRPr lang="ru-RU" sz="2400" dirty="0"/>
          </a:p>
          <a:p>
            <a:pPr marL="0" indent="365125" algn="just" eaLnBrk="1" hangingPunct="1">
              <a:lnSpc>
                <a:spcPct val="90000"/>
              </a:lnSpc>
              <a:defRPr/>
            </a:pPr>
            <a:endParaRPr lang="ru-RU" sz="2400" dirty="0"/>
          </a:p>
          <a:p>
            <a:pPr marL="0" indent="365125" algn="just" eaLnBrk="1" hangingPunct="1">
              <a:lnSpc>
                <a:spcPct val="90000"/>
              </a:lnSpc>
              <a:defRPr/>
            </a:pPr>
            <a:endParaRPr lang="ru-RU" sz="2400" i="1" dirty="0">
              <a:solidFill>
                <a:schemeClr val="folHlink"/>
              </a:solidFill>
            </a:endParaRPr>
          </a:p>
          <a:p>
            <a:pPr marL="0" indent="365125" eaLnBrk="1" hangingPunct="1">
              <a:lnSpc>
                <a:spcPct val="90000"/>
              </a:lnSpc>
              <a:defRPr/>
            </a:pPr>
            <a:endParaRPr lang="ru-RU" sz="2400" dirty="0"/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/>
          </a:p>
        </p:txBody>
      </p:sp>
      <p:graphicFrame>
        <p:nvGraphicFramePr>
          <p:cNvPr id="512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5250684"/>
              </p:ext>
            </p:extLst>
          </p:nvPr>
        </p:nvGraphicFramePr>
        <p:xfrm>
          <a:off x="5372100" y="2057400"/>
          <a:ext cx="14478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9" name="Формула" r:id="rId3" imgW="850900" imgH="228600" progId="Equation.3">
                  <p:embed/>
                </p:oleObj>
              </mc:Choice>
              <mc:Fallback>
                <p:oleObj name="Формула" r:id="rId3" imgW="8509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2100" y="2057400"/>
                        <a:ext cx="14478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19223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5"/>
          <p:cNvSpPr>
            <a:spLocks noChangeArrowheads="1"/>
          </p:cNvSpPr>
          <p:nvPr/>
        </p:nvSpPr>
        <p:spPr bwMode="auto">
          <a:xfrm>
            <a:off x="1524001" y="23299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/>
          </a:p>
        </p:txBody>
      </p:sp>
      <p:graphicFrame>
        <p:nvGraphicFramePr>
          <p:cNvPr id="614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6749003"/>
              </p:ext>
            </p:extLst>
          </p:nvPr>
        </p:nvGraphicFramePr>
        <p:xfrm>
          <a:off x="2351314" y="2177143"/>
          <a:ext cx="7772400" cy="481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3" name="Visio" r:id="rId3" imgW="3526274" imgH="2203952" progId="Visio.Drawing.11">
                  <p:embed/>
                </p:oleObj>
              </mc:Choice>
              <mc:Fallback>
                <p:oleObj name="Visio" r:id="rId3" imgW="3526274" imgH="220395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314" y="2177143"/>
                        <a:ext cx="7772400" cy="4814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6" name="Rectangle 6"/>
          <p:cNvSpPr>
            <a:spLocks noChangeArrowheads="1"/>
          </p:cNvSpPr>
          <p:nvPr/>
        </p:nvSpPr>
        <p:spPr bwMode="auto">
          <a:xfrm>
            <a:off x="1817914" y="620486"/>
            <a:ext cx="845820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Кривая, изображающая плотность распределения случайной величины, называется </a:t>
            </a:r>
            <a:r>
              <a:rPr lang="ru-RU" sz="280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кривой распределения.</a:t>
            </a:r>
            <a:r>
              <a:rPr lang="ru-RU" sz="2800" i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/>
            </a:r>
            <a:br>
              <a:rPr lang="ru-RU" sz="2800" i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endParaRPr lang="ru-RU" sz="2800" i="1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1592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578428"/>
            <a:ext cx="8229600" cy="4533900"/>
          </a:xfrm>
        </p:spPr>
        <p:txBody>
          <a:bodyPr/>
          <a:lstStyle/>
          <a:p>
            <a:pPr marL="0" indent="365125" algn="just" eaLnBrk="1" hangingPunct="1">
              <a:spcBef>
                <a:spcPct val="0"/>
              </a:spcBef>
              <a:buNone/>
              <a:defRPr/>
            </a:pPr>
            <a:r>
              <a:rPr lang="ru-RU" dirty="0">
                <a:effectLst/>
              </a:rPr>
              <a:t>Плотность распределения,  так же  как  и функция  распределения,  есть одна  из  форм  закона  распределения. </a:t>
            </a:r>
          </a:p>
          <a:p>
            <a:pPr marL="0" indent="365125" algn="just" eaLnBrk="1" hangingPunct="1">
              <a:spcBef>
                <a:spcPct val="0"/>
              </a:spcBef>
              <a:buNone/>
              <a:defRPr/>
            </a:pPr>
            <a:endParaRPr lang="ru-RU" dirty="0">
              <a:effectLst/>
            </a:endParaRPr>
          </a:p>
          <a:p>
            <a:pPr marL="0" indent="365125" algn="just" eaLnBrk="1" hangingPunct="1">
              <a:spcBef>
                <a:spcPct val="0"/>
              </a:spcBef>
              <a:buNone/>
              <a:defRPr/>
            </a:pPr>
            <a:r>
              <a:rPr lang="ru-RU" dirty="0">
                <a:effectLst/>
              </a:rPr>
              <a:t> В противоположность функции распределения эта форма не является универсальной: она существует только для непрерывных случайных величин. </a:t>
            </a:r>
          </a:p>
          <a:p>
            <a:pPr marL="0" indent="365125" algn="just" eaLnBrk="1" hangingPunct="1">
              <a:buNone/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9512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0058" y="1110343"/>
            <a:ext cx="8229600" cy="5301343"/>
          </a:xfrm>
        </p:spPr>
        <p:txBody>
          <a:bodyPr/>
          <a:lstStyle/>
          <a:p>
            <a:pPr marL="0" indent="365125" algn="just" eaLnBrk="1" hangingPunct="1">
              <a:buNone/>
              <a:defRPr/>
            </a:pPr>
            <a:r>
              <a:rPr lang="ru-RU" sz="2800" dirty="0"/>
              <a:t>Рассмотрим непрерывную случайную величину </a:t>
            </a:r>
            <a:r>
              <a:rPr lang="ru-RU" sz="2800" i="1" dirty="0"/>
              <a:t>X </a:t>
            </a:r>
            <a:r>
              <a:rPr lang="ru-RU" sz="2800" dirty="0"/>
              <a:t>с плотностью распределения </a:t>
            </a:r>
            <a:r>
              <a:rPr lang="en-US" sz="2800" i="1" dirty="0"/>
              <a:t>f</a:t>
            </a:r>
            <a:r>
              <a:rPr lang="ru-RU" sz="2800" i="1" dirty="0"/>
              <a:t>(х) </a:t>
            </a:r>
            <a:r>
              <a:rPr lang="ru-RU" sz="2800" dirty="0"/>
              <a:t>и элементарный участок </a:t>
            </a:r>
            <a:r>
              <a:rPr lang="en-US" sz="2800" i="1" dirty="0"/>
              <a:t>d</a:t>
            </a:r>
            <a:r>
              <a:rPr lang="ru-RU" sz="2800" i="1" dirty="0"/>
              <a:t>х, </a:t>
            </a:r>
            <a:r>
              <a:rPr lang="ru-RU" sz="2800" dirty="0"/>
              <a:t>примыкающий к точке </a:t>
            </a:r>
            <a:r>
              <a:rPr lang="ru-RU" sz="2800" i="1" dirty="0"/>
              <a:t>х</a:t>
            </a:r>
            <a:r>
              <a:rPr lang="ru-RU" sz="2800" dirty="0"/>
              <a:t>. Вероятность попадания случайной величины </a:t>
            </a:r>
            <a:r>
              <a:rPr lang="ru-RU" sz="2800" i="1" dirty="0"/>
              <a:t>X </a:t>
            </a:r>
            <a:r>
              <a:rPr lang="ru-RU" sz="2800" dirty="0"/>
              <a:t>на этот элементарный участок (с точностью до бесконечно малых высшего порядка) равна  </a:t>
            </a:r>
            <a:r>
              <a:rPr lang="en-US" sz="2800" i="1" dirty="0"/>
              <a:t>f</a:t>
            </a:r>
            <a:r>
              <a:rPr lang="ru-RU" sz="2800" i="1" dirty="0"/>
              <a:t>(х)</a:t>
            </a:r>
            <a:r>
              <a:rPr lang="en-US" sz="2800" i="1" dirty="0"/>
              <a:t>d</a:t>
            </a:r>
            <a:r>
              <a:rPr lang="ru-RU" sz="2800" i="1" dirty="0"/>
              <a:t>х.    </a:t>
            </a:r>
          </a:p>
          <a:p>
            <a:pPr marL="0" indent="365125" algn="just" eaLnBrk="1" hangingPunct="1">
              <a:buNone/>
              <a:defRPr/>
            </a:pPr>
            <a:endParaRPr lang="ru-RU" sz="2800" dirty="0"/>
          </a:p>
          <a:p>
            <a:pPr marL="0" indent="365125" algn="just" eaLnBrk="1" hangingPunct="1">
              <a:buNone/>
              <a:defRPr/>
            </a:pPr>
            <a:r>
              <a:rPr lang="ru-RU" sz="2800" dirty="0"/>
              <a:t>Величина   </a:t>
            </a:r>
            <a:r>
              <a:rPr lang="en-US" sz="2800" i="1" dirty="0"/>
              <a:t>f</a:t>
            </a:r>
            <a:r>
              <a:rPr lang="ru-RU" sz="2800" i="1" dirty="0"/>
              <a:t>(х)</a:t>
            </a:r>
            <a:r>
              <a:rPr lang="en-US" sz="2800" i="1" dirty="0"/>
              <a:t>d</a:t>
            </a:r>
            <a:r>
              <a:rPr lang="ru-RU" sz="2800" i="1" dirty="0"/>
              <a:t>х</a:t>
            </a:r>
            <a:r>
              <a:rPr lang="ru-RU" sz="2800" dirty="0"/>
              <a:t> называется  </a:t>
            </a:r>
            <a:r>
              <a:rPr lang="ru-RU" sz="2800" i="1" dirty="0">
                <a:solidFill>
                  <a:srgbClr val="FFC000"/>
                </a:solidFill>
              </a:rPr>
              <a:t>элементом   вероятности</a:t>
            </a:r>
            <a:r>
              <a:rPr lang="ru-RU" sz="2800" i="1" dirty="0">
                <a:solidFill>
                  <a:schemeClr val="folHlink"/>
                </a:solidFill>
              </a:rPr>
              <a:t>.</a:t>
            </a:r>
            <a:r>
              <a:rPr lang="ru-RU" sz="2800" i="1" dirty="0"/>
              <a:t>  </a:t>
            </a:r>
            <a:r>
              <a:rPr lang="ru-RU" sz="2800" dirty="0"/>
              <a:t>Геометрически это есть пло­щадь элементарного прямоугольника,  опирающегося  на  отрезок  </a:t>
            </a:r>
            <a:r>
              <a:rPr lang="en-US" sz="2800" i="1" dirty="0"/>
              <a:t>d</a:t>
            </a:r>
            <a:r>
              <a:rPr lang="ru-RU" sz="2800" i="1" dirty="0"/>
              <a:t>х</a:t>
            </a:r>
            <a:r>
              <a:rPr lang="ru-RU" sz="2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069565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5"/>
          <p:cNvSpPr>
            <a:spLocks noChangeArrowheads="1"/>
          </p:cNvSpPr>
          <p:nvPr/>
        </p:nvSpPr>
        <p:spPr bwMode="auto">
          <a:xfrm>
            <a:off x="1524001" y="24013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/>
          </a:p>
        </p:txBody>
      </p:sp>
      <p:graphicFrame>
        <p:nvGraphicFramePr>
          <p:cNvPr id="7170" name="Object 4"/>
          <p:cNvGraphicFramePr>
            <a:graphicFrameLocks noChangeAspect="1"/>
          </p:cNvGraphicFramePr>
          <p:nvPr/>
        </p:nvGraphicFramePr>
        <p:xfrm>
          <a:off x="2286000" y="685800"/>
          <a:ext cx="8077200" cy="501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8" name="Visio" r:id="rId3" imgW="3526274" imgH="2203952" progId="Visio.Drawing.11">
                  <p:embed/>
                </p:oleObj>
              </mc:Choice>
              <mc:Fallback>
                <p:oleObj name="Visio" r:id="rId3" imgW="3526274" imgH="220395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685800"/>
                        <a:ext cx="8077200" cy="5016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84343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865982"/>
            <a:ext cx="8229600" cy="4533900"/>
          </a:xfrm>
        </p:spPr>
        <p:txBody>
          <a:bodyPr/>
          <a:lstStyle/>
          <a:p>
            <a:pPr marL="0" indent="365125" algn="just" eaLnBrk="1" hangingPunct="1">
              <a:buNone/>
              <a:defRPr/>
            </a:pPr>
            <a:r>
              <a:rPr lang="ru-RU" sz="2400" dirty="0"/>
              <a:t>Выразим вероятность попадания величины </a:t>
            </a:r>
            <a:r>
              <a:rPr lang="ru-RU" sz="2400" i="1" dirty="0"/>
              <a:t>X </a:t>
            </a:r>
            <a:r>
              <a:rPr lang="ru-RU" sz="2400" dirty="0"/>
              <a:t>на отрезок от α до β через плотность распределения. Очевидно, она равна сумме элементов вероятности на всем этом участке, т. е. интегралу:</a:t>
            </a: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1524001" y="30014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/>
          </a:p>
        </p:txBody>
      </p:sp>
      <p:graphicFrame>
        <p:nvGraphicFramePr>
          <p:cNvPr id="8194" name="Object 4"/>
          <p:cNvGraphicFramePr>
            <a:graphicFrameLocks noChangeAspect="1"/>
          </p:cNvGraphicFramePr>
          <p:nvPr/>
        </p:nvGraphicFramePr>
        <p:xfrm>
          <a:off x="4648200" y="1981201"/>
          <a:ext cx="289560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0" name="Формула" r:id="rId3" imgW="1612900" imgH="482600" progId="Equation.3">
                  <p:embed/>
                </p:oleObj>
              </mc:Choice>
              <mc:Fallback>
                <p:oleObj name="Формула" r:id="rId3" imgW="16129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981201"/>
                        <a:ext cx="2895600" cy="873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Rectangle 7"/>
          <p:cNvSpPr>
            <a:spLocks noChangeArrowheads="1"/>
          </p:cNvSpPr>
          <p:nvPr/>
        </p:nvSpPr>
        <p:spPr bwMode="auto">
          <a:xfrm>
            <a:off x="1524001" y="2444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/>
          </a:p>
        </p:txBody>
      </p:sp>
      <p:graphicFrame>
        <p:nvGraphicFramePr>
          <p:cNvPr id="8195" name="Object 6"/>
          <p:cNvGraphicFramePr>
            <a:graphicFrameLocks noChangeAspect="1"/>
          </p:cNvGraphicFramePr>
          <p:nvPr/>
        </p:nvGraphicFramePr>
        <p:xfrm>
          <a:off x="3886200" y="3941764"/>
          <a:ext cx="4876800" cy="291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1" name="Visio" r:id="rId5" imgW="3608398" imgH="2172885" progId="Visio.Drawing.11">
                  <p:embed/>
                </p:oleObj>
              </mc:Choice>
              <mc:Fallback>
                <p:oleObj name="Visio" r:id="rId5" imgW="3608398" imgH="217288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941764"/>
                        <a:ext cx="4876800" cy="291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Rectangle 8"/>
          <p:cNvSpPr>
            <a:spLocks noChangeArrowheads="1"/>
          </p:cNvSpPr>
          <p:nvPr/>
        </p:nvSpPr>
        <p:spPr bwMode="auto">
          <a:xfrm>
            <a:off x="1752600" y="2889162"/>
            <a:ext cx="8686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Low" eaLnBrk="1" hangingPunct="1"/>
            <a:r>
              <a:rPr lang="ru-RU" sz="2400"/>
              <a:t>Геометрически вероятность попадания величины </a:t>
            </a:r>
            <a:r>
              <a:rPr lang="ru-RU" sz="2400" i="1"/>
              <a:t>X </a:t>
            </a:r>
            <a:r>
              <a:rPr lang="ru-RU" sz="2400"/>
              <a:t>на участок (α, β) равна площади кривой распределения, опирающейся на этот участок.</a:t>
            </a:r>
          </a:p>
        </p:txBody>
      </p:sp>
    </p:spTree>
    <p:extLst>
      <p:ext uri="{BB962C8B-B14F-4D97-AF65-F5344CB8AC3E}">
        <p14:creationId xmlns:p14="http://schemas.microsoft.com/office/powerpoint/2010/main" val="33451842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928688"/>
            <a:ext cx="8229600" cy="4533900"/>
          </a:xfrm>
        </p:spPr>
        <p:txBody>
          <a:bodyPr/>
          <a:lstStyle/>
          <a:p>
            <a:pPr marL="0" indent="0" algn="ctr" eaLnBrk="1" hangingPunct="1">
              <a:buNone/>
              <a:defRPr/>
            </a:pPr>
            <a:r>
              <a:rPr lang="ru-RU" sz="2800" b="1" dirty="0">
                <a:solidFill>
                  <a:srgbClr val="FFC000"/>
                </a:solidFill>
              </a:rPr>
              <a:t>Основные свойства плотности распределения</a:t>
            </a:r>
            <a:endParaRPr lang="ru-RU" sz="2800" b="1" dirty="0">
              <a:solidFill>
                <a:schemeClr val="folHlink"/>
              </a:solidFill>
            </a:endParaRPr>
          </a:p>
          <a:p>
            <a:pPr marL="0" indent="0" algn="just" eaLnBrk="1" hangingPunct="1">
              <a:buClr>
                <a:schemeClr val="folHlink"/>
              </a:buClr>
              <a:buFont typeface="Wingdings" panose="05000000000000000000" pitchFamily="2" charset="2"/>
              <a:buChar char="Ш"/>
              <a:defRPr/>
            </a:pPr>
            <a:r>
              <a:rPr lang="ru-RU" sz="2800" dirty="0"/>
              <a:t>  Плотность распределения есть неотрицательная функция:</a:t>
            </a:r>
          </a:p>
        </p:txBody>
      </p:sp>
      <p:graphicFrame>
        <p:nvGraphicFramePr>
          <p:cNvPr id="9218" name="Object 4"/>
          <p:cNvGraphicFramePr>
            <a:graphicFrameLocks noChangeAspect="1"/>
          </p:cNvGraphicFramePr>
          <p:nvPr/>
        </p:nvGraphicFramePr>
        <p:xfrm>
          <a:off x="5486400" y="2438401"/>
          <a:ext cx="13716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4" name="Формула" r:id="rId3" imgW="571252" imgH="203112" progId="Equation.3">
                  <p:embed/>
                </p:oleObj>
              </mc:Choice>
              <mc:Fallback>
                <p:oleObj name="Формула" r:id="rId3" imgW="571252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438401"/>
                        <a:ext cx="1371600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Rectangle 6"/>
          <p:cNvSpPr>
            <a:spLocks noChangeArrowheads="1"/>
          </p:cNvSpPr>
          <p:nvPr/>
        </p:nvSpPr>
        <p:spPr bwMode="auto">
          <a:xfrm>
            <a:off x="1905000" y="3122614"/>
            <a:ext cx="822960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Low" eaLnBrk="1" hangingPunct="1"/>
            <a:r>
              <a:rPr lang="ru-RU" sz="2800"/>
              <a:t>Это свойство непосредственно вытекает из того, что функция распределения </a:t>
            </a:r>
            <a:r>
              <a:rPr lang="en-US" sz="2800" i="1"/>
              <a:t>F</a:t>
            </a:r>
            <a:r>
              <a:rPr lang="ru-RU" sz="2800" i="1"/>
              <a:t>(</a:t>
            </a:r>
            <a:r>
              <a:rPr lang="en-US" sz="2800" i="1"/>
              <a:t>x</a:t>
            </a:r>
            <a:r>
              <a:rPr lang="ru-RU" sz="2800" i="1"/>
              <a:t>)</a:t>
            </a:r>
            <a:r>
              <a:rPr lang="ru-RU" sz="2800"/>
              <a:t> есть неубывающая функция.</a:t>
            </a:r>
          </a:p>
        </p:txBody>
      </p:sp>
      <p:sp>
        <p:nvSpPr>
          <p:cNvPr id="9222" name="Rectangle 7"/>
          <p:cNvSpPr>
            <a:spLocks noChangeArrowheads="1"/>
          </p:cNvSpPr>
          <p:nvPr/>
        </p:nvSpPr>
        <p:spPr bwMode="auto">
          <a:xfrm>
            <a:off x="1905000" y="4572000"/>
            <a:ext cx="85931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Low" eaLnBrk="1" hangingPunct="1">
              <a:buClr>
                <a:schemeClr val="folHlink"/>
              </a:buClr>
              <a:buFont typeface="Wingdings" panose="05000000000000000000" pitchFamily="2" charset="2"/>
              <a:buChar char="Ш"/>
            </a:pPr>
            <a:r>
              <a:rPr lang="ru-RU" sz="2800"/>
              <a:t>Интеграл в бесконечных пределах от плотности распределения равен единице:</a:t>
            </a:r>
          </a:p>
        </p:txBody>
      </p:sp>
      <p:sp>
        <p:nvSpPr>
          <p:cNvPr id="9223" name="Rectangle 9"/>
          <p:cNvSpPr>
            <a:spLocks noChangeArrowheads="1"/>
          </p:cNvSpPr>
          <p:nvPr/>
        </p:nvSpPr>
        <p:spPr bwMode="auto">
          <a:xfrm>
            <a:off x="1524001" y="30109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/>
          </a:p>
        </p:txBody>
      </p:sp>
      <p:graphicFrame>
        <p:nvGraphicFramePr>
          <p:cNvPr id="9219" name="Object 8"/>
          <p:cNvGraphicFramePr>
            <a:graphicFrameLocks noChangeAspect="1"/>
          </p:cNvGraphicFramePr>
          <p:nvPr/>
        </p:nvGraphicFramePr>
        <p:xfrm>
          <a:off x="5638800" y="5791201"/>
          <a:ext cx="13716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5" name="Формула" r:id="rId5" imgW="812447" imgH="469696" progId="Equation.3">
                  <p:embed/>
                </p:oleObj>
              </mc:Choice>
              <mc:Fallback>
                <p:oleObj name="Формула" r:id="rId5" imgW="812447" imgH="46969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5791201"/>
                        <a:ext cx="1371600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28981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 idx="4294967295"/>
          </p:nvPr>
        </p:nvSpPr>
        <p:spPr>
          <a:xfrm>
            <a:off x="2057400" y="627072"/>
            <a:ext cx="7851648" cy="973128"/>
          </a:xfrm>
        </p:spPr>
        <p:txBody>
          <a:bodyPr vert="horz" wrap="square" lIns="0" tIns="0" rIns="18288" bIns="0" numCol="1" anchor="b" anchorCtr="0" compatLnSpc="1">
            <a:prstTxWarp prst="textNoShape">
              <a:avLst/>
            </a:prstTxWarp>
            <a:normAutofit fontScale="90000"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600" b="1" kern="1200" dirty="0"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en-US" sz="5600" b="1" kern="1200" dirty="0"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en-US" sz="5600" b="1" kern="1200" dirty="0"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en-US" sz="5600" b="1" kern="1200" dirty="0"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en-US" sz="5600" b="1" kern="1200" dirty="0"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en-US" sz="5600" b="1" kern="1200" dirty="0"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en-US" sz="5600" b="1" kern="1200" dirty="0"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en-US" sz="5600" b="1" kern="1200" dirty="0"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en-US" sz="5600" b="1" kern="1200" dirty="0"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en-US" sz="5600" b="1" kern="1200" dirty="0"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en-US" sz="5600" b="1" kern="1200" dirty="0"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/>
            </a:r>
            <a:br>
              <a:rPr lang="en-US" sz="5600" b="1" kern="1200" dirty="0"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</a:br>
            <a:r>
              <a:rPr lang="ru-RU" sz="4000" b="1" kern="1200" dirty="0">
                <a:solidFill>
                  <a:srgbClr val="FFC000"/>
                </a:solidFill>
                <a:effectLst/>
              </a:rPr>
              <a:t>Математическое</a:t>
            </a:r>
            <a:r>
              <a:rPr lang="ru-RU" sz="4000" b="1" kern="1200" dirty="0">
                <a:solidFill>
                  <a:schemeClr val="accent3">
                    <a:tint val="90000"/>
                    <a:satMod val="120000"/>
                  </a:schemeClr>
                </a:solidFill>
                <a:effectLst/>
              </a:rPr>
              <a:t> </a:t>
            </a:r>
            <a:r>
              <a:rPr lang="ru-RU" sz="4000" b="1" kern="1200" dirty="0">
                <a:solidFill>
                  <a:srgbClr val="FFC000"/>
                </a:solidFill>
                <a:effectLst/>
              </a:rPr>
              <a:t>ожидание</a:t>
            </a:r>
          </a:p>
        </p:txBody>
      </p:sp>
      <p:sp>
        <p:nvSpPr>
          <p:cNvPr id="93187" name="Subtitle 1"/>
          <p:cNvSpPr>
            <a:spLocks noGrp="1"/>
          </p:cNvSpPr>
          <p:nvPr>
            <p:ph type="subTitle" idx="4294967295"/>
          </p:nvPr>
        </p:nvSpPr>
        <p:spPr>
          <a:xfrm>
            <a:off x="2095501" y="1577976"/>
            <a:ext cx="8215313" cy="4500563"/>
          </a:xfrm>
        </p:spPr>
        <p:txBody>
          <a:bodyPr vert="horz" wrap="square" lIns="0" tIns="46038" rIns="18288" bIns="46038" numCol="1" anchor="t" anchorCtr="0" compatLnSpc="1">
            <a:prstTxWarp prst="textNoShape">
              <a:avLst/>
            </a:prstTxWarp>
          </a:bodyPr>
          <a:lstStyle/>
          <a:p>
            <a:pPr marL="0" indent="0" algn="just" eaLnBrk="1" hangingPunct="1">
              <a:buNone/>
              <a:defRPr/>
            </a:pPr>
            <a:r>
              <a:rPr lang="ru-RU" sz="2600" b="1" i="1" dirty="0">
                <a:solidFill>
                  <a:srgbClr val="FFFF00"/>
                </a:solidFill>
              </a:rPr>
              <a:t>Математическим ожиданием </a:t>
            </a:r>
            <a:r>
              <a:rPr lang="ru-RU" sz="2600" dirty="0"/>
              <a:t>случайной величины называется сумма произведений всех возможных значений случайной величины на вероятности этих значений.</a:t>
            </a:r>
          </a:p>
          <a:p>
            <a:pPr marL="0" indent="0" eaLnBrk="1" hangingPunct="1">
              <a:buNone/>
              <a:defRPr/>
            </a:pPr>
            <a:endParaRPr lang="ru-RU" sz="2600" dirty="0"/>
          </a:p>
          <a:p>
            <a:pPr marL="0" indent="0" eaLnBrk="1" hangingPunct="1">
              <a:buNone/>
              <a:defRPr/>
            </a:pPr>
            <a:r>
              <a:rPr lang="ru-RU" sz="2600" dirty="0"/>
              <a:t>                                                                    , где</a:t>
            </a:r>
          </a:p>
          <a:p>
            <a:pPr marL="0" indent="0" eaLnBrk="1" hangingPunct="1">
              <a:buNone/>
              <a:defRPr/>
            </a:pPr>
            <a:endParaRPr lang="ru-RU" sz="2600" dirty="0"/>
          </a:p>
          <a:p>
            <a:pPr marL="0" indent="0" eaLnBrk="1" hangingPunct="1">
              <a:buNone/>
              <a:defRPr/>
            </a:pPr>
            <a:r>
              <a:rPr lang="ru-RU" sz="2600" i="1" dirty="0"/>
              <a:t>Х</a:t>
            </a:r>
            <a:r>
              <a:rPr lang="ru-RU" sz="2600" dirty="0"/>
              <a:t> – </a:t>
            </a:r>
            <a:r>
              <a:rPr lang="ru-RU" sz="2600" i="1" dirty="0"/>
              <a:t>прерывная случайная величина</a:t>
            </a:r>
            <a:r>
              <a:rPr lang="ru-RU" sz="2600" dirty="0"/>
              <a:t>,</a:t>
            </a:r>
          </a:p>
          <a:p>
            <a:pPr marL="0" indent="0" eaLnBrk="1" hangingPunct="1">
              <a:buNone/>
              <a:defRPr/>
            </a:pPr>
            <a:r>
              <a:rPr lang="ru-RU" sz="2600" i="1" dirty="0"/>
              <a:t>М</a:t>
            </a:r>
            <a:r>
              <a:rPr lang="en-US" sz="2600" i="1" dirty="0"/>
              <a:t>[X]</a:t>
            </a:r>
            <a:r>
              <a:rPr lang="ru-RU" sz="2600" i="1" dirty="0"/>
              <a:t> </a:t>
            </a:r>
            <a:r>
              <a:rPr lang="ru-RU" sz="2600" dirty="0"/>
              <a:t>– среднее значение случайной величины,</a:t>
            </a:r>
          </a:p>
          <a:p>
            <a:pPr marL="0" indent="0" eaLnBrk="1" hangingPunct="1">
              <a:buNone/>
              <a:defRPr/>
            </a:pPr>
            <a:r>
              <a:rPr lang="ru-RU" sz="2600" dirty="0"/>
              <a:t>                    </a:t>
            </a:r>
            <a:r>
              <a:rPr lang="en-US" sz="2600" dirty="0"/>
              <a:t>– </a:t>
            </a:r>
            <a:r>
              <a:rPr lang="ru-RU" sz="2600" dirty="0"/>
              <a:t>возможные значения величины Х,</a:t>
            </a:r>
            <a:endParaRPr lang="en-US" sz="2600" dirty="0"/>
          </a:p>
          <a:p>
            <a:pPr marL="0" indent="0" eaLnBrk="1" hangingPunct="1">
              <a:buNone/>
              <a:defRPr/>
            </a:pPr>
            <a:r>
              <a:rPr lang="ru-RU" sz="2600" dirty="0"/>
              <a:t>                     </a:t>
            </a:r>
            <a:r>
              <a:rPr lang="en-US" sz="2600" dirty="0"/>
              <a:t>– </a:t>
            </a:r>
            <a:r>
              <a:rPr lang="ru-RU" sz="2600" dirty="0"/>
              <a:t>вероятности значений.</a:t>
            </a:r>
          </a:p>
        </p:txBody>
      </p:sp>
      <p:graphicFrame>
        <p:nvGraphicFramePr>
          <p:cNvPr id="1024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2915444"/>
              </p:ext>
            </p:extLst>
          </p:nvPr>
        </p:nvGraphicFramePr>
        <p:xfrm>
          <a:off x="4252913" y="3505200"/>
          <a:ext cx="2795587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9" name="Уравнение" r:id="rId3" imgW="1054080" imgH="431640" progId="Equation.3">
                  <p:embed/>
                </p:oleObj>
              </mc:Choice>
              <mc:Fallback>
                <p:oleObj name="Уравнение" r:id="rId3" imgW="10540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2913" y="3505200"/>
                        <a:ext cx="2795587" cy="1143000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6065743"/>
              </p:ext>
            </p:extLst>
          </p:nvPr>
        </p:nvGraphicFramePr>
        <p:xfrm>
          <a:off x="2032567" y="5734969"/>
          <a:ext cx="1355907" cy="42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0" name="Уравнение" r:id="rId5" imgW="647640" imgH="228600" progId="Equation.3">
                  <p:embed/>
                </p:oleObj>
              </mc:Choice>
              <mc:Fallback>
                <p:oleObj name="Уравнение" r:id="rId5" imgW="6476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567" y="5734969"/>
                        <a:ext cx="1355907" cy="42521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0482792"/>
              </p:ext>
            </p:extLst>
          </p:nvPr>
        </p:nvGraphicFramePr>
        <p:xfrm>
          <a:off x="2032567" y="6241825"/>
          <a:ext cx="1305379" cy="358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1" name="Уравнение" r:id="rId7" imgW="761760" imgH="228600" progId="Equation.3">
                  <p:embed/>
                </p:oleObj>
              </mc:Choice>
              <mc:Fallback>
                <p:oleObj name="Уравнение" r:id="rId7" imgW="7617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567" y="6241825"/>
                        <a:ext cx="1305379" cy="358964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34308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905000" y="782325"/>
            <a:ext cx="8088510" cy="1441887"/>
          </a:xfr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ru-RU" sz="2600" b="1" kern="1200" dirty="0">
                <a:ln w="635"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Для непрерывной случайной величины Х математическое ожидание выражается уже не суммой, а интегралом: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1905000" y="2534332"/>
            <a:ext cx="8382000" cy="3419475"/>
          </a:xfrm>
        </p:spPr>
        <p:txBody>
          <a:bodyPr vert="horz" wrap="square" lIns="45720" tIns="46038" rIns="45720" bIns="46038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ru-RU" sz="2800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ru-RU" sz="2800" dirty="0"/>
              <a:t>                                                                    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ru-RU" sz="2800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ru-RU" sz="2800" dirty="0"/>
              <a:t>где  </a:t>
            </a:r>
            <a:r>
              <a:rPr lang="en-US" sz="2800" i="1" dirty="0"/>
              <a:t>f(x)</a:t>
            </a:r>
            <a:r>
              <a:rPr lang="ru-RU" sz="2800" i="1" dirty="0"/>
              <a:t> </a:t>
            </a:r>
            <a:r>
              <a:rPr lang="ru-RU" sz="2800" dirty="0"/>
              <a:t>– плотность распределения величины </a:t>
            </a:r>
            <a:r>
              <a:rPr lang="ru-RU" sz="2800" i="1" dirty="0"/>
              <a:t>Х.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ru-RU" sz="2800" i="1" dirty="0"/>
          </a:p>
          <a:p>
            <a:pPr marL="0" indent="0" algn="just" eaLnBrk="1" hangingPunct="1">
              <a:lnSpc>
                <a:spcPct val="110000"/>
              </a:lnSpc>
              <a:buNone/>
              <a:defRPr/>
            </a:pPr>
            <a:r>
              <a:rPr lang="ru-RU" sz="2800" dirty="0"/>
              <a:t>Из характеристик положения в теории вероятности важнейшую роль играет </a:t>
            </a:r>
            <a:r>
              <a:rPr lang="ru-RU" sz="2800" i="1" dirty="0"/>
              <a:t>математическое ожидание </a:t>
            </a:r>
            <a:r>
              <a:rPr lang="ru-RU" sz="2800" dirty="0"/>
              <a:t>случайной величины, которое иногда называют просто </a:t>
            </a:r>
            <a:r>
              <a:rPr lang="ru-RU" sz="2800" i="1" dirty="0"/>
              <a:t>средним значением </a:t>
            </a:r>
            <a:r>
              <a:rPr lang="ru-RU" sz="2800" dirty="0"/>
              <a:t>случайной величины.</a:t>
            </a:r>
          </a:p>
        </p:txBody>
      </p:sp>
      <p:graphicFrame>
        <p:nvGraphicFramePr>
          <p:cNvPr id="1126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266018"/>
              </p:ext>
            </p:extLst>
          </p:nvPr>
        </p:nvGraphicFramePr>
        <p:xfrm>
          <a:off x="4024314" y="2000250"/>
          <a:ext cx="3500437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5" name="Equation" r:id="rId3" imgW="901440" imgH="368280" progId="Equation.3">
                  <p:embed/>
                </p:oleObj>
              </mc:Choice>
              <mc:Fallback>
                <p:oleObj name="Equation" r:id="rId3" imgW="90144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4314" y="2000250"/>
                        <a:ext cx="3500437" cy="12573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9010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 idx="4294967295"/>
          </p:nvPr>
        </p:nvSpPr>
        <p:spPr>
          <a:xfrm>
            <a:off x="2063721" y="1066793"/>
            <a:ext cx="6873450" cy="555178"/>
          </a:xfrm>
        </p:spPr>
        <p:txBody>
          <a:bodyPr vert="horz" wrap="square" lIns="0" tIns="0" rIns="18288" bIns="0" numCol="1" anchor="b" anchorCtr="0" compatLnSpc="1">
            <a:prstTxWarp prst="textNoShape">
              <a:avLst/>
            </a:prstTxWarp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 b="1" kern="1200" dirty="0" smtClean="0">
                <a:solidFill>
                  <a:srgbClr val="FFC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>Моменты</a:t>
            </a:r>
            <a:endParaRPr lang="ru-RU" sz="3600" b="1" kern="1200" dirty="0">
              <a:solidFill>
                <a:srgbClr val="FFC000"/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95235" name="Subtitle 1"/>
          <p:cNvSpPr>
            <a:spLocks noGrp="1"/>
          </p:cNvSpPr>
          <p:nvPr>
            <p:ph type="subTitle" idx="4294967295"/>
          </p:nvPr>
        </p:nvSpPr>
        <p:spPr>
          <a:xfrm>
            <a:off x="2063721" y="1981201"/>
            <a:ext cx="8305800" cy="3541713"/>
          </a:xfrm>
        </p:spPr>
        <p:txBody>
          <a:bodyPr vert="horz" wrap="square" lIns="0" tIns="46038" rIns="18288" bIns="46038" numCol="1" anchor="t" anchorCtr="0" compatLnSpc="1">
            <a:prstTxWarp prst="textNoShape">
              <a:avLst/>
            </a:prstTxWarp>
          </a:bodyPr>
          <a:lstStyle/>
          <a:p>
            <a:pPr marL="0" indent="365125" algn="just" eaLnBrk="1" hangingPunct="1">
              <a:buNone/>
              <a:defRPr/>
            </a:pPr>
            <a:r>
              <a:rPr lang="ru-RU" sz="2800" dirty="0"/>
              <a:t>Понятие </a:t>
            </a:r>
            <a:r>
              <a:rPr lang="ru-RU" sz="2800" i="1" dirty="0"/>
              <a:t>момента</a:t>
            </a:r>
            <a:r>
              <a:rPr lang="ru-RU" sz="2800" dirty="0"/>
              <a:t> широко применяется в механике для описания распределения масс.</a:t>
            </a:r>
          </a:p>
          <a:p>
            <a:pPr marL="0" indent="365125" algn="just" eaLnBrk="1" hangingPunct="1">
              <a:buNone/>
              <a:defRPr/>
            </a:pPr>
            <a:endParaRPr lang="ru-RU" sz="2800" dirty="0"/>
          </a:p>
          <a:p>
            <a:pPr marL="0" indent="365125" algn="just" eaLnBrk="1" hangingPunct="1">
              <a:buNone/>
              <a:defRPr/>
            </a:pPr>
            <a:r>
              <a:rPr lang="ru-RU" sz="2800" dirty="0"/>
              <a:t>Совершенно теми же приемами пользуются в теории вероятностей для описания основных свойств распределения случайной величины. </a:t>
            </a:r>
          </a:p>
          <a:p>
            <a:pPr marL="0" indent="365125" algn="just" eaLnBrk="1" hangingPunct="1">
              <a:buNone/>
              <a:defRPr/>
            </a:pPr>
            <a:endParaRPr lang="ru-RU" sz="2800" dirty="0"/>
          </a:p>
          <a:p>
            <a:pPr marL="0" indent="365125" algn="just" eaLnBrk="1" hangingPunct="1">
              <a:buNone/>
              <a:defRPr/>
            </a:pPr>
            <a:r>
              <a:rPr lang="ru-RU" sz="2800" dirty="0"/>
              <a:t>Чаще всего применяются на практике моменты двух видов: </a:t>
            </a:r>
            <a:r>
              <a:rPr lang="ru-RU" sz="2800" i="1" dirty="0"/>
              <a:t>начальные</a:t>
            </a:r>
            <a:r>
              <a:rPr lang="ru-RU" sz="2800" dirty="0"/>
              <a:t> и </a:t>
            </a:r>
            <a:r>
              <a:rPr lang="ru-RU" sz="2800" i="1" dirty="0"/>
              <a:t>центральные</a:t>
            </a:r>
            <a:r>
              <a:rPr lang="ru-RU" sz="2800" dirty="0"/>
              <a:t>. </a:t>
            </a:r>
          </a:p>
          <a:p>
            <a:pPr marL="0" indent="365125" algn="just" eaLnBrk="1" hangingPunct="1">
              <a:buNone/>
              <a:defRPr/>
            </a:pPr>
            <a:r>
              <a:rPr lang="ru-RU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858037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 idx="4294967295"/>
          </p:nvPr>
        </p:nvSpPr>
        <p:spPr>
          <a:xfrm>
            <a:off x="1974367" y="764056"/>
            <a:ext cx="7851648" cy="561507"/>
          </a:xfrm>
        </p:spPr>
        <p:txBody>
          <a:bodyPr vert="horz" wrap="square" lIns="0" tIns="0" rIns="18288" bIns="0" numCol="1" anchor="b" anchorCtr="0" compatLnSpc="1">
            <a:prstTxWarp prst="textNoShape">
              <a:avLst/>
            </a:prstTxWarp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 b="1" kern="1200" dirty="0">
                <a:solidFill>
                  <a:srgbClr val="FFC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>Начальный момент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4294967295"/>
          </p:nvPr>
        </p:nvSpPr>
        <p:spPr>
          <a:xfrm>
            <a:off x="1771650" y="1325563"/>
            <a:ext cx="8572500" cy="5000625"/>
          </a:xfrm>
        </p:spPr>
        <p:txBody>
          <a:bodyPr vert="horz" wrap="square" lIns="0" tIns="46038" rIns="18288" bIns="46038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 algn="just" eaLnBrk="1" hangingPunct="1">
              <a:buNone/>
              <a:defRPr/>
            </a:pPr>
            <a:r>
              <a:rPr lang="ru-RU" i="1" dirty="0"/>
              <a:t>Начальным моментом </a:t>
            </a:r>
            <a:r>
              <a:rPr lang="en-US" i="1" dirty="0">
                <a:latin typeface="Calibri" pitchFamily="34" charset="0"/>
              </a:rPr>
              <a:t>s</a:t>
            </a:r>
            <a:r>
              <a:rPr lang="ru-RU" i="1" dirty="0"/>
              <a:t>-го порядка</a:t>
            </a:r>
            <a:r>
              <a:rPr lang="ru-RU" dirty="0"/>
              <a:t> прерывной случайной величины </a:t>
            </a:r>
            <a:r>
              <a:rPr lang="ru-RU" i="1" dirty="0"/>
              <a:t>Х </a:t>
            </a:r>
            <a:r>
              <a:rPr lang="ru-RU" dirty="0"/>
              <a:t>называется сумма вида:</a:t>
            </a:r>
          </a:p>
          <a:p>
            <a:pPr marL="0" indent="0" algn="just" eaLnBrk="1" hangingPunct="1">
              <a:buNone/>
              <a:defRPr/>
            </a:pPr>
            <a:r>
              <a:rPr lang="ru-RU" dirty="0"/>
              <a:t>                     </a:t>
            </a:r>
            <a:endParaRPr lang="en-US" dirty="0"/>
          </a:p>
          <a:p>
            <a:pPr marL="0" indent="0" algn="just" eaLnBrk="1" hangingPunct="1">
              <a:buNone/>
              <a:defRPr/>
            </a:pPr>
            <a:endParaRPr lang="ru-RU" dirty="0"/>
          </a:p>
          <a:p>
            <a:pPr marL="0" indent="0" algn="just" eaLnBrk="1" hangingPunct="1">
              <a:buNone/>
              <a:defRPr/>
            </a:pPr>
            <a:r>
              <a:rPr lang="ru-RU" dirty="0"/>
              <a:t>Для непрерывной случайной величины </a:t>
            </a:r>
            <a:r>
              <a:rPr lang="ru-RU" i="1" dirty="0"/>
              <a:t>Х</a:t>
            </a:r>
            <a:r>
              <a:rPr lang="ru-RU" dirty="0"/>
              <a:t> </a:t>
            </a:r>
            <a:r>
              <a:rPr lang="ru-RU" i="1" dirty="0"/>
              <a:t>начальным моментом </a:t>
            </a:r>
            <a:r>
              <a:rPr lang="en-US" i="1" dirty="0">
                <a:latin typeface="Calibri" pitchFamily="34" charset="0"/>
              </a:rPr>
              <a:t>s</a:t>
            </a:r>
            <a:r>
              <a:rPr lang="ru-RU" i="1" dirty="0"/>
              <a:t>-го порядка</a:t>
            </a:r>
            <a:r>
              <a:rPr lang="ru-RU" dirty="0"/>
              <a:t> называется интеграл:</a:t>
            </a:r>
          </a:p>
          <a:p>
            <a:pPr marL="0" indent="0" algn="just" eaLnBrk="1" hangingPunct="1">
              <a:buNone/>
              <a:defRPr/>
            </a:pPr>
            <a:r>
              <a:rPr lang="ru-RU" dirty="0"/>
              <a:t>                     </a:t>
            </a:r>
          </a:p>
        </p:txBody>
      </p:sp>
      <p:graphicFrame>
        <p:nvGraphicFramePr>
          <p:cNvPr id="12290" name="Object 4"/>
          <p:cNvGraphicFramePr>
            <a:graphicFrameLocks noChangeAspect="1"/>
          </p:cNvGraphicFramePr>
          <p:nvPr/>
        </p:nvGraphicFramePr>
        <p:xfrm>
          <a:off x="4572000" y="2590801"/>
          <a:ext cx="2971800" cy="1306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4" name="Equation" r:id="rId3" imgW="863280" imgH="431640" progId="Equation.3">
                  <p:embed/>
                </p:oleObj>
              </mc:Choice>
              <mc:Fallback>
                <p:oleObj name="Equation" r:id="rId3" imgW="8632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590801"/>
                        <a:ext cx="2971800" cy="1306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5"/>
          <p:cNvGraphicFramePr>
            <a:graphicFrameLocks noChangeAspect="1"/>
          </p:cNvGraphicFramePr>
          <p:nvPr/>
        </p:nvGraphicFramePr>
        <p:xfrm>
          <a:off x="4419600" y="5326064"/>
          <a:ext cx="3581400" cy="153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5" name="Equation" r:id="rId5" imgW="965160" imgH="469800" progId="Equation.3">
                  <p:embed/>
                </p:oleObj>
              </mc:Choice>
              <mc:Fallback>
                <p:oleObj name="Equation" r:id="rId5" imgW="9651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5326064"/>
                        <a:ext cx="3581400" cy="1531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59891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8" name="Rectangle 4"/>
          <p:cNvSpPr>
            <a:spLocks noChangeArrowheads="1"/>
          </p:cNvSpPr>
          <p:nvPr/>
        </p:nvSpPr>
        <p:spPr bwMode="auto">
          <a:xfrm>
            <a:off x="2100943" y="968829"/>
            <a:ext cx="8229600" cy="5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indent="365125" algn="just">
              <a:defRPr/>
            </a:pPr>
            <a:r>
              <a:rPr lang="ru-RU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Общее определение начального момента 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</a:t>
            </a:r>
            <a:r>
              <a:rPr lang="ru-RU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-го порядка справедливое как для прерывных, так и для непрерывных величин:</a:t>
            </a: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indent="365125" algn="just"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indent="365125" algn="just">
              <a:defRPr/>
            </a:pPr>
            <a:endParaRPr lang="ru-RU" sz="32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indent="365125" algn="just">
              <a:defRPr/>
            </a:pPr>
            <a:r>
              <a:rPr lang="ru-RU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                    </a:t>
            </a:r>
            <a:r>
              <a:rPr 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                            </a:t>
            </a:r>
            <a:r>
              <a:rPr lang="ru-RU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</a:t>
            </a:r>
          </a:p>
          <a:p>
            <a:pPr indent="365125" algn="just">
              <a:defRPr/>
            </a:pPr>
            <a:r>
              <a:rPr lang="ru-RU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т.е. </a:t>
            </a:r>
            <a:r>
              <a:rPr lang="ru-RU" sz="32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начальным моментом </a:t>
            </a:r>
            <a:r>
              <a:rPr 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</a:t>
            </a:r>
            <a:r>
              <a:rPr lang="ru-RU" sz="32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-го порядка случайной величины Х называется математическое ожидание </a:t>
            </a:r>
            <a:r>
              <a:rPr lang="en-US" sz="32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</a:t>
            </a:r>
            <a:r>
              <a:rPr lang="ru-RU" sz="32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-ой степени этой случайной величины.</a:t>
            </a:r>
          </a:p>
        </p:txBody>
      </p:sp>
      <p:graphicFrame>
        <p:nvGraphicFramePr>
          <p:cNvPr id="13314" name="Object 6"/>
          <p:cNvGraphicFramePr>
            <a:graphicFrameLocks noGrp="1" noChangeAspect="1"/>
          </p:cNvGraphicFramePr>
          <p:nvPr>
            <p:ph/>
          </p:nvPr>
        </p:nvGraphicFramePr>
        <p:xfrm>
          <a:off x="4191000" y="2971800"/>
          <a:ext cx="3556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1" name="Equation" r:id="rId3" imgW="711000" imgH="203040" progId="Equation.3">
                  <p:embed/>
                </p:oleObj>
              </mc:Choice>
              <mc:Fallback>
                <p:oleObj name="Equation" r:id="rId3" imgW="7110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971800"/>
                        <a:ext cx="35560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10258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 idx="4294967295"/>
          </p:nvPr>
        </p:nvSpPr>
        <p:spPr>
          <a:xfrm>
            <a:off x="2208276" y="265557"/>
            <a:ext cx="7851648" cy="985846"/>
          </a:xfrm>
        </p:spPr>
        <p:txBody>
          <a:bodyPr vert="horz" wrap="square" lIns="0" tIns="0" rIns="18288" bIns="0" numCol="1" anchor="b" anchorCtr="0" compatLnSpc="1">
            <a:prstTxWarp prst="textNoShape">
              <a:avLst/>
            </a:prstTxWarp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 b="1" kern="1200" dirty="0">
                <a:solidFill>
                  <a:srgbClr val="FFC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>Центральный момент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4294967295"/>
          </p:nvPr>
        </p:nvSpPr>
        <p:spPr>
          <a:xfrm>
            <a:off x="2438400" y="1251403"/>
            <a:ext cx="7391400" cy="4406900"/>
          </a:xfrm>
        </p:spPr>
        <p:txBody>
          <a:bodyPr vert="horz" wrap="square" lIns="0" tIns="46038" rIns="18288" bIns="46038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 algn="just" eaLnBrk="1" hangingPunct="1">
              <a:buNone/>
              <a:defRPr/>
            </a:pPr>
            <a:r>
              <a:rPr lang="ru-RU" sz="2800" i="1" dirty="0">
                <a:latin typeface="Times New Roman" pitchFamily="18" charset="0"/>
                <a:cs typeface="Times New Roman" pitchFamily="18" charset="0"/>
              </a:rPr>
              <a:t>Центральным моментом порядка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28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случайной величины Х называется математическое ожидание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-ой степени соответствующей центрированной случайной величине:</a:t>
            </a:r>
          </a:p>
          <a:p>
            <a:pPr marL="0" indent="0" algn="just" eaLnBrk="1" hangingPunct="1">
              <a:buNone/>
              <a:defRPr/>
            </a:pPr>
            <a:endParaRPr lang="ru-RU" sz="2800" i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 eaLnBrk="1" hangingPunct="1">
              <a:buNone/>
              <a:defRPr/>
            </a:pPr>
            <a:endParaRPr lang="en-US" sz="2800" i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 eaLnBrk="1" hangingPunct="1">
              <a:buNone/>
              <a:defRPr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Для любой случайной величины центральный момент </a:t>
            </a:r>
            <a:r>
              <a:rPr lang="ru-RU" sz="2800" i="1" dirty="0">
                <a:latin typeface="Times New Roman" pitchFamily="18" charset="0"/>
                <a:cs typeface="Times New Roman" pitchFamily="18" charset="0"/>
              </a:rPr>
              <a:t>первого порядка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равен нулю:</a:t>
            </a:r>
          </a:p>
          <a:p>
            <a:pPr marL="0" indent="0" algn="just" eaLnBrk="1" hangingPunct="1">
              <a:buNone/>
              <a:defRPr/>
            </a:pPr>
            <a:endParaRPr lang="ru-RU" sz="2800" i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 eaLnBrk="1" hangingPunct="1">
              <a:buNone/>
              <a:defRPr/>
            </a:pPr>
            <a:r>
              <a:rPr lang="ru-RU" sz="2800" i="1" dirty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</a:t>
            </a:r>
          </a:p>
          <a:p>
            <a:pPr marL="0" indent="0" algn="just" eaLnBrk="1" hangingPunct="1">
              <a:buNone/>
              <a:defRPr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т. к.</a:t>
            </a:r>
            <a:r>
              <a:rPr lang="ru-RU" sz="28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математическое ожидание центрированной случайной величины всегда равно нулю.</a:t>
            </a:r>
          </a:p>
          <a:p>
            <a:pPr marL="0" indent="0" algn="just" eaLnBrk="1" hangingPunct="1">
              <a:buNone/>
              <a:defRPr/>
            </a:pPr>
            <a:endParaRPr lang="en-US" sz="2800" dirty="0"/>
          </a:p>
          <a:p>
            <a:pPr marL="0" indent="0" algn="just" eaLnBrk="1" hangingPunct="1">
              <a:buNone/>
              <a:defRPr/>
            </a:pPr>
            <a:endParaRPr lang="ru-RU" sz="2800" dirty="0">
              <a:latin typeface="Calibri" pitchFamily="34" charset="0"/>
            </a:endParaRPr>
          </a:p>
        </p:txBody>
      </p:sp>
      <p:graphicFrame>
        <p:nvGraphicFramePr>
          <p:cNvPr id="14338" name="Object 1"/>
          <p:cNvGraphicFramePr>
            <a:graphicFrameLocks noChangeAspect="1"/>
          </p:cNvGraphicFramePr>
          <p:nvPr/>
        </p:nvGraphicFramePr>
        <p:xfrm>
          <a:off x="2743200" y="2703514"/>
          <a:ext cx="7029450" cy="1182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2" name="Equation" r:id="rId3" imgW="1396800" imgH="266400" progId="Equation.3">
                  <p:embed/>
                </p:oleObj>
              </mc:Choice>
              <mc:Fallback>
                <p:oleObj name="Equation" r:id="rId3" imgW="139680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703514"/>
                        <a:ext cx="7029450" cy="1182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2"/>
          <p:cNvGraphicFramePr>
            <a:graphicFrameLocks noChangeAspect="1"/>
          </p:cNvGraphicFramePr>
          <p:nvPr/>
        </p:nvGraphicFramePr>
        <p:xfrm>
          <a:off x="2438400" y="4762500"/>
          <a:ext cx="74676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3" name="Equation" r:id="rId5" imgW="1447560" imgH="266400" progId="Equation.3">
                  <p:embed/>
                </p:oleObj>
              </mc:Choice>
              <mc:Fallback>
                <p:oleObj name="Equation" r:id="rId5" imgW="144756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762500"/>
                        <a:ext cx="7467600" cy="1104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27537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 idx="4294967295"/>
          </p:nvPr>
        </p:nvSpPr>
        <p:spPr>
          <a:xfrm>
            <a:off x="2089213" y="713688"/>
            <a:ext cx="7851648" cy="842970"/>
          </a:xfrm>
          <a:ln/>
        </p:spPr>
        <p:txBody>
          <a:bodyPr vert="horz" wrap="square" lIns="0" tIns="0" rIns="18288" bIns="0" numCol="1" anchor="b" anchorCtr="0" compatLnSpc="1">
            <a:prstTxWarp prst="textNoShape">
              <a:avLst/>
            </a:prstTxWarp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 b="1" kern="1200" dirty="0">
                <a:solidFill>
                  <a:srgbClr val="FFC0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</a:rPr>
              <a:t>Дисперсия</a:t>
            </a:r>
          </a:p>
        </p:txBody>
      </p:sp>
      <p:sp>
        <p:nvSpPr>
          <p:cNvPr id="54275" name="Subtitle 1"/>
          <p:cNvSpPr>
            <a:spLocks noGrp="1"/>
          </p:cNvSpPr>
          <p:nvPr>
            <p:ph type="subTitle" idx="4294967295"/>
          </p:nvPr>
        </p:nvSpPr>
        <p:spPr>
          <a:xfrm>
            <a:off x="1871663" y="1556658"/>
            <a:ext cx="8286750" cy="5000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038" rIns="18288" bIns="46038" numCol="1" anchor="t" anchorCtr="0" compatLnSpc="1">
            <a:prstTxWarp prst="textNoShape">
              <a:avLst/>
            </a:prstTxWarp>
          </a:bodyPr>
          <a:lstStyle/>
          <a:p>
            <a:pPr marL="0" indent="0" algn="just">
              <a:buNone/>
            </a:pPr>
            <a:r>
              <a:rPr lang="ru-RU" sz="2800" dirty="0"/>
              <a:t>Из всех моментов в качестве характеристик случайной величины чаще всего применяются первый начальный момент (математическое ожидание) и второй центральный момент.</a:t>
            </a:r>
          </a:p>
          <a:p>
            <a:pPr marL="0" indent="0" algn="just">
              <a:buNone/>
            </a:pPr>
            <a:r>
              <a:rPr lang="ru-RU" sz="2800" dirty="0"/>
              <a:t>Второй центральный момент называется </a:t>
            </a:r>
            <a:r>
              <a:rPr lang="ru-RU" sz="2800" i="1" dirty="0"/>
              <a:t>дисперсией</a:t>
            </a:r>
            <a:r>
              <a:rPr lang="ru-RU" sz="2800" dirty="0"/>
              <a:t> случайной величины (</a:t>
            </a:r>
            <a:r>
              <a:rPr lang="en-US" sz="2800" b="1" i="1" dirty="0"/>
              <a:t>D[X]</a:t>
            </a:r>
            <a:r>
              <a:rPr lang="ru-RU" sz="2800" dirty="0"/>
              <a:t>)</a:t>
            </a:r>
            <a:r>
              <a:rPr lang="en-US" sz="2800" dirty="0"/>
              <a:t>.</a:t>
            </a:r>
          </a:p>
          <a:p>
            <a:pPr marL="0" indent="0" algn="just">
              <a:buNone/>
            </a:pPr>
            <a:endParaRPr lang="ru-RU" sz="2800" dirty="0"/>
          </a:p>
          <a:p>
            <a:pPr marL="0" indent="0" algn="just">
              <a:buNone/>
            </a:pPr>
            <a:r>
              <a:rPr lang="ru-RU" sz="2800" dirty="0"/>
              <a:t>Согласно определению центрального момента:</a:t>
            </a:r>
          </a:p>
          <a:p>
            <a:pPr marL="0" indent="0" algn="just">
              <a:buNone/>
            </a:pPr>
            <a:r>
              <a:rPr lang="ru-RU" sz="2800" i="1" dirty="0"/>
              <a:t>т.е. дисперсией случайной величины Х называется математическое ожидание квадрата соответствующей центрированной величины.</a:t>
            </a:r>
          </a:p>
        </p:txBody>
      </p:sp>
      <p:graphicFrame>
        <p:nvGraphicFramePr>
          <p:cNvPr id="54276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817268"/>
              </p:ext>
            </p:extLst>
          </p:nvPr>
        </p:nvGraphicFramePr>
        <p:xfrm>
          <a:off x="4800600" y="3853543"/>
          <a:ext cx="2428875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9" name="Equation" r:id="rId3" imgW="685800" imgH="291960" progId="Equation.3">
                  <p:embed/>
                </p:oleObj>
              </mc:Choice>
              <mc:Fallback>
                <p:oleObj name="Equation" r:id="rId3" imgW="68580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853543"/>
                        <a:ext cx="2428875" cy="979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44093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sz="3600" b="1" dirty="0" smtClean="0">
                <a:solidFill>
                  <a:srgbClr val="FFC000"/>
                </a:solidFill>
              </a:rPr>
              <a:t>Равномерный закон распределения</a:t>
            </a:r>
            <a:endParaRPr lang="ru-RU" sz="3600" b="1" dirty="0">
              <a:solidFill>
                <a:srgbClr val="FFC000"/>
              </a:solidFill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2650672"/>
            <a:ext cx="8229600" cy="3445329"/>
          </a:xfrm>
        </p:spPr>
        <p:txBody>
          <a:bodyPr/>
          <a:lstStyle/>
          <a:p>
            <a:pPr marL="0" indent="357188" eaLnBrk="1" hangingPunct="1">
              <a:buNone/>
              <a:defRPr/>
            </a:pPr>
            <a:r>
              <a:rPr lang="ru-RU" sz="3600" dirty="0"/>
              <a:t>Случайная величина имеет равномерный закон распределения если ее значения в интервале                         одинаково равновероятны.</a:t>
            </a:r>
          </a:p>
        </p:txBody>
      </p:sp>
      <p:graphicFrame>
        <p:nvGraphicFramePr>
          <p:cNvPr id="1536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7193888"/>
              </p:ext>
            </p:extLst>
          </p:nvPr>
        </p:nvGraphicFramePr>
        <p:xfrm>
          <a:off x="7043057" y="3728357"/>
          <a:ext cx="99060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3" name="Equation" r:id="rId3" imgW="253800" imgH="203040" progId="Equation.DSMT4">
                  <p:embed/>
                </p:oleObj>
              </mc:Choice>
              <mc:Fallback>
                <p:oleObj name="Equation" r:id="rId3" imgW="253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3057" y="3728357"/>
                        <a:ext cx="990600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50841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1338943" y="1201535"/>
            <a:ext cx="9525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ru-RU" sz="3600" dirty="0">
                <a:solidFill>
                  <a:srgbClr val="FFCC66"/>
                </a:solidFill>
              </a:rPr>
              <a:t>Равномерный закон распределения характеризуется плотностью вероятности вида:</a:t>
            </a:r>
          </a:p>
        </p:txBody>
      </p:sp>
      <p:graphicFrame>
        <p:nvGraphicFramePr>
          <p:cNvPr id="16386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4810126" y="2886076"/>
          <a:ext cx="5857875" cy="366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4" name="Visio" r:id="rId3" imgW="3982320" imgH="2494440" progId="Visio.Drawing.11">
                  <p:embed/>
                </p:oleObj>
              </mc:Choice>
              <mc:Fallback>
                <p:oleObj name="Visio" r:id="rId3" imgW="3982320" imgH="249444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126" y="2886076"/>
                        <a:ext cx="5857875" cy="366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3" name="Rectangle 9"/>
          <p:cNvSpPr>
            <a:spLocks noChangeArrowheads="1"/>
          </p:cNvSpPr>
          <p:nvPr/>
        </p:nvSpPr>
        <p:spPr bwMode="auto">
          <a:xfrm>
            <a:off x="1524001" y="29919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639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4472179"/>
              </p:ext>
            </p:extLst>
          </p:nvPr>
        </p:nvGraphicFramePr>
        <p:xfrm>
          <a:off x="1447800" y="2332830"/>
          <a:ext cx="4648200" cy="185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5" name="Формула" r:id="rId5" imgW="1231560" imgH="507960" progId="Equation.3">
                  <p:embed/>
                </p:oleObj>
              </mc:Choice>
              <mc:Fallback>
                <p:oleObj name="Формула" r:id="rId5" imgW="123156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332830"/>
                        <a:ext cx="4648200" cy="1858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45293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fld id="{1E4655A2-11EA-499A-BF02-069DF4E669B4}" type="slidenum">
              <a:rPr lang="ru-RU"/>
              <a:pPr/>
              <a:t>39</a:t>
            </a:fld>
            <a:endParaRPr lang="ru-RU"/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334036"/>
            <a:ext cx="10363200" cy="1143000"/>
          </a:xfrm>
        </p:spPr>
        <p:txBody>
          <a:bodyPr/>
          <a:lstStyle/>
          <a:p>
            <a:pPr eaLnBrk="1" hangingPunct="1">
              <a:defRPr/>
            </a:pPr>
            <a:r>
              <a:rPr lang="ru-RU" sz="3600" dirty="0">
                <a:solidFill>
                  <a:srgbClr val="FFCC66"/>
                </a:solidFill>
              </a:rPr>
              <a:t>Равномерный закон распределения характеризуется функцией распределения вида :</a:t>
            </a:r>
          </a:p>
        </p:txBody>
      </p:sp>
      <p:graphicFrame>
        <p:nvGraphicFramePr>
          <p:cNvPr id="17410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4800600" y="3048000"/>
          <a:ext cx="5638800" cy="352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8" name="Visio" r:id="rId3" imgW="3525958" imgH="2203784" progId="Visio.Drawing.11">
                  <p:embed/>
                </p:oleObj>
              </mc:Choice>
              <mc:Fallback>
                <p:oleObj name="Visio" r:id="rId3" imgW="3525958" imgH="220378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915"/>
                      <a:stretch>
                        <a:fillRect/>
                      </a:stretch>
                    </p:blipFill>
                    <p:spPr bwMode="auto">
                      <a:xfrm>
                        <a:off x="4800600" y="3048000"/>
                        <a:ext cx="5638800" cy="352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1524001" y="29919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17" name="Rectangle 9"/>
          <p:cNvSpPr>
            <a:spLocks noChangeArrowheads="1"/>
          </p:cNvSpPr>
          <p:nvPr/>
        </p:nvSpPr>
        <p:spPr bwMode="auto">
          <a:xfrm>
            <a:off x="1524001" y="2829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74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9373308"/>
              </p:ext>
            </p:extLst>
          </p:nvPr>
        </p:nvGraphicFramePr>
        <p:xfrm>
          <a:off x="1406816" y="2655371"/>
          <a:ext cx="3695700" cy="252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9" name="Формула" r:id="rId5" imgW="1206360" imgH="825480" progId="Equation.3">
                  <p:embed/>
                </p:oleObj>
              </mc:Choice>
              <mc:Fallback>
                <p:oleObj name="Формула" r:id="rId5" imgW="120636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6816" y="2655371"/>
                        <a:ext cx="3695700" cy="2528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91272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sz="3600" b="1" dirty="0" smtClean="0">
                <a:solidFill>
                  <a:srgbClr val="FFC000"/>
                </a:solidFill>
              </a:rPr>
              <a:t>Нормальный закон распределения</a:t>
            </a:r>
            <a:r>
              <a:rPr lang="ru-RU" sz="3600" dirty="0" smtClean="0">
                <a:solidFill>
                  <a:srgbClr val="FFC000"/>
                </a:solidFill>
              </a:rPr>
              <a:t> </a:t>
            </a:r>
            <a:endParaRPr lang="ru-RU" sz="3600" dirty="0">
              <a:solidFill>
                <a:srgbClr val="FFC000"/>
              </a:solidFill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363538" algn="just" eaLnBrk="1" hangingPunct="1">
              <a:lnSpc>
                <a:spcPct val="90000"/>
              </a:lnSpc>
              <a:buNone/>
              <a:defRPr/>
            </a:pPr>
            <a:r>
              <a:rPr lang="ru-RU" sz="2800" dirty="0"/>
              <a:t>Нормальный закон распределения (часто называемый законом Гаусса) играет исключительно важную роль в теории вероятностей и занимает среди других законов распределения особое положение. </a:t>
            </a:r>
            <a:endParaRPr lang="en-US" sz="2800" dirty="0"/>
          </a:p>
          <a:p>
            <a:pPr marL="0" indent="363538" algn="just" eaLnBrk="1" hangingPunct="1">
              <a:lnSpc>
                <a:spcPct val="90000"/>
              </a:lnSpc>
              <a:buNone/>
              <a:defRPr/>
            </a:pPr>
            <a:r>
              <a:rPr lang="ru-RU" sz="2800" dirty="0"/>
              <a:t>Это</a:t>
            </a:r>
            <a:r>
              <a:rPr lang="en-US" sz="2800" dirty="0"/>
              <a:t> – </a:t>
            </a:r>
            <a:r>
              <a:rPr lang="ru-RU" sz="2800" dirty="0"/>
              <a:t>наиболее часто встречающийся на практике закон распределения. Главная особенность, выделяющая нормальный закон среди других законов, состоит в том, что он является предельным законом, к которому приближаются другие законы распределения при весьма часто встречающихся типичных условиях.</a:t>
            </a:r>
          </a:p>
        </p:txBody>
      </p:sp>
    </p:spTree>
    <p:extLst>
      <p:ext uri="{BB962C8B-B14F-4D97-AF65-F5344CB8AC3E}">
        <p14:creationId xmlns:p14="http://schemas.microsoft.com/office/powerpoint/2010/main" val="25082389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0314" y="1122879"/>
            <a:ext cx="8229600" cy="4533900"/>
          </a:xfrm>
        </p:spPr>
        <p:txBody>
          <a:bodyPr/>
          <a:lstStyle/>
          <a:p>
            <a:pPr marL="0" indent="357188" algn="just" eaLnBrk="1" hangingPunct="1">
              <a:buNone/>
              <a:defRPr/>
            </a:pPr>
            <a:r>
              <a:rPr lang="ru-RU" dirty="0"/>
              <a:t>Кривая распределения, по нормальному закону имеет симметричный колоколообразный вид. Максимальная ордината кривой, равная </a:t>
            </a:r>
          </a:p>
          <a:p>
            <a:pPr marL="0" indent="357188" algn="just" eaLnBrk="1" hangingPunct="1">
              <a:buNone/>
              <a:defRPr/>
            </a:pPr>
            <a:r>
              <a:rPr lang="ru-RU" dirty="0"/>
              <a:t>                                                                     </a:t>
            </a:r>
          </a:p>
          <a:p>
            <a:pPr marL="0" indent="357188" algn="just" eaLnBrk="1" hangingPunct="1">
              <a:buNone/>
              <a:defRPr/>
            </a:pPr>
            <a:r>
              <a:rPr lang="ru-RU" dirty="0"/>
              <a:t>            </a:t>
            </a:r>
            <a:r>
              <a:rPr lang="ru-RU" dirty="0">
                <a:effectLst/>
              </a:rPr>
              <a:t>соответствует точ­ке </a:t>
            </a:r>
            <a:r>
              <a:rPr lang="ru-RU" i="1" dirty="0">
                <a:effectLst/>
              </a:rPr>
              <a:t>х = т; </a:t>
            </a:r>
            <a:r>
              <a:rPr lang="ru-RU" dirty="0">
                <a:effectLst/>
              </a:rPr>
              <a:t>по мере удаления от точки </a:t>
            </a:r>
            <a:r>
              <a:rPr lang="en-US" i="1" dirty="0">
                <a:effectLst/>
              </a:rPr>
              <a:t>m</a:t>
            </a:r>
            <a:r>
              <a:rPr lang="ru-RU" dirty="0">
                <a:effectLst/>
              </a:rPr>
              <a:t> плотность распределения падает, и при </a:t>
            </a:r>
            <a:r>
              <a:rPr lang="en-US" dirty="0">
                <a:effectLst/>
              </a:rPr>
              <a:t>x </a:t>
            </a:r>
            <a:r>
              <a:rPr lang="ru-RU" dirty="0">
                <a:effectLst/>
              </a:rPr>
              <a:t>→ ± ∞ кривая асимптотически приближается к оси абсцисс.</a:t>
            </a:r>
            <a:r>
              <a:rPr lang="ru-RU" dirty="0"/>
              <a:t>                                                         </a:t>
            </a:r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1524001" y="30204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/>
          </a:p>
        </p:txBody>
      </p:sp>
      <p:graphicFrame>
        <p:nvGraphicFramePr>
          <p:cNvPr id="1843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288885"/>
              </p:ext>
            </p:extLst>
          </p:nvPr>
        </p:nvGraphicFramePr>
        <p:xfrm>
          <a:off x="2264229" y="3389829"/>
          <a:ext cx="9906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5" name="Equation" r:id="rId3" imgW="469900" imgH="419100" progId="Equation.DSMT4">
                  <p:embed/>
                </p:oleObj>
              </mc:Choice>
              <mc:Fallback>
                <p:oleObj name="Equation" r:id="rId3" imgW="4699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4229" y="3389829"/>
                        <a:ext cx="990600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7379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2035629" y="1063544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ru-RU" sz="3600" dirty="0">
                <a:solidFill>
                  <a:srgbClr val="FFCC66"/>
                </a:solidFill>
              </a:rPr>
              <a:t>Нормальный закон распределения характеризуется плотностью вероятности вида:</a:t>
            </a: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1524001" y="29061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/>
          </a:p>
        </p:txBody>
      </p:sp>
      <p:graphicFrame>
        <p:nvGraphicFramePr>
          <p:cNvPr id="1945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2460107"/>
              </p:ext>
            </p:extLst>
          </p:nvPr>
        </p:nvGraphicFramePr>
        <p:xfrm>
          <a:off x="1447800" y="3167744"/>
          <a:ext cx="3810000" cy="1306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6" name="Equation" r:id="rId3" imgW="1409088" imgH="482391" progId="Equation.DSMT4">
                  <p:embed/>
                </p:oleObj>
              </mc:Choice>
              <mc:Fallback>
                <p:oleObj name="Equation" r:id="rId3" imgW="1409088" imgH="4823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167744"/>
                        <a:ext cx="3810000" cy="1306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Rectangle 7"/>
          <p:cNvSpPr>
            <a:spLocks noChangeArrowheads="1"/>
          </p:cNvSpPr>
          <p:nvPr/>
        </p:nvSpPr>
        <p:spPr bwMode="auto">
          <a:xfrm>
            <a:off x="1524001" y="24013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/>
          </a:p>
        </p:txBody>
      </p:sp>
      <p:graphicFrame>
        <p:nvGraphicFramePr>
          <p:cNvPr id="1945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865009"/>
              </p:ext>
            </p:extLst>
          </p:nvPr>
        </p:nvGraphicFramePr>
        <p:xfrm>
          <a:off x="4262439" y="2770704"/>
          <a:ext cx="6302375" cy="3549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7" name="Visio" r:id="rId5" imgW="3525958" imgH="2203784" progId="Visio.Drawing.11">
                  <p:embed/>
                </p:oleObj>
              </mc:Choice>
              <mc:Fallback>
                <p:oleObj name="Visio" r:id="rId5" imgW="3525958" imgH="220378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2439" y="2770704"/>
                        <a:ext cx="6302375" cy="35491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40020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704776" y="3565506"/>
            <a:ext cx="6580188" cy="1969770"/>
          </a:xfr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defRPr/>
            </a:pPr>
            <a:r>
              <a:rPr lang="ru-RU" sz="6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Математическая статистика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sz="quarter" idx="1"/>
          </p:nvPr>
        </p:nvSpPr>
        <p:spPr>
          <a:xfrm>
            <a:off x="2178275" y="1581538"/>
            <a:ext cx="8273921" cy="2038739"/>
          </a:xfrm>
          <a:noFill/>
          <a:ln>
            <a:noFill/>
          </a:ln>
        </p:spPr>
        <p:txBody>
          <a:bodyPr anchor="ctr">
            <a:prstTxWarp prst="textArchUp">
              <a:avLst/>
            </a:prstTxWarp>
            <a:norm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r>
              <a:rPr lang="ru-RU" sz="3600" b="1" dirty="0">
                <a:ln>
                  <a:solidFill>
                    <a:srgbClr val="FFFF00"/>
                  </a:solidFill>
                </a:ln>
                <a:solidFill>
                  <a:srgbClr val="7030A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Презентация дисциплины</a:t>
            </a:r>
          </a:p>
        </p:txBody>
      </p:sp>
    </p:spTree>
    <p:extLst>
      <p:ext uri="{BB962C8B-B14F-4D97-AF65-F5344CB8AC3E}">
        <p14:creationId xmlns:p14="http://schemas.microsoft.com/office/powerpoint/2010/main" val="4258321450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36914" y="1066800"/>
            <a:ext cx="8915400" cy="596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580" algn="just">
              <a:spcAft>
                <a:spcPts val="0"/>
              </a:spcAft>
            </a:pPr>
            <a:r>
              <a:rPr lang="ru-RU" sz="1900" dirty="0">
                <a:solidFill>
                  <a:srgbClr val="FFFFFF"/>
                </a:solidFill>
                <a:ea typeface="Times New Roman" panose="02020603050405020304" pitchFamily="18" charset="0"/>
              </a:rPr>
              <a:t>Математическая статистика как наука начинается с работ знаменитого немецкого математика Карла Фридриха Гаусса (1777-1855), который на основе теории вероятностей исследовал и обосновал метод наименьших квадратов, созданный им в 1795 г. и примененный для обработки астрономических данных (с целью уточнения орбиты малой планеты Церера). Его именем часто называют одно из наиболее популярных распределений вероятностей – нормальное, а в теории случайных процессов основной объект изучения – гауссовские процессы.</a:t>
            </a:r>
            <a:endParaRPr lang="ru-RU" sz="1900" dirty="0">
              <a:ea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r>
              <a:rPr lang="ru-RU" sz="1900" dirty="0">
                <a:solidFill>
                  <a:srgbClr val="FFFFFF"/>
                </a:solidFill>
                <a:ea typeface="Times New Roman" panose="02020603050405020304" pitchFamily="18" charset="0"/>
              </a:rPr>
              <a:t>В конце XIX в. – начале ХХ в. крупный вклад в математическую статистику внесли английские исследователи, прежде всего К</a:t>
            </a:r>
            <a:r>
              <a:rPr lang="ru-RU" sz="1900" dirty="0" smtClean="0">
                <a:solidFill>
                  <a:srgbClr val="FFFFFF"/>
                </a:solidFill>
                <a:ea typeface="Times New Roman" panose="02020603050405020304" pitchFamily="18" charset="0"/>
              </a:rPr>
              <a:t>.</a:t>
            </a:r>
            <a:r>
              <a:rPr lang="en-US" sz="1900" dirty="0" smtClean="0">
                <a:solidFill>
                  <a:srgbClr val="FFFFFF"/>
                </a:solidFill>
                <a:ea typeface="Times New Roman" panose="02020603050405020304" pitchFamily="18" charset="0"/>
              </a:rPr>
              <a:t> </a:t>
            </a:r>
            <a:r>
              <a:rPr lang="ru-RU" sz="1900" dirty="0" smtClean="0">
                <a:solidFill>
                  <a:srgbClr val="FFFFFF"/>
                </a:solidFill>
                <a:ea typeface="Times New Roman" panose="02020603050405020304" pitchFamily="18" charset="0"/>
              </a:rPr>
              <a:t>Пирсон </a:t>
            </a:r>
            <a:r>
              <a:rPr lang="ru-RU" sz="1900" dirty="0">
                <a:solidFill>
                  <a:srgbClr val="FFFFFF"/>
                </a:solidFill>
                <a:ea typeface="Times New Roman" panose="02020603050405020304" pitchFamily="18" charset="0"/>
              </a:rPr>
              <a:t>(1857-1936) и Р</a:t>
            </a:r>
            <a:r>
              <a:rPr lang="ru-RU" sz="1900" dirty="0" smtClean="0">
                <a:solidFill>
                  <a:srgbClr val="FFFFFF"/>
                </a:solidFill>
                <a:ea typeface="Times New Roman" panose="02020603050405020304" pitchFamily="18" charset="0"/>
              </a:rPr>
              <a:t>.</a:t>
            </a:r>
            <a:r>
              <a:rPr lang="en-US" sz="1900" dirty="0" smtClean="0">
                <a:solidFill>
                  <a:srgbClr val="FFFFFF"/>
                </a:solidFill>
                <a:ea typeface="Times New Roman" panose="02020603050405020304" pitchFamily="18" charset="0"/>
              </a:rPr>
              <a:t> </a:t>
            </a:r>
            <a:r>
              <a:rPr lang="ru-RU" sz="1900" dirty="0" smtClean="0">
                <a:solidFill>
                  <a:srgbClr val="FFFFFF"/>
                </a:solidFill>
                <a:ea typeface="Times New Roman" panose="02020603050405020304" pitchFamily="18" charset="0"/>
              </a:rPr>
              <a:t>А.</a:t>
            </a:r>
            <a:r>
              <a:rPr lang="en-US" sz="1900" dirty="0" smtClean="0">
                <a:solidFill>
                  <a:srgbClr val="FFFFFF"/>
                </a:solidFill>
                <a:ea typeface="Times New Roman" panose="02020603050405020304" pitchFamily="18" charset="0"/>
              </a:rPr>
              <a:t> </a:t>
            </a:r>
            <a:r>
              <a:rPr lang="ru-RU" sz="1900" dirty="0" smtClean="0">
                <a:solidFill>
                  <a:srgbClr val="FFFFFF"/>
                </a:solidFill>
                <a:ea typeface="Times New Roman" panose="02020603050405020304" pitchFamily="18" charset="0"/>
              </a:rPr>
              <a:t>Фишер </a:t>
            </a:r>
            <a:r>
              <a:rPr lang="ru-RU" sz="1900" dirty="0">
                <a:solidFill>
                  <a:srgbClr val="FFFFFF"/>
                </a:solidFill>
                <a:ea typeface="Times New Roman" panose="02020603050405020304" pitchFamily="18" charset="0"/>
              </a:rPr>
              <a:t>(1890-1962). В частности, Пирсон разработал критерий «хи-квадрат» проверки статистических гипотез, а Фишер – дисперсионный анализ, теорию планирования эксперимента, метод максимального правдоподобия оценки параметров.</a:t>
            </a:r>
            <a:endParaRPr lang="ru-RU" sz="1900" dirty="0">
              <a:ea typeface="Times New Roman" panose="02020603050405020304" pitchFamily="18" charset="0"/>
            </a:endParaRPr>
          </a:p>
          <a:p>
            <a:pPr indent="449580" algn="just">
              <a:spcAft>
                <a:spcPts val="0"/>
              </a:spcAft>
            </a:pPr>
            <a:r>
              <a:rPr lang="ru-RU" sz="1900" dirty="0">
                <a:solidFill>
                  <a:srgbClr val="FFFFFF"/>
                </a:solidFill>
                <a:ea typeface="Times New Roman" panose="02020603050405020304" pitchFamily="18" charset="0"/>
              </a:rPr>
              <a:t>В 30-е годы ХХ в. поляк Ежи Нейман (1894-1977) и англичанин Э</a:t>
            </a:r>
            <a:r>
              <a:rPr lang="ru-RU" sz="1900" dirty="0" smtClean="0">
                <a:solidFill>
                  <a:srgbClr val="FFFFFF"/>
                </a:solidFill>
                <a:ea typeface="Times New Roman" panose="02020603050405020304" pitchFamily="18" charset="0"/>
              </a:rPr>
              <a:t>.</a:t>
            </a:r>
            <a:r>
              <a:rPr lang="en-US" sz="1900" dirty="0" smtClean="0">
                <a:solidFill>
                  <a:srgbClr val="FFFFFF"/>
                </a:solidFill>
                <a:ea typeface="Times New Roman" panose="02020603050405020304" pitchFamily="18" charset="0"/>
              </a:rPr>
              <a:t> </a:t>
            </a:r>
            <a:r>
              <a:rPr lang="ru-RU" sz="1900" dirty="0" smtClean="0">
                <a:solidFill>
                  <a:srgbClr val="FFFFFF"/>
                </a:solidFill>
                <a:ea typeface="Times New Roman" panose="02020603050405020304" pitchFamily="18" charset="0"/>
              </a:rPr>
              <a:t>Пирсон </a:t>
            </a:r>
            <a:r>
              <a:rPr lang="ru-RU" sz="1900" dirty="0">
                <a:solidFill>
                  <a:srgbClr val="FFFFFF"/>
                </a:solidFill>
                <a:ea typeface="Times New Roman" panose="02020603050405020304" pitchFamily="18" charset="0"/>
              </a:rPr>
              <a:t>развили общую теорию проверки статистических гипотез, а советские математики академик А.Н. Колмогоров (1903-1987) и член-корреспондент АН СССР Н</a:t>
            </a:r>
            <a:r>
              <a:rPr lang="ru-RU" sz="1900" dirty="0" smtClean="0">
                <a:solidFill>
                  <a:srgbClr val="FFFFFF"/>
                </a:solidFill>
                <a:ea typeface="Times New Roman" panose="02020603050405020304" pitchFamily="18" charset="0"/>
              </a:rPr>
              <a:t>.</a:t>
            </a:r>
            <a:r>
              <a:rPr lang="en-US" sz="1900" dirty="0" smtClean="0">
                <a:solidFill>
                  <a:srgbClr val="FFFFFF"/>
                </a:solidFill>
                <a:ea typeface="Times New Roman" panose="02020603050405020304" pitchFamily="18" charset="0"/>
              </a:rPr>
              <a:t> </a:t>
            </a:r>
            <a:r>
              <a:rPr lang="ru-RU" sz="1900" dirty="0" smtClean="0">
                <a:solidFill>
                  <a:srgbClr val="FFFFFF"/>
                </a:solidFill>
                <a:ea typeface="Times New Roman" panose="02020603050405020304" pitchFamily="18" charset="0"/>
              </a:rPr>
              <a:t>В.</a:t>
            </a:r>
            <a:r>
              <a:rPr lang="en-US" sz="1900" dirty="0" smtClean="0">
                <a:solidFill>
                  <a:srgbClr val="FFFFFF"/>
                </a:solidFill>
                <a:ea typeface="Times New Roman" panose="02020603050405020304" pitchFamily="18" charset="0"/>
              </a:rPr>
              <a:t> </a:t>
            </a:r>
            <a:r>
              <a:rPr lang="ru-RU" sz="1900" dirty="0" smtClean="0">
                <a:solidFill>
                  <a:srgbClr val="FFFFFF"/>
                </a:solidFill>
                <a:ea typeface="Times New Roman" panose="02020603050405020304" pitchFamily="18" charset="0"/>
              </a:rPr>
              <a:t>Смирнов </a:t>
            </a:r>
            <a:r>
              <a:rPr lang="ru-RU" sz="1900" dirty="0">
                <a:solidFill>
                  <a:srgbClr val="FFFFFF"/>
                </a:solidFill>
                <a:ea typeface="Times New Roman" panose="02020603050405020304" pitchFamily="18" charset="0"/>
              </a:rPr>
              <a:t>(1900-1966) заложили основы непараметрической статистики. В сороковые годы ХХ в. румын А. Вальд (1902-1950) построил теорию последовательного статистического анализа.</a:t>
            </a:r>
            <a:endParaRPr lang="ru-RU" sz="1900" dirty="0"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900" dirty="0"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9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039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668917" y="1157194"/>
            <a:ext cx="8893175" cy="553998"/>
          </a:xfrm>
          <a:noFill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ru-RU" sz="3600" b="1" dirty="0"/>
              <a:t>Генеральная совокупность и выборка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1621065" y="2055133"/>
            <a:ext cx="8893175" cy="4431983"/>
          </a:xfrm>
          <a:noFill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ru-RU" sz="2400" i="1" dirty="0" smtClean="0"/>
              <a:t>Полный </a:t>
            </a:r>
            <a:r>
              <a:rPr lang="ru-RU" sz="2400" i="1" dirty="0"/>
              <a:t>набор всех возможных значений дискретной </a:t>
            </a:r>
            <a:r>
              <a:rPr lang="ru-RU" sz="2400" i="1" dirty="0" smtClean="0"/>
              <a:t>СВ называется </a:t>
            </a:r>
            <a:r>
              <a:rPr lang="ru-RU" sz="2400" b="1" dirty="0">
                <a:solidFill>
                  <a:srgbClr val="FFFF00"/>
                </a:solidFill>
              </a:rPr>
              <a:t>генеральной совокупностью</a:t>
            </a:r>
            <a:r>
              <a:rPr lang="ru-RU" sz="2400" b="1" u="sng" dirty="0"/>
              <a:t>.</a:t>
            </a:r>
            <a:r>
              <a:rPr lang="ru-RU" sz="2400" dirty="0"/>
              <a:t> </a:t>
            </a:r>
            <a:r>
              <a:rPr lang="en-US" sz="2400" dirty="0"/>
              <a:t>N</a:t>
            </a:r>
            <a:r>
              <a:rPr lang="ru-RU" sz="2400" dirty="0"/>
              <a:t> – объем совокупности.</a:t>
            </a:r>
          </a:p>
          <a:p>
            <a:pPr marL="0" indent="180975" algn="just" eaLnBrk="1" hangingPunct="1">
              <a:spcBef>
                <a:spcPct val="0"/>
              </a:spcBef>
              <a:buNone/>
            </a:pPr>
            <a:endParaRPr lang="ru-RU" sz="2400" dirty="0"/>
          </a:p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ru-RU" sz="2400" dirty="0"/>
              <a:t>Однако в реальности провести сплошное обследование нецелесообразно и невозможно. На практике ограничиваются выборкой.</a:t>
            </a:r>
          </a:p>
          <a:p>
            <a:pPr marL="0" indent="180975" algn="just" eaLnBrk="1" hangingPunct="1">
              <a:spcBef>
                <a:spcPct val="0"/>
              </a:spcBef>
              <a:buNone/>
            </a:pPr>
            <a:endParaRPr lang="en-US" sz="2400" dirty="0"/>
          </a:p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ru-RU" sz="2400" i="1" dirty="0" smtClean="0"/>
              <a:t>Часть </a:t>
            </a:r>
            <a:r>
              <a:rPr lang="ru-RU" sz="2400" i="1" dirty="0"/>
              <a:t>генеральной совокупности из </a:t>
            </a:r>
            <a:r>
              <a:rPr lang="en-US" sz="2400" b="1" i="1" dirty="0"/>
              <a:t>n</a:t>
            </a:r>
            <a:r>
              <a:rPr lang="ru-RU" sz="2400" i="1" dirty="0"/>
              <a:t> элементов, </a:t>
            </a:r>
            <a:r>
              <a:rPr lang="ru-RU" sz="2400" i="1" dirty="0" smtClean="0"/>
              <a:t>отобранных </a:t>
            </a:r>
            <a:r>
              <a:rPr lang="ru-RU" sz="2400" i="1" dirty="0"/>
              <a:t>случайным образом называется </a:t>
            </a:r>
            <a:r>
              <a:rPr lang="ru-RU" sz="2400" b="1" dirty="0">
                <a:solidFill>
                  <a:srgbClr val="FFFF00"/>
                </a:solidFill>
              </a:rPr>
              <a:t>выборкой.</a:t>
            </a:r>
            <a:r>
              <a:rPr lang="ru-RU" sz="2400" dirty="0">
                <a:solidFill>
                  <a:srgbClr val="FFFF00"/>
                </a:solidFill>
              </a:rPr>
              <a:t> </a:t>
            </a:r>
            <a:r>
              <a:rPr lang="en-US" sz="2400" dirty="0"/>
              <a:t>n </a:t>
            </a:r>
            <a:r>
              <a:rPr lang="en-US" sz="1800" b="1" dirty="0">
                <a:cs typeface="Times New Roman" panose="02020603050405020304" pitchFamily="18" charset="0"/>
              </a:rPr>
              <a:t>≤</a:t>
            </a:r>
            <a:r>
              <a:rPr lang="en-US" sz="2400" dirty="0">
                <a:cs typeface="Times New Roman" panose="02020603050405020304" pitchFamily="18" charset="0"/>
              </a:rPr>
              <a:t> N</a:t>
            </a:r>
          </a:p>
          <a:p>
            <a:pPr marL="0" indent="180975" algn="just" eaLnBrk="1" hangingPunct="1">
              <a:spcBef>
                <a:spcPct val="0"/>
              </a:spcBef>
              <a:buNone/>
            </a:pPr>
            <a:endParaRPr lang="ru-RU" sz="2400" dirty="0">
              <a:cs typeface="Times New Roman" panose="02020603050405020304" pitchFamily="18" charset="0"/>
            </a:endParaRPr>
          </a:p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ru-RU" sz="2400" dirty="0">
                <a:cs typeface="Times New Roman" panose="02020603050405020304" pitchFamily="18" charset="0"/>
              </a:rPr>
              <a:t>Выборка с объемом </a:t>
            </a:r>
            <a:r>
              <a:rPr lang="en-US" sz="2000" b="1" dirty="0">
                <a:cs typeface="Times New Roman" panose="02020603050405020304" pitchFamily="18" charset="0"/>
              </a:rPr>
              <a:t>&lt;</a:t>
            </a:r>
            <a:r>
              <a:rPr lang="ru-RU" sz="2400" dirty="0">
                <a:cs typeface="Times New Roman" panose="02020603050405020304" pitchFamily="18" charset="0"/>
              </a:rPr>
              <a:t> 30 называется </a:t>
            </a:r>
            <a:r>
              <a:rPr lang="ru-RU" sz="2400" i="1" dirty="0">
                <a:cs typeface="Times New Roman" panose="02020603050405020304" pitchFamily="18" charset="0"/>
              </a:rPr>
              <a:t>выборкой малого объема.</a:t>
            </a:r>
            <a:endParaRPr lang="en-US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865145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984399" y="956262"/>
            <a:ext cx="4402137" cy="553998"/>
          </a:xfrm>
          <a:noFill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ru-RU" sz="3600" b="1" dirty="0"/>
              <a:t>Способы отбора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idx="1"/>
          </p:nvPr>
        </p:nvSpPr>
        <p:spPr>
          <a:xfrm>
            <a:off x="1577522" y="1637167"/>
            <a:ext cx="8785225" cy="4985980"/>
          </a:xfr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268288" algn="just" eaLnBrk="1" hangingPunct="1">
              <a:lnSpc>
                <a:spcPct val="90000"/>
              </a:lnSpc>
              <a:spcBef>
                <a:spcPct val="0"/>
              </a:spcBef>
              <a:buSzTx/>
              <a:buFont typeface="Wingdings" panose="05000000000000000000" pitchFamily="2" charset="2"/>
              <a:buAutoNum type="arabicPeriod"/>
              <a:defRPr/>
            </a:pPr>
            <a:r>
              <a:rPr lang="ru-RU" sz="1800" dirty="0"/>
              <a:t>Отбор, не требующий расчленения:</a:t>
            </a:r>
          </a:p>
          <a:p>
            <a:pPr marL="0" indent="268288" algn="just" eaLnBrk="1" hangingPunct="1">
              <a:lnSpc>
                <a:spcPct val="90000"/>
              </a:lnSpc>
              <a:spcBef>
                <a:spcPct val="0"/>
              </a:spcBef>
              <a:buSzPct val="55000"/>
              <a:defRPr/>
            </a:pPr>
            <a:r>
              <a:rPr lang="ru-RU" sz="1800" i="1" dirty="0"/>
              <a:t>простой, бесповторный</a:t>
            </a:r>
          </a:p>
          <a:p>
            <a:pPr marL="0" indent="268288" algn="just" eaLnBrk="1" hangingPunct="1">
              <a:lnSpc>
                <a:spcPct val="90000"/>
              </a:lnSpc>
              <a:spcBef>
                <a:spcPct val="0"/>
              </a:spcBef>
              <a:buSzPct val="55000"/>
              <a:defRPr/>
            </a:pPr>
            <a:r>
              <a:rPr lang="ru-RU" sz="1800" i="1" dirty="0"/>
              <a:t>с повторениями</a:t>
            </a:r>
          </a:p>
          <a:p>
            <a:pPr marL="0" indent="268288" algn="just" eaLnBrk="1" hangingPunct="1">
              <a:lnSpc>
                <a:spcPct val="90000"/>
              </a:lnSpc>
              <a:spcBef>
                <a:spcPct val="0"/>
              </a:spcBef>
              <a:buSzTx/>
              <a:buFont typeface="Wingdings" panose="05000000000000000000" pitchFamily="2" charset="2"/>
              <a:buAutoNum type="arabicPeriod" startAt="2"/>
              <a:defRPr/>
            </a:pPr>
            <a:r>
              <a:rPr lang="ru-RU" sz="1800" dirty="0"/>
              <a:t>Отбор, при котором вся генеральная совокупность делится на части</a:t>
            </a:r>
          </a:p>
          <a:p>
            <a:pPr marL="0" indent="268288" algn="just" eaLnBrk="1" hangingPunct="1">
              <a:lnSpc>
                <a:spcPct val="90000"/>
              </a:lnSpc>
              <a:spcBef>
                <a:spcPct val="0"/>
              </a:spcBef>
              <a:buSzPct val="55000"/>
              <a:defRPr/>
            </a:pPr>
            <a:r>
              <a:rPr lang="ru-RU" sz="1800" i="1" dirty="0"/>
              <a:t>механический</a:t>
            </a:r>
          </a:p>
          <a:p>
            <a:pPr marL="0" indent="268288" algn="just" eaLnBrk="1" hangingPunct="1">
              <a:lnSpc>
                <a:spcPct val="90000"/>
              </a:lnSpc>
              <a:spcBef>
                <a:spcPct val="0"/>
              </a:spcBef>
              <a:buSzPct val="55000"/>
              <a:defRPr/>
            </a:pPr>
            <a:r>
              <a:rPr lang="ru-RU" sz="1800" i="1" dirty="0"/>
              <a:t>типический</a:t>
            </a:r>
          </a:p>
          <a:p>
            <a:pPr marL="0" indent="268288" algn="just" eaLnBrk="1" hangingPunct="1">
              <a:lnSpc>
                <a:spcPct val="90000"/>
              </a:lnSpc>
              <a:spcBef>
                <a:spcPct val="0"/>
              </a:spcBef>
              <a:buSzPct val="55000"/>
              <a:defRPr/>
            </a:pPr>
            <a:r>
              <a:rPr lang="ru-RU" sz="1800" i="1" dirty="0"/>
              <a:t>серийный</a:t>
            </a:r>
          </a:p>
          <a:p>
            <a:pPr marL="0" indent="268288" algn="just" eaLnBrk="1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ru-RU" sz="1800" i="1" dirty="0"/>
              <a:t>Простой – </a:t>
            </a:r>
            <a:r>
              <a:rPr lang="ru-RU" sz="1800" dirty="0"/>
              <a:t>отбор, при котором объекты извлекаются из совокупности по одному.</a:t>
            </a:r>
          </a:p>
          <a:p>
            <a:pPr marL="0" indent="268288" algn="just" eaLnBrk="1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ru-RU" sz="1800" i="1" dirty="0"/>
              <a:t>Механический – </a:t>
            </a:r>
            <a:r>
              <a:rPr lang="ru-RU" sz="1800" dirty="0"/>
              <a:t>генеральная совокупность «механически» делится на группы. Выборка производится с каждой из групп.</a:t>
            </a:r>
            <a:endParaRPr lang="ru-RU" sz="1800" b="1" i="1" dirty="0"/>
          </a:p>
          <a:p>
            <a:pPr marL="0" indent="268288" algn="just" eaLnBrk="1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ru-RU" sz="1800" i="1" dirty="0"/>
              <a:t>Типический – </a:t>
            </a:r>
            <a:r>
              <a:rPr lang="ru-RU" sz="1800" dirty="0"/>
              <a:t>объекты выбирают не из всей совокупности, а из каждой ее типической части.</a:t>
            </a:r>
          </a:p>
          <a:p>
            <a:pPr marL="0" indent="268288" algn="just" eaLnBrk="1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ru-RU" sz="1800" i="1" dirty="0"/>
              <a:t>Серийный – </a:t>
            </a:r>
            <a:r>
              <a:rPr lang="ru-RU" sz="1800" dirty="0"/>
              <a:t>объекты отбираются не по одному, а сериями, которую подвергают сплошному обследованию. </a:t>
            </a:r>
          </a:p>
          <a:p>
            <a:pPr marL="0" indent="268288" algn="just" eaLnBrk="1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ru-RU" sz="1800" dirty="0"/>
              <a:t>Для того, чтобы по данным выборки можно было судить об интересующем нас признаке генеральной совокупности, нужно чтобы выборка правильно представляла пропорции генеральной совокупности, т.е. выборка должна быть </a:t>
            </a:r>
            <a:r>
              <a:rPr lang="ru-RU" sz="1800" i="1" dirty="0"/>
              <a:t>репрезентативной (представительной).</a:t>
            </a:r>
            <a:r>
              <a:rPr lang="ru-RU" sz="1800" dirty="0"/>
              <a:t> В силу закона больших чисел можно утверждать, что выборка будет репрезентативной, если </a:t>
            </a:r>
            <a:r>
              <a:rPr lang="ru-RU" sz="1800" i="1" dirty="0"/>
              <a:t>каждый объект отобран случайно и если все объекты имеют одинаковую вероятность попасть в выборку.</a:t>
            </a:r>
          </a:p>
        </p:txBody>
      </p:sp>
    </p:spTree>
    <p:extLst>
      <p:ext uri="{BB962C8B-B14F-4D97-AF65-F5344CB8AC3E}">
        <p14:creationId xmlns:p14="http://schemas.microsoft.com/office/powerpoint/2010/main" val="13049922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9764" y="837205"/>
            <a:ext cx="8578850" cy="549275"/>
          </a:xfrm>
          <a:noFill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ru-RU" sz="3600" b="1" dirty="0"/>
              <a:t>Статистическое распределение выборки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31951" y="1721941"/>
            <a:ext cx="8856663" cy="4154984"/>
          </a:xfr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271463" algn="just" eaLnBrk="1" hangingPunct="1">
              <a:spcBef>
                <a:spcPct val="0"/>
              </a:spcBef>
              <a:buNone/>
              <a:defRPr/>
            </a:pPr>
            <a:r>
              <a:rPr lang="ru-RU" sz="1800" dirty="0"/>
              <a:t>Пусть из генеральной совокупности извлечена выборка, причем значение </a:t>
            </a:r>
            <a:r>
              <a:rPr lang="en-US" sz="1800" b="1" i="1" dirty="0"/>
              <a:t>x</a:t>
            </a:r>
            <a:r>
              <a:rPr lang="en-US" sz="1800" b="1" i="1" baseline="-25000" dirty="0"/>
              <a:t>1</a:t>
            </a:r>
            <a:r>
              <a:rPr lang="en-US" sz="1800" dirty="0"/>
              <a:t> </a:t>
            </a:r>
            <a:r>
              <a:rPr lang="ru-RU" sz="1800" dirty="0"/>
              <a:t>встречалось </a:t>
            </a:r>
            <a:r>
              <a:rPr lang="en-US" sz="1800" b="1" i="1" dirty="0"/>
              <a:t>n</a:t>
            </a:r>
            <a:r>
              <a:rPr lang="en-US" sz="1800" b="1" i="1" baseline="-25000" dirty="0"/>
              <a:t>1</a:t>
            </a:r>
            <a:r>
              <a:rPr lang="en-US" sz="1800" dirty="0"/>
              <a:t> </a:t>
            </a:r>
            <a:r>
              <a:rPr lang="ru-RU" sz="1800" dirty="0"/>
              <a:t>и т.д., </a:t>
            </a:r>
            <a:r>
              <a:rPr lang="en-US" sz="1800" b="1" i="1" dirty="0" err="1"/>
              <a:t>x</a:t>
            </a:r>
            <a:r>
              <a:rPr lang="en-US" sz="1800" b="1" i="1" baseline="-25000" dirty="0" err="1"/>
              <a:t>k</a:t>
            </a:r>
            <a:r>
              <a:rPr lang="en-US" sz="1800" b="1" i="1" baseline="-25000" dirty="0"/>
              <a:t> </a:t>
            </a:r>
            <a:r>
              <a:rPr lang="en-US" sz="1800" b="1" i="1" dirty="0"/>
              <a:t>– </a:t>
            </a:r>
            <a:r>
              <a:rPr lang="en-US" sz="1800" b="1" i="1" dirty="0" err="1"/>
              <a:t>n</a:t>
            </a:r>
            <a:r>
              <a:rPr lang="en-US" sz="1800" b="1" i="1" baseline="-25000" dirty="0" err="1"/>
              <a:t>k</a:t>
            </a:r>
            <a:r>
              <a:rPr lang="ru-RU" sz="1800" dirty="0"/>
              <a:t>. Наблюдаемые значения </a:t>
            </a:r>
            <a:r>
              <a:rPr lang="en-US" sz="1800" b="1" i="1" dirty="0"/>
              <a:t>x</a:t>
            </a:r>
            <a:r>
              <a:rPr lang="ru-RU" sz="1800" dirty="0"/>
              <a:t> называется </a:t>
            </a:r>
            <a:r>
              <a:rPr lang="ru-RU" sz="1800" i="1" dirty="0"/>
              <a:t>вариантами,</a:t>
            </a:r>
            <a:r>
              <a:rPr lang="en-US" sz="1800" dirty="0"/>
              <a:t> </a:t>
            </a:r>
            <a:r>
              <a:rPr lang="ru-RU" sz="1800" dirty="0"/>
              <a:t>а последовательность вариант, записанных в возрастающем порядке – </a:t>
            </a:r>
            <a:r>
              <a:rPr lang="ru-RU" sz="1800" i="1" dirty="0"/>
              <a:t>вариационным рядом. </a:t>
            </a:r>
            <a:r>
              <a:rPr lang="ru-RU" sz="1800" dirty="0"/>
              <a:t>Число наблюдений называется </a:t>
            </a:r>
            <a:r>
              <a:rPr lang="ru-RU" sz="1800" i="1" dirty="0"/>
              <a:t>частотами.</a:t>
            </a:r>
            <a:endParaRPr lang="ru-RU" sz="1800" dirty="0"/>
          </a:p>
          <a:p>
            <a:pPr marL="0" indent="271463" algn="just" eaLnBrk="1" hangingPunct="1">
              <a:spcBef>
                <a:spcPct val="0"/>
              </a:spcBef>
              <a:buNone/>
              <a:defRPr/>
            </a:pPr>
            <a:r>
              <a:rPr lang="ru-RU" sz="1800" b="1" dirty="0"/>
              <a:t> </a:t>
            </a:r>
            <a:r>
              <a:rPr lang="ru-RU" sz="1800" b="1" dirty="0">
                <a:solidFill>
                  <a:srgbClr val="FFFF00"/>
                </a:solidFill>
              </a:rPr>
              <a:t>Относительная частота наблюдений</a:t>
            </a:r>
            <a:r>
              <a:rPr lang="ru-RU" sz="1800" i="1" dirty="0">
                <a:solidFill>
                  <a:srgbClr val="FFFF00"/>
                </a:solidFill>
              </a:rPr>
              <a:t> </a:t>
            </a:r>
            <a:r>
              <a:rPr lang="ru-RU" sz="1800" i="1" dirty="0"/>
              <a:t>– отношение числа наблюдений к объему выборки. </a:t>
            </a:r>
            <a:r>
              <a:rPr lang="en-US" sz="1800" b="1" dirty="0"/>
              <a:t>W</a:t>
            </a:r>
            <a:r>
              <a:rPr lang="en-US" sz="1800" b="1" baseline="-25000" dirty="0"/>
              <a:t>i</a:t>
            </a:r>
            <a:r>
              <a:rPr lang="en-US" sz="1800" b="1" dirty="0"/>
              <a:t>=</a:t>
            </a:r>
            <a:r>
              <a:rPr lang="en-US" sz="1800" b="1" dirty="0" err="1"/>
              <a:t>n</a:t>
            </a:r>
            <a:r>
              <a:rPr lang="en-US" sz="1800" b="1" baseline="-25000" dirty="0" err="1"/>
              <a:t>i</a:t>
            </a:r>
            <a:r>
              <a:rPr lang="en-US" sz="1800" b="1" dirty="0"/>
              <a:t>/n</a:t>
            </a:r>
            <a:endParaRPr lang="en-US" sz="1800" dirty="0"/>
          </a:p>
          <a:p>
            <a:pPr marL="0" indent="271463" algn="just" eaLnBrk="1" hangingPunct="1">
              <a:spcBef>
                <a:spcPct val="0"/>
              </a:spcBef>
              <a:buNone/>
              <a:defRPr/>
            </a:pPr>
            <a:endParaRPr lang="en-US" sz="1800" i="1" dirty="0"/>
          </a:p>
          <a:p>
            <a:pPr marL="0" indent="271463" algn="just" eaLnBrk="1" hangingPunct="1">
              <a:spcBef>
                <a:spcPct val="0"/>
              </a:spcBef>
              <a:buNone/>
              <a:defRPr/>
            </a:pPr>
            <a:r>
              <a:rPr lang="ru-RU" sz="1800" b="1" dirty="0"/>
              <a:t> </a:t>
            </a:r>
            <a:r>
              <a:rPr lang="ru-RU" sz="1800" b="1" dirty="0">
                <a:solidFill>
                  <a:srgbClr val="FFFF00"/>
                </a:solidFill>
              </a:rPr>
              <a:t>Статистическим распределением</a:t>
            </a:r>
            <a:r>
              <a:rPr lang="ru-RU" sz="1800" dirty="0">
                <a:solidFill>
                  <a:srgbClr val="FFFF00"/>
                </a:solidFill>
              </a:rPr>
              <a:t> </a:t>
            </a:r>
            <a:r>
              <a:rPr lang="ru-RU" sz="1800" i="1" dirty="0"/>
              <a:t>называют перечень вариант и соответствующих им частот или относительных частот.</a:t>
            </a:r>
            <a:endParaRPr lang="ru-RU" sz="1800" dirty="0"/>
          </a:p>
          <a:p>
            <a:pPr marL="0" indent="271463" algn="just" eaLnBrk="1" hangingPunct="1">
              <a:spcBef>
                <a:spcPct val="0"/>
              </a:spcBef>
              <a:buNone/>
              <a:defRPr/>
            </a:pPr>
            <a:r>
              <a:rPr lang="ru-RU" sz="1800" dirty="0"/>
              <a:t>Для визуальной оценки выборочного распределения производится группировка данных. Для этого:</a:t>
            </a:r>
          </a:p>
          <a:p>
            <a:pPr marL="0" indent="271463" algn="just" eaLnBrk="1" hangingPunct="1">
              <a:spcBef>
                <a:spcPct val="0"/>
              </a:spcBef>
              <a:buSzPct val="55000"/>
              <a:defRPr/>
            </a:pPr>
            <a:r>
              <a:rPr lang="ru-RU" sz="1800" dirty="0"/>
              <a:t>располагают значения </a:t>
            </a:r>
            <a:r>
              <a:rPr lang="en-US" sz="1800" b="1" i="1" dirty="0"/>
              <a:t>x</a:t>
            </a:r>
            <a:r>
              <a:rPr lang="en-US" sz="1800" b="1" i="1" baseline="-25000" dirty="0"/>
              <a:t>i</a:t>
            </a:r>
            <a:r>
              <a:rPr lang="en-US" sz="1800" dirty="0"/>
              <a:t> </a:t>
            </a:r>
            <a:r>
              <a:rPr lang="ru-RU" sz="1800" dirty="0"/>
              <a:t>по возрастанию;</a:t>
            </a:r>
            <a:endParaRPr lang="en-US" sz="1800" dirty="0"/>
          </a:p>
          <a:p>
            <a:pPr marL="0" indent="271463" algn="just" eaLnBrk="1" hangingPunct="1">
              <a:spcBef>
                <a:spcPct val="0"/>
              </a:spcBef>
              <a:buSzPct val="55000"/>
              <a:defRPr/>
            </a:pPr>
            <a:r>
              <a:rPr lang="ru-RU" sz="1800" dirty="0"/>
              <a:t>весь интервал разбивают на </a:t>
            </a:r>
            <a:r>
              <a:rPr lang="en-US" sz="1800" b="1" i="1" dirty="0"/>
              <a:t>k</a:t>
            </a:r>
            <a:r>
              <a:rPr lang="ru-RU" sz="1800" dirty="0"/>
              <a:t> последовательных непересекающихся интервалов;</a:t>
            </a:r>
          </a:p>
          <a:p>
            <a:pPr marL="0" indent="271463" algn="just" eaLnBrk="1" hangingPunct="1">
              <a:spcBef>
                <a:spcPct val="0"/>
              </a:spcBef>
              <a:buSzPct val="55000"/>
              <a:defRPr/>
            </a:pPr>
            <a:r>
              <a:rPr lang="ru-RU" sz="1800" dirty="0"/>
              <a:t>подсчитывают числа </a:t>
            </a:r>
            <a:r>
              <a:rPr lang="en-US" sz="1800" b="1" i="1" dirty="0"/>
              <a:t>n</a:t>
            </a:r>
            <a:r>
              <a:rPr lang="en-US" sz="1800" b="1" i="1" baseline="-25000" dirty="0"/>
              <a:t>1</a:t>
            </a:r>
            <a:r>
              <a:rPr lang="en-US" sz="1800" dirty="0"/>
              <a:t> </a:t>
            </a:r>
            <a:r>
              <a:rPr lang="ru-RU" sz="1800" dirty="0"/>
              <a:t>– количество попавших значений </a:t>
            </a:r>
            <a:r>
              <a:rPr lang="en-US" sz="1800" b="1" i="1" dirty="0"/>
              <a:t>x</a:t>
            </a:r>
            <a:r>
              <a:rPr lang="en-US" sz="1800" b="1" i="1" baseline="-25000" dirty="0"/>
              <a:t>i</a:t>
            </a:r>
            <a:r>
              <a:rPr lang="en-US" sz="1800" dirty="0"/>
              <a:t> </a:t>
            </a:r>
            <a:r>
              <a:rPr lang="ru-RU" sz="1800" dirty="0"/>
              <a:t>в каждый интервал.</a:t>
            </a:r>
          </a:p>
          <a:p>
            <a:pPr marL="0" indent="271463" eaLnBrk="1" hangingPunct="1">
              <a:spcBef>
                <a:spcPct val="0"/>
              </a:spcBef>
              <a:buNone/>
              <a:defRPr/>
            </a:pPr>
            <a:r>
              <a:rPr lang="ru-RU" sz="1800" dirty="0"/>
              <a:t>Такая таблица называется </a:t>
            </a:r>
            <a:r>
              <a:rPr lang="ru-RU" sz="1800" b="1" i="1" dirty="0"/>
              <a:t>группированным статистическим рядом.</a:t>
            </a:r>
          </a:p>
        </p:txBody>
      </p:sp>
      <p:graphicFrame>
        <p:nvGraphicFramePr>
          <p:cNvPr id="148505" name="Group 25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167425431"/>
              </p:ext>
            </p:extLst>
          </p:nvPr>
        </p:nvGraphicFramePr>
        <p:xfrm>
          <a:off x="4368801" y="6065837"/>
          <a:ext cx="3382962" cy="792163"/>
        </p:xfrm>
        <a:graphic>
          <a:graphicData uri="http://schemas.openxmlformats.org/drawingml/2006/table">
            <a:tbl>
              <a:tblPr/>
              <a:tblGrid>
                <a:gridCol w="67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4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4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kumimoji="0" lang="en-US" sz="16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j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   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j+1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    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    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. . .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k-1    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k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j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. . .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sz="16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kj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171" name="Object 30"/>
          <p:cNvGraphicFramePr>
            <a:graphicFrameLocks noChangeAspect="1"/>
          </p:cNvGraphicFramePr>
          <p:nvPr/>
        </p:nvGraphicFramePr>
        <p:xfrm>
          <a:off x="4943475" y="5876925"/>
          <a:ext cx="215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2" name="Формула" r:id="rId3" imgW="126725" imgH="126725" progId="Equation.3">
                  <p:embed/>
                </p:oleObj>
              </mc:Choice>
              <mc:Fallback>
                <p:oleObj name="Формула" r:id="rId3" imgW="126725" imgH="1267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5" y="5876925"/>
                        <a:ext cx="2159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14967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6079" y="972574"/>
            <a:ext cx="8713788" cy="579437"/>
          </a:xfrm>
          <a:noFill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ru-RU" sz="3800" b="1" dirty="0"/>
              <a:t>Эмпирическая функция распределения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72180" y="1799320"/>
            <a:ext cx="9253763" cy="4924425"/>
          </a:xfrm>
          <a:noFill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sz="1600" b="1" dirty="0"/>
              <a:t>	  </a:t>
            </a:r>
            <a:r>
              <a:rPr lang="ru-RU" sz="1600" b="1" dirty="0">
                <a:solidFill>
                  <a:srgbClr val="FFFF00"/>
                </a:solidFill>
              </a:rPr>
              <a:t>Эмпирической функцией распределения </a:t>
            </a:r>
            <a:r>
              <a:rPr lang="ru-RU" sz="1600" i="1" dirty="0"/>
              <a:t>(функция распределения выборки) называется</a:t>
            </a:r>
            <a:r>
              <a:rPr lang="en-US" sz="1600" i="1" dirty="0"/>
              <a:t>F</a:t>
            </a:r>
            <a:r>
              <a:rPr lang="en-US" sz="1600" i="1" baseline="30000" dirty="0"/>
              <a:t>*</a:t>
            </a:r>
            <a:r>
              <a:rPr lang="en-US" sz="1600" i="1" dirty="0"/>
              <a:t>(x)</a:t>
            </a:r>
            <a:r>
              <a:rPr lang="ru-RU" sz="1600" i="1" dirty="0"/>
              <a:t>, определяющую для каждого значения</a:t>
            </a:r>
            <a:r>
              <a:rPr lang="en-US" sz="1600" i="1" dirty="0"/>
              <a:t> </a:t>
            </a:r>
            <a:r>
              <a:rPr lang="en-US" sz="1600" b="1" i="1" dirty="0"/>
              <a:t>x</a:t>
            </a:r>
            <a:r>
              <a:rPr lang="ru-RU" sz="1600" i="1" dirty="0"/>
              <a:t>относительную частоту события </a:t>
            </a:r>
            <a:r>
              <a:rPr lang="en-US" sz="1600" i="1" dirty="0"/>
              <a:t>X&lt;x.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sz="1600" i="1" dirty="0"/>
              <a:t>	  F</a:t>
            </a:r>
            <a:r>
              <a:rPr lang="en-US" sz="1600" i="1" baseline="30000" dirty="0"/>
              <a:t>*</a:t>
            </a:r>
            <a:r>
              <a:rPr lang="en-US" sz="1600" i="1" dirty="0"/>
              <a:t>(x)&gt;</a:t>
            </a:r>
            <a:r>
              <a:rPr lang="en-US" sz="1600" i="1" dirty="0" err="1"/>
              <a:t>n</a:t>
            </a:r>
            <a:r>
              <a:rPr lang="en-US" sz="1600" i="1" baseline="-25000" dirty="0" err="1"/>
              <a:t>x</a:t>
            </a:r>
            <a:r>
              <a:rPr lang="en-US" sz="1600" i="1" dirty="0"/>
              <a:t>/n</a:t>
            </a:r>
            <a:r>
              <a:rPr lang="ru-RU" sz="1600" i="1" dirty="0"/>
              <a:t>; </a:t>
            </a:r>
            <a:r>
              <a:rPr lang="en-US" sz="1600" i="1" dirty="0" err="1"/>
              <a:t>n</a:t>
            </a:r>
            <a:r>
              <a:rPr lang="en-US" sz="1600" i="1" baseline="-25000" dirty="0" err="1"/>
              <a:t>x</a:t>
            </a:r>
            <a:r>
              <a:rPr lang="ru-RU" sz="1600" i="1" dirty="0"/>
              <a:t> – </a:t>
            </a:r>
            <a:r>
              <a:rPr lang="ru-RU" sz="1600" dirty="0"/>
              <a:t>число вариант, меньше </a:t>
            </a:r>
            <a:r>
              <a:rPr lang="en-US" sz="1600" b="1" i="1" dirty="0"/>
              <a:t>x</a:t>
            </a:r>
            <a:r>
              <a:rPr lang="ru-RU" sz="1600" dirty="0"/>
              <a:t>, </a:t>
            </a:r>
            <a:r>
              <a:rPr lang="en-US" sz="1600" i="1" dirty="0"/>
              <a:t>n</a:t>
            </a:r>
            <a:r>
              <a:rPr lang="ru-RU" sz="1600" i="1" dirty="0"/>
              <a:t> – </a:t>
            </a:r>
            <a:r>
              <a:rPr lang="ru-RU" sz="1600" dirty="0"/>
              <a:t> объем выборки.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sz="1600" b="1" dirty="0" smtClean="0">
                <a:solidFill>
                  <a:srgbClr val="FFFF00"/>
                </a:solidFill>
              </a:rPr>
              <a:t>       </a:t>
            </a:r>
            <a:r>
              <a:rPr lang="ru-RU" sz="1600" b="1" dirty="0" smtClean="0">
                <a:solidFill>
                  <a:srgbClr val="FFFF00"/>
                </a:solidFill>
              </a:rPr>
              <a:t>Свойства</a:t>
            </a:r>
            <a:r>
              <a:rPr lang="en-US" sz="1600" dirty="0"/>
              <a:t>:</a:t>
            </a:r>
            <a:endParaRPr lang="ru-RU" sz="1600" dirty="0"/>
          </a:p>
          <a:p>
            <a:pPr algn="just" eaLnBrk="1" hangingPunct="1">
              <a:spcBef>
                <a:spcPct val="0"/>
              </a:spcBef>
              <a:buSzPct val="55000"/>
            </a:pPr>
            <a:r>
              <a:rPr lang="ru-RU" sz="1600" dirty="0"/>
              <a:t>значения </a:t>
            </a:r>
            <a:r>
              <a:rPr lang="en-US" sz="1600" i="1" dirty="0"/>
              <a:t>F</a:t>
            </a:r>
            <a:r>
              <a:rPr lang="en-US" sz="1600" i="1" baseline="30000" dirty="0"/>
              <a:t>*</a:t>
            </a:r>
            <a:r>
              <a:rPr lang="en-US" sz="1600" i="1" dirty="0"/>
              <a:t>(x)</a:t>
            </a:r>
            <a:r>
              <a:rPr lang="ru-RU" sz="1600" i="1" dirty="0"/>
              <a:t>   </a:t>
            </a:r>
            <a:r>
              <a:rPr lang="en-US" sz="1600" dirty="0"/>
              <a:t>[0</a:t>
            </a:r>
            <a:r>
              <a:rPr lang="ru-RU" sz="1600" dirty="0"/>
              <a:t>;1</a:t>
            </a:r>
            <a:r>
              <a:rPr lang="en-US" sz="1600" dirty="0"/>
              <a:t>]</a:t>
            </a:r>
            <a:endParaRPr lang="ru-RU" sz="1600" dirty="0"/>
          </a:p>
          <a:p>
            <a:pPr algn="just" eaLnBrk="1" hangingPunct="1">
              <a:spcBef>
                <a:spcPct val="0"/>
              </a:spcBef>
              <a:buSzPct val="55000"/>
            </a:pPr>
            <a:r>
              <a:rPr lang="en-US" sz="1600" i="1" dirty="0"/>
              <a:t>F</a:t>
            </a:r>
            <a:r>
              <a:rPr lang="en-US" sz="1600" i="1" baseline="30000" dirty="0"/>
              <a:t>*</a:t>
            </a:r>
            <a:r>
              <a:rPr lang="en-US" sz="1600" i="1" dirty="0"/>
              <a:t>(x)</a:t>
            </a:r>
            <a:r>
              <a:rPr lang="ru-RU" sz="1600" dirty="0"/>
              <a:t> – функция неубывающая: </a:t>
            </a:r>
            <a:r>
              <a:rPr lang="en-US" sz="1600" i="1" dirty="0"/>
              <a:t>F</a:t>
            </a:r>
            <a:r>
              <a:rPr lang="en-US" sz="1600" i="1" baseline="30000" dirty="0"/>
              <a:t>*</a:t>
            </a:r>
            <a:r>
              <a:rPr lang="en-US" sz="1600" i="1" dirty="0"/>
              <a:t>(x</a:t>
            </a:r>
            <a:r>
              <a:rPr lang="en-US" sz="1600" i="1" baseline="-25000" dirty="0"/>
              <a:t>2</a:t>
            </a:r>
            <a:r>
              <a:rPr lang="en-US" sz="1600" i="1" dirty="0"/>
              <a:t>)&gt; F</a:t>
            </a:r>
            <a:r>
              <a:rPr lang="en-US" sz="1600" i="1" baseline="30000" dirty="0"/>
              <a:t>*</a:t>
            </a:r>
            <a:r>
              <a:rPr lang="en-US" sz="1600" i="1" dirty="0"/>
              <a:t>(x</a:t>
            </a:r>
            <a:r>
              <a:rPr lang="en-US" sz="1600" i="1" baseline="-25000" dirty="0"/>
              <a:t>1</a:t>
            </a:r>
            <a:r>
              <a:rPr lang="en-US" sz="1600" i="1" dirty="0"/>
              <a:t>)</a:t>
            </a:r>
            <a:r>
              <a:rPr lang="ru-RU" sz="1600" i="1" dirty="0"/>
              <a:t>,</a:t>
            </a:r>
            <a:r>
              <a:rPr lang="ru-RU" sz="1600" dirty="0"/>
              <a:t> если </a:t>
            </a:r>
            <a:r>
              <a:rPr lang="en-US" sz="1600" i="1" dirty="0"/>
              <a:t>x</a:t>
            </a:r>
            <a:r>
              <a:rPr lang="en-US" sz="1600" i="1" baseline="-25000" dirty="0"/>
              <a:t>2</a:t>
            </a:r>
            <a:r>
              <a:rPr lang="en-US" sz="1600" i="1" dirty="0"/>
              <a:t>&gt; x</a:t>
            </a:r>
            <a:r>
              <a:rPr lang="en-US" sz="1600" i="1" baseline="-25000" dirty="0"/>
              <a:t>1</a:t>
            </a:r>
            <a:endParaRPr lang="ru-RU" sz="1600" i="1" dirty="0"/>
          </a:p>
          <a:p>
            <a:pPr algn="just" eaLnBrk="1" hangingPunct="1">
              <a:spcBef>
                <a:spcPct val="0"/>
              </a:spcBef>
              <a:buSzPct val="55000"/>
            </a:pPr>
            <a:r>
              <a:rPr lang="ru-RU" sz="1600" dirty="0"/>
              <a:t>если </a:t>
            </a:r>
            <a:r>
              <a:rPr lang="en-US" sz="1600" i="1" dirty="0"/>
              <a:t>x</a:t>
            </a:r>
            <a:r>
              <a:rPr lang="en-US" sz="1600" i="1" baseline="-25000" dirty="0"/>
              <a:t>1</a:t>
            </a:r>
            <a:r>
              <a:rPr lang="ru-RU" sz="1600" i="1" dirty="0"/>
              <a:t> –</a:t>
            </a:r>
            <a:r>
              <a:rPr lang="ru-RU" sz="1600" dirty="0"/>
              <a:t> наименьшая варианта, </a:t>
            </a:r>
            <a:r>
              <a:rPr lang="en-US" sz="1600" i="1" dirty="0"/>
              <a:t>F</a:t>
            </a:r>
            <a:r>
              <a:rPr lang="en-US" sz="1600" i="1" baseline="30000" dirty="0"/>
              <a:t>*</a:t>
            </a:r>
            <a:r>
              <a:rPr lang="en-US" sz="1600" i="1" dirty="0"/>
              <a:t>(x</a:t>
            </a:r>
            <a:r>
              <a:rPr lang="en-US" sz="1600" i="1" baseline="-25000" dirty="0"/>
              <a:t>1</a:t>
            </a:r>
            <a:r>
              <a:rPr lang="en-US" sz="1600" i="1" dirty="0"/>
              <a:t>)</a:t>
            </a:r>
            <a:r>
              <a:rPr lang="ru-RU" sz="1600" i="1" dirty="0"/>
              <a:t>=0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ru-RU" sz="1600" i="1" dirty="0"/>
              <a:t>	</a:t>
            </a:r>
            <a:r>
              <a:rPr lang="ru-RU" sz="1600" dirty="0"/>
              <a:t>если </a:t>
            </a:r>
            <a:r>
              <a:rPr lang="en-US" sz="1600" i="1" dirty="0" err="1"/>
              <a:t>x</a:t>
            </a:r>
            <a:r>
              <a:rPr lang="en-US" sz="1600" i="1" baseline="-25000" dirty="0" err="1"/>
              <a:t>k</a:t>
            </a:r>
            <a:r>
              <a:rPr lang="ru-RU" sz="1600" i="1" dirty="0"/>
              <a:t> –</a:t>
            </a:r>
            <a:r>
              <a:rPr lang="ru-RU" sz="1600" dirty="0"/>
              <a:t> наибольшая, то </a:t>
            </a:r>
            <a:r>
              <a:rPr lang="en-US" sz="1600" i="1" dirty="0"/>
              <a:t>F</a:t>
            </a:r>
            <a:r>
              <a:rPr lang="en-US" sz="1600" i="1" baseline="30000" dirty="0"/>
              <a:t>*</a:t>
            </a:r>
            <a:r>
              <a:rPr lang="en-US" sz="1600" i="1" dirty="0"/>
              <a:t>(x</a:t>
            </a:r>
            <a:r>
              <a:rPr lang="en-US" sz="1600" i="1" baseline="-25000" dirty="0"/>
              <a:t>1</a:t>
            </a:r>
            <a:r>
              <a:rPr lang="en-US" sz="1600" i="1" dirty="0"/>
              <a:t>)</a:t>
            </a:r>
            <a:r>
              <a:rPr lang="ru-RU" sz="1600" i="1" dirty="0"/>
              <a:t>=1.</a:t>
            </a:r>
            <a:endParaRPr lang="ru-RU" sz="1600" dirty="0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ru-RU" sz="1600" dirty="0"/>
              <a:t>В отличие от эмпирической функции, функцию </a:t>
            </a:r>
            <a:r>
              <a:rPr lang="en-US" sz="1600" i="1" dirty="0"/>
              <a:t>F(x)</a:t>
            </a:r>
            <a:r>
              <a:rPr lang="ru-RU" sz="1600" dirty="0"/>
              <a:t> генеральной совокупности называется </a:t>
            </a:r>
            <a:r>
              <a:rPr lang="ru-RU" sz="1600" i="1" dirty="0"/>
              <a:t>теоретической.</a:t>
            </a:r>
            <a:r>
              <a:rPr lang="ru-RU" sz="1600" dirty="0"/>
              <a:t> Различия между ними состоят в том, что </a:t>
            </a:r>
            <a:r>
              <a:rPr lang="en-US" sz="1600" i="1" dirty="0"/>
              <a:t>F(x)</a:t>
            </a:r>
            <a:r>
              <a:rPr lang="ru-RU" sz="1600" dirty="0"/>
              <a:t> определяет вероятность события </a:t>
            </a:r>
            <a:r>
              <a:rPr lang="en-US" sz="1600" i="1" dirty="0"/>
              <a:t>X&lt;x</a:t>
            </a:r>
            <a:r>
              <a:rPr lang="ru-RU" sz="1600" i="1" dirty="0"/>
              <a:t>,</a:t>
            </a:r>
            <a:r>
              <a:rPr lang="ru-RU" sz="1600" dirty="0"/>
              <a:t> а </a:t>
            </a:r>
            <a:r>
              <a:rPr lang="en-US" sz="1600" i="1" dirty="0"/>
              <a:t>F(x)</a:t>
            </a:r>
            <a:r>
              <a:rPr lang="ru-RU" sz="1600" i="1" dirty="0"/>
              <a:t> –</a:t>
            </a:r>
            <a:r>
              <a:rPr lang="ru-RU" sz="1600" dirty="0"/>
              <a:t> относительную частоту.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ru-RU" sz="1600" dirty="0"/>
              <a:t>Наглядным изображением статистического ряда распределения служат </a:t>
            </a:r>
            <a:r>
              <a:rPr lang="ru-RU" sz="1600" i="1" dirty="0"/>
              <a:t>полигон</a:t>
            </a:r>
            <a:r>
              <a:rPr lang="ru-RU" sz="1600" dirty="0"/>
              <a:t> и </a:t>
            </a:r>
            <a:r>
              <a:rPr lang="ru-RU" sz="1600" i="1" dirty="0"/>
              <a:t>гистограмма.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ru-RU" sz="1600" dirty="0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ru-RU" sz="1600" dirty="0"/>
              <a:t>	</a:t>
            </a:r>
            <a:r>
              <a:rPr lang="ru-RU" sz="1600" b="1" dirty="0">
                <a:solidFill>
                  <a:srgbClr val="FFFF00"/>
                </a:solidFill>
              </a:rPr>
              <a:t>Полигон</a:t>
            </a:r>
            <a:r>
              <a:rPr lang="ru-RU" sz="1600" b="1" dirty="0"/>
              <a:t> –</a:t>
            </a:r>
            <a:r>
              <a:rPr lang="ru-RU" sz="1600" dirty="0"/>
              <a:t> </a:t>
            </a:r>
            <a:r>
              <a:rPr lang="ru-RU" sz="1600" i="1" dirty="0"/>
              <a:t>ломаная линия, соединяющая точки </a:t>
            </a:r>
            <a:r>
              <a:rPr lang="ru-RU" sz="1600" b="1" i="1" dirty="0"/>
              <a:t>(</a:t>
            </a:r>
            <a:r>
              <a:rPr lang="en-US" sz="1600" b="1" i="1" dirty="0"/>
              <a:t>x</a:t>
            </a:r>
            <a:r>
              <a:rPr lang="en-US" sz="1600" b="1" i="1" baseline="-25000" dirty="0"/>
              <a:t>i</a:t>
            </a:r>
            <a:r>
              <a:rPr lang="ru-RU" sz="1600" b="1" i="1" dirty="0"/>
              <a:t> ,</a:t>
            </a:r>
            <a:r>
              <a:rPr lang="en-US" sz="1600" b="1" i="1" dirty="0" err="1"/>
              <a:t>n</a:t>
            </a:r>
            <a:r>
              <a:rPr lang="en-US" sz="1600" b="1" i="1" baseline="-25000" dirty="0" err="1"/>
              <a:t>i</a:t>
            </a:r>
            <a:r>
              <a:rPr lang="ru-RU" sz="1600" b="1" i="1" dirty="0"/>
              <a:t>).</a:t>
            </a:r>
            <a:endParaRPr lang="en-US" sz="1600" dirty="0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sz="1600" b="1" dirty="0"/>
              <a:t>	</a:t>
            </a:r>
            <a:r>
              <a:rPr lang="ru-RU" sz="1600" b="1" dirty="0">
                <a:solidFill>
                  <a:srgbClr val="FFFF00"/>
                </a:solidFill>
              </a:rPr>
              <a:t>Гистограмма</a:t>
            </a:r>
            <a:r>
              <a:rPr lang="ru-RU" sz="1600" b="1" dirty="0"/>
              <a:t> –</a:t>
            </a:r>
            <a:r>
              <a:rPr lang="ru-RU" sz="1600" i="1" dirty="0"/>
              <a:t> ступенчатая фигура, состоящая из прямоугольников, основаниями которых служат интервалы, длиной </a:t>
            </a:r>
            <a:r>
              <a:rPr lang="en-US" sz="1600" b="1" i="1" dirty="0"/>
              <a:t>n</a:t>
            </a:r>
            <a:r>
              <a:rPr lang="ru-RU" sz="1600" i="1" dirty="0"/>
              <a:t> , а высотой – величины </a:t>
            </a:r>
            <a:r>
              <a:rPr lang="en-US" sz="1600" b="1" i="1" dirty="0" err="1"/>
              <a:t>n</a:t>
            </a:r>
            <a:r>
              <a:rPr lang="en-US" sz="1600" b="1" i="1" baseline="-25000" dirty="0" err="1"/>
              <a:t>i</a:t>
            </a:r>
            <a:r>
              <a:rPr lang="ru-RU" sz="1600" i="1" dirty="0"/>
              <a:t>/</a:t>
            </a:r>
            <a:r>
              <a:rPr lang="en-US" sz="1600" b="1" i="1" dirty="0"/>
              <a:t>n</a:t>
            </a:r>
            <a:r>
              <a:rPr lang="ru-RU" sz="1600" b="1" i="1" dirty="0"/>
              <a:t>.</a:t>
            </a:r>
            <a:endParaRPr lang="ru-RU" sz="1600" dirty="0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ru-RU" sz="1600" dirty="0"/>
              <a:t>Если гистограмма является гистограммой частот, то ее площадь равна сумме всех частот, т.е. объему выборки.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ru-RU" sz="1600" dirty="0"/>
              <a:t>Если гистограмма является гистограммой относительных частот, то ее площадь равна сумме всех относительных частот.</a:t>
            </a:r>
          </a:p>
        </p:txBody>
      </p:sp>
      <p:graphicFrame>
        <p:nvGraphicFramePr>
          <p:cNvPr id="7172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216275" y="2293938"/>
          <a:ext cx="200025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4" name="Формула" r:id="rId3" imgW="126725" imgH="126725" progId="Equation.3">
                  <p:embed/>
                </p:oleObj>
              </mc:Choice>
              <mc:Fallback>
                <p:oleObj name="Формула" r:id="rId3" imgW="126725" imgH="1267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2293938"/>
                        <a:ext cx="200025" cy="20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550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>
          <a:xfrm>
            <a:off x="1774826" y="836613"/>
            <a:ext cx="8785225" cy="6672596"/>
          </a:xfrm>
          <a:noFill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271463" eaLnBrk="1" hangingPunct="1">
              <a:lnSpc>
                <a:spcPct val="80000"/>
              </a:lnSpc>
              <a:buSzPct val="55000"/>
              <a:buNone/>
            </a:pPr>
            <a:endParaRPr lang="ru-RU" sz="2600" dirty="0"/>
          </a:p>
          <a:p>
            <a:pPr marL="0" indent="271463" algn="ctr" eaLnBrk="1" hangingPunct="1">
              <a:lnSpc>
                <a:spcPct val="80000"/>
              </a:lnSpc>
              <a:buSzPct val="55000"/>
              <a:buNone/>
            </a:pPr>
            <a:r>
              <a:rPr lang="ru-RU" sz="3600" b="1" dirty="0">
                <a:solidFill>
                  <a:srgbClr val="FFC000"/>
                </a:solidFill>
              </a:rPr>
              <a:t>Статистические оценки</a:t>
            </a:r>
          </a:p>
          <a:p>
            <a:pPr marL="0" indent="271463" eaLnBrk="1" hangingPunct="1">
              <a:lnSpc>
                <a:spcPct val="80000"/>
              </a:lnSpc>
              <a:buSzPct val="55000"/>
            </a:pPr>
            <a:r>
              <a:rPr lang="ru-RU" sz="2600" i="1" dirty="0"/>
              <a:t>Несмещенные – </a:t>
            </a:r>
            <a:r>
              <a:rPr lang="ru-RU" sz="2600" dirty="0"/>
              <a:t>есть оценка математического ожидания, которая равна оценивающему параметру;</a:t>
            </a:r>
          </a:p>
          <a:p>
            <a:pPr marL="0" indent="271463" eaLnBrk="1" hangingPunct="1">
              <a:lnSpc>
                <a:spcPct val="80000"/>
              </a:lnSpc>
              <a:buSzPct val="55000"/>
            </a:pPr>
            <a:r>
              <a:rPr lang="ru-RU" sz="2600" i="1" dirty="0"/>
              <a:t>Смещенные –</a:t>
            </a:r>
            <a:r>
              <a:rPr lang="ru-RU" sz="2600" dirty="0"/>
              <a:t> оценка</a:t>
            </a:r>
            <a:r>
              <a:rPr lang="en-US" sz="2600" dirty="0"/>
              <a:t> </a:t>
            </a:r>
            <a:r>
              <a:rPr lang="en-US" sz="2600" i="1" dirty="0"/>
              <a:t>M(x)</a:t>
            </a:r>
            <a:r>
              <a:rPr lang="en-US" sz="2600" i="1" dirty="0">
                <a:cs typeface="Times New Roman" panose="02020603050405020304" pitchFamily="18" charset="0"/>
              </a:rPr>
              <a:t>≠</a:t>
            </a:r>
            <a:r>
              <a:rPr lang="ru-RU" sz="2600" dirty="0">
                <a:cs typeface="Times New Roman" panose="02020603050405020304" pitchFamily="18" charset="0"/>
              </a:rPr>
              <a:t> </a:t>
            </a:r>
            <a:r>
              <a:rPr lang="ru-RU" sz="2600" dirty="0"/>
              <a:t>оценивающему параметру;</a:t>
            </a:r>
          </a:p>
          <a:p>
            <a:pPr marL="0" indent="271463" eaLnBrk="1" hangingPunct="1">
              <a:lnSpc>
                <a:spcPct val="80000"/>
              </a:lnSpc>
              <a:buSzPct val="55000"/>
            </a:pPr>
            <a:r>
              <a:rPr lang="ru-RU" sz="2600" i="1" dirty="0">
                <a:cs typeface="Times New Roman" panose="02020603050405020304" pitchFamily="18" charset="0"/>
              </a:rPr>
              <a:t>Эффективные –</a:t>
            </a:r>
            <a:r>
              <a:rPr lang="ru-RU" sz="2600" dirty="0">
                <a:cs typeface="Times New Roman" panose="02020603050405020304" pitchFamily="18" charset="0"/>
              </a:rPr>
              <a:t> оценка, имеющая при заданном объеме выборки </a:t>
            </a:r>
            <a:r>
              <a:rPr lang="en-US" sz="2600" b="1" i="1" dirty="0">
                <a:cs typeface="Times New Roman" panose="02020603050405020304" pitchFamily="18" charset="0"/>
              </a:rPr>
              <a:t>n</a:t>
            </a:r>
            <a:r>
              <a:rPr lang="ru-RU" sz="2600" dirty="0">
                <a:cs typeface="Times New Roman" panose="02020603050405020304" pitchFamily="18" charset="0"/>
              </a:rPr>
              <a:t> наименьшую дисперсию;</a:t>
            </a:r>
          </a:p>
          <a:p>
            <a:pPr marL="0" indent="271463" eaLnBrk="1" hangingPunct="1">
              <a:lnSpc>
                <a:spcPct val="80000"/>
              </a:lnSpc>
              <a:buSzPct val="55000"/>
            </a:pPr>
            <a:r>
              <a:rPr lang="ru-RU" sz="2600" i="1" dirty="0">
                <a:cs typeface="Times New Roman" panose="02020603050405020304" pitchFamily="18" charset="0"/>
              </a:rPr>
              <a:t>Состоятельные –</a:t>
            </a:r>
            <a:r>
              <a:rPr lang="ru-RU" sz="2600" dirty="0">
                <a:cs typeface="Times New Roman" panose="02020603050405020304" pitchFamily="18" charset="0"/>
              </a:rPr>
              <a:t> оценка, стремящаяся при </a:t>
            </a:r>
            <a:r>
              <a:rPr lang="en-US" sz="2600" b="1" i="1" dirty="0">
                <a:cs typeface="Times New Roman" panose="02020603050405020304" pitchFamily="18" charset="0"/>
              </a:rPr>
              <a:t>n→0</a:t>
            </a:r>
            <a:r>
              <a:rPr lang="ru-RU" sz="2600" dirty="0">
                <a:cs typeface="Times New Roman" panose="02020603050405020304" pitchFamily="18" charset="0"/>
              </a:rPr>
              <a:t> по вероятности к оцениваемому </a:t>
            </a:r>
            <a:r>
              <a:rPr lang="ru-RU" sz="2600" dirty="0"/>
              <a:t>параметру.</a:t>
            </a:r>
          </a:p>
          <a:p>
            <a:pPr marL="0" indent="0" eaLnBrk="1" hangingPunct="1">
              <a:lnSpc>
                <a:spcPct val="80000"/>
              </a:lnSpc>
              <a:buSzPct val="55000"/>
              <a:buNone/>
            </a:pPr>
            <a:endParaRPr lang="ru-RU" sz="2600" dirty="0"/>
          </a:p>
          <a:p>
            <a:pPr marL="0" indent="271463" algn="just" eaLnBrk="1" hangingPunct="1">
              <a:lnSpc>
                <a:spcPct val="80000"/>
              </a:lnSpc>
              <a:buClr>
                <a:srgbClr val="00007D"/>
              </a:buClr>
              <a:buNone/>
            </a:pPr>
            <a:r>
              <a:rPr lang="ru-RU" sz="2400" dirty="0"/>
              <a:t>Для того, чтобы статистические оценки давали хорошее приближение оценивающих параметров, они должны удовлетворять условиям:</a:t>
            </a:r>
          </a:p>
          <a:p>
            <a:pPr marL="0" indent="271463" algn="just" eaLnBrk="1" hangingPunct="1">
              <a:lnSpc>
                <a:spcPct val="80000"/>
              </a:lnSpc>
              <a:buClr>
                <a:srgbClr val="00007D"/>
              </a:buClr>
              <a:buSzPct val="55000"/>
            </a:pPr>
            <a:r>
              <a:rPr lang="ru-RU" sz="2400" dirty="0"/>
              <a:t>объем выборки должен быть достаточным для оценивания</a:t>
            </a:r>
          </a:p>
          <a:p>
            <a:pPr marL="0" indent="271463" algn="just" eaLnBrk="1" hangingPunct="1">
              <a:lnSpc>
                <a:spcPct val="80000"/>
              </a:lnSpc>
              <a:buClr>
                <a:srgbClr val="00007D"/>
              </a:buClr>
              <a:buSzPct val="55000"/>
            </a:pPr>
            <a:r>
              <a:rPr lang="ru-RU" sz="2400" dirty="0"/>
              <a:t>оценка интересующего нас параметра есть случайная величина.</a:t>
            </a:r>
          </a:p>
          <a:p>
            <a:pPr marL="0" indent="271463" algn="just" eaLnBrk="1" hangingPunct="1">
              <a:lnSpc>
                <a:spcPct val="80000"/>
              </a:lnSpc>
              <a:buSzPct val="55000"/>
            </a:pPr>
            <a:endParaRPr lang="ru-RU" sz="2600" dirty="0"/>
          </a:p>
          <a:p>
            <a:pPr marL="0" indent="271463" eaLnBrk="1" hangingPunct="1">
              <a:lnSpc>
                <a:spcPct val="80000"/>
              </a:lnSpc>
              <a:buSzPct val="55000"/>
            </a:pPr>
            <a:endParaRPr lang="ru-RU" sz="2600" dirty="0"/>
          </a:p>
          <a:p>
            <a:pPr marL="0" indent="271463" eaLnBrk="1" hangingPunct="1">
              <a:lnSpc>
                <a:spcPct val="80000"/>
              </a:lnSpc>
              <a:buSzPct val="55000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3718966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754212" y="1079824"/>
            <a:ext cx="4321175" cy="609600"/>
          </a:xfrm>
          <a:noFill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ru-RU" sz="3600" b="1" dirty="0"/>
              <a:t>Точечные оцен</a:t>
            </a:r>
            <a:r>
              <a:rPr lang="ru-RU" sz="4000" b="1" dirty="0"/>
              <a:t>ки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1594627" y="2022897"/>
            <a:ext cx="8928100" cy="3989387"/>
          </a:xfrm>
          <a:noFill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271463"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ru-RU" sz="2400" b="1" dirty="0"/>
              <a:t> Точечной</a:t>
            </a:r>
            <a:r>
              <a:rPr lang="ru-RU" sz="2400" dirty="0"/>
              <a:t> </a:t>
            </a:r>
            <a:r>
              <a:rPr lang="ru-RU" sz="2400" i="1" dirty="0"/>
              <a:t>называют оценку, определяющую одним числом.</a:t>
            </a:r>
          </a:p>
          <a:p>
            <a:pPr marL="0" indent="271463"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ru-RU" sz="2400" b="1" dirty="0"/>
          </a:p>
          <a:p>
            <a:pPr marL="0" indent="271463"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ru-RU" sz="2400" dirty="0"/>
              <a:t>Пусть требуется изучить количественный признак генеральной совокупности. Допустим, удалось установить, какое имеется распределение. Тогда возникает задача оценки параметров данного распределения.</a:t>
            </a:r>
          </a:p>
          <a:p>
            <a:pPr marL="0" indent="271463"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ru-RU" sz="2400" dirty="0"/>
          </a:p>
          <a:p>
            <a:pPr marL="0" indent="271463"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ru-RU" sz="2400" dirty="0"/>
              <a:t>Однако чаще всего экспериментатору не известен вид распределения, т.к. он обладает только данными выборки и тогда для оценки параметров нужно найти зависимость этих параметров от наблюдаемых величин.</a:t>
            </a:r>
          </a:p>
          <a:p>
            <a:pPr marL="0" indent="271463"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566401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877107" y="896022"/>
            <a:ext cx="8578850" cy="553998"/>
          </a:xfrm>
          <a:noFill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ru-RU" sz="3600" b="1" dirty="0"/>
              <a:t>Генеральная и выборочная средняя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70732" y="1655989"/>
            <a:ext cx="8785225" cy="5032147"/>
          </a:xfrm>
          <a:noFill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180975" eaLnBrk="1" hangingPunct="1">
              <a:lnSpc>
                <a:spcPct val="90000"/>
              </a:lnSpc>
              <a:buNone/>
            </a:pPr>
            <a:r>
              <a:rPr lang="ru-RU" sz="1500" b="1" dirty="0" smtClean="0"/>
              <a:t> </a:t>
            </a:r>
            <a:r>
              <a:rPr lang="ru-RU" sz="1500" b="1" dirty="0">
                <a:solidFill>
                  <a:srgbClr val="FFFF00"/>
                </a:solidFill>
              </a:rPr>
              <a:t>Генеральная средняя </a:t>
            </a:r>
            <a:r>
              <a:rPr lang="ru-RU" sz="1500" b="1" dirty="0"/>
              <a:t>–</a:t>
            </a:r>
            <a:r>
              <a:rPr lang="ru-RU" sz="1500" dirty="0"/>
              <a:t> среднее арифметическое значений генеральной совокупности</a:t>
            </a:r>
            <a:r>
              <a:rPr lang="en-US" sz="1500" dirty="0"/>
              <a:t> </a:t>
            </a:r>
            <a:r>
              <a:rPr lang="ru-RU" sz="1500" dirty="0"/>
              <a:t>объема </a:t>
            </a:r>
            <a:r>
              <a:rPr lang="en-US" sz="1500" i="1" dirty="0"/>
              <a:t>N </a:t>
            </a:r>
            <a:endParaRPr lang="ru-RU" sz="1500" i="1" dirty="0"/>
          </a:p>
          <a:p>
            <a:pPr marL="0" indent="180975" eaLnBrk="1" hangingPunct="1">
              <a:lnSpc>
                <a:spcPct val="90000"/>
              </a:lnSpc>
              <a:buNone/>
            </a:pPr>
            <a:endParaRPr lang="ru-RU" sz="1500" dirty="0"/>
          </a:p>
          <a:p>
            <a:pPr marL="0" indent="180975" eaLnBrk="1" hangingPunct="1">
              <a:lnSpc>
                <a:spcPct val="90000"/>
              </a:lnSpc>
              <a:buNone/>
            </a:pPr>
            <a:endParaRPr lang="ru-RU" sz="1500" dirty="0"/>
          </a:p>
          <a:p>
            <a:pPr marL="0" indent="180975" eaLnBrk="1" hangingPunct="1">
              <a:lnSpc>
                <a:spcPct val="90000"/>
              </a:lnSpc>
              <a:buNone/>
            </a:pPr>
            <a:r>
              <a:rPr lang="ru-RU" sz="1500" dirty="0"/>
              <a:t>			</a:t>
            </a:r>
            <a:r>
              <a:rPr lang="en-US" sz="1500" dirty="0"/>
              <a:t>                                                                         </a:t>
            </a:r>
            <a:r>
              <a:rPr lang="ru-RU" sz="1500" dirty="0"/>
              <a:t>– с повторениями</a:t>
            </a:r>
          </a:p>
          <a:p>
            <a:pPr marL="0" indent="180975" eaLnBrk="1" hangingPunct="1">
              <a:lnSpc>
                <a:spcPct val="90000"/>
              </a:lnSpc>
              <a:buNone/>
            </a:pPr>
            <a:endParaRPr lang="ru-RU" sz="1500" dirty="0"/>
          </a:p>
          <a:p>
            <a:pPr marL="0" indent="180975" algn="just" eaLnBrk="1" hangingPunct="1">
              <a:lnSpc>
                <a:spcPct val="90000"/>
              </a:lnSpc>
              <a:buNone/>
            </a:pPr>
            <a:r>
              <a:rPr lang="ru-RU" sz="1500" dirty="0"/>
              <a:t>Генеральная средняя есть среднее взвешенное значений генеральной совокупности с их весами, равными</a:t>
            </a:r>
          </a:p>
          <a:p>
            <a:pPr marL="0" indent="180975" algn="just" eaLnBrk="1" hangingPunct="1">
              <a:lnSpc>
                <a:spcPct val="90000"/>
              </a:lnSpc>
              <a:buNone/>
            </a:pPr>
            <a:r>
              <a:rPr lang="ru-RU" sz="1500" dirty="0"/>
              <a:t>соответствующим частотам.</a:t>
            </a:r>
          </a:p>
          <a:p>
            <a:pPr marL="0" indent="180975" algn="just" eaLnBrk="1" hangingPunct="1">
              <a:lnSpc>
                <a:spcPct val="90000"/>
              </a:lnSpc>
              <a:buNone/>
            </a:pPr>
            <a:r>
              <a:rPr lang="ru-RU" sz="1500" dirty="0"/>
              <a:t>Если рассматривать </a:t>
            </a:r>
            <a:r>
              <a:rPr lang="en-US" sz="1500" b="1" i="1" dirty="0"/>
              <a:t>x</a:t>
            </a:r>
            <a:r>
              <a:rPr lang="ru-RU" sz="1500" dirty="0"/>
              <a:t> генеральной совокупности как СВ, то </a:t>
            </a:r>
          </a:p>
          <a:p>
            <a:pPr marL="0" indent="180975" algn="just" eaLnBrk="1" hangingPunct="1">
              <a:lnSpc>
                <a:spcPct val="90000"/>
              </a:lnSpc>
              <a:buNone/>
            </a:pPr>
            <a:endParaRPr lang="ru-RU" sz="1500" dirty="0"/>
          </a:p>
          <a:p>
            <a:pPr marL="0" indent="180975" algn="just" eaLnBrk="1" hangingPunct="1">
              <a:lnSpc>
                <a:spcPct val="90000"/>
              </a:lnSpc>
              <a:buNone/>
            </a:pPr>
            <a:endParaRPr lang="ru-RU" sz="1500" b="1" dirty="0"/>
          </a:p>
          <a:p>
            <a:pPr marL="0" indent="180975" algn="just" eaLnBrk="1" hangingPunct="1">
              <a:lnSpc>
                <a:spcPct val="90000"/>
              </a:lnSpc>
              <a:buNone/>
            </a:pPr>
            <a:endParaRPr lang="ru-RU" sz="1500" b="1" dirty="0">
              <a:solidFill>
                <a:srgbClr val="FFFF00"/>
              </a:solidFill>
            </a:endParaRPr>
          </a:p>
          <a:p>
            <a:pPr marL="0" indent="180975" algn="just" eaLnBrk="1" hangingPunct="1">
              <a:lnSpc>
                <a:spcPct val="90000"/>
              </a:lnSpc>
              <a:buNone/>
            </a:pPr>
            <a:r>
              <a:rPr lang="ru-RU" sz="1500" b="1" dirty="0">
                <a:solidFill>
                  <a:srgbClr val="FFFF00"/>
                </a:solidFill>
              </a:rPr>
              <a:t> Выборочная средняя </a:t>
            </a:r>
            <a:r>
              <a:rPr lang="ru-RU" sz="1500" b="1" dirty="0"/>
              <a:t>– </a:t>
            </a:r>
            <a:r>
              <a:rPr lang="ru-RU" sz="1500" dirty="0"/>
              <a:t>среднее арифметическое значений выборки</a:t>
            </a:r>
            <a:r>
              <a:rPr lang="ru-RU" sz="1500" i="1" dirty="0"/>
              <a:t>.</a:t>
            </a:r>
            <a:endParaRPr lang="ru-RU" sz="1500" dirty="0"/>
          </a:p>
          <a:p>
            <a:pPr marL="0" indent="180975" algn="just" eaLnBrk="1" hangingPunct="1">
              <a:lnSpc>
                <a:spcPct val="90000"/>
              </a:lnSpc>
              <a:buNone/>
            </a:pPr>
            <a:endParaRPr lang="ru-RU" sz="1500" i="1" dirty="0"/>
          </a:p>
          <a:p>
            <a:pPr marL="0" indent="180975" algn="just" eaLnBrk="1" hangingPunct="1">
              <a:lnSpc>
                <a:spcPct val="90000"/>
              </a:lnSpc>
              <a:buNone/>
            </a:pPr>
            <a:r>
              <a:rPr lang="ru-RU" sz="1500" dirty="0"/>
              <a:t>Пусть имеется выборка объема </a:t>
            </a:r>
            <a:r>
              <a:rPr lang="en-US" sz="1500" b="1" i="1" dirty="0"/>
              <a:t>n</a:t>
            </a:r>
            <a:r>
              <a:rPr lang="ru-RU" sz="1500" dirty="0"/>
              <a:t>. Тогда выборочная средняя равна: </a:t>
            </a:r>
          </a:p>
          <a:p>
            <a:pPr marL="0" indent="180975" algn="just" eaLnBrk="1" hangingPunct="1">
              <a:lnSpc>
                <a:spcPct val="90000"/>
              </a:lnSpc>
              <a:buNone/>
            </a:pPr>
            <a:endParaRPr lang="ru-RU" sz="1500" dirty="0"/>
          </a:p>
          <a:p>
            <a:pPr marL="0" indent="180975" algn="just" eaLnBrk="1" hangingPunct="1">
              <a:lnSpc>
                <a:spcPct val="90000"/>
              </a:lnSpc>
              <a:buNone/>
            </a:pPr>
            <a:r>
              <a:rPr lang="ru-RU" sz="1500" dirty="0"/>
              <a:t>Выборочная средняя по данным одной выборки есть определенное число.</a:t>
            </a:r>
          </a:p>
          <a:p>
            <a:pPr marL="0" indent="180975" algn="just" eaLnBrk="1" hangingPunct="1">
              <a:lnSpc>
                <a:spcPct val="90000"/>
              </a:lnSpc>
              <a:buNone/>
            </a:pPr>
            <a:r>
              <a:rPr lang="ru-RU" sz="1500" dirty="0"/>
              <a:t>Если извлекать другие выборки такого же объема из генеральной совокупности, то выборочная средняя</a:t>
            </a:r>
          </a:p>
          <a:p>
            <a:pPr marL="0" indent="180975" algn="just" eaLnBrk="1" hangingPunct="1">
              <a:lnSpc>
                <a:spcPct val="90000"/>
              </a:lnSpc>
              <a:buNone/>
            </a:pPr>
            <a:r>
              <a:rPr lang="ru-RU" sz="1500" dirty="0"/>
              <a:t>меняется от выборки к выборке.</a:t>
            </a:r>
          </a:p>
          <a:p>
            <a:pPr marL="0" indent="180975" algn="just" eaLnBrk="1" hangingPunct="1">
              <a:lnSpc>
                <a:spcPct val="90000"/>
              </a:lnSpc>
              <a:buNone/>
            </a:pPr>
            <a:r>
              <a:rPr lang="ru-RU" sz="1500" dirty="0"/>
              <a:t>Выборочная средняя есть </a:t>
            </a:r>
            <a:r>
              <a:rPr lang="ru-RU" sz="1500" i="1" dirty="0"/>
              <a:t>несмещенная</a:t>
            </a:r>
            <a:r>
              <a:rPr lang="ru-RU" sz="1500" dirty="0"/>
              <a:t> оценка генеральной средней.</a:t>
            </a:r>
          </a:p>
          <a:p>
            <a:pPr marL="0" indent="180975" algn="just" eaLnBrk="1" hangingPunct="1">
              <a:lnSpc>
                <a:spcPct val="90000"/>
              </a:lnSpc>
              <a:buNone/>
            </a:pPr>
            <a:r>
              <a:rPr lang="ru-RU" sz="1500" dirty="0"/>
              <a:t>При увеличении объема выборки </a:t>
            </a:r>
            <a:r>
              <a:rPr lang="en-US" sz="1500" b="1" i="1" dirty="0"/>
              <a:t>n</a:t>
            </a:r>
            <a:r>
              <a:rPr lang="ru-RU" sz="1500" dirty="0"/>
              <a:t> выборочная средняя стремится к генеральной средней.</a:t>
            </a:r>
          </a:p>
        </p:txBody>
      </p:sp>
      <p:graphicFrame>
        <p:nvGraphicFramePr>
          <p:cNvPr id="102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7958987"/>
              </p:ext>
            </p:extLst>
          </p:nvPr>
        </p:nvGraphicFramePr>
        <p:xfrm>
          <a:off x="3567454" y="2089943"/>
          <a:ext cx="1370012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9" name="Уравнение" r:id="rId3" imgW="825480" imgH="431640" progId="Equation.3">
                  <p:embed/>
                </p:oleObj>
              </mc:Choice>
              <mc:Fallback>
                <p:oleObj name="Уравнение" r:id="rId3" imgW="8254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7454" y="2089943"/>
                        <a:ext cx="1370012" cy="70961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4172274"/>
              </p:ext>
            </p:extLst>
          </p:nvPr>
        </p:nvGraphicFramePr>
        <p:xfrm>
          <a:off x="6929324" y="3354990"/>
          <a:ext cx="884237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0" name="Уравнение" r:id="rId5" imgW="647640" imgH="215640" progId="Equation.3">
                  <p:embed/>
                </p:oleObj>
              </mc:Choice>
              <mc:Fallback>
                <p:oleObj name="Уравнение" r:id="rId5" imgW="6476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9324" y="3354990"/>
                        <a:ext cx="884237" cy="293687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73010"/>
              </p:ext>
            </p:extLst>
          </p:nvPr>
        </p:nvGraphicFramePr>
        <p:xfrm>
          <a:off x="5736149" y="2218016"/>
          <a:ext cx="1960562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1" name="Уравнение" r:id="rId7" imgW="1371600" imgH="393480" progId="Equation.3">
                  <p:embed/>
                </p:oleObj>
              </mc:Choice>
              <mc:Fallback>
                <p:oleObj name="Уравнение" r:id="rId7" imgW="13716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6149" y="2218016"/>
                        <a:ext cx="1960562" cy="558800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317371"/>
              </p:ext>
            </p:extLst>
          </p:nvPr>
        </p:nvGraphicFramePr>
        <p:xfrm>
          <a:off x="7696711" y="4172062"/>
          <a:ext cx="1236663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2" name="Уравнение" r:id="rId9" imgW="774360" imgH="431640" progId="Equation.3">
                  <p:embed/>
                </p:oleObj>
              </mc:Choice>
              <mc:Fallback>
                <p:oleObj name="Уравнение" r:id="rId9" imgW="7743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711" y="4172062"/>
                        <a:ext cx="1236663" cy="684212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7986373"/>
      </p:ext>
    </p:extLst>
  </p:cSld>
  <p:clrMapOvr>
    <a:masterClrMapping/>
  </p:clrMapOvr>
  <p:transition spd="med"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title"/>
          </p:nvPr>
        </p:nvSpPr>
        <p:spPr>
          <a:xfrm>
            <a:off x="1616366" y="861376"/>
            <a:ext cx="8929688" cy="553998"/>
          </a:xfrm>
          <a:noFill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ru-RU" sz="3600" b="1" dirty="0"/>
              <a:t>Генеральная и выборочная дисперсии</a:t>
            </a:r>
          </a:p>
        </p:txBody>
      </p:sp>
      <p:graphicFrame>
        <p:nvGraphicFramePr>
          <p:cNvPr id="11268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6414169"/>
              </p:ext>
            </p:extLst>
          </p:nvPr>
        </p:nvGraphicFramePr>
        <p:xfrm>
          <a:off x="4214447" y="5988993"/>
          <a:ext cx="4210911" cy="519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42" name="Точечный рисунок" r:id="rId3" imgW="4552381" imgH="561905" progId="Paint.Picture">
                  <p:embed/>
                </p:oleObj>
              </mc:Choice>
              <mc:Fallback>
                <p:oleObj name="Точечный рисунок" r:id="rId3" imgW="4552381" imgH="56190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447" y="5988993"/>
                        <a:ext cx="4210911" cy="5197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7" name="Rectangle 8"/>
          <p:cNvSpPr>
            <a:spLocks noGrp="1" noChangeArrowheads="1"/>
          </p:cNvSpPr>
          <p:nvPr>
            <p:ph type="body" idx="4294967295"/>
          </p:nvPr>
        </p:nvSpPr>
        <p:spPr>
          <a:xfrm>
            <a:off x="1487488" y="1516970"/>
            <a:ext cx="8856662" cy="4370427"/>
          </a:xfrm>
          <a:noFill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271463" eaLnBrk="1" hangingPunct="1">
              <a:lnSpc>
                <a:spcPct val="80000"/>
              </a:lnSpc>
              <a:buNone/>
            </a:pPr>
            <a:r>
              <a:rPr lang="ru-RU" sz="2000" b="1" dirty="0"/>
              <a:t>  </a:t>
            </a:r>
            <a:r>
              <a:rPr lang="ru-RU" sz="2000" b="1" dirty="0">
                <a:solidFill>
                  <a:srgbClr val="FFFF00"/>
                </a:solidFill>
              </a:rPr>
              <a:t>Генеральной дисперсией</a:t>
            </a:r>
            <a:r>
              <a:rPr lang="ru-RU" sz="2000" dirty="0">
                <a:solidFill>
                  <a:srgbClr val="FFFF00"/>
                </a:solidFill>
              </a:rPr>
              <a:t> </a:t>
            </a:r>
            <a:r>
              <a:rPr lang="ru-RU" sz="2000" i="1" dirty="0"/>
              <a:t>называют среднее арифметическое квадратов</a:t>
            </a:r>
          </a:p>
          <a:p>
            <a:pPr marL="0" indent="271463" eaLnBrk="1" hangingPunct="1">
              <a:lnSpc>
                <a:spcPct val="80000"/>
              </a:lnSpc>
              <a:buNone/>
            </a:pPr>
            <a:r>
              <a:rPr lang="ru-RU" sz="2000" i="1" dirty="0"/>
              <a:t>  отклонений значений генеральной совокупности от их среднего значения.</a:t>
            </a:r>
            <a:endParaRPr lang="ru-RU" sz="2000" dirty="0"/>
          </a:p>
          <a:p>
            <a:pPr marL="0" indent="271463" eaLnBrk="1" hangingPunct="1">
              <a:lnSpc>
                <a:spcPct val="80000"/>
              </a:lnSpc>
              <a:buNone/>
            </a:pPr>
            <a:endParaRPr lang="ru-RU" sz="2000" dirty="0"/>
          </a:p>
          <a:p>
            <a:pPr marL="0" indent="271463" eaLnBrk="1" hangingPunct="1">
              <a:lnSpc>
                <a:spcPct val="80000"/>
              </a:lnSpc>
              <a:buNone/>
            </a:pPr>
            <a:endParaRPr lang="ru-RU" sz="2000" dirty="0"/>
          </a:p>
          <a:p>
            <a:pPr marL="0" indent="271463" eaLnBrk="1" hangingPunct="1">
              <a:lnSpc>
                <a:spcPct val="80000"/>
              </a:lnSpc>
              <a:buNone/>
            </a:pPr>
            <a:r>
              <a:rPr lang="ru-RU" sz="2000" dirty="0"/>
              <a:t>Кроме дисперсий для характеристики рассеивания значений генеральной совокупности вокруг своего среднего пользуются другой характеристикой – </a:t>
            </a:r>
            <a:r>
              <a:rPr lang="ru-RU" sz="2000" i="1" dirty="0"/>
              <a:t>средним квадратическим отклонением</a:t>
            </a:r>
            <a:endParaRPr lang="ru-RU" sz="2000" dirty="0"/>
          </a:p>
          <a:p>
            <a:pPr marL="0" indent="271463" eaLnBrk="1" hangingPunct="1">
              <a:lnSpc>
                <a:spcPct val="80000"/>
              </a:lnSpc>
              <a:buNone/>
            </a:pPr>
            <a:r>
              <a:rPr lang="ru-RU" sz="2000" b="1" dirty="0"/>
              <a:t>  </a:t>
            </a:r>
            <a:r>
              <a:rPr lang="ru-RU" sz="2000" b="1" dirty="0">
                <a:solidFill>
                  <a:srgbClr val="FFFF00"/>
                </a:solidFill>
              </a:rPr>
              <a:t>Выборочной дисперсией</a:t>
            </a:r>
            <a:r>
              <a:rPr lang="ru-RU" sz="2000" dirty="0">
                <a:solidFill>
                  <a:srgbClr val="FFFF00"/>
                </a:solidFill>
              </a:rPr>
              <a:t> </a:t>
            </a:r>
            <a:r>
              <a:rPr lang="ru-RU" sz="2000" i="1" dirty="0"/>
              <a:t>называют среднее арифметическое </a:t>
            </a:r>
            <a:r>
              <a:rPr lang="ru-RU" sz="2000" i="1" dirty="0" smtClean="0"/>
              <a:t>квадратов </a:t>
            </a:r>
            <a:r>
              <a:rPr lang="ru-RU" sz="2000" i="1" dirty="0"/>
              <a:t>отклонений наблюдаемых значений выборки от их среднего значения.</a:t>
            </a:r>
          </a:p>
          <a:p>
            <a:pPr marL="0" indent="271463" eaLnBrk="1" hangingPunct="1">
              <a:lnSpc>
                <a:spcPct val="80000"/>
              </a:lnSpc>
              <a:buNone/>
            </a:pPr>
            <a:endParaRPr lang="ru-RU" sz="2000" i="1" dirty="0"/>
          </a:p>
          <a:p>
            <a:pPr marL="0" indent="271463" eaLnBrk="1" hangingPunct="1">
              <a:lnSpc>
                <a:spcPct val="80000"/>
              </a:lnSpc>
              <a:buNone/>
            </a:pPr>
            <a:endParaRPr lang="ru-RU" sz="2000" i="1" dirty="0"/>
          </a:p>
          <a:p>
            <a:pPr marL="0" indent="271463" eaLnBrk="1" hangingPunct="1">
              <a:lnSpc>
                <a:spcPct val="80000"/>
              </a:lnSpc>
              <a:buNone/>
            </a:pPr>
            <a:r>
              <a:rPr lang="ru-RU" sz="2000" dirty="0"/>
              <a:t>			– с повторениями</a:t>
            </a:r>
          </a:p>
          <a:p>
            <a:pPr marL="0" indent="271463" eaLnBrk="1" hangingPunct="1">
              <a:lnSpc>
                <a:spcPct val="80000"/>
              </a:lnSpc>
              <a:buNone/>
            </a:pPr>
            <a:endParaRPr lang="ru-RU" sz="2000" dirty="0"/>
          </a:p>
          <a:p>
            <a:pPr marL="0" indent="271463" eaLnBrk="1" hangingPunct="1">
              <a:lnSpc>
                <a:spcPct val="80000"/>
              </a:lnSpc>
              <a:buNone/>
            </a:pPr>
            <a:r>
              <a:rPr lang="ru-RU" sz="2000" dirty="0"/>
              <a:t>Для оценки рассеивания выборки служит выборочное среднеквадратическое отклонение.</a:t>
            </a:r>
          </a:p>
        </p:txBody>
      </p:sp>
      <p:sp>
        <p:nvSpPr>
          <p:cNvPr id="11269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000000"/>
              </a:solidFill>
            </a:endParaRPr>
          </a:p>
        </p:txBody>
      </p:sp>
      <p:graphicFrame>
        <p:nvGraphicFramePr>
          <p:cNvPr id="1127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712985"/>
              </p:ext>
            </p:extLst>
          </p:nvPr>
        </p:nvGraphicFramePr>
        <p:xfrm>
          <a:off x="1991519" y="2063751"/>
          <a:ext cx="2087563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43" name="Формула" r:id="rId5" imgW="1345616" imgH="393529" progId="Equation.3">
                  <p:embed/>
                </p:oleObj>
              </mc:Choice>
              <mc:Fallback>
                <p:oleObj name="Формула" r:id="rId5" imgW="1345616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519" y="2063751"/>
                        <a:ext cx="2087563" cy="604837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Rectangle 15"/>
          <p:cNvSpPr>
            <a:spLocks noChangeArrowheads="1"/>
          </p:cNvSpPr>
          <p:nvPr/>
        </p:nvSpPr>
        <p:spPr bwMode="auto">
          <a:xfrm>
            <a:off x="1524001" y="2863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000000"/>
              </a:solidFill>
            </a:endParaRPr>
          </a:p>
        </p:txBody>
      </p:sp>
      <p:graphicFrame>
        <p:nvGraphicFramePr>
          <p:cNvPr id="1127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3080755"/>
              </p:ext>
            </p:extLst>
          </p:nvPr>
        </p:nvGraphicFramePr>
        <p:xfrm>
          <a:off x="4784725" y="2060575"/>
          <a:ext cx="2262188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44" name="Уравнение" r:id="rId7" imgW="1511280" imgH="431640" progId="Equation.3">
                  <p:embed/>
                </p:oleObj>
              </mc:Choice>
              <mc:Fallback>
                <p:oleObj name="Уравнение" r:id="rId7" imgW="15112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4725" y="2060575"/>
                        <a:ext cx="2262188" cy="64611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Rectangle 16"/>
          <p:cNvSpPr>
            <a:spLocks noChangeArrowheads="1"/>
          </p:cNvSpPr>
          <p:nvPr/>
        </p:nvSpPr>
        <p:spPr bwMode="auto">
          <a:xfrm>
            <a:off x="1524001" y="3244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000000"/>
              </a:solidFill>
            </a:endParaRPr>
          </a:p>
        </p:txBody>
      </p:sp>
      <p:graphicFrame>
        <p:nvGraphicFramePr>
          <p:cNvPr id="1127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3540653"/>
              </p:ext>
            </p:extLst>
          </p:nvPr>
        </p:nvGraphicFramePr>
        <p:xfrm>
          <a:off x="7672388" y="2058988"/>
          <a:ext cx="210185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45" name="Уравнение" r:id="rId9" imgW="1358640" imgH="431640" progId="Equation.3">
                  <p:embed/>
                </p:oleObj>
              </mc:Choice>
              <mc:Fallback>
                <p:oleObj name="Уравнение" r:id="rId9" imgW="13586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2388" y="2058988"/>
                        <a:ext cx="2101850" cy="669925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5" name="Rectangle 19"/>
          <p:cNvSpPr>
            <a:spLocks noChangeArrowheads="1"/>
          </p:cNvSpPr>
          <p:nvPr/>
        </p:nvSpPr>
        <p:spPr bwMode="auto">
          <a:xfrm>
            <a:off x="1524001" y="28585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000000"/>
              </a:solidFill>
            </a:endParaRPr>
          </a:p>
        </p:txBody>
      </p:sp>
      <p:graphicFrame>
        <p:nvGraphicFramePr>
          <p:cNvPr id="1127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474601"/>
              </p:ext>
            </p:extLst>
          </p:nvPr>
        </p:nvGraphicFramePr>
        <p:xfrm>
          <a:off x="6843755" y="4191794"/>
          <a:ext cx="2447925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46" name="Формула" r:id="rId11" imgW="1459866" imgH="393529" progId="Equation.3">
                  <p:embed/>
                </p:oleObj>
              </mc:Choice>
              <mc:Fallback>
                <p:oleObj name="Формула" r:id="rId11" imgW="1459866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3755" y="4191794"/>
                        <a:ext cx="2447925" cy="655638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7" name="Rectangle 20"/>
          <p:cNvSpPr>
            <a:spLocks noChangeArrowheads="1"/>
          </p:cNvSpPr>
          <p:nvPr/>
        </p:nvSpPr>
        <p:spPr bwMode="auto">
          <a:xfrm>
            <a:off x="1524001" y="32490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000000"/>
              </a:solidFill>
            </a:endParaRPr>
          </a:p>
        </p:txBody>
      </p:sp>
      <p:graphicFrame>
        <p:nvGraphicFramePr>
          <p:cNvPr id="1127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2992002"/>
              </p:ext>
            </p:extLst>
          </p:nvPr>
        </p:nvGraphicFramePr>
        <p:xfrm>
          <a:off x="1919289" y="4282232"/>
          <a:ext cx="2232025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47" name="Формула" r:id="rId13" imgW="1371600" imgH="381000" progId="Equation.3">
                  <p:embed/>
                </p:oleObj>
              </mc:Choice>
              <mc:Fallback>
                <p:oleObj name="Формула" r:id="rId13" imgW="13716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4282232"/>
                        <a:ext cx="2232025" cy="62071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38966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3989" y="1322910"/>
            <a:ext cx="6191250" cy="553998"/>
          </a:xfrm>
          <a:noFill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ru-RU" sz="3600" b="1" dirty="0"/>
              <a:t>Интервальные оценки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631951" y="2297633"/>
            <a:ext cx="8785225" cy="3139321"/>
          </a:xfrm>
          <a:noFill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ru-RU" sz="2800" b="1" dirty="0"/>
              <a:t>   Интервальной оценкой</a:t>
            </a:r>
            <a:r>
              <a:rPr lang="ru-RU" sz="2800" dirty="0"/>
              <a:t> </a:t>
            </a:r>
            <a:r>
              <a:rPr lang="ru-RU" sz="2800" i="1" dirty="0"/>
              <a:t>называют оценку,</a:t>
            </a:r>
          </a:p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ru-RU" sz="2800" i="1" dirty="0"/>
              <a:t>   определяющуюся двумя концами интервала.</a:t>
            </a:r>
            <a:endParaRPr lang="ru-RU" sz="2800" dirty="0"/>
          </a:p>
          <a:p>
            <a:pPr marL="0" indent="180975" algn="just" eaLnBrk="1" hangingPunct="1">
              <a:spcBef>
                <a:spcPct val="0"/>
              </a:spcBef>
              <a:buNone/>
            </a:pPr>
            <a:endParaRPr lang="ru-RU" sz="2800" dirty="0"/>
          </a:p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ru-RU" sz="2400" dirty="0"/>
              <a:t>При выборке малого объема точечная оценка может значительно отличаться от оцениваемого параметра, что приводит к грубым ошибкам. По этой причине при небольшом объеме выборки следует пользоваться другими оценками. Интервальные оценки позволяют определить точность и надежность оценок.</a:t>
            </a:r>
          </a:p>
        </p:txBody>
      </p:sp>
    </p:spTree>
    <p:extLst>
      <p:ext uri="{BB962C8B-B14F-4D97-AF65-F5344CB8AC3E}">
        <p14:creationId xmlns:p14="http://schemas.microsoft.com/office/powerpoint/2010/main" val="3656513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855169" y="729286"/>
            <a:ext cx="6130925" cy="553998"/>
          </a:xfrm>
          <a:noFill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ru-RU" sz="3600" b="1" dirty="0"/>
              <a:t>Точность и надежность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1566636" y="1431925"/>
            <a:ext cx="8928100" cy="5318379"/>
          </a:xfrm>
          <a:noFill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en-US" sz="1800" dirty="0"/>
              <a:t> </a:t>
            </a:r>
            <a:r>
              <a:rPr lang="ru-RU" sz="1800" dirty="0" smtClean="0"/>
              <a:t>Пусть </a:t>
            </a:r>
            <a:r>
              <a:rPr lang="ru-RU" sz="1800" dirty="0"/>
              <a:t>найденная по данной выборке статистическая характеристика </a:t>
            </a:r>
            <a:r>
              <a:rPr lang="el-GR" sz="1800" dirty="0">
                <a:cs typeface="Times New Roman" panose="02020603050405020304" pitchFamily="18" charset="0"/>
              </a:rPr>
              <a:t>θ</a:t>
            </a:r>
            <a:r>
              <a:rPr lang="ru-RU" sz="1800" b="1" baseline="30000" dirty="0">
                <a:cs typeface="Times New Roman" panose="02020603050405020304" pitchFamily="18" charset="0"/>
              </a:rPr>
              <a:t>*</a:t>
            </a:r>
            <a:r>
              <a:rPr lang="ru-RU" sz="1800" dirty="0">
                <a:cs typeface="Times New Roman" panose="02020603050405020304" pitchFamily="18" charset="0"/>
              </a:rPr>
              <a:t> служит оценкой</a:t>
            </a:r>
          </a:p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sz="1800" dirty="0">
                <a:cs typeface="Times New Roman" panose="02020603050405020304" pitchFamily="18" charset="0"/>
              </a:rPr>
              <a:t> неизвестного параметра </a:t>
            </a:r>
            <a:r>
              <a:rPr lang="el-GR" sz="1800" dirty="0">
                <a:cs typeface="Times New Roman" panose="02020603050405020304" pitchFamily="18" charset="0"/>
              </a:rPr>
              <a:t>θ</a:t>
            </a:r>
            <a:r>
              <a:rPr lang="ru-RU" sz="1800" dirty="0">
                <a:cs typeface="Times New Roman" panose="02020603050405020304" pitchFamily="18" charset="0"/>
              </a:rPr>
              <a:t> генеральной совокупности. Будем считать </a:t>
            </a:r>
            <a:r>
              <a:rPr lang="el-GR" sz="1800" dirty="0">
                <a:cs typeface="Times New Roman" panose="02020603050405020304" pitchFamily="18" charset="0"/>
              </a:rPr>
              <a:t>θ</a:t>
            </a:r>
            <a:r>
              <a:rPr lang="ru-RU" sz="1800" dirty="0">
                <a:cs typeface="Times New Roman" panose="02020603050405020304" pitchFamily="18" charset="0"/>
              </a:rPr>
              <a:t> постоянным</a:t>
            </a:r>
          </a:p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sz="1800" dirty="0">
                <a:cs typeface="Times New Roman" panose="02020603050405020304" pitchFamily="18" charset="0"/>
              </a:rPr>
              <a:t> числом. </a:t>
            </a:r>
            <a:r>
              <a:rPr lang="el-GR" sz="1800" dirty="0">
                <a:cs typeface="Times New Roman" panose="02020603050405020304" pitchFamily="18" charset="0"/>
              </a:rPr>
              <a:t>θ</a:t>
            </a:r>
            <a:r>
              <a:rPr lang="ru-RU" sz="1800" b="1" baseline="30000" dirty="0">
                <a:cs typeface="Times New Roman" panose="02020603050405020304" pitchFamily="18" charset="0"/>
              </a:rPr>
              <a:t>*</a:t>
            </a:r>
            <a:r>
              <a:rPr lang="ru-RU" sz="1800" dirty="0">
                <a:cs typeface="Times New Roman" panose="02020603050405020304" pitchFamily="18" charset="0"/>
              </a:rPr>
              <a:t> будет тем точнее определять параметр </a:t>
            </a:r>
            <a:r>
              <a:rPr lang="el-GR" sz="1800" dirty="0">
                <a:cs typeface="Times New Roman" panose="02020603050405020304" pitchFamily="18" charset="0"/>
              </a:rPr>
              <a:t>θ</a:t>
            </a:r>
            <a:r>
              <a:rPr lang="ru-RU" sz="1800" dirty="0">
                <a:cs typeface="Times New Roman" panose="02020603050405020304" pitchFamily="18" charset="0"/>
              </a:rPr>
              <a:t>, чем меньше абсолютная величина</a:t>
            </a:r>
          </a:p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sz="1800" dirty="0">
                <a:cs typeface="Times New Roman" panose="02020603050405020304" pitchFamily="18" charset="0"/>
              </a:rPr>
              <a:t> разности </a:t>
            </a:r>
            <a:r>
              <a:rPr lang="en-US" sz="1800" dirty="0">
                <a:cs typeface="Times New Roman" panose="02020603050405020304" pitchFamily="18" charset="0"/>
              </a:rPr>
              <a:t>|</a:t>
            </a:r>
            <a:r>
              <a:rPr lang="el-GR" sz="1800" dirty="0">
                <a:cs typeface="Times New Roman" panose="02020603050405020304" pitchFamily="18" charset="0"/>
              </a:rPr>
              <a:t>θ</a:t>
            </a:r>
            <a:r>
              <a:rPr lang="en-US" sz="1800" dirty="0">
                <a:cs typeface="Times New Roman" panose="02020603050405020304" pitchFamily="18" charset="0"/>
              </a:rPr>
              <a:t>­</a:t>
            </a:r>
            <a:r>
              <a:rPr lang="ru-RU" sz="1800" dirty="0"/>
              <a:t>‍-</a:t>
            </a:r>
            <a:r>
              <a:rPr lang="el-GR" sz="1800" dirty="0">
                <a:cs typeface="Times New Roman" panose="02020603050405020304" pitchFamily="18" charset="0"/>
              </a:rPr>
              <a:t>θ</a:t>
            </a:r>
            <a:r>
              <a:rPr lang="ru-RU" sz="1800" b="1" baseline="30000" dirty="0">
                <a:cs typeface="Times New Roman" panose="02020603050405020304" pitchFamily="18" charset="0"/>
              </a:rPr>
              <a:t>*</a:t>
            </a:r>
            <a:r>
              <a:rPr lang="en-US" sz="1800" dirty="0">
                <a:cs typeface="Times New Roman" panose="02020603050405020304" pitchFamily="18" charset="0"/>
              </a:rPr>
              <a:t>|&lt;</a:t>
            </a:r>
            <a:r>
              <a:rPr lang="el-GR" sz="1800" dirty="0">
                <a:cs typeface="Times New Roman" panose="02020603050405020304" pitchFamily="18" charset="0"/>
              </a:rPr>
              <a:t>ε</a:t>
            </a:r>
            <a:r>
              <a:rPr lang="ru-RU" sz="1800" dirty="0">
                <a:cs typeface="Times New Roman" panose="02020603050405020304" pitchFamily="18" charset="0"/>
              </a:rPr>
              <a:t>. Чем  меньше </a:t>
            </a:r>
            <a:r>
              <a:rPr lang="el-GR" sz="1800" dirty="0">
                <a:cs typeface="Times New Roman" panose="02020603050405020304" pitchFamily="18" charset="0"/>
              </a:rPr>
              <a:t>ε</a:t>
            </a:r>
            <a:r>
              <a:rPr lang="ru-RU" sz="1800" dirty="0">
                <a:cs typeface="Times New Roman" panose="02020603050405020304" pitchFamily="18" charset="0"/>
              </a:rPr>
              <a:t>, тем точнее оценка.</a:t>
            </a:r>
          </a:p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sz="1800" dirty="0">
                <a:cs typeface="Times New Roman" panose="02020603050405020304" pitchFamily="18" charset="0"/>
              </a:rPr>
              <a:t>Однако статистические методы не позволяют категорически утверждать, что </a:t>
            </a:r>
            <a:r>
              <a:rPr lang="el-GR" sz="1800" dirty="0">
                <a:cs typeface="Times New Roman" panose="02020603050405020304" pitchFamily="18" charset="0"/>
              </a:rPr>
              <a:t>θ</a:t>
            </a:r>
            <a:r>
              <a:rPr lang="ru-RU" sz="1800" b="1" baseline="30000" dirty="0">
                <a:cs typeface="Times New Roman" panose="02020603050405020304" pitchFamily="18" charset="0"/>
              </a:rPr>
              <a:t>*</a:t>
            </a:r>
          </a:p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sz="1800" dirty="0">
                <a:cs typeface="Times New Roman" panose="02020603050405020304" pitchFamily="18" charset="0"/>
              </a:rPr>
              <a:t> удовлетворяет условию </a:t>
            </a:r>
            <a:r>
              <a:rPr lang="en-US" sz="1800" dirty="0">
                <a:cs typeface="Times New Roman" panose="02020603050405020304" pitchFamily="18" charset="0"/>
              </a:rPr>
              <a:t>|</a:t>
            </a:r>
            <a:r>
              <a:rPr lang="el-GR" sz="1800" dirty="0">
                <a:cs typeface="Times New Roman" panose="02020603050405020304" pitchFamily="18" charset="0"/>
              </a:rPr>
              <a:t>θ</a:t>
            </a:r>
            <a:r>
              <a:rPr lang="ru-RU" sz="1800" dirty="0">
                <a:cs typeface="Times New Roman" panose="02020603050405020304" pitchFamily="18" charset="0"/>
              </a:rPr>
              <a:t>-</a:t>
            </a:r>
            <a:r>
              <a:rPr lang="en-US" sz="1800" dirty="0">
                <a:cs typeface="Times New Roman" panose="02020603050405020304" pitchFamily="18" charset="0"/>
              </a:rPr>
              <a:t>­</a:t>
            </a:r>
            <a:r>
              <a:rPr lang="ru-RU" sz="1800" dirty="0"/>
              <a:t>‍</a:t>
            </a:r>
            <a:r>
              <a:rPr lang="el-GR" sz="1800" dirty="0">
                <a:cs typeface="Times New Roman" panose="02020603050405020304" pitchFamily="18" charset="0"/>
              </a:rPr>
              <a:t>θ</a:t>
            </a:r>
            <a:r>
              <a:rPr lang="ru-RU" sz="1800" b="1" baseline="30000" dirty="0">
                <a:cs typeface="Times New Roman" panose="02020603050405020304" pitchFamily="18" charset="0"/>
              </a:rPr>
              <a:t>*</a:t>
            </a:r>
            <a:r>
              <a:rPr lang="en-US" sz="1800" dirty="0">
                <a:cs typeface="Times New Roman" panose="02020603050405020304" pitchFamily="18" charset="0"/>
              </a:rPr>
              <a:t>|&lt;</a:t>
            </a:r>
            <a:r>
              <a:rPr lang="el-GR" sz="1800" dirty="0">
                <a:cs typeface="Times New Roman" panose="02020603050405020304" pitchFamily="18" charset="0"/>
              </a:rPr>
              <a:t>ε</a:t>
            </a:r>
            <a:r>
              <a:rPr lang="ru-RU" sz="1800" dirty="0">
                <a:cs typeface="Times New Roman" panose="02020603050405020304" pitchFamily="18" charset="0"/>
              </a:rPr>
              <a:t>, а можно лишь говорить о вероятности, с которой это</a:t>
            </a:r>
          </a:p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sz="1800" dirty="0">
                <a:cs typeface="Times New Roman" panose="02020603050405020304" pitchFamily="18" charset="0"/>
              </a:rPr>
              <a:t> неравенство осуществляется: </a:t>
            </a:r>
            <a:r>
              <a:rPr lang="en-US" sz="1800" dirty="0">
                <a:cs typeface="Times New Roman" panose="02020603050405020304" pitchFamily="18" charset="0"/>
              </a:rPr>
              <a:t>P(|</a:t>
            </a:r>
            <a:r>
              <a:rPr lang="el-GR" sz="1800" dirty="0">
                <a:cs typeface="Times New Roman" panose="02020603050405020304" pitchFamily="18" charset="0"/>
              </a:rPr>
              <a:t>θ</a:t>
            </a:r>
            <a:r>
              <a:rPr lang="en-US" sz="1800" dirty="0">
                <a:cs typeface="Times New Roman" panose="02020603050405020304" pitchFamily="18" charset="0"/>
              </a:rPr>
              <a:t>­</a:t>
            </a:r>
            <a:r>
              <a:rPr lang="ru-RU" sz="1800" dirty="0"/>
              <a:t>‍-</a:t>
            </a:r>
            <a:r>
              <a:rPr lang="el-GR" sz="1800" dirty="0">
                <a:cs typeface="Times New Roman" panose="02020603050405020304" pitchFamily="18" charset="0"/>
              </a:rPr>
              <a:t>θ</a:t>
            </a:r>
            <a:r>
              <a:rPr lang="ru-RU" sz="1800" b="1" baseline="30000" dirty="0">
                <a:cs typeface="Times New Roman" panose="02020603050405020304" pitchFamily="18" charset="0"/>
              </a:rPr>
              <a:t>*</a:t>
            </a:r>
            <a:r>
              <a:rPr lang="en-US" sz="1800" dirty="0">
                <a:cs typeface="Times New Roman" panose="02020603050405020304" pitchFamily="18" charset="0"/>
              </a:rPr>
              <a:t>|&lt;</a:t>
            </a:r>
            <a:r>
              <a:rPr lang="el-GR" sz="1800" dirty="0">
                <a:cs typeface="Times New Roman" panose="02020603050405020304" pitchFamily="18" charset="0"/>
              </a:rPr>
              <a:t>ε</a:t>
            </a:r>
            <a:r>
              <a:rPr lang="en-US" sz="1800" dirty="0">
                <a:cs typeface="Times New Roman" panose="02020603050405020304" pitchFamily="18" charset="0"/>
              </a:rPr>
              <a:t>)=</a:t>
            </a:r>
            <a:r>
              <a:rPr lang="el-GR" sz="1800" dirty="0">
                <a:cs typeface="Times New Roman" panose="02020603050405020304" pitchFamily="18" charset="0"/>
              </a:rPr>
              <a:t>β</a:t>
            </a:r>
            <a:endParaRPr lang="en-US" sz="1800" dirty="0">
              <a:cs typeface="Times New Roman" panose="02020603050405020304" pitchFamily="18" charset="0"/>
            </a:endParaRPr>
          </a:p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endParaRPr lang="en-US" sz="1800" dirty="0">
              <a:cs typeface="Times New Roman" panose="02020603050405020304" pitchFamily="18" charset="0"/>
            </a:endParaRPr>
          </a:p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sz="1800" b="1" dirty="0">
                <a:solidFill>
                  <a:srgbClr val="FFFF00"/>
                </a:solidFill>
                <a:cs typeface="Times New Roman" panose="02020603050405020304" pitchFamily="18" charset="0"/>
              </a:rPr>
              <a:t>Надежностью</a:t>
            </a:r>
            <a:r>
              <a:rPr lang="ru-RU" sz="1800" dirty="0">
                <a:cs typeface="Times New Roman" panose="02020603050405020304" pitchFamily="18" charset="0"/>
              </a:rPr>
              <a:t> </a:t>
            </a:r>
            <a:r>
              <a:rPr lang="ru-RU" sz="1800" i="1" dirty="0">
                <a:cs typeface="Times New Roman" panose="02020603050405020304" pitchFamily="18" charset="0"/>
              </a:rPr>
              <a:t>(доверительной вероятностью) оценки </a:t>
            </a:r>
            <a:r>
              <a:rPr lang="el-GR" sz="1800" i="1" dirty="0">
                <a:cs typeface="Times New Roman" panose="02020603050405020304" pitchFamily="18" charset="0"/>
              </a:rPr>
              <a:t>θ</a:t>
            </a:r>
            <a:r>
              <a:rPr lang="ru-RU" sz="1800" i="1" dirty="0">
                <a:cs typeface="Times New Roman" panose="02020603050405020304" pitchFamily="18" charset="0"/>
              </a:rPr>
              <a:t> по </a:t>
            </a:r>
            <a:r>
              <a:rPr lang="ru-RU" sz="1800" i="1" dirty="0"/>
              <a:t>‍</a:t>
            </a:r>
            <a:r>
              <a:rPr lang="el-GR" sz="1800" i="1" dirty="0">
                <a:cs typeface="Times New Roman" panose="02020603050405020304" pitchFamily="18" charset="0"/>
              </a:rPr>
              <a:t>θ</a:t>
            </a:r>
            <a:r>
              <a:rPr lang="ru-RU" sz="1800" b="1" i="1" baseline="30000" dirty="0">
                <a:cs typeface="Times New Roman" panose="02020603050405020304" pitchFamily="18" charset="0"/>
              </a:rPr>
              <a:t>*</a:t>
            </a:r>
            <a:r>
              <a:rPr lang="ru-RU" sz="1800" i="1" dirty="0">
                <a:cs typeface="Times New Roman" panose="02020603050405020304" pitchFamily="18" charset="0"/>
              </a:rPr>
              <a:t> называется</a:t>
            </a:r>
          </a:p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sz="1800" i="1" dirty="0">
                <a:cs typeface="Times New Roman" panose="02020603050405020304" pitchFamily="18" charset="0"/>
              </a:rPr>
              <a:t>вероятность </a:t>
            </a:r>
            <a:r>
              <a:rPr lang="el-GR" sz="1800" i="1" dirty="0">
                <a:cs typeface="Times New Roman" panose="02020603050405020304" pitchFamily="18" charset="0"/>
              </a:rPr>
              <a:t>β</a:t>
            </a:r>
            <a:r>
              <a:rPr lang="ru-RU" sz="1800" i="1" dirty="0">
                <a:cs typeface="Times New Roman" panose="02020603050405020304" pitchFamily="18" charset="0"/>
              </a:rPr>
              <a:t>, с которой осуществляется неравенство </a:t>
            </a:r>
            <a:r>
              <a:rPr lang="en-US" sz="1800" i="1" dirty="0">
                <a:cs typeface="Times New Roman" panose="02020603050405020304" pitchFamily="18" charset="0"/>
              </a:rPr>
              <a:t>|</a:t>
            </a:r>
            <a:r>
              <a:rPr lang="el-GR" sz="1800" i="1" dirty="0">
                <a:cs typeface="Times New Roman" panose="02020603050405020304" pitchFamily="18" charset="0"/>
              </a:rPr>
              <a:t>θ</a:t>
            </a:r>
            <a:r>
              <a:rPr lang="ru-RU" sz="1800" i="1" dirty="0">
                <a:cs typeface="Times New Roman" panose="02020603050405020304" pitchFamily="18" charset="0"/>
              </a:rPr>
              <a:t>-</a:t>
            </a:r>
            <a:r>
              <a:rPr lang="en-US" sz="1800" i="1" dirty="0">
                <a:cs typeface="Times New Roman" panose="02020603050405020304" pitchFamily="18" charset="0"/>
              </a:rPr>
              <a:t>­</a:t>
            </a:r>
            <a:r>
              <a:rPr lang="ru-RU" sz="1800" i="1" dirty="0"/>
              <a:t>‍</a:t>
            </a:r>
            <a:r>
              <a:rPr lang="el-GR" sz="1800" i="1" dirty="0">
                <a:cs typeface="Times New Roman" panose="02020603050405020304" pitchFamily="18" charset="0"/>
              </a:rPr>
              <a:t>θ</a:t>
            </a:r>
            <a:r>
              <a:rPr lang="ru-RU" sz="1800" b="1" i="1" baseline="30000" dirty="0">
                <a:cs typeface="Times New Roman" panose="02020603050405020304" pitchFamily="18" charset="0"/>
              </a:rPr>
              <a:t>*</a:t>
            </a:r>
            <a:r>
              <a:rPr lang="en-US" sz="1800" i="1" dirty="0">
                <a:cs typeface="Times New Roman" panose="02020603050405020304" pitchFamily="18" charset="0"/>
              </a:rPr>
              <a:t>|&lt;</a:t>
            </a:r>
            <a:r>
              <a:rPr lang="el-GR" sz="1800" i="1" dirty="0">
                <a:cs typeface="Times New Roman" panose="02020603050405020304" pitchFamily="18" charset="0"/>
              </a:rPr>
              <a:t>ε</a:t>
            </a:r>
            <a:r>
              <a:rPr lang="ru-RU" sz="1800" i="1" dirty="0">
                <a:cs typeface="Times New Roman" panose="02020603050405020304" pitchFamily="18" charset="0"/>
              </a:rPr>
              <a:t>.</a:t>
            </a:r>
          </a:p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endParaRPr lang="ru-RU" sz="1800" dirty="0">
              <a:cs typeface="Times New Roman" panose="02020603050405020304" pitchFamily="18" charset="0"/>
            </a:endParaRPr>
          </a:p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sz="1800" dirty="0">
                <a:cs typeface="Times New Roman" panose="02020603050405020304" pitchFamily="18" charset="0"/>
              </a:rPr>
              <a:t>Обычно надежность оказывается заранее заданным числом, близким к 1. Наиболее</a:t>
            </a:r>
          </a:p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sz="1800" dirty="0">
                <a:cs typeface="Times New Roman" panose="02020603050405020304" pitchFamily="18" charset="0"/>
              </a:rPr>
              <a:t>частые значения </a:t>
            </a:r>
            <a:r>
              <a:rPr lang="el-GR" sz="1800" dirty="0">
                <a:cs typeface="Times New Roman" panose="02020603050405020304" pitchFamily="18" charset="0"/>
              </a:rPr>
              <a:t>β</a:t>
            </a:r>
            <a:r>
              <a:rPr lang="ru-RU" sz="1800" dirty="0">
                <a:cs typeface="Times New Roman" panose="02020603050405020304" pitchFamily="18" charset="0"/>
              </a:rPr>
              <a:t>: 0,95; 0,98; 0,99; 0,999.</a:t>
            </a:r>
          </a:p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sz="1800" dirty="0">
                <a:cs typeface="Times New Roman" panose="02020603050405020304" pitchFamily="18" charset="0"/>
              </a:rPr>
              <a:t>Соотношение </a:t>
            </a:r>
            <a:r>
              <a:rPr lang="en-US" sz="1800" dirty="0">
                <a:cs typeface="Times New Roman" panose="02020603050405020304" pitchFamily="18" charset="0"/>
              </a:rPr>
              <a:t>P(|</a:t>
            </a:r>
            <a:r>
              <a:rPr lang="el-GR" sz="1800" dirty="0">
                <a:cs typeface="Times New Roman" panose="02020603050405020304" pitchFamily="18" charset="0"/>
              </a:rPr>
              <a:t>θ</a:t>
            </a:r>
            <a:r>
              <a:rPr lang="en-US" sz="1800" dirty="0">
                <a:cs typeface="Times New Roman" panose="02020603050405020304" pitchFamily="18" charset="0"/>
              </a:rPr>
              <a:t>-</a:t>
            </a:r>
            <a:r>
              <a:rPr lang="ru-RU" sz="1800" dirty="0"/>
              <a:t>‍</a:t>
            </a:r>
            <a:r>
              <a:rPr lang="el-GR" sz="1800" dirty="0">
                <a:cs typeface="Times New Roman" panose="02020603050405020304" pitchFamily="18" charset="0"/>
              </a:rPr>
              <a:t>θ</a:t>
            </a:r>
            <a:r>
              <a:rPr lang="ru-RU" sz="1800" b="1" baseline="30000" dirty="0">
                <a:cs typeface="Times New Roman" panose="02020603050405020304" pitchFamily="18" charset="0"/>
              </a:rPr>
              <a:t>*</a:t>
            </a:r>
            <a:r>
              <a:rPr lang="en-US" sz="1800" dirty="0">
                <a:cs typeface="Times New Roman" panose="02020603050405020304" pitchFamily="18" charset="0"/>
              </a:rPr>
              <a:t>|&lt;</a:t>
            </a:r>
            <a:r>
              <a:rPr lang="el-GR" sz="1800" dirty="0">
                <a:cs typeface="Times New Roman" panose="02020603050405020304" pitchFamily="18" charset="0"/>
              </a:rPr>
              <a:t>ε</a:t>
            </a:r>
            <a:r>
              <a:rPr lang="en-US" sz="1800" dirty="0">
                <a:cs typeface="Times New Roman" panose="02020603050405020304" pitchFamily="18" charset="0"/>
              </a:rPr>
              <a:t>)=</a:t>
            </a:r>
            <a:r>
              <a:rPr lang="el-GR" sz="1800" dirty="0">
                <a:cs typeface="Times New Roman" panose="02020603050405020304" pitchFamily="18" charset="0"/>
              </a:rPr>
              <a:t>β</a:t>
            </a:r>
            <a:r>
              <a:rPr lang="ru-RU" sz="1800" dirty="0">
                <a:cs typeface="Times New Roman" panose="02020603050405020304" pitchFamily="18" charset="0"/>
              </a:rPr>
              <a:t> означает вероятность того, что интервал (</a:t>
            </a:r>
            <a:r>
              <a:rPr lang="el-GR" sz="1800" dirty="0">
                <a:cs typeface="Times New Roman" panose="02020603050405020304" pitchFamily="18" charset="0"/>
              </a:rPr>
              <a:t>θ</a:t>
            </a:r>
            <a:r>
              <a:rPr lang="ru-RU" sz="1800" b="1" baseline="30000" dirty="0">
                <a:cs typeface="Times New Roman" panose="02020603050405020304" pitchFamily="18" charset="0"/>
              </a:rPr>
              <a:t>*</a:t>
            </a:r>
            <a:r>
              <a:rPr lang="ru-RU" sz="1800" dirty="0"/>
              <a:t>– </a:t>
            </a:r>
            <a:r>
              <a:rPr lang="el-GR" sz="1800" dirty="0">
                <a:cs typeface="Times New Roman" panose="02020603050405020304" pitchFamily="18" charset="0"/>
              </a:rPr>
              <a:t>ε</a:t>
            </a:r>
            <a:r>
              <a:rPr lang="ru-RU" sz="1800" dirty="0">
                <a:cs typeface="Times New Roman" panose="02020603050405020304" pitchFamily="18" charset="0"/>
              </a:rPr>
              <a:t>; </a:t>
            </a:r>
            <a:r>
              <a:rPr lang="el-GR" sz="1800" dirty="0">
                <a:cs typeface="Times New Roman" panose="02020603050405020304" pitchFamily="18" charset="0"/>
              </a:rPr>
              <a:t>θ</a:t>
            </a:r>
            <a:r>
              <a:rPr lang="ru-RU" sz="1800" b="1" baseline="30000" dirty="0">
                <a:cs typeface="Times New Roman" panose="02020603050405020304" pitchFamily="18" charset="0"/>
              </a:rPr>
              <a:t>*</a:t>
            </a:r>
            <a:r>
              <a:rPr lang="ru-RU" sz="1800" dirty="0">
                <a:cs typeface="Times New Roman" panose="02020603050405020304" pitchFamily="18" charset="0"/>
              </a:rPr>
              <a:t>+</a:t>
            </a:r>
            <a:r>
              <a:rPr lang="el-GR" sz="1800" dirty="0">
                <a:cs typeface="Times New Roman" panose="02020603050405020304" pitchFamily="18" charset="0"/>
              </a:rPr>
              <a:t>ε</a:t>
            </a:r>
            <a:r>
              <a:rPr lang="ru-RU" sz="1800" dirty="0">
                <a:cs typeface="Times New Roman" panose="02020603050405020304" pitchFamily="18" charset="0"/>
              </a:rPr>
              <a:t>)</a:t>
            </a:r>
          </a:p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sz="1800" dirty="0">
                <a:cs typeface="Times New Roman" panose="02020603050405020304" pitchFamily="18" charset="0"/>
              </a:rPr>
              <a:t>заключает в себя (покрывает) неизвестный параметр </a:t>
            </a:r>
            <a:r>
              <a:rPr lang="el-GR" sz="1800" dirty="0">
                <a:cs typeface="Times New Roman" panose="02020603050405020304" pitchFamily="18" charset="0"/>
              </a:rPr>
              <a:t>θ</a:t>
            </a:r>
            <a:r>
              <a:rPr lang="ru-RU" sz="1800" dirty="0">
                <a:cs typeface="Times New Roman" panose="02020603050405020304" pitchFamily="18" charset="0"/>
              </a:rPr>
              <a:t>, равна доверительной</a:t>
            </a:r>
          </a:p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sz="1800" dirty="0">
                <a:cs typeface="Times New Roman" panose="02020603050405020304" pitchFamily="18" charset="0"/>
              </a:rPr>
              <a:t>вероятности </a:t>
            </a:r>
            <a:r>
              <a:rPr lang="el-GR" sz="1800" dirty="0">
                <a:cs typeface="Times New Roman" panose="02020603050405020304" pitchFamily="18" charset="0"/>
              </a:rPr>
              <a:t>β</a:t>
            </a:r>
            <a:r>
              <a:rPr lang="ru-RU" sz="1800" dirty="0">
                <a:cs typeface="Times New Roman" panose="02020603050405020304" pitchFamily="18" charset="0"/>
              </a:rPr>
              <a:t>.</a:t>
            </a:r>
          </a:p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endParaRPr lang="ru-RU" sz="1800" dirty="0">
              <a:cs typeface="Times New Roman" panose="02020603050405020304" pitchFamily="18" charset="0"/>
            </a:endParaRPr>
          </a:p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sz="1800" b="1" dirty="0">
                <a:cs typeface="Times New Roman" panose="02020603050405020304" pitchFamily="18" charset="0"/>
              </a:rPr>
              <a:t> </a:t>
            </a:r>
            <a:r>
              <a:rPr lang="ru-RU" sz="1800" b="1" dirty="0">
                <a:solidFill>
                  <a:srgbClr val="FFFF00"/>
                </a:solidFill>
                <a:cs typeface="Times New Roman" panose="02020603050405020304" pitchFamily="18" charset="0"/>
              </a:rPr>
              <a:t>Доверительным интервалом </a:t>
            </a:r>
            <a:r>
              <a:rPr lang="ru-RU" sz="1800" i="1" dirty="0">
                <a:cs typeface="Times New Roman" panose="02020603050405020304" pitchFamily="18" charset="0"/>
              </a:rPr>
              <a:t>называется интервал (</a:t>
            </a:r>
            <a:r>
              <a:rPr lang="el-GR" sz="1800" i="1" dirty="0">
                <a:cs typeface="Times New Roman" panose="02020603050405020304" pitchFamily="18" charset="0"/>
              </a:rPr>
              <a:t>θ</a:t>
            </a:r>
            <a:r>
              <a:rPr lang="ru-RU" sz="1800" b="1" i="1" baseline="30000" dirty="0">
                <a:cs typeface="Times New Roman" panose="02020603050405020304" pitchFamily="18" charset="0"/>
              </a:rPr>
              <a:t>*</a:t>
            </a:r>
            <a:r>
              <a:rPr lang="ru-RU" sz="1800" i="1" dirty="0"/>
              <a:t>– </a:t>
            </a:r>
            <a:r>
              <a:rPr lang="el-GR" sz="1800" i="1" dirty="0">
                <a:cs typeface="Times New Roman" panose="02020603050405020304" pitchFamily="18" charset="0"/>
              </a:rPr>
              <a:t>ε</a:t>
            </a:r>
            <a:r>
              <a:rPr lang="ru-RU" sz="1800" i="1" dirty="0">
                <a:cs typeface="Times New Roman" panose="02020603050405020304" pitchFamily="18" charset="0"/>
              </a:rPr>
              <a:t>; </a:t>
            </a:r>
            <a:r>
              <a:rPr lang="el-GR" sz="1800" i="1" dirty="0">
                <a:cs typeface="Times New Roman" panose="02020603050405020304" pitchFamily="18" charset="0"/>
              </a:rPr>
              <a:t>θ</a:t>
            </a:r>
            <a:r>
              <a:rPr lang="ru-RU" sz="1800" b="1" i="1" baseline="30000" dirty="0">
                <a:cs typeface="Times New Roman" panose="02020603050405020304" pitchFamily="18" charset="0"/>
              </a:rPr>
              <a:t>*</a:t>
            </a:r>
            <a:r>
              <a:rPr lang="ru-RU" sz="1800" i="1" dirty="0">
                <a:cs typeface="Times New Roman" panose="02020603050405020304" pitchFamily="18" charset="0"/>
              </a:rPr>
              <a:t>+</a:t>
            </a:r>
            <a:r>
              <a:rPr lang="el-GR" sz="1800" i="1" dirty="0">
                <a:cs typeface="Times New Roman" panose="02020603050405020304" pitchFamily="18" charset="0"/>
              </a:rPr>
              <a:t>ε</a:t>
            </a:r>
            <a:r>
              <a:rPr lang="ru-RU" sz="1800" i="1" dirty="0">
                <a:cs typeface="Times New Roman" panose="02020603050405020304" pitchFamily="18" charset="0"/>
              </a:rPr>
              <a:t>), покрывающий</a:t>
            </a:r>
          </a:p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sz="1800" i="1" dirty="0">
                <a:cs typeface="Times New Roman" panose="02020603050405020304" pitchFamily="18" charset="0"/>
              </a:rPr>
              <a:t> неизвестный параметр </a:t>
            </a:r>
            <a:r>
              <a:rPr lang="el-GR" sz="1800" i="1" dirty="0">
                <a:cs typeface="Times New Roman" panose="02020603050405020304" pitchFamily="18" charset="0"/>
              </a:rPr>
              <a:t>θ</a:t>
            </a:r>
            <a:r>
              <a:rPr lang="ru-RU" sz="1800" i="1" dirty="0">
                <a:cs typeface="Times New Roman" panose="02020603050405020304" pitchFamily="18" charset="0"/>
              </a:rPr>
              <a:t> с надежностью </a:t>
            </a:r>
            <a:r>
              <a:rPr lang="el-GR" sz="1800" i="1" dirty="0">
                <a:cs typeface="Times New Roman" panose="02020603050405020304" pitchFamily="18" charset="0"/>
              </a:rPr>
              <a:t>β</a:t>
            </a:r>
            <a:r>
              <a:rPr lang="ru-RU" sz="1800" i="1" dirty="0">
                <a:cs typeface="Times New Roman" panose="02020603050405020304" pitchFamily="18" charset="0"/>
              </a:rPr>
              <a:t>.</a:t>
            </a:r>
          </a:p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endParaRPr lang="ru-RU" sz="1800" dirty="0">
              <a:cs typeface="Times New Roman" panose="02020603050405020304" pitchFamily="18" charset="0"/>
            </a:endParaRPr>
          </a:p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sz="1800" dirty="0">
                <a:cs typeface="Times New Roman" panose="02020603050405020304" pitchFamily="18" charset="0"/>
              </a:rPr>
              <a:t>Иногда вместо доверительной вероятности </a:t>
            </a:r>
            <a:r>
              <a:rPr lang="el-GR" sz="1800" dirty="0">
                <a:cs typeface="Times New Roman" panose="02020603050405020304" pitchFamily="18" charset="0"/>
              </a:rPr>
              <a:t>β</a:t>
            </a:r>
            <a:r>
              <a:rPr lang="ru-RU" sz="1800" dirty="0">
                <a:cs typeface="Times New Roman" panose="02020603050405020304" pitchFamily="18" charset="0"/>
              </a:rPr>
              <a:t> используют обратную величину – уровень</a:t>
            </a:r>
          </a:p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sz="1800" dirty="0">
                <a:cs typeface="Times New Roman" panose="02020603050405020304" pitchFamily="18" charset="0"/>
              </a:rPr>
              <a:t>значимости </a:t>
            </a:r>
            <a:r>
              <a:rPr lang="el-GR" sz="1800" dirty="0">
                <a:cs typeface="Times New Roman" panose="02020603050405020304" pitchFamily="18" charset="0"/>
              </a:rPr>
              <a:t>α</a:t>
            </a:r>
            <a:r>
              <a:rPr lang="ru-RU" sz="1800" dirty="0">
                <a:cs typeface="Times New Roman" panose="02020603050405020304" pitchFamily="18" charset="0"/>
              </a:rPr>
              <a:t> = 1–</a:t>
            </a:r>
            <a:r>
              <a:rPr lang="el-GR" sz="1800" dirty="0">
                <a:cs typeface="Times New Roman" panose="02020603050405020304" pitchFamily="18" charset="0"/>
              </a:rPr>
              <a:t>β</a:t>
            </a:r>
            <a:r>
              <a:rPr lang="ru-RU" sz="1800" dirty="0">
                <a:cs typeface="Times New Roman" panose="02020603050405020304" pitchFamily="18" charset="0"/>
              </a:rPr>
              <a:t>. Если </a:t>
            </a:r>
            <a:r>
              <a:rPr lang="el-GR" sz="1800" dirty="0">
                <a:cs typeface="Times New Roman" panose="02020603050405020304" pitchFamily="18" charset="0"/>
              </a:rPr>
              <a:t>β</a:t>
            </a:r>
            <a:r>
              <a:rPr lang="ru-RU" sz="1800" dirty="0">
                <a:cs typeface="Times New Roman" panose="02020603050405020304" pitchFamily="18" charset="0"/>
              </a:rPr>
              <a:t> – вероятность, что оцениваемый параметр попадет в</a:t>
            </a:r>
          </a:p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sz="1800" dirty="0">
                <a:cs typeface="Times New Roman" panose="02020603050405020304" pitchFamily="18" charset="0"/>
              </a:rPr>
              <a:t>интервал,  </a:t>
            </a:r>
            <a:r>
              <a:rPr lang="el-GR" sz="1800" dirty="0">
                <a:cs typeface="Times New Roman" panose="02020603050405020304" pitchFamily="18" charset="0"/>
              </a:rPr>
              <a:t>α</a:t>
            </a:r>
            <a:r>
              <a:rPr lang="ru-RU" sz="1800" dirty="0">
                <a:cs typeface="Times New Roman" panose="02020603050405020304" pitchFamily="18" charset="0"/>
              </a:rPr>
              <a:t> – вероятность, что не попадет. В статистических таблицах указывается</a:t>
            </a:r>
          </a:p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sz="1800" dirty="0">
                <a:cs typeface="Times New Roman" panose="02020603050405020304" pitchFamily="18" charset="0"/>
              </a:rPr>
              <a:t>именно </a:t>
            </a:r>
            <a:r>
              <a:rPr lang="el-GR" sz="1800" dirty="0">
                <a:cs typeface="Times New Roman" panose="02020603050405020304" pitchFamily="18" charset="0"/>
              </a:rPr>
              <a:t>α</a:t>
            </a:r>
            <a:r>
              <a:rPr lang="ru-RU" sz="1800" dirty="0">
                <a:cs typeface="Times New Roman" panose="02020603050405020304" pitchFamily="18" charset="0"/>
              </a:rPr>
              <a:t>.</a:t>
            </a:r>
            <a:endParaRPr lang="el-GR" sz="1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2932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616366" y="1218922"/>
            <a:ext cx="8578850" cy="1098550"/>
          </a:xfrm>
          <a:noFill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ru-RU" sz="3600" b="1" dirty="0"/>
              <a:t>Доверительный интервал для математического ожидания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616366" y="2610303"/>
            <a:ext cx="8928100" cy="3323987"/>
          </a:xfrm>
          <a:noFill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180975"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ru-RU" sz="2400" dirty="0"/>
              <a:t>Рассмотрим нахождение доверительного интервала для </a:t>
            </a:r>
            <a:r>
              <a:rPr lang="en-US" sz="2400" dirty="0"/>
              <a:t>M(X)</a:t>
            </a:r>
            <a:r>
              <a:rPr lang="ru-RU" sz="2400" dirty="0"/>
              <a:t> нормально распределенной СВ, т.е. нужно найти такой интервал, чтобы выполнялось следующее неравенство 			, т.е. данный интервал ширину 2</a:t>
            </a:r>
            <a:r>
              <a:rPr lang="el-GR" sz="2400" dirty="0">
                <a:cs typeface="Times New Roman" panose="02020603050405020304" pitchFamily="18" charset="0"/>
              </a:rPr>
              <a:t>ε</a:t>
            </a:r>
            <a:r>
              <a:rPr lang="ru-RU" sz="2400" dirty="0">
                <a:cs typeface="Times New Roman" panose="02020603050405020304" pitchFamily="18" charset="0"/>
              </a:rPr>
              <a:t>. Он обладает симметрией.</a:t>
            </a:r>
          </a:p>
          <a:p>
            <a:pPr marL="0" indent="180975"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ru-RU" sz="2400" dirty="0">
                <a:cs typeface="Times New Roman" panose="02020603050405020304" pitchFamily="18" charset="0"/>
              </a:rPr>
              <a:t>Вероятность того, что 		определяется:</a:t>
            </a:r>
          </a:p>
          <a:p>
            <a:pPr marL="0" indent="180975" algn="just" eaLnBrk="1" hangingPunct="1">
              <a:lnSpc>
                <a:spcPct val="90000"/>
              </a:lnSpc>
              <a:spcBef>
                <a:spcPct val="0"/>
              </a:spcBef>
              <a:buSzPct val="55000"/>
            </a:pPr>
            <a:r>
              <a:rPr lang="ru-RU" sz="2400" dirty="0">
                <a:cs typeface="Times New Roman" panose="02020603050405020304" pitchFamily="18" charset="0"/>
              </a:rPr>
              <a:t>законом нормального распределения, если известна </a:t>
            </a:r>
            <a:r>
              <a:rPr lang="en-US" sz="2400" dirty="0">
                <a:cs typeface="Times New Roman" panose="02020603050405020304" pitchFamily="18" charset="0"/>
              </a:rPr>
              <a:t>D(x)=</a:t>
            </a:r>
            <a:r>
              <a:rPr lang="el-GR" sz="2400" dirty="0">
                <a:cs typeface="Times New Roman" panose="02020603050405020304" pitchFamily="18" charset="0"/>
              </a:rPr>
              <a:t>σ</a:t>
            </a:r>
            <a:r>
              <a:rPr lang="ru-RU" sz="2400" baseline="30000" dirty="0">
                <a:cs typeface="Times New Roman" panose="02020603050405020304" pitchFamily="18" charset="0"/>
              </a:rPr>
              <a:t>2</a:t>
            </a:r>
            <a:endParaRPr lang="ru-RU" sz="2400" dirty="0">
              <a:cs typeface="Times New Roman" panose="02020603050405020304" pitchFamily="18" charset="0"/>
            </a:endParaRPr>
          </a:p>
          <a:p>
            <a:pPr marL="0" indent="180975" algn="just" eaLnBrk="1" hangingPunct="1">
              <a:lnSpc>
                <a:spcPct val="90000"/>
              </a:lnSpc>
              <a:spcBef>
                <a:spcPct val="0"/>
              </a:spcBef>
              <a:buSzPct val="55000"/>
            </a:pPr>
            <a:r>
              <a:rPr lang="ru-RU" sz="2400" dirty="0">
                <a:cs typeface="Times New Roman" panose="02020603050405020304" pitchFamily="18" charset="0"/>
              </a:rPr>
              <a:t>или распределением Стьюдента, если </a:t>
            </a:r>
            <a:r>
              <a:rPr lang="en-US" sz="2400" dirty="0">
                <a:cs typeface="Times New Roman" panose="02020603050405020304" pitchFamily="18" charset="0"/>
              </a:rPr>
              <a:t>D(x)</a:t>
            </a:r>
            <a:r>
              <a:rPr lang="ru-RU" sz="2400" dirty="0">
                <a:cs typeface="Times New Roman" panose="02020603050405020304" pitchFamily="18" charset="0"/>
              </a:rPr>
              <a:t> неизвестна, а подсчитана ее несмещенная оценка </a:t>
            </a:r>
            <a:r>
              <a:rPr lang="en-US" sz="2400" dirty="0">
                <a:cs typeface="Times New Roman" panose="02020603050405020304" pitchFamily="18" charset="0"/>
              </a:rPr>
              <a:t>S</a:t>
            </a:r>
            <a:r>
              <a:rPr lang="ru-RU" sz="2400" baseline="30000" dirty="0">
                <a:cs typeface="Times New Roman" panose="02020603050405020304" pitchFamily="18" charset="0"/>
              </a:rPr>
              <a:t>2</a:t>
            </a:r>
            <a:r>
              <a:rPr lang="ru-RU" sz="2400" dirty="0">
                <a:cs typeface="Times New Roman" panose="02020603050405020304" pitchFamily="18" charset="0"/>
              </a:rPr>
              <a:t>.</a:t>
            </a:r>
          </a:p>
          <a:p>
            <a:pPr marL="0" indent="180975" algn="just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ru-RU" sz="2400" dirty="0">
                <a:cs typeface="Times New Roman" panose="02020603050405020304" pitchFamily="18" charset="0"/>
              </a:rPr>
              <a:t>Критерий Стьюдента определяется таким параметром как степень свободы </a:t>
            </a:r>
            <a:r>
              <a:rPr lang="el-GR" sz="2400" i="1" dirty="0">
                <a:cs typeface="Times New Roman" panose="02020603050405020304" pitchFamily="18" charset="0"/>
              </a:rPr>
              <a:t>υ</a:t>
            </a:r>
            <a:r>
              <a:rPr lang="en-US" sz="2400" i="1" dirty="0">
                <a:cs typeface="Times New Roman" panose="02020603050405020304" pitchFamily="18" charset="0"/>
              </a:rPr>
              <a:t>=n–1</a:t>
            </a:r>
            <a:r>
              <a:rPr lang="ru-RU" sz="2400" dirty="0"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340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000000"/>
              </a:solidFill>
            </a:endParaRPr>
          </a:p>
        </p:txBody>
      </p:sp>
      <p:graphicFrame>
        <p:nvGraphicFramePr>
          <p:cNvPr id="143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258028"/>
              </p:ext>
            </p:extLst>
          </p:nvPr>
        </p:nvGraphicFramePr>
        <p:xfrm>
          <a:off x="7478308" y="3290888"/>
          <a:ext cx="230346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0" name="Формула" r:id="rId3" imgW="1447800" imgH="228600" progId="Equation.3">
                  <p:embed/>
                </p:oleObj>
              </mc:Choice>
              <mc:Fallback>
                <p:oleObj name="Формула" r:id="rId3" imgW="1447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8308" y="3290888"/>
                        <a:ext cx="2303463" cy="361950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Rectangle 10"/>
          <p:cNvSpPr>
            <a:spLocks noChangeArrowheads="1"/>
          </p:cNvSpPr>
          <p:nvPr/>
        </p:nvSpPr>
        <p:spPr bwMode="auto">
          <a:xfrm>
            <a:off x="1524001" y="31062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000000"/>
              </a:solidFill>
            </a:endParaRPr>
          </a:p>
        </p:txBody>
      </p:sp>
      <p:graphicFrame>
        <p:nvGraphicFramePr>
          <p:cNvPr id="1434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8674698"/>
              </p:ext>
            </p:extLst>
          </p:nvPr>
        </p:nvGraphicFramePr>
        <p:xfrm>
          <a:off x="4905034" y="3907877"/>
          <a:ext cx="12239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1" name="Формула" r:id="rId5" imgW="723586" imgH="279279" progId="Equation.3">
                  <p:embed/>
                </p:oleObj>
              </mc:Choice>
              <mc:Fallback>
                <p:oleObj name="Формула" r:id="rId5" imgW="723586" imgH="2792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5034" y="3907877"/>
                        <a:ext cx="1223963" cy="466725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49507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/>
          <p:cNvSpPr>
            <a:spLocks noGrp="1" noChangeArrowheads="1"/>
          </p:cNvSpPr>
          <p:nvPr>
            <p:ph type="title"/>
          </p:nvPr>
        </p:nvSpPr>
        <p:spPr>
          <a:xfrm>
            <a:off x="1909763" y="747670"/>
            <a:ext cx="8229600" cy="1107996"/>
          </a:xfrm>
          <a:noFill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ru-RU" sz="3600" b="1" dirty="0"/>
              <a:t>Расчет доверительных интервалов при неизвестной дисперсии</a:t>
            </a:r>
          </a:p>
        </p:txBody>
      </p:sp>
      <p:sp>
        <p:nvSpPr>
          <p:cNvPr id="2949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31951" y="1773238"/>
            <a:ext cx="8785225" cy="4862870"/>
          </a:xfr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180975" algn="just" eaLnBrk="1" hangingPunct="1">
              <a:spcBef>
                <a:spcPct val="0"/>
              </a:spcBef>
              <a:buNone/>
              <a:defRPr/>
            </a:pPr>
            <a:r>
              <a:rPr lang="ru-RU" sz="2800" dirty="0"/>
              <a:t>Если </a:t>
            </a:r>
            <a:r>
              <a:rPr lang="en-US" sz="2800" dirty="0"/>
              <a:t>D(x)</a:t>
            </a:r>
            <a:r>
              <a:rPr lang="ru-RU" sz="2800" dirty="0"/>
              <a:t> неизвестна, а ее несмещенная оценка </a:t>
            </a:r>
            <a:r>
              <a:rPr lang="en-US" sz="2800" dirty="0"/>
              <a:t>S</a:t>
            </a:r>
            <a:r>
              <a:rPr lang="en-US" sz="2800" baseline="30000" dirty="0"/>
              <a:t>2</a:t>
            </a:r>
            <a:r>
              <a:rPr lang="ru-RU" sz="2800" dirty="0"/>
              <a:t>, то в этом случае </a:t>
            </a:r>
            <a:r>
              <a:rPr lang="el-GR" sz="2600" i="1" dirty="0">
                <a:cs typeface="Times New Roman" panose="02020603050405020304" pitchFamily="18" charset="0"/>
              </a:rPr>
              <a:t>β</a:t>
            </a:r>
            <a:r>
              <a:rPr lang="ru-RU" sz="2600" dirty="0">
                <a:cs typeface="Times New Roman" panose="02020603050405020304" pitchFamily="18" charset="0"/>
              </a:rPr>
              <a:t> покрытия </a:t>
            </a:r>
            <a:r>
              <a:rPr lang="en-US" sz="2600" dirty="0">
                <a:cs typeface="Times New Roman" panose="02020603050405020304" pitchFamily="18" charset="0"/>
              </a:rPr>
              <a:t>M(x)</a:t>
            </a:r>
            <a:r>
              <a:rPr lang="ru-RU" sz="2600" dirty="0">
                <a:cs typeface="Times New Roman" panose="02020603050405020304" pitchFamily="18" charset="0"/>
              </a:rPr>
              <a:t> интервалом 	          вычисляют по закону распределения Стьюдента со степенью свободы </a:t>
            </a:r>
            <a:r>
              <a:rPr lang="el-GR" sz="2600" b="1" i="1" dirty="0">
                <a:cs typeface="Times New Roman" panose="02020603050405020304" pitchFamily="18" charset="0"/>
              </a:rPr>
              <a:t>υ</a:t>
            </a:r>
            <a:r>
              <a:rPr lang="ru-RU" sz="2600" b="1" i="1" dirty="0">
                <a:cs typeface="Times New Roman" panose="02020603050405020304" pitchFamily="18" charset="0"/>
              </a:rPr>
              <a:t>=</a:t>
            </a:r>
            <a:r>
              <a:rPr lang="en-US" sz="2600" b="1" i="1" dirty="0">
                <a:cs typeface="Times New Roman" panose="02020603050405020304" pitchFamily="18" charset="0"/>
              </a:rPr>
              <a:t>n–1</a:t>
            </a:r>
            <a:r>
              <a:rPr lang="ru-RU" sz="2600" dirty="0">
                <a:cs typeface="Times New Roman" panose="02020603050405020304" pitchFamily="18" charset="0"/>
              </a:rPr>
              <a:t> и </a:t>
            </a:r>
            <a:r>
              <a:rPr lang="el-GR" sz="2600" b="1" i="1" dirty="0">
                <a:cs typeface="Times New Roman" panose="02020603050405020304" pitchFamily="18" charset="0"/>
              </a:rPr>
              <a:t>α</a:t>
            </a:r>
            <a:r>
              <a:rPr lang="en-US" sz="2600" b="1" i="1" dirty="0">
                <a:cs typeface="Times New Roman" panose="02020603050405020304" pitchFamily="18" charset="0"/>
              </a:rPr>
              <a:t>=1–</a:t>
            </a:r>
            <a:r>
              <a:rPr lang="el-GR" sz="2600" b="1" i="1" dirty="0">
                <a:cs typeface="Times New Roman" panose="02020603050405020304" pitchFamily="18" charset="0"/>
              </a:rPr>
              <a:t>β</a:t>
            </a:r>
            <a:r>
              <a:rPr lang="ru-RU" sz="2600" dirty="0">
                <a:cs typeface="Times New Roman" panose="02020603050405020304" pitchFamily="18" charset="0"/>
              </a:rPr>
              <a:t>.</a:t>
            </a:r>
          </a:p>
          <a:p>
            <a:pPr marL="0" indent="180975" algn="just" eaLnBrk="1" hangingPunct="1">
              <a:spcBef>
                <a:spcPct val="0"/>
              </a:spcBef>
              <a:buNone/>
              <a:defRPr/>
            </a:pPr>
            <a:r>
              <a:rPr lang="ru-RU" sz="2600" dirty="0">
                <a:cs typeface="Times New Roman" panose="02020603050405020304" pitchFamily="18" charset="0"/>
              </a:rPr>
              <a:t>Имеются таблицы, которые по заданным уровням значимости и степеням определяют значения критерия Стьюдента </a:t>
            </a:r>
            <a:r>
              <a:rPr lang="en-US" sz="2600" i="1" dirty="0">
                <a:cs typeface="Times New Roman" panose="02020603050405020304" pitchFamily="18" charset="0"/>
              </a:rPr>
              <a:t>t</a:t>
            </a:r>
            <a:r>
              <a:rPr lang="el-GR" sz="2600" i="1" baseline="-25000" dirty="0">
                <a:cs typeface="Times New Roman" panose="02020603050405020304" pitchFamily="18" charset="0"/>
              </a:rPr>
              <a:t>α</a:t>
            </a:r>
            <a:r>
              <a:rPr lang="ru-RU" sz="2600" i="1" baseline="-25000" dirty="0">
                <a:cs typeface="Times New Roman" panose="02020603050405020304" pitchFamily="18" charset="0"/>
              </a:rPr>
              <a:t>,</a:t>
            </a:r>
            <a:r>
              <a:rPr lang="el-GR" sz="2600" i="1" baseline="-25000" dirty="0">
                <a:cs typeface="Times New Roman" panose="02020603050405020304" pitchFamily="18" charset="0"/>
              </a:rPr>
              <a:t>υ</a:t>
            </a:r>
            <a:r>
              <a:rPr lang="ru-RU" sz="2600" dirty="0">
                <a:cs typeface="Times New Roman" panose="02020603050405020304" pitchFamily="18" charset="0"/>
              </a:rPr>
              <a:t> по формуле</a:t>
            </a:r>
          </a:p>
          <a:p>
            <a:pPr marL="0" indent="180975" algn="just" eaLnBrk="1" hangingPunct="1">
              <a:spcBef>
                <a:spcPct val="0"/>
              </a:spcBef>
              <a:buNone/>
              <a:defRPr/>
            </a:pPr>
            <a:r>
              <a:rPr lang="ru-RU" sz="2600" dirty="0">
                <a:cs typeface="Times New Roman" panose="02020603050405020304" pitchFamily="18" charset="0"/>
              </a:rPr>
              <a:t>Таким образом доверительный интервал для </a:t>
            </a:r>
            <a:r>
              <a:rPr lang="ru-RU" sz="2600" i="1" dirty="0">
                <a:cs typeface="Times New Roman" panose="02020603050405020304" pitchFamily="18" charset="0"/>
              </a:rPr>
              <a:t>М(х)</a:t>
            </a:r>
            <a:r>
              <a:rPr lang="ru-RU" sz="2600" dirty="0">
                <a:cs typeface="Times New Roman" panose="02020603050405020304" pitchFamily="18" charset="0"/>
              </a:rPr>
              <a:t> при неизвестной дисперсии строится в виде</a:t>
            </a:r>
          </a:p>
          <a:p>
            <a:pPr marL="0" indent="180975" algn="just" eaLnBrk="1" hangingPunct="1">
              <a:spcBef>
                <a:spcPct val="0"/>
              </a:spcBef>
              <a:buNone/>
              <a:defRPr/>
            </a:pPr>
            <a:endParaRPr lang="ru-RU" sz="2600" dirty="0">
              <a:cs typeface="Times New Roman" panose="02020603050405020304" pitchFamily="18" charset="0"/>
            </a:endParaRPr>
          </a:p>
          <a:p>
            <a:pPr marL="0" indent="180975" algn="just" eaLnBrk="1" hangingPunct="1">
              <a:spcBef>
                <a:spcPct val="0"/>
              </a:spcBef>
              <a:buNone/>
              <a:defRPr/>
            </a:pPr>
            <a:r>
              <a:rPr lang="ru-RU" sz="2600" dirty="0">
                <a:cs typeface="Times New Roman" panose="02020603050405020304" pitchFamily="18" charset="0"/>
              </a:rPr>
              <a:t>Данный интервал определяет, что с доверительной вероятностью </a:t>
            </a:r>
            <a:r>
              <a:rPr lang="el-GR" sz="2600" dirty="0">
                <a:cs typeface="Times New Roman" panose="02020603050405020304" pitchFamily="18" charset="0"/>
              </a:rPr>
              <a:t>β</a:t>
            </a:r>
            <a:r>
              <a:rPr lang="ru-RU" sz="2600" dirty="0">
                <a:cs typeface="Times New Roman" panose="02020603050405020304" pitchFamily="18" charset="0"/>
              </a:rPr>
              <a:t> он покрывает истинное значение </a:t>
            </a:r>
            <a:r>
              <a:rPr lang="ru-RU" sz="2600" i="1" dirty="0">
                <a:cs typeface="Times New Roman" panose="02020603050405020304" pitchFamily="18" charset="0"/>
              </a:rPr>
              <a:t>М(х).</a:t>
            </a:r>
          </a:p>
        </p:txBody>
      </p:sp>
      <p:graphicFrame>
        <p:nvGraphicFramePr>
          <p:cNvPr id="16388" name="Object 6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94860422"/>
              </p:ext>
            </p:extLst>
          </p:nvPr>
        </p:nvGraphicFramePr>
        <p:xfrm>
          <a:off x="7751763" y="2224088"/>
          <a:ext cx="1728787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2" name="Уравнение" r:id="rId3" imgW="901440" imgH="203040" progId="Equation.3">
                  <p:embed/>
                </p:oleObj>
              </mc:Choice>
              <mc:Fallback>
                <p:oleObj name="Уравнение" r:id="rId3" imgW="9014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1763" y="2224088"/>
                        <a:ext cx="1728787" cy="388937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3197046"/>
              </p:ext>
            </p:extLst>
          </p:nvPr>
        </p:nvGraphicFramePr>
        <p:xfrm>
          <a:off x="5448300" y="4157663"/>
          <a:ext cx="15113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3" name="Формула" r:id="rId5" imgW="850531" imgH="266584" progId="Equation.3">
                  <p:embed/>
                </p:oleObj>
              </mc:Choice>
              <mc:Fallback>
                <p:oleObj name="Формула" r:id="rId5" imgW="850531" imgH="2665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4157663"/>
                        <a:ext cx="1511300" cy="474662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2158483"/>
              </p:ext>
            </p:extLst>
          </p:nvPr>
        </p:nvGraphicFramePr>
        <p:xfrm>
          <a:off x="7624442" y="5086625"/>
          <a:ext cx="2230438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4" name="Формула" r:id="rId7" imgW="1586811" imgH="444307" progId="Equation.3">
                  <p:embed/>
                </p:oleObj>
              </mc:Choice>
              <mc:Fallback>
                <p:oleObj name="Формула" r:id="rId7" imgW="1586811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4442" y="5086625"/>
                        <a:ext cx="2230438" cy="6270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8116776"/>
      </p:ext>
    </p:extLst>
  </p:cSld>
  <p:clrMapOvr>
    <a:masterClrMapping/>
  </p:clrMapOvr>
  <p:transition spd="med">
    <p:zo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1" y="740094"/>
            <a:ext cx="8507413" cy="1098550"/>
          </a:xfrm>
          <a:noFill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ru-RU" sz="3600" b="1" dirty="0"/>
              <a:t>Доверительный интервал для оценки дисперсии</a:t>
            </a:r>
          </a:p>
        </p:txBody>
      </p:sp>
      <p:sp>
        <p:nvSpPr>
          <p:cNvPr id="286723" name="Rectangle 3"/>
          <p:cNvSpPr>
            <a:spLocks noGrp="1" noChangeArrowheads="1"/>
          </p:cNvSpPr>
          <p:nvPr>
            <p:ph idx="1"/>
          </p:nvPr>
        </p:nvSpPr>
        <p:spPr>
          <a:xfrm>
            <a:off x="1524001" y="2211868"/>
            <a:ext cx="8870301" cy="3693319"/>
          </a:xfr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180975" eaLnBrk="1" hangingPunct="1">
              <a:spcBef>
                <a:spcPct val="0"/>
              </a:spcBef>
              <a:buNone/>
              <a:defRPr/>
            </a:pPr>
            <a:r>
              <a:rPr lang="ru-RU" sz="2000" dirty="0"/>
              <a:t>Доверительный интервал строится на основании того, что величина </a:t>
            </a:r>
            <a:r>
              <a:rPr lang="en-US" sz="2000" dirty="0"/>
              <a:t>(n–1)S</a:t>
            </a:r>
            <a:r>
              <a:rPr lang="en-US" sz="2000" baseline="30000" dirty="0"/>
              <a:t>2</a:t>
            </a:r>
            <a:r>
              <a:rPr lang="en-US" sz="2000" dirty="0"/>
              <a:t>/</a:t>
            </a:r>
            <a:r>
              <a:rPr lang="el-GR" sz="2000" dirty="0">
                <a:cs typeface="Times New Roman" panose="02020603050405020304" pitchFamily="18" charset="0"/>
              </a:rPr>
              <a:t>σ</a:t>
            </a:r>
            <a:r>
              <a:rPr lang="ru-RU" sz="2000" dirty="0">
                <a:cs typeface="Times New Roman" panose="02020603050405020304" pitchFamily="18" charset="0"/>
              </a:rPr>
              <a:t> распределена по закону «хи-квадрат»(</a:t>
            </a:r>
            <a:r>
              <a:rPr lang="el-GR" sz="2000" dirty="0">
                <a:cs typeface="Times New Roman" panose="02020603050405020304" pitchFamily="18" charset="0"/>
              </a:rPr>
              <a:t>χ</a:t>
            </a:r>
            <a:r>
              <a:rPr lang="en-US" sz="2000" baseline="30000" dirty="0">
                <a:cs typeface="Times New Roman" panose="02020603050405020304" pitchFamily="18" charset="0"/>
              </a:rPr>
              <a:t>2</a:t>
            </a:r>
            <a:r>
              <a:rPr lang="ru-RU" sz="2000" dirty="0">
                <a:cs typeface="Times New Roman" panose="02020603050405020304" pitchFamily="18" charset="0"/>
              </a:rPr>
              <a:t>) со степенями </a:t>
            </a:r>
            <a:r>
              <a:rPr lang="el-GR" sz="2000" dirty="0">
                <a:cs typeface="Times New Roman" panose="02020603050405020304" pitchFamily="18" charset="0"/>
              </a:rPr>
              <a:t>υ</a:t>
            </a:r>
            <a:r>
              <a:rPr lang="en-US" sz="2000" dirty="0">
                <a:cs typeface="Times New Roman" panose="02020603050405020304" pitchFamily="18" charset="0"/>
              </a:rPr>
              <a:t>=n–1</a:t>
            </a:r>
            <a:r>
              <a:rPr lang="ru-RU" sz="2000" dirty="0">
                <a:cs typeface="Times New Roman" panose="02020603050405020304" pitchFamily="18" charset="0"/>
              </a:rPr>
              <a:t>.</a:t>
            </a:r>
          </a:p>
          <a:p>
            <a:pPr marL="0" indent="180975" eaLnBrk="1" hangingPunct="1">
              <a:spcBef>
                <a:spcPct val="0"/>
              </a:spcBef>
              <a:buNone/>
              <a:defRPr/>
            </a:pPr>
            <a:endParaRPr lang="ru-RU" sz="2000" dirty="0">
              <a:cs typeface="Times New Roman" panose="02020603050405020304" pitchFamily="18" charset="0"/>
            </a:endParaRPr>
          </a:p>
          <a:p>
            <a:pPr marL="0" indent="180975" eaLnBrk="1" hangingPunct="1">
              <a:spcBef>
                <a:spcPct val="0"/>
              </a:spcBef>
              <a:buNone/>
              <a:defRPr/>
            </a:pPr>
            <a:r>
              <a:rPr lang="ru-RU" sz="2000" dirty="0"/>
              <a:t>Для заданной доверительной вероятности </a:t>
            </a:r>
            <a:r>
              <a:rPr lang="el-GR" sz="2000" dirty="0">
                <a:cs typeface="Times New Roman" panose="02020603050405020304" pitchFamily="18" charset="0"/>
              </a:rPr>
              <a:t>β</a:t>
            </a:r>
            <a:r>
              <a:rPr lang="ru-RU" sz="2000" dirty="0">
                <a:cs typeface="Times New Roman" panose="02020603050405020304" pitchFamily="18" charset="0"/>
              </a:rPr>
              <a:t> или, что тождественно, для заданного уровня значимости </a:t>
            </a:r>
            <a:r>
              <a:rPr lang="el-GR" sz="2000" dirty="0">
                <a:cs typeface="Times New Roman" panose="02020603050405020304" pitchFamily="18" charset="0"/>
              </a:rPr>
              <a:t>α</a:t>
            </a:r>
            <a:r>
              <a:rPr lang="en-US" sz="2000" dirty="0">
                <a:cs typeface="Times New Roman" panose="02020603050405020304" pitchFamily="18" charset="0"/>
              </a:rPr>
              <a:t>=1–</a:t>
            </a:r>
            <a:r>
              <a:rPr lang="el-GR" sz="2000" dirty="0">
                <a:cs typeface="Times New Roman" panose="02020603050405020304" pitchFamily="18" charset="0"/>
              </a:rPr>
              <a:t>β</a:t>
            </a:r>
            <a:r>
              <a:rPr lang="ru-RU" sz="2000" dirty="0">
                <a:cs typeface="Times New Roman" panose="02020603050405020304" pitchFamily="18" charset="0"/>
              </a:rPr>
              <a:t>, потребуем, чтобы выполнялось следующее соотношение</a:t>
            </a:r>
            <a:endParaRPr lang="en-US" sz="2000" dirty="0">
              <a:cs typeface="Times New Roman" panose="02020603050405020304" pitchFamily="18" charset="0"/>
            </a:endParaRPr>
          </a:p>
          <a:p>
            <a:pPr marL="0" indent="180975" algn="ctr" eaLnBrk="1" hangingPunct="1">
              <a:spcBef>
                <a:spcPct val="0"/>
              </a:spcBef>
              <a:buNone/>
              <a:defRPr/>
            </a:pPr>
            <a:r>
              <a:rPr lang="en-US" sz="2000" dirty="0">
                <a:cs typeface="Times New Roman" panose="02020603050405020304" pitchFamily="18" charset="0"/>
              </a:rPr>
              <a:t>P(</a:t>
            </a:r>
            <a:r>
              <a:rPr lang="el-GR" sz="2000" dirty="0">
                <a:cs typeface="Times New Roman" panose="02020603050405020304" pitchFamily="18" charset="0"/>
              </a:rPr>
              <a:t>χ</a:t>
            </a:r>
            <a:r>
              <a:rPr lang="en-US" sz="2000" baseline="30000" dirty="0">
                <a:cs typeface="Times New Roman" panose="02020603050405020304" pitchFamily="18" charset="0"/>
              </a:rPr>
              <a:t>2 </a:t>
            </a:r>
            <a:r>
              <a:rPr lang="el-GR" sz="2000" baseline="-25000" dirty="0">
                <a:cs typeface="Times New Roman" panose="02020603050405020304" pitchFamily="18" charset="0"/>
              </a:rPr>
              <a:t>α</a:t>
            </a:r>
            <a:r>
              <a:rPr lang="ru-RU" sz="2000" baseline="-25000" dirty="0">
                <a:cs typeface="Times New Roman" panose="02020603050405020304" pitchFamily="18" charset="0"/>
              </a:rPr>
              <a:t>/2</a:t>
            </a:r>
            <a:r>
              <a:rPr lang="en-US" sz="2000" baseline="-25000" dirty="0">
                <a:cs typeface="Times New Roman" panose="02020603050405020304" pitchFamily="18" charset="0"/>
              </a:rPr>
              <a:t>,</a:t>
            </a:r>
            <a:r>
              <a:rPr lang="el-GR" sz="2000" baseline="-25000" dirty="0">
                <a:cs typeface="Times New Roman" panose="02020603050405020304" pitchFamily="18" charset="0"/>
              </a:rPr>
              <a:t>υ</a:t>
            </a:r>
            <a:r>
              <a:rPr lang="en-US" sz="2000" baseline="30000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&lt;</a:t>
            </a:r>
            <a:r>
              <a:rPr lang="el-GR" sz="2000" dirty="0">
                <a:cs typeface="Times New Roman" panose="02020603050405020304" pitchFamily="18" charset="0"/>
              </a:rPr>
              <a:t>δ</a:t>
            </a:r>
            <a:r>
              <a:rPr lang="en-US" sz="2000" dirty="0">
                <a:cs typeface="Times New Roman" panose="02020603050405020304" pitchFamily="18" charset="0"/>
              </a:rPr>
              <a:t>)= P(</a:t>
            </a:r>
            <a:r>
              <a:rPr lang="el-GR" sz="2000" dirty="0">
                <a:cs typeface="Times New Roman" panose="02020603050405020304" pitchFamily="18" charset="0"/>
              </a:rPr>
              <a:t>χ</a:t>
            </a:r>
            <a:r>
              <a:rPr lang="en-US" sz="2000" baseline="30000" dirty="0">
                <a:cs typeface="Times New Roman" panose="02020603050405020304" pitchFamily="18" charset="0"/>
              </a:rPr>
              <a:t>2 </a:t>
            </a:r>
            <a:r>
              <a:rPr lang="en-US" sz="2000" baseline="-25000" dirty="0">
                <a:cs typeface="Times New Roman" panose="02020603050405020304" pitchFamily="18" charset="0"/>
              </a:rPr>
              <a:t>1–</a:t>
            </a:r>
            <a:r>
              <a:rPr lang="el-GR" sz="2000" baseline="-25000" dirty="0">
                <a:cs typeface="Times New Roman" panose="02020603050405020304" pitchFamily="18" charset="0"/>
              </a:rPr>
              <a:t>α</a:t>
            </a:r>
            <a:r>
              <a:rPr lang="en-US" sz="2000" baseline="-25000" dirty="0">
                <a:cs typeface="Times New Roman" panose="02020603050405020304" pitchFamily="18" charset="0"/>
              </a:rPr>
              <a:t>/2</a:t>
            </a:r>
            <a:r>
              <a:rPr lang="en-US" sz="2000" baseline="30000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&lt;</a:t>
            </a:r>
            <a:r>
              <a:rPr lang="el-GR" sz="2000" dirty="0">
                <a:cs typeface="Times New Roman" panose="02020603050405020304" pitchFamily="18" charset="0"/>
              </a:rPr>
              <a:t>δ</a:t>
            </a:r>
            <a:r>
              <a:rPr lang="en-US" sz="2000" dirty="0">
                <a:cs typeface="Times New Roman" panose="02020603050405020304" pitchFamily="18" charset="0"/>
              </a:rPr>
              <a:t>)= </a:t>
            </a:r>
            <a:r>
              <a:rPr lang="el-GR" sz="2000" dirty="0">
                <a:cs typeface="Times New Roman" panose="02020603050405020304" pitchFamily="18" charset="0"/>
              </a:rPr>
              <a:t>α</a:t>
            </a:r>
            <a:r>
              <a:rPr lang="en-US" sz="2000" dirty="0">
                <a:cs typeface="Times New Roman" panose="02020603050405020304" pitchFamily="18" charset="0"/>
              </a:rPr>
              <a:t>/2; </a:t>
            </a:r>
            <a:r>
              <a:rPr lang="ru-RU" sz="2000" dirty="0">
                <a:cs typeface="Times New Roman" panose="02020603050405020304" pitchFamily="18" charset="0"/>
              </a:rPr>
              <a:t> </a:t>
            </a:r>
            <a:r>
              <a:rPr lang="el-GR" sz="2000" dirty="0">
                <a:cs typeface="Times New Roman" panose="02020603050405020304" pitchFamily="18" charset="0"/>
              </a:rPr>
              <a:t>δ</a:t>
            </a:r>
            <a:r>
              <a:rPr lang="en-US" sz="2000" baseline="-25000" dirty="0">
                <a:cs typeface="Times New Roman" panose="02020603050405020304" pitchFamily="18" charset="0"/>
              </a:rPr>
              <a:t>2</a:t>
            </a:r>
            <a:r>
              <a:rPr lang="en-US" sz="2000" dirty="0">
                <a:cs typeface="Times New Roman" panose="02020603050405020304" pitchFamily="18" charset="0"/>
              </a:rPr>
              <a:t>&lt; </a:t>
            </a:r>
            <a:r>
              <a:rPr lang="el-GR" sz="2000" dirty="0">
                <a:cs typeface="Times New Roman" panose="02020603050405020304" pitchFamily="18" charset="0"/>
              </a:rPr>
              <a:t>χ</a:t>
            </a:r>
            <a:r>
              <a:rPr lang="en-US" sz="2000" baseline="30000" dirty="0">
                <a:cs typeface="Times New Roman" panose="02020603050405020304" pitchFamily="18" charset="0"/>
              </a:rPr>
              <a:t>2 </a:t>
            </a:r>
            <a:r>
              <a:rPr lang="el-GR" sz="2000" baseline="-25000" dirty="0">
                <a:cs typeface="Times New Roman" panose="02020603050405020304" pitchFamily="18" charset="0"/>
              </a:rPr>
              <a:t>α</a:t>
            </a:r>
            <a:r>
              <a:rPr lang="en-US" sz="2000" baseline="-25000" dirty="0">
                <a:cs typeface="Times New Roman" panose="02020603050405020304" pitchFamily="18" charset="0"/>
              </a:rPr>
              <a:t>/2, </a:t>
            </a:r>
            <a:r>
              <a:rPr lang="el-GR" sz="2000" baseline="-25000" dirty="0">
                <a:cs typeface="Times New Roman" panose="02020603050405020304" pitchFamily="18" charset="0"/>
              </a:rPr>
              <a:t>υ</a:t>
            </a:r>
            <a:r>
              <a:rPr lang="en-US" sz="2000" baseline="30000" dirty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&lt;</a:t>
            </a:r>
            <a:r>
              <a:rPr lang="el-GR" sz="2000" dirty="0">
                <a:cs typeface="Times New Roman" panose="02020603050405020304" pitchFamily="18" charset="0"/>
              </a:rPr>
              <a:t>δ</a:t>
            </a:r>
            <a:r>
              <a:rPr lang="en-US" sz="2000" baseline="-25000" dirty="0">
                <a:cs typeface="Times New Roman" panose="02020603050405020304" pitchFamily="18" charset="0"/>
              </a:rPr>
              <a:t>2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endParaRPr lang="ru-RU" sz="2000" dirty="0">
              <a:cs typeface="Times New Roman" panose="02020603050405020304" pitchFamily="18" charset="0"/>
            </a:endParaRPr>
          </a:p>
          <a:p>
            <a:pPr marL="0" indent="180975" eaLnBrk="1" hangingPunct="1">
              <a:spcBef>
                <a:spcPct val="0"/>
              </a:spcBef>
              <a:buNone/>
              <a:defRPr/>
            </a:pPr>
            <a:endParaRPr lang="ru-RU" sz="2000" dirty="0">
              <a:cs typeface="Times New Roman" panose="02020603050405020304" pitchFamily="18" charset="0"/>
            </a:endParaRPr>
          </a:p>
          <a:p>
            <a:pPr marL="0" indent="180975" eaLnBrk="1" hangingPunct="1">
              <a:spcBef>
                <a:spcPct val="0"/>
              </a:spcBef>
              <a:buNone/>
              <a:defRPr/>
            </a:pPr>
            <a:r>
              <a:rPr lang="ru-RU" sz="2000" dirty="0">
                <a:cs typeface="Times New Roman" panose="02020603050405020304" pitchFamily="18" charset="0"/>
              </a:rPr>
              <a:t>Из этого соотношения следует, что границы доверительного интервала в явном виде выглядят следующим образом:</a:t>
            </a:r>
          </a:p>
          <a:p>
            <a:pPr marL="0" indent="180975" eaLnBrk="1" hangingPunct="1">
              <a:spcBef>
                <a:spcPct val="0"/>
              </a:spcBef>
              <a:buNone/>
              <a:defRPr/>
            </a:pPr>
            <a:endParaRPr lang="ru-RU" sz="2000" dirty="0">
              <a:cs typeface="Times New Roman" panose="02020603050405020304" pitchFamily="18" charset="0"/>
            </a:endParaRPr>
          </a:p>
          <a:p>
            <a:pPr marL="0" indent="180975" eaLnBrk="1" hangingPunct="1">
              <a:spcBef>
                <a:spcPct val="0"/>
              </a:spcBef>
              <a:buNone/>
              <a:defRPr/>
            </a:pPr>
            <a:endParaRPr lang="el-GR" sz="2000" dirty="0">
              <a:cs typeface="Times New Roman" panose="02020603050405020304" pitchFamily="18" charset="0"/>
            </a:endParaRPr>
          </a:p>
        </p:txBody>
      </p:sp>
      <p:sp>
        <p:nvSpPr>
          <p:cNvPr id="17412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000000"/>
              </a:solidFill>
            </a:endParaRPr>
          </a:p>
        </p:txBody>
      </p:sp>
      <p:graphicFrame>
        <p:nvGraphicFramePr>
          <p:cNvPr id="174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0056386"/>
              </p:ext>
            </p:extLst>
          </p:nvPr>
        </p:nvGraphicFramePr>
        <p:xfrm>
          <a:off x="4418014" y="5444018"/>
          <a:ext cx="2560638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9" name="Уравнение" r:id="rId3" imgW="1574640" imgH="571320" progId="Equation.3">
                  <p:embed/>
                </p:oleObj>
              </mc:Choice>
              <mc:Fallback>
                <p:oleObj name="Уравнение" r:id="rId3" imgW="1574640" imgH="571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8014" y="5444018"/>
                        <a:ext cx="2560638" cy="922338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93754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9763" y="746516"/>
            <a:ext cx="8507413" cy="553998"/>
          </a:xfrm>
          <a:noFill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ru-RU" sz="3600" b="1" dirty="0"/>
              <a:t>Проверка статистических гипотез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1557306" y="1451170"/>
            <a:ext cx="8785225" cy="5238357"/>
          </a:xfrm>
          <a:noFill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endParaRPr lang="ru-RU" sz="1800" b="1" dirty="0"/>
          </a:p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sz="2000" b="1" dirty="0">
                <a:solidFill>
                  <a:srgbClr val="FFFF00"/>
                </a:solidFill>
              </a:rPr>
              <a:t>Статистической гипотезой</a:t>
            </a:r>
            <a:r>
              <a:rPr lang="ru-RU" sz="2000" dirty="0">
                <a:solidFill>
                  <a:srgbClr val="FFFF00"/>
                </a:solidFill>
              </a:rPr>
              <a:t> </a:t>
            </a:r>
            <a:r>
              <a:rPr lang="ru-RU" sz="2000" i="1" dirty="0"/>
              <a:t>называют, гипотезу о видах неизвестного распределения или о параметрах известного распределения.</a:t>
            </a:r>
            <a:endParaRPr lang="ru-RU" sz="2000" dirty="0"/>
          </a:p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r>
              <a:rPr lang="ru-RU" sz="2000" dirty="0"/>
              <a:t>Проверка статистической гипотезы заключается в сопоставлении некоторых статистических показателей, вычисленным по данным выборки со значениями этих же показателей, определенными теоретически в предположении, что проверяемая гипотеза верна.</a:t>
            </a:r>
          </a:p>
          <a:p>
            <a:pPr marL="0" indent="180975" algn="just" eaLnBrk="1" hangingPunct="1">
              <a:lnSpc>
                <a:spcPct val="80000"/>
              </a:lnSpc>
              <a:spcBef>
                <a:spcPct val="0"/>
              </a:spcBef>
              <a:buNone/>
            </a:pPr>
            <a:endParaRPr lang="ru-RU" sz="2000" dirty="0"/>
          </a:p>
          <a:p>
            <a:pPr marL="0" indent="180975" eaLnBrk="1" hangingPunct="1">
              <a:lnSpc>
                <a:spcPct val="80000"/>
              </a:lnSpc>
              <a:buNone/>
            </a:pPr>
            <a:r>
              <a:rPr lang="ru-RU" sz="2000" dirty="0"/>
              <a:t>В результате проверки могут быть приняты два неправильных решения, т.е. допущены ошибки двух родов.</a:t>
            </a:r>
            <a:endParaRPr lang="ru-RU" sz="2000" i="1" dirty="0"/>
          </a:p>
          <a:p>
            <a:pPr marL="0" indent="180975" eaLnBrk="1" hangingPunct="1">
              <a:lnSpc>
                <a:spcPct val="80000"/>
              </a:lnSpc>
              <a:buNone/>
            </a:pPr>
            <a:r>
              <a:rPr lang="ru-RU" sz="2000" i="1" dirty="0">
                <a:solidFill>
                  <a:srgbClr val="FFFF00"/>
                </a:solidFill>
              </a:rPr>
              <a:t>Ошибка первого рода</a:t>
            </a:r>
            <a:r>
              <a:rPr lang="ru-RU" sz="2000" dirty="0">
                <a:solidFill>
                  <a:srgbClr val="FFFF00"/>
                </a:solidFill>
              </a:rPr>
              <a:t> </a:t>
            </a:r>
            <a:r>
              <a:rPr lang="ru-RU" sz="2000" dirty="0"/>
              <a:t>состоит в том, что будет отвергнута правильная гипотеза.</a:t>
            </a:r>
            <a:endParaRPr lang="ru-RU" sz="2000" i="1" dirty="0"/>
          </a:p>
          <a:p>
            <a:pPr marL="0" indent="180975" eaLnBrk="1" hangingPunct="1">
              <a:lnSpc>
                <a:spcPct val="80000"/>
              </a:lnSpc>
              <a:buNone/>
            </a:pPr>
            <a:r>
              <a:rPr lang="ru-RU" sz="2000" i="1" dirty="0">
                <a:solidFill>
                  <a:srgbClr val="FFFF00"/>
                </a:solidFill>
              </a:rPr>
              <a:t>Ошибка второго рода</a:t>
            </a:r>
            <a:r>
              <a:rPr lang="ru-RU" sz="2000" dirty="0">
                <a:solidFill>
                  <a:srgbClr val="FFFF00"/>
                </a:solidFill>
              </a:rPr>
              <a:t> </a:t>
            </a:r>
            <a:r>
              <a:rPr lang="ru-RU" sz="2000" dirty="0"/>
              <a:t>состоит в том, что будет принята неправильная гипотеза.</a:t>
            </a:r>
          </a:p>
          <a:p>
            <a:pPr marL="0" indent="180975" eaLnBrk="1" hangingPunct="1">
              <a:lnSpc>
                <a:spcPct val="80000"/>
              </a:lnSpc>
              <a:buNone/>
            </a:pPr>
            <a:endParaRPr lang="ru-RU" sz="2000" dirty="0"/>
          </a:p>
          <a:p>
            <a:pPr marL="0" indent="180975" eaLnBrk="1" hangingPunct="1">
              <a:lnSpc>
                <a:spcPct val="80000"/>
              </a:lnSpc>
              <a:buNone/>
            </a:pPr>
            <a:r>
              <a:rPr lang="ru-RU" sz="2000" dirty="0"/>
              <a:t>Вероятность совершить ошибку первого рода принято обозначать </a:t>
            </a:r>
            <a:r>
              <a:rPr lang="el-GR" sz="2000" b="1" dirty="0">
                <a:cs typeface="Times New Roman" panose="02020603050405020304" pitchFamily="18" charset="0"/>
              </a:rPr>
              <a:t>α</a:t>
            </a:r>
            <a:r>
              <a:rPr lang="ru-RU" sz="2000" dirty="0">
                <a:cs typeface="Times New Roman" panose="02020603050405020304" pitchFamily="18" charset="0"/>
              </a:rPr>
              <a:t>. </a:t>
            </a:r>
            <a:r>
              <a:rPr lang="ru-RU" sz="2000" dirty="0"/>
              <a:t>На практике, наиболее часто используют α=0,05, это означает, что в 5 случаях из 100 имеется риск допустить ошибку первого рода, т.е. отвергнуть правильную гипотезу.</a:t>
            </a:r>
          </a:p>
          <a:p>
            <a:pPr marL="0" indent="180975" eaLnBrk="1" hangingPunct="1">
              <a:lnSpc>
                <a:spcPct val="80000"/>
              </a:lnSpc>
              <a:buNone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7801666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199" y="829262"/>
            <a:ext cx="8229600" cy="553998"/>
          </a:xfrm>
          <a:noFill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ru-RU" sz="3600" b="1" dirty="0"/>
              <a:t>Классификация гипотез</a:t>
            </a:r>
          </a:p>
        </p:txBody>
      </p:sp>
      <p:sp>
        <p:nvSpPr>
          <p:cNvPr id="342019" name="Rectangle 3"/>
          <p:cNvSpPr>
            <a:spLocks noGrp="1" noChangeArrowheads="1"/>
          </p:cNvSpPr>
          <p:nvPr>
            <p:ph idx="1"/>
          </p:nvPr>
        </p:nvSpPr>
        <p:spPr>
          <a:xfrm>
            <a:off x="1739106" y="1487942"/>
            <a:ext cx="8713787" cy="5170646"/>
          </a:xfr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271463" eaLnBrk="1" hangingPunct="1">
              <a:spcBef>
                <a:spcPct val="0"/>
              </a:spcBef>
              <a:buSzPct val="60000"/>
              <a:defRPr/>
            </a:pPr>
            <a:r>
              <a:rPr lang="ru-RU" sz="2800" i="1" dirty="0"/>
              <a:t>Статистические, нестатистические</a:t>
            </a:r>
          </a:p>
          <a:p>
            <a:pPr marL="0" indent="271463" eaLnBrk="1" hangingPunct="1">
              <a:spcBef>
                <a:spcPct val="0"/>
              </a:spcBef>
              <a:buSzPct val="60000"/>
              <a:defRPr/>
            </a:pPr>
            <a:r>
              <a:rPr lang="ru-RU" sz="2800" i="1" dirty="0"/>
              <a:t>Выдвинутая, конкурирующая.</a:t>
            </a:r>
          </a:p>
          <a:p>
            <a:pPr marL="0" indent="271463" eaLnBrk="1" hangingPunct="1">
              <a:spcBef>
                <a:spcPct val="0"/>
              </a:spcBef>
              <a:buNone/>
              <a:defRPr/>
            </a:pPr>
            <a:endParaRPr lang="ru-RU" sz="2800" i="1" dirty="0"/>
          </a:p>
          <a:p>
            <a:pPr marL="0" indent="271463" eaLnBrk="1" hangingPunct="1">
              <a:spcBef>
                <a:spcPct val="0"/>
              </a:spcBef>
              <a:buNone/>
              <a:defRPr/>
            </a:pPr>
            <a:r>
              <a:rPr lang="ru-RU" sz="2800" i="1" dirty="0"/>
              <a:t>Выдвинутую</a:t>
            </a:r>
            <a:r>
              <a:rPr lang="ru-RU" sz="2800" dirty="0"/>
              <a:t> гипотезу называют нулевой (основной) и обозначают </a:t>
            </a:r>
            <a:r>
              <a:rPr lang="ru-RU" sz="2800" b="1" dirty="0">
                <a:solidFill>
                  <a:srgbClr val="FFFF00"/>
                </a:solidFill>
              </a:rPr>
              <a:t>Н</a:t>
            </a:r>
            <a:r>
              <a:rPr lang="ru-RU" sz="2800" b="1" baseline="-25000" dirty="0">
                <a:solidFill>
                  <a:srgbClr val="FFFF00"/>
                </a:solidFill>
              </a:rPr>
              <a:t>0</a:t>
            </a:r>
            <a:r>
              <a:rPr lang="ru-RU" sz="2800" dirty="0"/>
              <a:t>. </a:t>
            </a:r>
            <a:r>
              <a:rPr lang="ru-RU" sz="2800" i="1" dirty="0"/>
              <a:t>Конкурирующая</a:t>
            </a:r>
            <a:r>
              <a:rPr lang="ru-RU" sz="2800" dirty="0"/>
              <a:t> гипотеза </a:t>
            </a:r>
            <a:r>
              <a:rPr lang="ru-RU" sz="2800" b="1" dirty="0">
                <a:solidFill>
                  <a:srgbClr val="FFFF00"/>
                </a:solidFill>
              </a:rPr>
              <a:t>Н</a:t>
            </a:r>
            <a:r>
              <a:rPr lang="ru-RU" sz="2800" b="1" baseline="-25000" dirty="0">
                <a:solidFill>
                  <a:srgbClr val="FFFF00"/>
                </a:solidFill>
              </a:rPr>
              <a:t>1</a:t>
            </a:r>
            <a:r>
              <a:rPr lang="ru-RU" sz="2800" dirty="0"/>
              <a:t> – это гипотеза альтернативная нулевой, т.е. противоречащая основной.						</a:t>
            </a:r>
          </a:p>
          <a:p>
            <a:pPr marL="0" indent="271463" eaLnBrk="1" hangingPunct="1">
              <a:spcBef>
                <a:spcPct val="0"/>
              </a:spcBef>
              <a:buNone/>
              <a:defRPr/>
            </a:pPr>
            <a:r>
              <a:rPr lang="ru-RU" sz="2800" dirty="0"/>
              <a:t>По количеству предположений: </a:t>
            </a:r>
            <a:r>
              <a:rPr lang="ru-RU" sz="2800" i="1" dirty="0"/>
              <a:t>простые, сложные</a:t>
            </a:r>
            <a:r>
              <a:rPr lang="ru-RU" sz="2800" dirty="0"/>
              <a:t>.</a:t>
            </a:r>
          </a:p>
          <a:p>
            <a:pPr marL="0" indent="271463" eaLnBrk="1" hangingPunct="1">
              <a:spcBef>
                <a:spcPct val="0"/>
              </a:spcBef>
              <a:buNone/>
              <a:defRPr/>
            </a:pPr>
            <a:r>
              <a:rPr lang="ru-RU" sz="2800" i="1" dirty="0">
                <a:solidFill>
                  <a:srgbClr val="FFFF00"/>
                </a:solidFill>
              </a:rPr>
              <a:t>Простая</a:t>
            </a:r>
            <a:r>
              <a:rPr lang="ru-RU" sz="2800" dirty="0"/>
              <a:t> – это гипотеза содержащая только одно предположение.</a:t>
            </a:r>
          </a:p>
          <a:p>
            <a:pPr marL="0" indent="271463" eaLnBrk="1" hangingPunct="1">
              <a:spcBef>
                <a:spcPct val="0"/>
              </a:spcBef>
              <a:buNone/>
              <a:defRPr/>
            </a:pPr>
            <a:r>
              <a:rPr lang="ru-RU" sz="2800" dirty="0"/>
              <a:t> </a:t>
            </a:r>
            <a:r>
              <a:rPr lang="ru-RU" sz="2800" i="1" dirty="0">
                <a:solidFill>
                  <a:srgbClr val="FFFF00"/>
                </a:solidFill>
              </a:rPr>
              <a:t>Сложная</a:t>
            </a:r>
            <a:r>
              <a:rPr lang="ru-RU" sz="2800" dirty="0"/>
              <a:t> – гипотеза состоящая из конечного или бесконечного числа простых гипотез.</a:t>
            </a:r>
          </a:p>
        </p:txBody>
      </p:sp>
    </p:spTree>
    <p:extLst>
      <p:ext uri="{BB962C8B-B14F-4D97-AF65-F5344CB8AC3E}">
        <p14:creationId xmlns:p14="http://schemas.microsoft.com/office/powerpoint/2010/main" val="1353332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826419" y="531571"/>
            <a:ext cx="8229600" cy="1107996"/>
          </a:xfrm>
          <a:noFill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ru-RU" sz="3600" b="1" dirty="0"/>
              <a:t>Статистический критерий, статистическая область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80240" y="1639567"/>
            <a:ext cx="8785225" cy="4739759"/>
          </a:xfrm>
          <a:noFill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180975" eaLnBrk="1" hangingPunct="1">
              <a:spcBef>
                <a:spcPct val="0"/>
              </a:spcBef>
              <a:buNone/>
            </a:pPr>
            <a:r>
              <a:rPr lang="ru-RU" sz="2200" dirty="0"/>
              <a:t>Для проверки Н</a:t>
            </a:r>
            <a:r>
              <a:rPr lang="ru-RU" sz="2200" baseline="-25000" dirty="0"/>
              <a:t>0</a:t>
            </a:r>
            <a:r>
              <a:rPr lang="ru-RU" sz="2200" dirty="0"/>
              <a:t>, используют специально подобранную случайную величину, точное или приближенное значение которой известно. Эту величину обозначают через U или </a:t>
            </a:r>
            <a:r>
              <a:rPr lang="en-US" sz="2200" dirty="0"/>
              <a:t>Z</a:t>
            </a:r>
            <a:r>
              <a:rPr lang="ru-RU" sz="2200" dirty="0"/>
              <a:t>, если она распределена нормально; </a:t>
            </a:r>
            <a:r>
              <a:rPr lang="en-US" sz="2200" dirty="0"/>
              <a:t>F</a:t>
            </a:r>
            <a:r>
              <a:rPr lang="ru-RU" sz="2200" dirty="0"/>
              <a:t> или υ² - по закону Фишера; χ² - по закону «хи квадрат»;  Т или </a:t>
            </a:r>
            <a:r>
              <a:rPr lang="en-US" sz="2200" dirty="0"/>
              <a:t>t</a:t>
            </a:r>
            <a:r>
              <a:rPr lang="ru-RU" sz="2200" dirty="0"/>
              <a:t> -  по распределению Стьюдента</a:t>
            </a:r>
            <a:r>
              <a:rPr lang="ru-RU" sz="2200" dirty="0" smtClean="0"/>
              <a:t>.</a:t>
            </a:r>
            <a:endParaRPr lang="ru-RU" sz="2200" i="1" dirty="0"/>
          </a:p>
          <a:p>
            <a:pPr marL="0" indent="180975" eaLnBrk="1" hangingPunct="1">
              <a:spcBef>
                <a:spcPct val="0"/>
              </a:spcBef>
              <a:buNone/>
            </a:pPr>
            <a:r>
              <a:rPr lang="ru-RU" sz="2200" b="1" dirty="0"/>
              <a:t>     </a:t>
            </a:r>
            <a:r>
              <a:rPr lang="ru-RU" sz="2200" b="1" dirty="0">
                <a:solidFill>
                  <a:srgbClr val="FFFF00"/>
                </a:solidFill>
              </a:rPr>
              <a:t>Статистическим критерием</a:t>
            </a:r>
            <a:r>
              <a:rPr lang="ru-RU" sz="2200" i="1" dirty="0">
                <a:solidFill>
                  <a:srgbClr val="FFFF00"/>
                </a:solidFill>
              </a:rPr>
              <a:t> </a:t>
            </a:r>
            <a:r>
              <a:rPr lang="ru-RU" sz="2200" i="1" dirty="0"/>
              <a:t>называют случайную величину служащую для проверки Н</a:t>
            </a:r>
            <a:r>
              <a:rPr lang="ru-RU" sz="2200" i="1" baseline="-25000" dirty="0"/>
              <a:t>0</a:t>
            </a:r>
            <a:r>
              <a:rPr lang="ru-RU" sz="2200" i="1" dirty="0"/>
              <a:t>.</a:t>
            </a:r>
          </a:p>
          <a:p>
            <a:pPr marL="0" indent="180975" eaLnBrk="1" hangingPunct="1">
              <a:spcBef>
                <a:spcPct val="0"/>
              </a:spcBef>
              <a:buNone/>
            </a:pPr>
            <a:r>
              <a:rPr lang="ru-RU" sz="2200" b="1" dirty="0"/>
              <a:t>     </a:t>
            </a:r>
            <a:r>
              <a:rPr lang="ru-RU" sz="2200" b="1" dirty="0">
                <a:solidFill>
                  <a:srgbClr val="FFFF00"/>
                </a:solidFill>
              </a:rPr>
              <a:t>Наблюдаемым значением критерия</a:t>
            </a:r>
            <a:r>
              <a:rPr lang="ru-RU" sz="2200" dirty="0">
                <a:solidFill>
                  <a:srgbClr val="FFFF00"/>
                </a:solidFill>
              </a:rPr>
              <a:t> </a:t>
            </a:r>
            <a:r>
              <a:rPr lang="ru-RU" sz="2200" i="1" dirty="0"/>
              <a:t>называют, значение критерия выраженное по данным выборки.</a:t>
            </a:r>
          </a:p>
          <a:p>
            <a:pPr marL="0" indent="180975" eaLnBrk="1" hangingPunct="1">
              <a:spcBef>
                <a:spcPct val="0"/>
              </a:spcBef>
              <a:buNone/>
            </a:pPr>
            <a:endParaRPr lang="ru-RU" sz="2200" dirty="0"/>
          </a:p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ru-RU" sz="2200" dirty="0"/>
              <a:t>После выбора  определенного критерия, множество всех его возможных значений разбивается на два подмножества:</a:t>
            </a:r>
          </a:p>
          <a:p>
            <a:pPr marL="0" indent="180975" algn="just" eaLnBrk="1" hangingPunct="1">
              <a:spcBef>
                <a:spcPct val="0"/>
              </a:spcBef>
              <a:buSzPct val="60000"/>
            </a:pPr>
            <a:r>
              <a:rPr lang="ru-RU" sz="2200" dirty="0"/>
              <a:t>содержит значения критерия при котором Н</a:t>
            </a:r>
            <a:r>
              <a:rPr lang="ru-RU" sz="2200" baseline="-25000" dirty="0"/>
              <a:t>0</a:t>
            </a:r>
            <a:r>
              <a:rPr lang="ru-RU" sz="2200" dirty="0"/>
              <a:t> отвергается;</a:t>
            </a:r>
          </a:p>
          <a:p>
            <a:pPr marL="0" indent="180975" algn="just" eaLnBrk="1" hangingPunct="1">
              <a:spcBef>
                <a:spcPct val="0"/>
              </a:spcBef>
              <a:buSzPct val="60000"/>
            </a:pPr>
            <a:r>
              <a:rPr lang="ru-RU" sz="2200" dirty="0"/>
              <a:t>содержит значения критериев при которых Н</a:t>
            </a:r>
            <a:r>
              <a:rPr lang="ru-RU" sz="2200" baseline="-25000" dirty="0"/>
              <a:t>0</a:t>
            </a:r>
            <a:r>
              <a:rPr lang="ru-RU" sz="2200" dirty="0"/>
              <a:t> принимается.</a:t>
            </a:r>
            <a:endParaRPr lang="ru-RU" sz="2200" i="1" dirty="0"/>
          </a:p>
        </p:txBody>
      </p:sp>
    </p:spTree>
    <p:extLst>
      <p:ext uri="{BB962C8B-B14F-4D97-AF65-F5344CB8AC3E}">
        <p14:creationId xmlns:p14="http://schemas.microsoft.com/office/powerpoint/2010/main" val="881720847"/>
      </p:ext>
    </p:extLst>
  </p:cSld>
  <p:clrMapOvr>
    <a:masterClrMapping/>
  </p:clrMapOvr>
  <p:transition spd="med">
    <p:zo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18940" y="1226912"/>
            <a:ext cx="8713787" cy="5539978"/>
          </a:xfrm>
          <a:noFill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180975" eaLnBrk="1" hangingPunct="1">
              <a:spcBef>
                <a:spcPct val="0"/>
              </a:spcBef>
              <a:buNone/>
            </a:pPr>
            <a:r>
              <a:rPr lang="ru-RU" sz="1800" b="1" dirty="0">
                <a:solidFill>
                  <a:srgbClr val="FFFF00"/>
                </a:solidFill>
              </a:rPr>
              <a:t>Критической областью</a:t>
            </a:r>
            <a:r>
              <a:rPr lang="ru-RU" sz="1800" i="1" dirty="0">
                <a:solidFill>
                  <a:srgbClr val="FFFF00"/>
                </a:solidFill>
              </a:rPr>
              <a:t> </a:t>
            </a:r>
            <a:r>
              <a:rPr lang="ru-RU" sz="1800" i="1" dirty="0"/>
              <a:t>называют, совокупность значений критерия  при которых Н</a:t>
            </a:r>
            <a:r>
              <a:rPr lang="ru-RU" sz="1800" i="1" baseline="-25000" dirty="0"/>
              <a:t>0 </a:t>
            </a:r>
            <a:r>
              <a:rPr lang="ru-RU" sz="1800" i="1" dirty="0"/>
              <a:t>отвергается.</a:t>
            </a:r>
          </a:p>
          <a:p>
            <a:pPr marL="0" indent="180975" eaLnBrk="1" hangingPunct="1">
              <a:spcBef>
                <a:spcPct val="0"/>
              </a:spcBef>
              <a:buNone/>
            </a:pPr>
            <a:r>
              <a:rPr lang="ru-RU" sz="1800" b="1" dirty="0">
                <a:solidFill>
                  <a:srgbClr val="FFFF00"/>
                </a:solidFill>
              </a:rPr>
              <a:t>Областью принятия гипотезы</a:t>
            </a:r>
            <a:r>
              <a:rPr lang="ru-RU" sz="1800" dirty="0">
                <a:solidFill>
                  <a:srgbClr val="FFFF00"/>
                </a:solidFill>
              </a:rPr>
              <a:t> </a:t>
            </a:r>
            <a:r>
              <a:rPr lang="ru-RU" sz="1800" i="1" dirty="0"/>
              <a:t>(областью допустимых значений), называют совокупность критерия при которой Н</a:t>
            </a:r>
            <a:r>
              <a:rPr lang="ru-RU" sz="1800" i="1" baseline="-25000" dirty="0"/>
              <a:t>0</a:t>
            </a:r>
            <a:r>
              <a:rPr lang="ru-RU" sz="1800" i="1" dirty="0"/>
              <a:t> принимают.</a:t>
            </a:r>
          </a:p>
          <a:p>
            <a:pPr marL="0" indent="180975" eaLnBrk="1" hangingPunct="1">
              <a:spcBef>
                <a:spcPct val="0"/>
              </a:spcBef>
              <a:buNone/>
            </a:pPr>
            <a:endParaRPr lang="ru-RU" sz="1800" dirty="0"/>
          </a:p>
          <a:p>
            <a:pPr marL="0" indent="180975" eaLnBrk="1" hangingPunct="1">
              <a:spcBef>
                <a:spcPct val="0"/>
              </a:spcBef>
              <a:buNone/>
            </a:pPr>
            <a:r>
              <a:rPr lang="ru-RU" sz="1800" dirty="0"/>
              <a:t>Основной принцип проверки статистических гипотез: если наблюдаемое значение критерия принадлежит критической области, то гипотезу отвергают; если наблюдаемое значение критерия принадлежит области покрытия гипотезы, то гипотезу принимают.</a:t>
            </a:r>
          </a:p>
          <a:p>
            <a:pPr marL="0" indent="180975" eaLnBrk="1" hangingPunct="1">
              <a:spcBef>
                <a:spcPct val="0"/>
              </a:spcBef>
              <a:buNone/>
            </a:pPr>
            <a:r>
              <a:rPr lang="ru-RU" sz="1800" dirty="0"/>
              <a:t>Критическая область и область покрытия гипотез – это интервалы, следовательно существует точка которая их разделяет. </a:t>
            </a:r>
            <a:endParaRPr lang="ru-RU" sz="1800" i="1" dirty="0"/>
          </a:p>
          <a:p>
            <a:pPr marL="0" indent="180975" eaLnBrk="1" hangingPunct="1">
              <a:spcBef>
                <a:spcPct val="0"/>
              </a:spcBef>
              <a:buNone/>
            </a:pPr>
            <a:endParaRPr lang="ru-RU" sz="1800" i="1" dirty="0"/>
          </a:p>
          <a:p>
            <a:pPr marL="0" indent="180975" eaLnBrk="1" hangingPunct="1">
              <a:spcBef>
                <a:spcPct val="0"/>
              </a:spcBef>
              <a:buNone/>
            </a:pPr>
            <a:endParaRPr lang="ru-RU" sz="1800" b="1" dirty="0"/>
          </a:p>
          <a:p>
            <a:pPr marL="0" indent="180975" eaLnBrk="1" hangingPunct="1">
              <a:spcBef>
                <a:spcPct val="0"/>
              </a:spcBef>
              <a:buNone/>
            </a:pPr>
            <a:endParaRPr lang="ru-RU" sz="1800" b="1" dirty="0"/>
          </a:p>
          <a:p>
            <a:pPr marL="0" indent="180975" eaLnBrk="1" hangingPunct="1">
              <a:spcBef>
                <a:spcPct val="0"/>
              </a:spcBef>
              <a:buNone/>
            </a:pPr>
            <a:r>
              <a:rPr lang="ru-RU" sz="1800" b="1" dirty="0"/>
              <a:t>  Критической точкой </a:t>
            </a:r>
            <a:r>
              <a:rPr lang="ru-RU" sz="1800" i="1" dirty="0"/>
              <a:t>(границей), называют точку определяющую критическую область от области принятия гипотез.</a:t>
            </a:r>
            <a:endParaRPr lang="ru-RU" sz="1800" dirty="0"/>
          </a:p>
          <a:p>
            <a:pPr marL="0" indent="180975" eaLnBrk="1" hangingPunct="1">
              <a:spcBef>
                <a:spcPct val="0"/>
              </a:spcBef>
              <a:buNone/>
            </a:pPr>
            <a:r>
              <a:rPr lang="ru-RU" sz="1800" dirty="0">
                <a:solidFill>
                  <a:srgbClr val="FFFF00"/>
                </a:solidFill>
              </a:rPr>
              <a:t>Различают</a:t>
            </a:r>
            <a:r>
              <a:rPr lang="ru-RU" sz="1800" dirty="0"/>
              <a:t>:</a:t>
            </a:r>
          </a:p>
          <a:p>
            <a:pPr marL="0" indent="180975" eaLnBrk="1" hangingPunct="1">
              <a:spcBef>
                <a:spcPct val="0"/>
              </a:spcBef>
              <a:buNone/>
            </a:pPr>
            <a:r>
              <a:rPr lang="ru-RU" sz="1800" dirty="0"/>
              <a:t>1. Одностороннюю критическую область</a:t>
            </a:r>
          </a:p>
          <a:p>
            <a:pPr marL="0" indent="180975" eaLnBrk="1" hangingPunct="1">
              <a:spcBef>
                <a:spcPct val="0"/>
              </a:spcBef>
              <a:buSzPct val="55000"/>
            </a:pPr>
            <a:r>
              <a:rPr lang="ru-RU" sz="1800" i="1" dirty="0"/>
              <a:t>левостороннюю</a:t>
            </a:r>
          </a:p>
          <a:p>
            <a:pPr marL="0" indent="180975" eaLnBrk="1" hangingPunct="1">
              <a:spcBef>
                <a:spcPct val="0"/>
              </a:spcBef>
              <a:buSzPct val="55000"/>
            </a:pPr>
            <a:r>
              <a:rPr lang="ru-RU" sz="1800" i="1" dirty="0"/>
              <a:t>правостороннюю</a:t>
            </a:r>
          </a:p>
          <a:p>
            <a:pPr marL="0" indent="180975" eaLnBrk="1" hangingPunct="1">
              <a:spcBef>
                <a:spcPct val="0"/>
              </a:spcBef>
              <a:buNone/>
            </a:pPr>
            <a:r>
              <a:rPr lang="ru-RU" sz="1800" dirty="0"/>
              <a:t>2. Двустороннюю критическую область</a:t>
            </a:r>
            <a:endParaRPr lang="ru-RU" sz="1600" dirty="0"/>
          </a:p>
        </p:txBody>
      </p:sp>
      <p:pic>
        <p:nvPicPr>
          <p:cNvPr id="21507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09517" y="3996901"/>
            <a:ext cx="2751138" cy="6524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4609857"/>
      </p:ext>
    </p:extLst>
  </p:cSld>
  <p:clrMapOvr>
    <a:masterClrMapping/>
  </p:clrMapOvr>
  <p:transition spd="med">
    <p:zo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47443" y="1003301"/>
            <a:ext cx="8856662" cy="5522912"/>
          </a:xfrm>
          <a:noFill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180975" algn="ctr" eaLnBrk="1" hangingPunct="1">
              <a:lnSpc>
                <a:spcPct val="80000"/>
              </a:lnSpc>
              <a:buNone/>
            </a:pPr>
            <a:r>
              <a:rPr lang="ru-RU" sz="1600" i="1" dirty="0"/>
              <a:t>Правосторонней</a:t>
            </a:r>
            <a:r>
              <a:rPr lang="ru-RU" sz="1600" dirty="0"/>
              <a:t> называют критическую область определяемую неравенством </a:t>
            </a:r>
            <a:r>
              <a:rPr lang="ru-RU" sz="1600" b="1" dirty="0"/>
              <a:t>К&gt;</a:t>
            </a:r>
            <a:r>
              <a:rPr lang="ru-RU" sz="1600" b="1" dirty="0" err="1"/>
              <a:t>К</a:t>
            </a:r>
            <a:r>
              <a:rPr lang="ru-RU" sz="1600" b="1" baseline="-20000" dirty="0" err="1"/>
              <a:t>кр</a:t>
            </a:r>
            <a:endParaRPr lang="ru-RU" sz="1600" b="1" baseline="-20000" dirty="0"/>
          </a:p>
          <a:p>
            <a:pPr marL="0" indent="180975" eaLnBrk="1" hangingPunct="1">
              <a:lnSpc>
                <a:spcPct val="80000"/>
              </a:lnSpc>
              <a:buNone/>
            </a:pPr>
            <a:endParaRPr lang="ru-RU" sz="1600" dirty="0"/>
          </a:p>
          <a:p>
            <a:pPr marL="0" indent="180975" eaLnBrk="1" hangingPunct="1">
              <a:lnSpc>
                <a:spcPct val="80000"/>
              </a:lnSpc>
              <a:buNone/>
            </a:pPr>
            <a:endParaRPr lang="ru-RU" sz="1600" dirty="0"/>
          </a:p>
          <a:p>
            <a:pPr marL="0" indent="180975" eaLnBrk="1" hangingPunct="1">
              <a:lnSpc>
                <a:spcPct val="80000"/>
              </a:lnSpc>
              <a:buNone/>
            </a:pPr>
            <a:endParaRPr lang="ru-RU" sz="1600" dirty="0"/>
          </a:p>
          <a:p>
            <a:pPr marL="0" indent="180975" eaLnBrk="1" hangingPunct="1">
              <a:lnSpc>
                <a:spcPct val="80000"/>
              </a:lnSpc>
              <a:buNone/>
            </a:pPr>
            <a:r>
              <a:rPr lang="ru-RU" sz="1600" i="1" dirty="0"/>
              <a:t>Левосторонней </a:t>
            </a:r>
            <a:r>
              <a:rPr lang="ru-RU" sz="1600" dirty="0"/>
              <a:t>называют критическую область определяемую неравенством </a:t>
            </a:r>
            <a:r>
              <a:rPr lang="ru-RU" sz="1600" b="1" dirty="0"/>
              <a:t>К&lt;</a:t>
            </a:r>
            <a:r>
              <a:rPr lang="ru-RU" sz="1600" b="1" dirty="0" err="1"/>
              <a:t>К</a:t>
            </a:r>
            <a:r>
              <a:rPr lang="ru-RU" sz="1600" b="1" baseline="-22000" dirty="0" err="1"/>
              <a:t>кр</a:t>
            </a:r>
            <a:r>
              <a:rPr lang="ru-RU" sz="1600" dirty="0"/>
              <a:t> </a:t>
            </a:r>
          </a:p>
          <a:p>
            <a:pPr marL="0" indent="180975" eaLnBrk="1" hangingPunct="1">
              <a:lnSpc>
                <a:spcPct val="80000"/>
              </a:lnSpc>
              <a:buNone/>
            </a:pPr>
            <a:endParaRPr lang="ru-RU" sz="1600" dirty="0"/>
          </a:p>
          <a:p>
            <a:pPr marL="0" indent="180975" eaLnBrk="1" hangingPunct="1">
              <a:lnSpc>
                <a:spcPct val="80000"/>
              </a:lnSpc>
              <a:buNone/>
            </a:pPr>
            <a:endParaRPr lang="ru-RU" sz="1600" dirty="0"/>
          </a:p>
          <a:p>
            <a:pPr marL="0" indent="180975" eaLnBrk="1" hangingPunct="1">
              <a:lnSpc>
                <a:spcPct val="80000"/>
              </a:lnSpc>
              <a:buNone/>
            </a:pPr>
            <a:endParaRPr lang="ru-RU" sz="1600" dirty="0"/>
          </a:p>
          <a:p>
            <a:pPr marL="0" indent="180975" eaLnBrk="1" hangingPunct="1">
              <a:lnSpc>
                <a:spcPct val="80000"/>
              </a:lnSpc>
              <a:buNone/>
            </a:pPr>
            <a:r>
              <a:rPr lang="ru-RU" sz="1600" i="1" dirty="0"/>
              <a:t>Двусторонней</a:t>
            </a:r>
            <a:r>
              <a:rPr lang="ru-RU" sz="1600" dirty="0"/>
              <a:t> называют критическую область определяемая двумя неравенствами  </a:t>
            </a:r>
            <a:r>
              <a:rPr lang="ru-RU" sz="1600" b="1" dirty="0"/>
              <a:t>К&lt;</a:t>
            </a:r>
            <a:r>
              <a:rPr lang="ru-RU" sz="1600" b="1" dirty="0" err="1"/>
              <a:t>Кı</a:t>
            </a:r>
            <a:r>
              <a:rPr lang="ru-RU" sz="1600" b="1" dirty="0"/>
              <a:t> </a:t>
            </a:r>
            <a:r>
              <a:rPr lang="ru-RU" sz="1600" dirty="0"/>
              <a:t>и</a:t>
            </a:r>
            <a:r>
              <a:rPr lang="ru-RU" sz="1600" b="1" dirty="0"/>
              <a:t> К&gt;К</a:t>
            </a:r>
            <a:r>
              <a:rPr lang="ru-RU" sz="1600" b="1" baseline="-22000" dirty="0"/>
              <a:t>2</a:t>
            </a:r>
            <a:r>
              <a:rPr lang="ru-RU" sz="1600" b="1" dirty="0"/>
              <a:t>; </a:t>
            </a:r>
            <a:r>
              <a:rPr lang="ru-RU" sz="1600" b="1" dirty="0" err="1"/>
              <a:t>К</a:t>
            </a:r>
            <a:r>
              <a:rPr lang="ru-RU" sz="1600" b="1" baseline="-22000" dirty="0" err="1"/>
              <a:t>ı</a:t>
            </a:r>
            <a:r>
              <a:rPr lang="ru-RU" sz="1600" b="1" dirty="0"/>
              <a:t>&gt;К</a:t>
            </a:r>
            <a:r>
              <a:rPr lang="ru-RU" sz="1600" b="1" baseline="-22000" dirty="0"/>
              <a:t>2</a:t>
            </a:r>
            <a:r>
              <a:rPr lang="ru-RU" sz="1600" b="1" dirty="0"/>
              <a:t>  </a:t>
            </a:r>
            <a:endParaRPr lang="ru-RU" sz="1600" dirty="0"/>
          </a:p>
          <a:p>
            <a:pPr marL="0" indent="180975" eaLnBrk="1" hangingPunct="1">
              <a:lnSpc>
                <a:spcPct val="80000"/>
              </a:lnSpc>
              <a:buNone/>
            </a:pPr>
            <a:endParaRPr lang="ru-RU" sz="1600" dirty="0"/>
          </a:p>
          <a:p>
            <a:pPr marL="0" indent="180975" eaLnBrk="1" hangingPunct="1">
              <a:lnSpc>
                <a:spcPct val="80000"/>
              </a:lnSpc>
              <a:buNone/>
            </a:pPr>
            <a:endParaRPr lang="ru-RU" sz="1600" dirty="0"/>
          </a:p>
          <a:p>
            <a:pPr marL="0" indent="180975" eaLnBrk="1" hangingPunct="1">
              <a:lnSpc>
                <a:spcPct val="80000"/>
              </a:lnSpc>
              <a:buNone/>
            </a:pPr>
            <a:endParaRPr lang="ru-RU" sz="1600" dirty="0"/>
          </a:p>
          <a:p>
            <a:pPr marL="0" indent="180975" algn="just" eaLnBrk="1" hangingPunct="1">
              <a:lnSpc>
                <a:spcPct val="80000"/>
              </a:lnSpc>
              <a:buNone/>
            </a:pPr>
            <a:r>
              <a:rPr lang="ru-RU" sz="1600" dirty="0"/>
              <a:t>При отыскании критической области задают α (уровень значимости) и ищут критические точки исходя из требований, что критерий К примет значение лежащее в критической области, при этом вероятность такого события равна принятому уровню значимости α, т.е. для правосторонней области Р(К&gt;</a:t>
            </a:r>
            <a:r>
              <a:rPr lang="ru-RU" sz="1600" dirty="0" err="1"/>
              <a:t>К</a:t>
            </a:r>
            <a:r>
              <a:rPr lang="ru-RU" sz="1600" baseline="-22000" dirty="0" err="1"/>
              <a:t>кр</a:t>
            </a:r>
            <a:r>
              <a:rPr lang="ru-RU" sz="1600" dirty="0"/>
              <a:t>)= α; для левосторонней области Р(К</a:t>
            </a:r>
            <a:r>
              <a:rPr lang="ru-RU" sz="1600" b="1" dirty="0"/>
              <a:t>&lt;</a:t>
            </a:r>
            <a:r>
              <a:rPr lang="ru-RU" sz="1600" dirty="0" err="1"/>
              <a:t>К</a:t>
            </a:r>
            <a:r>
              <a:rPr lang="ru-RU" sz="1600" baseline="-22000" dirty="0" err="1"/>
              <a:t>кр</a:t>
            </a:r>
            <a:r>
              <a:rPr lang="ru-RU" sz="1600" dirty="0"/>
              <a:t>)= α; для двусторонней области Р(К&gt;|</a:t>
            </a:r>
            <a:r>
              <a:rPr lang="ru-RU" sz="1600" dirty="0" err="1"/>
              <a:t>К</a:t>
            </a:r>
            <a:r>
              <a:rPr lang="ru-RU" sz="1600" baseline="-22000" dirty="0" err="1"/>
              <a:t>кр</a:t>
            </a:r>
            <a:r>
              <a:rPr lang="ru-RU" sz="1600" dirty="0"/>
              <a:t>|)= α/2</a:t>
            </a:r>
          </a:p>
          <a:p>
            <a:pPr marL="0" indent="180975" algn="just" eaLnBrk="1" hangingPunct="1">
              <a:lnSpc>
                <a:spcPct val="80000"/>
              </a:lnSpc>
              <a:buNone/>
            </a:pPr>
            <a:r>
              <a:rPr lang="ru-RU" sz="1600" dirty="0"/>
              <a:t>Если наблюдаемое значение критерия принадлежит критической области, нулевую гипотезу отвергают, если не принадлежит, то нет оснований отвергать Н</a:t>
            </a:r>
            <a:r>
              <a:rPr lang="ru-RU" sz="1600" baseline="-22000" dirty="0"/>
              <a:t>0</a:t>
            </a:r>
            <a:r>
              <a:rPr lang="ru-RU" sz="1600" dirty="0"/>
              <a:t>.</a:t>
            </a:r>
          </a:p>
          <a:p>
            <a:pPr marL="0" indent="180975" algn="just" eaLnBrk="1" hangingPunct="1">
              <a:lnSpc>
                <a:spcPct val="80000"/>
              </a:lnSpc>
              <a:buNone/>
            </a:pPr>
            <a:r>
              <a:rPr lang="ru-RU" sz="1600" dirty="0"/>
              <a:t>Для многих критериев составлены таблицы:</a:t>
            </a:r>
          </a:p>
          <a:p>
            <a:pPr marL="0" indent="180975" algn="just" eaLnBrk="1" hangingPunct="1">
              <a:lnSpc>
                <a:spcPct val="80000"/>
              </a:lnSpc>
              <a:buSzPct val="60000"/>
            </a:pPr>
            <a:r>
              <a:rPr lang="ru-RU" sz="1600" dirty="0"/>
              <a:t>Стьюдента;</a:t>
            </a:r>
          </a:p>
          <a:p>
            <a:pPr marL="0" indent="180975" eaLnBrk="1" hangingPunct="1">
              <a:lnSpc>
                <a:spcPct val="80000"/>
              </a:lnSpc>
              <a:buSzPct val="60000"/>
            </a:pPr>
            <a:r>
              <a:rPr lang="ru-RU" sz="1600" dirty="0"/>
              <a:t>χ²;</a:t>
            </a:r>
          </a:p>
          <a:p>
            <a:pPr marL="0" indent="180975" eaLnBrk="1" hangingPunct="1">
              <a:lnSpc>
                <a:spcPct val="80000"/>
              </a:lnSpc>
              <a:buSzPct val="60000"/>
            </a:pPr>
            <a:r>
              <a:rPr lang="ru-RU" sz="1600" dirty="0"/>
              <a:t>Фишера</a:t>
            </a:r>
          </a:p>
          <a:p>
            <a:pPr marL="0" indent="180975" eaLnBrk="1" hangingPunct="1">
              <a:lnSpc>
                <a:spcPct val="80000"/>
              </a:lnSpc>
              <a:spcBef>
                <a:spcPct val="0"/>
              </a:spcBef>
            </a:pPr>
            <a:endParaRPr lang="ru-RU" sz="1600" dirty="0"/>
          </a:p>
        </p:txBody>
      </p:sp>
      <p:graphicFrame>
        <p:nvGraphicFramePr>
          <p:cNvPr id="22531" name="Object 7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881968335"/>
              </p:ext>
            </p:extLst>
          </p:nvPr>
        </p:nvGraphicFramePr>
        <p:xfrm>
          <a:off x="5016500" y="1379248"/>
          <a:ext cx="1725612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3" name="Точечный рисунок" r:id="rId3" imgW="1542857" imgH="495369" progId="Paint.Picture">
                  <p:embed/>
                </p:oleObj>
              </mc:Choice>
              <mc:Fallback>
                <p:oleObj name="Точечный рисунок" r:id="rId3" imgW="1542857" imgH="495369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0" y="1379248"/>
                        <a:ext cx="1725612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2009136"/>
              </p:ext>
            </p:extLst>
          </p:nvPr>
        </p:nvGraphicFramePr>
        <p:xfrm>
          <a:off x="4871244" y="2317203"/>
          <a:ext cx="20161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4" name="Точечный рисунок" r:id="rId5" imgW="1657581" imgH="466543" progId="Paint.Picture">
                  <p:embed/>
                </p:oleObj>
              </mc:Choice>
              <mc:Fallback>
                <p:oleObj name="Точечный рисунок" r:id="rId5" imgW="1657581" imgH="466543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244" y="2317203"/>
                        <a:ext cx="20161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865939"/>
              </p:ext>
            </p:extLst>
          </p:nvPr>
        </p:nvGraphicFramePr>
        <p:xfrm>
          <a:off x="5015706" y="3389317"/>
          <a:ext cx="18716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5" name="Точечный рисунок" r:id="rId7" imgW="1771429" imgH="504762" progId="Paint.Picture">
                  <p:embed/>
                </p:oleObj>
              </mc:Choice>
              <mc:Fallback>
                <p:oleObj name="Точечный рисунок" r:id="rId7" imgW="1771429" imgH="504762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5706" y="3389317"/>
                        <a:ext cx="18716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33766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8" name="Rectangle 15"/>
          <p:cNvSpPr>
            <a:spLocks noGrp="1" noChangeArrowheads="1"/>
          </p:cNvSpPr>
          <p:nvPr>
            <p:ph type="title"/>
          </p:nvPr>
        </p:nvSpPr>
        <p:spPr>
          <a:xfrm>
            <a:off x="1943879" y="433145"/>
            <a:ext cx="7265436" cy="1107996"/>
          </a:xfrm>
          <a:noFill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ru-RU" sz="3600" b="1" dirty="0"/>
              <a:t>Сравнение математических ожиданий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10083" y="1602696"/>
            <a:ext cx="8785225" cy="3662541"/>
          </a:xfrm>
          <a:noFill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180975" eaLnBrk="1" hangingPunct="1">
              <a:spcBef>
                <a:spcPct val="0"/>
              </a:spcBef>
              <a:buNone/>
            </a:pPr>
            <a:r>
              <a:rPr lang="ru-RU" sz="1400" dirty="0"/>
              <a:t>Для проверки гипотезы, соответствие двух выборок принадлежности к одной и той же генеральной совокупности, рассмотрим вопрос о значимости расхождений между выборочным значением математических ожиданий.</a:t>
            </a:r>
            <a:r>
              <a:rPr lang="en-US" sz="1400" dirty="0"/>
              <a:t> </a:t>
            </a:r>
            <a:r>
              <a:rPr lang="ru-RU" sz="1400" dirty="0"/>
              <a:t>Выдвинем нулевую гипотезу о равенстве математических ожиданий.</a:t>
            </a:r>
          </a:p>
          <a:p>
            <a:pPr marL="0" indent="180975" eaLnBrk="1" hangingPunct="1">
              <a:spcBef>
                <a:spcPct val="0"/>
              </a:spcBef>
              <a:buNone/>
            </a:pPr>
            <a:r>
              <a:rPr lang="ru-RU" sz="1400" dirty="0"/>
              <a:t>Н</a:t>
            </a:r>
            <a:r>
              <a:rPr lang="en-US" sz="1400" baseline="-25000" dirty="0"/>
              <a:t>0</a:t>
            </a:r>
            <a:r>
              <a:rPr lang="ru-RU" sz="1400" dirty="0"/>
              <a:t>: М</a:t>
            </a:r>
            <a:r>
              <a:rPr lang="en-US" sz="1400" baseline="-25000" dirty="0"/>
              <a:t>x</a:t>
            </a:r>
            <a:r>
              <a:rPr lang="en-US" sz="1400" dirty="0"/>
              <a:t> </a:t>
            </a:r>
            <a:r>
              <a:rPr lang="ru-RU" sz="1400" dirty="0"/>
              <a:t>=М</a:t>
            </a:r>
            <a:r>
              <a:rPr lang="en-US" sz="1400" baseline="-25000" dirty="0"/>
              <a:t>y</a:t>
            </a:r>
            <a:endParaRPr lang="ru-RU" sz="1400" dirty="0"/>
          </a:p>
          <a:p>
            <a:pPr marL="0" indent="180975" eaLnBrk="1" hangingPunct="1">
              <a:spcBef>
                <a:spcPct val="0"/>
              </a:spcBef>
              <a:buNone/>
            </a:pPr>
            <a:endParaRPr lang="en-US" sz="1400" dirty="0"/>
          </a:p>
          <a:p>
            <a:pPr marL="0" indent="180975" eaLnBrk="1" hangingPunct="1">
              <a:spcBef>
                <a:spcPct val="0"/>
              </a:spcBef>
              <a:buNone/>
            </a:pPr>
            <a:endParaRPr lang="en-US" sz="1400" dirty="0"/>
          </a:p>
          <a:p>
            <a:pPr marL="0" indent="180975" eaLnBrk="1" hangingPunct="1">
              <a:spcBef>
                <a:spcPct val="0"/>
              </a:spcBef>
              <a:buNone/>
            </a:pPr>
            <a:endParaRPr lang="en-US" sz="1400" dirty="0"/>
          </a:p>
          <a:p>
            <a:pPr marL="0" indent="180975" eaLnBrk="1" hangingPunct="1">
              <a:spcBef>
                <a:spcPct val="0"/>
              </a:spcBef>
              <a:buNone/>
            </a:pPr>
            <a:r>
              <a:rPr lang="ru-RU" sz="1400" dirty="0"/>
              <a:t>Тестирование такой гипотезы основано:</a:t>
            </a:r>
          </a:p>
          <a:p>
            <a:pPr marL="0" indent="180975" eaLnBrk="1" hangingPunct="1">
              <a:spcBef>
                <a:spcPct val="0"/>
              </a:spcBef>
              <a:buSzPct val="60000"/>
            </a:pPr>
            <a:r>
              <a:rPr lang="ru-RU" sz="1400" dirty="0"/>
              <a:t>на нормальном распределении в случае большого объема выборок (</a:t>
            </a:r>
            <a:r>
              <a:rPr lang="en-US" sz="1400" dirty="0"/>
              <a:t>n</a:t>
            </a:r>
            <a:r>
              <a:rPr lang="ru-RU" sz="1400" dirty="0"/>
              <a:t>&gt;30), когда дисперсии считаются известными</a:t>
            </a:r>
          </a:p>
          <a:p>
            <a:pPr marL="0" indent="180975" eaLnBrk="1" hangingPunct="1">
              <a:spcBef>
                <a:spcPct val="0"/>
              </a:spcBef>
              <a:buSzPct val="60000"/>
            </a:pPr>
            <a:r>
              <a:rPr lang="ru-RU" sz="1400" dirty="0"/>
              <a:t>на распределении  Стьюдента в случае малого объема выборок (</a:t>
            </a:r>
            <a:r>
              <a:rPr lang="en-US" sz="1400" dirty="0"/>
              <a:t>n</a:t>
            </a:r>
            <a:r>
              <a:rPr lang="ru-RU" sz="1400" dirty="0"/>
              <a:t>&lt;30) когда дисперсии являются неизвестными. </a:t>
            </a:r>
            <a:endParaRPr lang="en-US" sz="1400" dirty="0"/>
          </a:p>
          <a:p>
            <a:pPr marL="0" indent="180975" eaLnBrk="1" hangingPunct="1">
              <a:spcBef>
                <a:spcPct val="0"/>
              </a:spcBef>
              <a:buNone/>
            </a:pPr>
            <a:r>
              <a:rPr lang="ru-RU" sz="1400" dirty="0"/>
              <a:t>Сравнительные графики плотностей  распределения нормального и Стьюдента приведены на рисунке:</a:t>
            </a:r>
            <a:endParaRPr lang="en-US" sz="1400" dirty="0"/>
          </a:p>
          <a:p>
            <a:pPr marL="0" indent="180975" algn="r" eaLnBrk="1" hangingPunct="1">
              <a:spcBef>
                <a:spcPct val="0"/>
              </a:spcBef>
              <a:buNone/>
            </a:pPr>
            <a:endParaRPr lang="ru-RU" sz="1400" dirty="0"/>
          </a:p>
          <a:p>
            <a:pPr marL="0" indent="180975" algn="r" eaLnBrk="1" hangingPunct="1">
              <a:spcBef>
                <a:spcPct val="0"/>
              </a:spcBef>
              <a:buNone/>
            </a:pPr>
            <a:endParaRPr lang="ru-RU" sz="1400" dirty="0"/>
          </a:p>
          <a:p>
            <a:pPr marL="0" indent="180975" algn="ctr" eaLnBrk="1" hangingPunct="1">
              <a:spcBef>
                <a:spcPct val="0"/>
              </a:spcBef>
              <a:buNone/>
            </a:pPr>
            <a:r>
              <a:rPr lang="ru-RU" sz="1400" dirty="0"/>
              <a:t>				синей и розовой линиями показано </a:t>
            </a:r>
          </a:p>
          <a:p>
            <a:pPr marL="0" indent="180975" algn="ctr" eaLnBrk="1" hangingPunct="1">
              <a:spcBef>
                <a:spcPct val="0"/>
              </a:spcBef>
              <a:buNone/>
            </a:pPr>
            <a:r>
              <a:rPr lang="ru-RU" sz="1400" dirty="0"/>
              <a:t>			       распределение Стьюдента, </a:t>
            </a:r>
          </a:p>
          <a:p>
            <a:pPr marL="0" indent="180975" algn="ctr" eaLnBrk="1" hangingPunct="1">
              <a:spcBef>
                <a:spcPct val="0"/>
              </a:spcBef>
              <a:buNone/>
            </a:pPr>
            <a:r>
              <a:rPr lang="ru-RU" sz="1400" dirty="0"/>
              <a:t>			красной – нормальное</a:t>
            </a:r>
          </a:p>
        </p:txBody>
      </p:sp>
      <p:graphicFrame>
        <p:nvGraphicFramePr>
          <p:cNvPr id="23555" name="Object 6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490213990"/>
              </p:ext>
            </p:extLst>
          </p:nvPr>
        </p:nvGraphicFramePr>
        <p:xfrm>
          <a:off x="2566988" y="2561545"/>
          <a:ext cx="165576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4" name="Точечный рисунок" r:id="rId3" imgW="2019048" imgH="581106" progId="Paint.Picture">
                  <p:embed/>
                </p:oleObj>
              </mc:Choice>
              <mc:Fallback>
                <p:oleObj name="Точечный рисунок" r:id="rId3" imgW="2019048" imgH="581106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2561545"/>
                        <a:ext cx="1655762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8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490114919"/>
              </p:ext>
            </p:extLst>
          </p:nvPr>
        </p:nvGraphicFramePr>
        <p:xfrm>
          <a:off x="5229419" y="2561545"/>
          <a:ext cx="1655762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5" name="Точечный рисунок" r:id="rId5" imgW="2057143" imgH="609524" progId="Paint.Picture">
                  <p:embed/>
                </p:oleObj>
              </mc:Choice>
              <mc:Fallback>
                <p:oleObj name="Точечный рисунок" r:id="rId5" imgW="2057143" imgH="60952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9419" y="2561545"/>
                        <a:ext cx="1655762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12"/>
          <p:cNvGraphicFramePr>
            <a:graphicFrameLocks noChangeAspect="1"/>
          </p:cNvGraphicFramePr>
          <p:nvPr/>
        </p:nvGraphicFramePr>
        <p:xfrm>
          <a:off x="2566988" y="4191000"/>
          <a:ext cx="363855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6" name="Точечный рисунок" r:id="rId7" imgW="3638095" imgH="2666667" progId="Paint.Picture">
                  <p:embed/>
                </p:oleObj>
              </mc:Choice>
              <mc:Fallback>
                <p:oleObj name="Точечный рисунок" r:id="rId7" imgW="3638095" imgH="2666667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4191000"/>
                        <a:ext cx="3638550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82440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6863" y="822922"/>
            <a:ext cx="8229600" cy="1107996"/>
          </a:xfrm>
          <a:noFill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ru-RU" sz="3600" b="1" dirty="0"/>
              <a:t>Проверка гипотезы о равенстве средних при неизвестных дисперсиях</a:t>
            </a:r>
            <a:endParaRPr lang="ru-RU" sz="3600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1419920" y="2056686"/>
            <a:ext cx="9150108" cy="4801314"/>
          </a:xfrm>
          <a:noFill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ru-RU" sz="2400" i="1" dirty="0"/>
              <a:t>Постановка задач:</a:t>
            </a:r>
            <a:r>
              <a:rPr lang="ru-RU" sz="2400" dirty="0"/>
              <a:t> пусть генеральные совокупности распределены нормально, причем их дисперсии </a:t>
            </a:r>
            <a:r>
              <a:rPr lang="en-US" sz="2400" dirty="0"/>
              <a:t>D[x] </a:t>
            </a:r>
            <a:r>
              <a:rPr lang="ru-RU" sz="2400" dirty="0"/>
              <a:t>и </a:t>
            </a:r>
            <a:r>
              <a:rPr lang="en-US" sz="2400" dirty="0"/>
              <a:t>D[y]</a:t>
            </a:r>
            <a:r>
              <a:rPr lang="ru-RU" sz="2400" dirty="0"/>
              <a:t> заранее не известны. Взяты две выборки малого объема, требуется сравнить средние этих генеральных совокупностей.</a:t>
            </a:r>
          </a:p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ru-RU" sz="2400" i="1" dirty="0"/>
              <a:t>Методика проверки задач:</a:t>
            </a:r>
            <a:r>
              <a:rPr lang="ru-RU" sz="2400" dirty="0"/>
              <a:t> заключается в использовании критерия Стьюдента при условии, что генеральные дисперсии не известны, однако в предположении, что они равны между собой. </a:t>
            </a:r>
          </a:p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ru-RU" sz="2400" i="1" dirty="0"/>
              <a:t>Такая задача возникает:</a:t>
            </a:r>
            <a:r>
              <a:rPr lang="ru-RU" sz="2400" dirty="0"/>
              <a:t> если сравниваются средние размеры двух партий деталей, изготовленных на одном и том же станке. Естественно будет предположить, что дисперсии контролируемых размеров одинаковы.</a:t>
            </a:r>
            <a:endParaRPr lang="ru-RU" sz="2400" b="1" dirty="0"/>
          </a:p>
          <a:p>
            <a:pPr marL="0" indent="180975" eaLnBrk="1" hangingPunct="1">
              <a:spcBef>
                <a:spcPct val="0"/>
              </a:spcBef>
              <a:buNone/>
            </a:pPr>
            <a:endParaRPr lang="ru-RU" sz="2400" b="1" dirty="0"/>
          </a:p>
          <a:p>
            <a:pPr marL="0" indent="180975" eaLnBrk="1" hangingPunct="1">
              <a:spcBef>
                <a:spcPct val="0"/>
              </a:spcBef>
              <a:buNone/>
            </a:pPr>
            <a:r>
              <a:rPr lang="ru-RU" sz="2400" b="1" i="1" dirty="0">
                <a:hlinkClick r:id="rId2" action="ppaction://hlinksldjump"/>
              </a:rPr>
              <a:t>Алгоритм проверки</a:t>
            </a:r>
            <a:endParaRPr lang="ru-RU" sz="2400" i="1" dirty="0"/>
          </a:p>
        </p:txBody>
      </p:sp>
      <p:sp>
        <p:nvSpPr>
          <p:cNvPr id="25604" name="Rectangle 6"/>
          <p:cNvSpPr>
            <a:spLocks noChangeArrowheads="1"/>
          </p:cNvSpPr>
          <p:nvPr/>
        </p:nvSpPr>
        <p:spPr bwMode="auto">
          <a:xfrm>
            <a:off x="1524001" y="2972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25605" name="Rectangle 10"/>
          <p:cNvSpPr>
            <a:spLocks noChangeArrowheads="1"/>
          </p:cNvSpPr>
          <p:nvPr/>
        </p:nvSpPr>
        <p:spPr bwMode="auto">
          <a:xfrm>
            <a:off x="1524001" y="2977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9997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043113" y="333376"/>
            <a:ext cx="8229600" cy="549275"/>
          </a:xfrm>
          <a:noFill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ru-RU" sz="3600" dirty="0"/>
              <a:t>Алгоритм проверки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31950" y="981075"/>
            <a:ext cx="8712200" cy="5170646"/>
          </a:xfrm>
          <a:noFill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90488" eaLnBrk="1" hangingPunct="1">
              <a:spcBef>
                <a:spcPct val="0"/>
              </a:spcBef>
              <a:buNone/>
            </a:pPr>
            <a:r>
              <a:rPr lang="ru-RU" sz="1400" dirty="0"/>
              <a:t>1) Прежде чем сравнивать средние требуется проверить </a:t>
            </a:r>
            <a:r>
              <a:rPr lang="ru-RU" sz="1400" b="1" dirty="0"/>
              <a:t>Н</a:t>
            </a:r>
            <a:r>
              <a:rPr lang="ru-RU" sz="1400" b="1" baseline="-25000" dirty="0"/>
              <a:t>0</a:t>
            </a:r>
            <a:r>
              <a:rPr lang="ru-RU" sz="1400" b="1" dirty="0"/>
              <a:t>: </a:t>
            </a:r>
            <a:r>
              <a:rPr lang="en-US" sz="1400" b="1" dirty="0"/>
              <a:t>D</a:t>
            </a:r>
            <a:r>
              <a:rPr lang="ru-RU" sz="1400" b="1" baseline="-25000" dirty="0"/>
              <a:t>х</a:t>
            </a:r>
            <a:r>
              <a:rPr lang="ru-RU" sz="1400" b="1" dirty="0"/>
              <a:t>=</a:t>
            </a:r>
            <a:r>
              <a:rPr lang="en-US" sz="1400" b="1" dirty="0"/>
              <a:t>D</a:t>
            </a:r>
            <a:r>
              <a:rPr lang="ru-RU" sz="1400" b="1" baseline="-25000" dirty="0"/>
              <a:t>у</a:t>
            </a:r>
            <a:r>
              <a:rPr lang="en-US" sz="1400" b="1" dirty="0"/>
              <a:t> </a:t>
            </a:r>
            <a:endParaRPr lang="ru-RU" sz="1400" b="1" dirty="0"/>
          </a:p>
          <a:p>
            <a:pPr marL="0" indent="90488" eaLnBrk="1" hangingPunct="1">
              <a:spcBef>
                <a:spcPct val="0"/>
              </a:spcBef>
              <a:buNone/>
            </a:pPr>
            <a:r>
              <a:rPr lang="ru-RU" sz="1400" dirty="0"/>
              <a:t>2) Если гипотеза подтвердилась нужно вычислить наблюдаемое значение критерия:</a:t>
            </a:r>
          </a:p>
          <a:p>
            <a:pPr marL="0" indent="90488" eaLnBrk="1" hangingPunct="1">
              <a:spcBef>
                <a:spcPct val="0"/>
              </a:spcBef>
              <a:buNone/>
            </a:pPr>
            <a:endParaRPr lang="ru-RU" sz="1400" dirty="0"/>
          </a:p>
          <a:p>
            <a:pPr marL="0" indent="90488" eaLnBrk="1" hangingPunct="1">
              <a:spcBef>
                <a:spcPct val="0"/>
              </a:spcBef>
              <a:buNone/>
            </a:pPr>
            <a:endParaRPr lang="ru-RU" sz="1400" dirty="0"/>
          </a:p>
          <a:p>
            <a:pPr marL="0" indent="90488" eaLnBrk="1" hangingPunct="1">
              <a:spcBef>
                <a:spcPct val="0"/>
              </a:spcBef>
              <a:buNone/>
            </a:pPr>
            <a:endParaRPr lang="ru-RU" sz="1400" dirty="0"/>
          </a:p>
          <a:p>
            <a:pPr marL="0" indent="90488" eaLnBrk="1" hangingPunct="1">
              <a:spcBef>
                <a:spcPct val="0"/>
              </a:spcBef>
              <a:buNone/>
            </a:pPr>
            <a:endParaRPr lang="ru-RU" sz="1400" dirty="0"/>
          </a:p>
          <a:p>
            <a:pPr marL="0" indent="90488" algn="just" eaLnBrk="1" hangingPunct="1">
              <a:spcBef>
                <a:spcPct val="0"/>
              </a:spcBef>
              <a:buNone/>
            </a:pPr>
            <a:r>
              <a:rPr lang="ru-RU" sz="1400" dirty="0"/>
              <a:t>3) Строим критическую область в зависимости от конкурирующей гипотезы</a:t>
            </a:r>
          </a:p>
          <a:p>
            <a:pPr marL="0" indent="90488" algn="just" eaLnBrk="1" hangingPunct="1">
              <a:spcBef>
                <a:spcPct val="0"/>
              </a:spcBef>
              <a:buNone/>
            </a:pPr>
            <a:r>
              <a:rPr lang="ru-RU" sz="1400" dirty="0"/>
              <a:t>а) Если </a:t>
            </a:r>
            <a:r>
              <a:rPr lang="ru-RU" sz="1400" b="1" dirty="0"/>
              <a:t>Н</a:t>
            </a:r>
            <a:r>
              <a:rPr lang="ru-RU" sz="1400" b="1" baseline="-25000" dirty="0"/>
              <a:t>1</a:t>
            </a:r>
            <a:r>
              <a:rPr lang="ru-RU" sz="1400" b="1" dirty="0"/>
              <a:t>: </a:t>
            </a:r>
            <a:r>
              <a:rPr lang="ru-RU" sz="1400" b="1" dirty="0" err="1"/>
              <a:t>М</a:t>
            </a:r>
            <a:r>
              <a:rPr lang="ru-RU" sz="1400" b="1" baseline="-25000" dirty="0" err="1"/>
              <a:t>х</a:t>
            </a:r>
            <a:r>
              <a:rPr lang="ru-RU" sz="1400" b="1" dirty="0"/>
              <a:t> ≠ </a:t>
            </a:r>
            <a:r>
              <a:rPr lang="ru-RU" sz="1400" b="1" dirty="0" err="1"/>
              <a:t>М</a:t>
            </a:r>
            <a:r>
              <a:rPr lang="ru-RU" sz="1400" b="1" baseline="-25000" dirty="0" err="1"/>
              <a:t>у</a:t>
            </a:r>
            <a:r>
              <a:rPr lang="ru-RU" sz="1400" dirty="0"/>
              <a:t> – двусторонняя критическая область строится исходя из условия чтобы вероятность попадания наблюдаемого значения критерия в эту область была равна принятому уровню значимости α взятого из таблицы Стьюдента для числа степеней свободы  в верхней части таблицы, т.е. для двусторонней критической области при условии </a:t>
            </a:r>
            <a:r>
              <a:rPr lang="ru-RU" sz="1400" b="1" dirty="0"/>
              <a:t>|</a:t>
            </a:r>
            <a:r>
              <a:rPr lang="ru-RU" sz="1400" b="1" dirty="0" err="1"/>
              <a:t>Т</a:t>
            </a:r>
            <a:r>
              <a:rPr lang="ru-RU" sz="1400" b="1" baseline="-25000" dirty="0" err="1"/>
              <a:t>набл</a:t>
            </a:r>
            <a:r>
              <a:rPr lang="ru-RU" sz="1400" b="1" dirty="0"/>
              <a:t>| &lt; </a:t>
            </a:r>
            <a:r>
              <a:rPr lang="en-US" sz="1400" b="1" dirty="0"/>
              <a:t>t</a:t>
            </a:r>
            <a:r>
              <a:rPr lang="ru-RU" sz="1400" b="1" baseline="-25000" dirty="0" err="1"/>
              <a:t>кр</a:t>
            </a:r>
            <a:r>
              <a:rPr lang="ru-RU" sz="1400" b="1" dirty="0"/>
              <a:t>(α,υ)</a:t>
            </a:r>
            <a:r>
              <a:rPr lang="ru-RU" sz="1400" dirty="0"/>
              <a:t>, то нет основания отвергать нулевую гипотезу; если  </a:t>
            </a:r>
            <a:r>
              <a:rPr lang="ru-RU" sz="1400" b="1" dirty="0"/>
              <a:t>|</a:t>
            </a:r>
            <a:r>
              <a:rPr lang="ru-RU" sz="1400" b="1" dirty="0" err="1"/>
              <a:t>Т</a:t>
            </a:r>
            <a:r>
              <a:rPr lang="ru-RU" sz="1400" b="1" baseline="-25000" dirty="0" err="1"/>
              <a:t>набл</a:t>
            </a:r>
            <a:r>
              <a:rPr lang="ru-RU" sz="1400" b="1" dirty="0"/>
              <a:t>| &gt; </a:t>
            </a:r>
            <a:r>
              <a:rPr lang="en-US" sz="1400" b="1" dirty="0"/>
              <a:t>t</a:t>
            </a:r>
            <a:r>
              <a:rPr lang="ru-RU" sz="1400" b="1" baseline="-25000" dirty="0" err="1"/>
              <a:t>кр</a:t>
            </a:r>
            <a:r>
              <a:rPr lang="ru-RU" sz="1400" b="1" dirty="0"/>
              <a:t>(α,υ)</a:t>
            </a:r>
            <a:r>
              <a:rPr lang="ru-RU" sz="1400" dirty="0"/>
              <a:t>, то нулевую гипотезу отвергают.</a:t>
            </a:r>
          </a:p>
          <a:p>
            <a:pPr marL="0" indent="90488" algn="just" eaLnBrk="1" hangingPunct="1">
              <a:spcBef>
                <a:spcPct val="0"/>
              </a:spcBef>
              <a:buNone/>
            </a:pPr>
            <a:r>
              <a:rPr lang="ru-RU" sz="1400" dirty="0"/>
              <a:t>б) Если </a:t>
            </a:r>
            <a:r>
              <a:rPr lang="ru-RU" sz="1400" b="1" dirty="0"/>
              <a:t>Н</a:t>
            </a:r>
            <a:r>
              <a:rPr lang="ru-RU" sz="1400" b="1" baseline="-25000" dirty="0"/>
              <a:t>1</a:t>
            </a:r>
            <a:r>
              <a:rPr lang="ru-RU" sz="1400" b="1" dirty="0"/>
              <a:t>: </a:t>
            </a:r>
            <a:r>
              <a:rPr lang="ru-RU" sz="1400" b="1" dirty="0" err="1"/>
              <a:t>М</a:t>
            </a:r>
            <a:r>
              <a:rPr lang="ru-RU" sz="1400" b="1" baseline="-25000" dirty="0" err="1"/>
              <a:t>х</a:t>
            </a:r>
            <a:r>
              <a:rPr lang="ru-RU" sz="1400" b="1" dirty="0"/>
              <a:t> &gt;</a:t>
            </a:r>
            <a:r>
              <a:rPr lang="ru-RU" sz="1400" b="1" dirty="0" err="1"/>
              <a:t>М</a:t>
            </a:r>
            <a:r>
              <a:rPr lang="ru-RU" sz="1400" b="1" baseline="-25000" dirty="0" err="1"/>
              <a:t>у</a:t>
            </a:r>
            <a:r>
              <a:rPr lang="ru-RU" sz="1400" dirty="0"/>
              <a:t> строится правосторонняя критическая область, а критическую точку находят по таблице Стьюдента из нижней части.</a:t>
            </a:r>
          </a:p>
          <a:p>
            <a:pPr marL="0" indent="90488" algn="just" eaLnBrk="1" hangingPunct="1">
              <a:spcBef>
                <a:spcPct val="0"/>
              </a:spcBef>
              <a:buNone/>
            </a:pPr>
            <a:r>
              <a:rPr lang="ru-RU" sz="1400" dirty="0"/>
              <a:t>Если </a:t>
            </a:r>
            <a:r>
              <a:rPr lang="ru-RU" sz="1400" b="1" dirty="0" err="1"/>
              <a:t>Т</a:t>
            </a:r>
            <a:r>
              <a:rPr lang="ru-RU" sz="1400" b="1" baseline="-25000" dirty="0" err="1"/>
              <a:t>набл</a:t>
            </a:r>
            <a:r>
              <a:rPr lang="ru-RU" sz="1400" b="1" dirty="0"/>
              <a:t> &lt; </a:t>
            </a:r>
            <a:r>
              <a:rPr lang="en-US" sz="1400" b="1" dirty="0"/>
              <a:t>t</a:t>
            </a:r>
            <a:r>
              <a:rPr lang="ru-RU" sz="1400" b="1" baseline="-25000" dirty="0" err="1"/>
              <a:t>кр</a:t>
            </a:r>
            <a:r>
              <a:rPr lang="ru-RU" sz="1400" dirty="0"/>
              <a:t>, то нет основания отвергать нулевую гипотезу .</a:t>
            </a:r>
          </a:p>
          <a:p>
            <a:pPr marL="0" indent="90488" algn="just" eaLnBrk="1" hangingPunct="1">
              <a:spcBef>
                <a:spcPct val="0"/>
              </a:spcBef>
              <a:buNone/>
            </a:pPr>
            <a:r>
              <a:rPr lang="ru-RU" sz="1400" dirty="0"/>
              <a:t>Если </a:t>
            </a:r>
            <a:r>
              <a:rPr lang="ru-RU" sz="1400" b="1" dirty="0" err="1"/>
              <a:t>Т</a:t>
            </a:r>
            <a:r>
              <a:rPr lang="ru-RU" sz="1400" b="1" baseline="-25000" dirty="0" err="1"/>
              <a:t>набл</a:t>
            </a:r>
            <a:r>
              <a:rPr lang="ru-RU" sz="1400" b="1" dirty="0"/>
              <a:t> &gt; </a:t>
            </a:r>
            <a:r>
              <a:rPr lang="en-US" sz="1400" b="1" dirty="0"/>
              <a:t>t</a:t>
            </a:r>
            <a:r>
              <a:rPr lang="ru-RU" sz="1400" b="1" baseline="-25000" dirty="0" err="1"/>
              <a:t>кр</a:t>
            </a:r>
            <a:r>
              <a:rPr lang="ru-RU" sz="1400" dirty="0"/>
              <a:t>, то нулевую гипотезу отвергают.</a:t>
            </a:r>
          </a:p>
          <a:p>
            <a:pPr marL="0" indent="90488" algn="just" eaLnBrk="1" hangingPunct="1">
              <a:spcBef>
                <a:spcPct val="0"/>
              </a:spcBef>
              <a:buNone/>
            </a:pPr>
            <a:r>
              <a:rPr lang="ru-RU" sz="1400" dirty="0"/>
              <a:t>в) При конкурирующей гипотезе </a:t>
            </a:r>
            <a:r>
              <a:rPr lang="ru-RU" sz="1400" b="1" dirty="0"/>
              <a:t>Н</a:t>
            </a:r>
            <a:r>
              <a:rPr lang="ru-RU" sz="1400" b="1" baseline="-25000" dirty="0"/>
              <a:t>1</a:t>
            </a:r>
            <a:r>
              <a:rPr lang="ru-RU" sz="1400" b="1" dirty="0"/>
              <a:t>: </a:t>
            </a:r>
            <a:r>
              <a:rPr lang="ru-RU" sz="1400" b="1" dirty="0" err="1"/>
              <a:t>М</a:t>
            </a:r>
            <a:r>
              <a:rPr lang="ru-RU" sz="1400" b="1" baseline="-25000" dirty="0" err="1"/>
              <a:t>х</a:t>
            </a:r>
            <a:r>
              <a:rPr lang="ru-RU" sz="1400" b="1" baseline="-25000" dirty="0"/>
              <a:t> </a:t>
            </a:r>
            <a:r>
              <a:rPr lang="ru-RU" sz="1400" b="1" dirty="0"/>
              <a:t>&lt; </a:t>
            </a:r>
            <a:r>
              <a:rPr lang="ru-RU" sz="1400" b="1" dirty="0" err="1"/>
              <a:t>М</a:t>
            </a:r>
            <a:r>
              <a:rPr lang="ru-RU" sz="1400" b="1" baseline="-25000" dirty="0" err="1"/>
              <a:t>у</a:t>
            </a:r>
            <a:r>
              <a:rPr lang="ru-RU" sz="1400" dirty="0"/>
              <a:t> по таблице критических точек распределения Стьюдента, по заданному уровню значимости α, помещенному в нижней строке таблицы, и числу степеней свободы </a:t>
            </a:r>
            <a:r>
              <a:rPr lang="en-US" sz="1400" b="1" dirty="0"/>
              <a:t>k</a:t>
            </a:r>
            <a:r>
              <a:rPr lang="ru-RU" sz="1400" b="1" dirty="0"/>
              <a:t>= </a:t>
            </a:r>
            <a:r>
              <a:rPr lang="en-US" sz="1400" b="1" dirty="0"/>
              <a:t>n</a:t>
            </a:r>
            <a:r>
              <a:rPr lang="ru-RU" sz="1400" b="1" baseline="-25000" dirty="0"/>
              <a:t>х</a:t>
            </a:r>
            <a:r>
              <a:rPr lang="en-US" sz="1400" b="1" dirty="0"/>
              <a:t> </a:t>
            </a:r>
            <a:r>
              <a:rPr lang="ru-RU" sz="1400" b="1" dirty="0"/>
              <a:t>+ </a:t>
            </a:r>
            <a:r>
              <a:rPr lang="en-US" sz="1400" b="1" dirty="0"/>
              <a:t>n</a:t>
            </a:r>
            <a:r>
              <a:rPr lang="ru-RU" sz="1400" b="1" baseline="-25000" dirty="0"/>
              <a:t>у</a:t>
            </a:r>
            <a:r>
              <a:rPr lang="ru-RU" sz="1400" b="1" dirty="0"/>
              <a:t>–2</a:t>
            </a:r>
            <a:r>
              <a:rPr lang="ru-RU" sz="1400" dirty="0"/>
              <a:t> найти «вспомогательную критическую точку» </a:t>
            </a:r>
            <a:r>
              <a:rPr lang="en-US" sz="1400" b="1" dirty="0"/>
              <a:t>t</a:t>
            </a:r>
            <a:r>
              <a:rPr lang="ru-RU" sz="1400" b="1" baseline="-25000" dirty="0" err="1"/>
              <a:t>кр</a:t>
            </a:r>
            <a:r>
              <a:rPr lang="ru-RU" sz="1400" dirty="0"/>
              <a:t> односторонней критической области.</a:t>
            </a:r>
          </a:p>
          <a:p>
            <a:pPr marL="0" indent="90488" algn="just" eaLnBrk="1" hangingPunct="1">
              <a:spcBef>
                <a:spcPct val="0"/>
              </a:spcBef>
              <a:buNone/>
            </a:pPr>
            <a:r>
              <a:rPr lang="ru-RU" sz="1400" dirty="0"/>
              <a:t>Если </a:t>
            </a:r>
            <a:r>
              <a:rPr lang="ru-RU" sz="1400" b="1" dirty="0" err="1"/>
              <a:t>Т</a:t>
            </a:r>
            <a:r>
              <a:rPr lang="ru-RU" sz="1400" b="1" baseline="-25000" dirty="0" err="1"/>
              <a:t>набл</a:t>
            </a:r>
            <a:r>
              <a:rPr lang="ru-RU" sz="1400" b="1" dirty="0"/>
              <a:t> &lt; - </a:t>
            </a:r>
            <a:r>
              <a:rPr lang="en-US" sz="1400" b="1" dirty="0"/>
              <a:t>t</a:t>
            </a:r>
            <a:r>
              <a:rPr lang="ru-RU" sz="1400" b="1" baseline="-25000" dirty="0" err="1"/>
              <a:t>кр</a:t>
            </a:r>
            <a:r>
              <a:rPr lang="ru-RU" sz="1400" dirty="0"/>
              <a:t>, то нет основания отвергать нулевую гипотезу. </a:t>
            </a:r>
          </a:p>
          <a:p>
            <a:pPr marL="0" indent="90488" algn="just" eaLnBrk="1" hangingPunct="1">
              <a:spcBef>
                <a:spcPct val="0"/>
              </a:spcBef>
              <a:buNone/>
            </a:pPr>
            <a:r>
              <a:rPr lang="ru-RU" sz="1400" dirty="0"/>
              <a:t>Если </a:t>
            </a:r>
            <a:r>
              <a:rPr lang="ru-RU" sz="1400" b="1" dirty="0" err="1"/>
              <a:t>Т</a:t>
            </a:r>
            <a:r>
              <a:rPr lang="ru-RU" sz="1400" b="1" baseline="-25000" dirty="0" err="1"/>
              <a:t>набл</a:t>
            </a:r>
            <a:r>
              <a:rPr lang="ru-RU" sz="1400" b="1" dirty="0"/>
              <a:t> &gt; - </a:t>
            </a:r>
            <a:r>
              <a:rPr lang="en-US" sz="1400" b="1" dirty="0"/>
              <a:t>t</a:t>
            </a:r>
            <a:r>
              <a:rPr lang="ru-RU" sz="1400" b="1" baseline="-25000" dirty="0" err="1"/>
              <a:t>кр</a:t>
            </a:r>
            <a:r>
              <a:rPr lang="ru-RU" sz="1400" dirty="0"/>
              <a:t>, то нулевую гипотезу отвергают.</a:t>
            </a:r>
          </a:p>
          <a:p>
            <a:pPr marL="0" indent="90488" algn="just" eaLnBrk="1" hangingPunct="1">
              <a:spcBef>
                <a:spcPct val="0"/>
              </a:spcBef>
              <a:buNone/>
            </a:pPr>
            <a:endParaRPr lang="ru-RU" sz="1400" dirty="0"/>
          </a:p>
          <a:p>
            <a:pPr marL="0" indent="90488" algn="just" eaLnBrk="1" hangingPunct="1">
              <a:spcBef>
                <a:spcPct val="0"/>
              </a:spcBef>
              <a:buNone/>
            </a:pPr>
            <a:r>
              <a:rPr lang="ru-RU" sz="1400" dirty="0" err="1"/>
              <a:t>Т</a:t>
            </a:r>
            <a:r>
              <a:rPr lang="ru-RU" sz="1400" baseline="-25000" dirty="0" err="1"/>
              <a:t>набл</a:t>
            </a:r>
            <a:r>
              <a:rPr lang="ru-RU" sz="1400" dirty="0"/>
              <a:t> и число степеней свободы</a:t>
            </a:r>
            <a:r>
              <a:rPr lang="en-US" sz="1400" dirty="0"/>
              <a:t> </a:t>
            </a:r>
            <a:r>
              <a:rPr lang="ru-RU" sz="1400" b="1" dirty="0"/>
              <a:t>υ</a:t>
            </a:r>
            <a:r>
              <a:rPr lang="en-US" sz="1400" dirty="0"/>
              <a:t> </a:t>
            </a:r>
            <a:endParaRPr lang="ru-RU" sz="1400" dirty="0"/>
          </a:p>
          <a:p>
            <a:pPr marL="0" indent="90488" eaLnBrk="1" hangingPunct="1">
              <a:spcBef>
                <a:spcPct val="0"/>
              </a:spcBef>
              <a:buNone/>
            </a:pPr>
            <a:r>
              <a:rPr lang="ru-RU" sz="1400" dirty="0"/>
              <a:t>вычисляются по формулам:</a:t>
            </a:r>
          </a:p>
        </p:txBody>
      </p:sp>
      <p:graphicFrame>
        <p:nvGraphicFramePr>
          <p:cNvPr id="26628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83080815"/>
              </p:ext>
            </p:extLst>
          </p:nvPr>
        </p:nvGraphicFramePr>
        <p:xfrm>
          <a:off x="3558333" y="1456321"/>
          <a:ext cx="3595688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59" name="Формула" r:id="rId3" imgW="2603500" imgH="546100" progId="Equation.3">
                  <p:embed/>
                </p:oleObj>
              </mc:Choice>
              <mc:Fallback>
                <p:oleObj name="Формула" r:id="rId3" imgW="2603500" imgH="546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8333" y="1456321"/>
                        <a:ext cx="3595688" cy="754062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3299731"/>
              </p:ext>
            </p:extLst>
          </p:nvPr>
        </p:nvGraphicFramePr>
        <p:xfrm>
          <a:off x="4662262" y="5575380"/>
          <a:ext cx="2278063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60" name="Формула" r:id="rId5" imgW="1586811" imgH="533169" progId="Equation.3">
                  <p:embed/>
                </p:oleObj>
              </mc:Choice>
              <mc:Fallback>
                <p:oleObj name="Формула" r:id="rId5" imgW="1586811" imgH="5331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2262" y="5575380"/>
                        <a:ext cx="2278063" cy="763587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32038"/>
              </p:ext>
            </p:extLst>
          </p:nvPr>
        </p:nvGraphicFramePr>
        <p:xfrm>
          <a:off x="7233787" y="5434092"/>
          <a:ext cx="2736850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61" name="Формула" r:id="rId7" imgW="2019300" imgH="774700" progId="Equation.3">
                  <p:embed/>
                </p:oleObj>
              </mc:Choice>
              <mc:Fallback>
                <p:oleObj name="Формула" r:id="rId7" imgW="2019300" imgH="774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3787" y="5434092"/>
                        <a:ext cx="2736850" cy="1046162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964893"/>
      </p:ext>
    </p:extLst>
  </p:cSld>
  <p:clrMapOvr>
    <a:masterClrMapping/>
  </p:clrMapOvr>
  <p:transition spd="med">
    <p:zo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1" y="624007"/>
            <a:ext cx="8507413" cy="1661993"/>
          </a:xfrm>
          <a:noFill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ru-RU" sz="3600" b="1" dirty="0"/>
              <a:t>Проверка гипотезы о законе распределения генеральной совокупности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1611314" y="2286000"/>
            <a:ext cx="8877300" cy="4308872"/>
          </a:xfrm>
          <a:noFill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ru-RU" sz="2000" dirty="0"/>
              <a:t>Если закон распределения не известен, но есть основание предположить, что он имеет определенный вид (А), то проверяют нулевую гипотезу: </a:t>
            </a:r>
          </a:p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ru-RU" sz="2000" dirty="0"/>
              <a:t>Н</a:t>
            </a:r>
            <a:r>
              <a:rPr lang="ru-RU" sz="2000" baseline="-25000" dirty="0"/>
              <a:t>0</a:t>
            </a:r>
            <a:r>
              <a:rPr lang="ru-RU" sz="2000" dirty="0"/>
              <a:t>: генеральная совокупность распределена по закону А.</a:t>
            </a:r>
          </a:p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ru-RU" sz="2000" dirty="0"/>
              <a:t>   </a:t>
            </a:r>
          </a:p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ru-RU" sz="2000" dirty="0"/>
              <a:t>Проверка гипотезы о предполагаемом законе распределения производится так же как и проверка гипотезы о параметрах распределения, т.е. при случайно отобранной случайной величине – критерия согласия.</a:t>
            </a:r>
          </a:p>
          <a:p>
            <a:pPr marL="0" indent="180975" algn="just" eaLnBrk="1" hangingPunct="1">
              <a:spcBef>
                <a:spcPct val="0"/>
              </a:spcBef>
              <a:buNone/>
            </a:pPr>
            <a:endParaRPr lang="ru-RU" sz="2000" dirty="0"/>
          </a:p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ru-RU" sz="2000" b="1" dirty="0"/>
              <a:t>   </a:t>
            </a:r>
            <a:r>
              <a:rPr lang="ru-RU" sz="2000" b="1" dirty="0">
                <a:solidFill>
                  <a:srgbClr val="FFFF00"/>
                </a:solidFill>
              </a:rPr>
              <a:t>Критерием согласия</a:t>
            </a:r>
            <a:r>
              <a:rPr lang="ru-RU" sz="2000" dirty="0">
                <a:solidFill>
                  <a:srgbClr val="FFFF00"/>
                </a:solidFill>
              </a:rPr>
              <a:t> </a:t>
            </a:r>
            <a:r>
              <a:rPr lang="ru-RU" sz="2000" i="1" dirty="0"/>
              <a:t>называют критерий проверки гипотезы о</a:t>
            </a:r>
          </a:p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ru-RU" sz="2000" i="1" dirty="0"/>
              <a:t>   предполагаемом законе распределения</a:t>
            </a:r>
            <a:r>
              <a:rPr lang="ru-RU" sz="2000" i="1" dirty="0" smtClean="0"/>
              <a:t>.</a:t>
            </a:r>
            <a:endParaRPr lang="ru-RU" sz="2000" dirty="0"/>
          </a:p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ru-RU" sz="2000" dirty="0"/>
              <a:t>Имеется несколько критериев согласия:</a:t>
            </a:r>
          </a:p>
          <a:p>
            <a:pPr marL="0" indent="180975" algn="just" eaLnBrk="1" hangingPunct="1">
              <a:spcBef>
                <a:spcPct val="0"/>
              </a:spcBef>
              <a:buSzPct val="55000"/>
            </a:pPr>
            <a:r>
              <a:rPr lang="ru-RU" sz="2000" dirty="0"/>
              <a:t>критерий Пирсона;</a:t>
            </a:r>
          </a:p>
          <a:p>
            <a:pPr marL="0" indent="180975" algn="just" eaLnBrk="1" hangingPunct="1">
              <a:spcBef>
                <a:spcPct val="0"/>
              </a:spcBef>
              <a:buSzPct val="55000"/>
            </a:pPr>
            <a:r>
              <a:rPr lang="ru-RU" sz="2000" dirty="0"/>
              <a:t>критерий Колмогорова;</a:t>
            </a:r>
          </a:p>
          <a:p>
            <a:pPr marL="0" indent="180975" algn="just" eaLnBrk="1" hangingPunct="1">
              <a:spcBef>
                <a:spcPct val="0"/>
              </a:spcBef>
              <a:buSzPct val="55000"/>
            </a:pPr>
            <a:r>
              <a:rPr lang="ru-RU" sz="2000" dirty="0"/>
              <a:t>критерий Смирнова.</a:t>
            </a:r>
          </a:p>
        </p:txBody>
      </p:sp>
    </p:spTree>
    <p:extLst>
      <p:ext uri="{BB962C8B-B14F-4D97-AF65-F5344CB8AC3E}">
        <p14:creationId xmlns:p14="http://schemas.microsoft.com/office/powerpoint/2010/main" val="162161203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30173" y="725262"/>
            <a:ext cx="8229600" cy="549275"/>
          </a:xfrm>
          <a:noFill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ru-RU" sz="3600" dirty="0"/>
              <a:t>Критерий Пирсона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1807482" y="1441132"/>
            <a:ext cx="8642350" cy="5416868"/>
          </a:xfrm>
          <a:noFill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ru-RU" sz="1600" dirty="0"/>
              <a:t>Пусть по выборке объема </a:t>
            </a:r>
            <a:r>
              <a:rPr lang="en-US" sz="1600" dirty="0"/>
              <a:t>n</a:t>
            </a:r>
            <a:r>
              <a:rPr lang="ru-RU" sz="1600" dirty="0"/>
              <a:t> получены эмпирические частоты, т.е. мы имеем предполагаемое 			распределение.</a:t>
            </a:r>
          </a:p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en-US" sz="1600" dirty="0"/>
              <a:t>		              </a:t>
            </a:r>
            <a:r>
              <a:rPr lang="ru-RU" sz="1600" dirty="0"/>
              <a:t>	Допустим, что в предположении нормального распределения 				генеральной совокупности вычислены теоретические частоты ().</a:t>
            </a:r>
          </a:p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en-US" sz="1600" dirty="0"/>
              <a:t>		              </a:t>
            </a:r>
            <a:r>
              <a:rPr lang="ru-RU" sz="1600" dirty="0"/>
              <a:t>	При уровне значимости α требуется проверить гипотезу: генеральная совокупность распределена нормально.</a:t>
            </a:r>
            <a:endParaRPr lang="en-US" sz="1600" dirty="0"/>
          </a:p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ru-RU" sz="1600" dirty="0"/>
              <a:t>В качестве критической проверку нулевой гипотезы примем случайную величину:</a:t>
            </a:r>
          </a:p>
          <a:p>
            <a:pPr marL="0" indent="180975" algn="just" eaLnBrk="1" hangingPunct="1">
              <a:spcBef>
                <a:spcPct val="0"/>
              </a:spcBef>
              <a:buNone/>
            </a:pPr>
            <a:endParaRPr lang="ru-RU" sz="1600" dirty="0"/>
          </a:p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ru-RU" sz="1600" dirty="0"/>
              <a:t>      </a:t>
            </a:r>
            <a:r>
              <a:rPr lang="en-US" sz="1600" b="1" dirty="0"/>
              <a:t>					</a:t>
            </a:r>
            <a:r>
              <a:rPr lang="ru-RU" sz="1600" b="1" dirty="0"/>
              <a:t>          (*)</a:t>
            </a:r>
          </a:p>
          <a:p>
            <a:pPr marL="0" indent="180975" algn="just" eaLnBrk="1" hangingPunct="1">
              <a:spcBef>
                <a:spcPct val="0"/>
              </a:spcBef>
              <a:buNone/>
            </a:pPr>
            <a:endParaRPr lang="en-US" sz="1600" dirty="0"/>
          </a:p>
          <a:p>
            <a:pPr marL="0" indent="180975" algn="just" eaLnBrk="1" hangingPunct="1">
              <a:spcBef>
                <a:spcPct val="0"/>
              </a:spcBef>
              <a:buNone/>
            </a:pPr>
            <a:endParaRPr lang="ru-RU" sz="1600" dirty="0"/>
          </a:p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ru-RU" sz="1600" dirty="0"/>
              <a:t>Эта величина случайная, т.к. в различных опытах она принимает различные, заранее не известные, значения. Чем меньше различаются эмпирические и теоретические частоты, тем меньше величина критерия. Он характеризует близость эмпирических и теоретических распределений.</a:t>
            </a:r>
          </a:p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ru-RU" sz="1600" dirty="0"/>
              <a:t>Доказано, что при  закон распределения случайной величины   </a:t>
            </a:r>
            <a:r>
              <a:rPr lang="ru-RU" sz="1600" b="1" dirty="0"/>
              <a:t>(*)</a:t>
            </a:r>
            <a:r>
              <a:rPr lang="ru-RU" sz="1600" dirty="0"/>
              <a:t> не зависит от того, какому закону распределения подчинена генеральная совокупность, а стремится к закону распределения </a:t>
            </a:r>
            <a:r>
              <a:rPr lang="ru-RU" sz="1600" b="1" dirty="0"/>
              <a:t>χ</a:t>
            </a:r>
            <a:r>
              <a:rPr lang="ru-RU" sz="1600" b="1" baseline="30000" dirty="0"/>
              <a:t>2</a:t>
            </a:r>
            <a:r>
              <a:rPr lang="ru-RU" sz="1600" dirty="0"/>
              <a:t> с числом степеней свободы: </a:t>
            </a:r>
            <a:r>
              <a:rPr lang="el-GR" sz="1600" b="1" dirty="0">
                <a:cs typeface="Times New Roman" panose="02020603050405020304" pitchFamily="18" charset="0"/>
              </a:rPr>
              <a:t>υ</a:t>
            </a:r>
            <a:r>
              <a:rPr lang="en-US" sz="1600" b="1" dirty="0">
                <a:cs typeface="Times New Roman" panose="02020603050405020304" pitchFamily="18" charset="0"/>
              </a:rPr>
              <a:t>=k–1–r</a:t>
            </a:r>
            <a:r>
              <a:rPr lang="ru-RU" sz="1600" dirty="0"/>
              <a:t> , где </a:t>
            </a:r>
          </a:p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en-US" sz="1600" b="1" dirty="0"/>
              <a:t>k</a:t>
            </a:r>
            <a:r>
              <a:rPr lang="ru-RU" sz="1600" dirty="0"/>
              <a:t> – число групп (интервалов) выборки</a:t>
            </a:r>
            <a:endParaRPr lang="en-US" sz="1600" dirty="0"/>
          </a:p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en-US" sz="1600" b="1" dirty="0"/>
              <a:t>r</a:t>
            </a:r>
            <a:r>
              <a:rPr lang="ru-RU" sz="1600" dirty="0"/>
              <a:t> – число параметров предполагаемого распределения.</a:t>
            </a:r>
          </a:p>
          <a:p>
            <a:pPr marL="0" indent="180975" algn="just" eaLnBrk="1" hangingPunct="1">
              <a:spcBef>
                <a:spcPct val="0"/>
              </a:spcBef>
              <a:buNone/>
            </a:pPr>
            <a:r>
              <a:rPr lang="ru-RU" sz="1600" dirty="0"/>
              <a:t>А т.к. для нормального распределения нам интересно М(х) и </a:t>
            </a:r>
            <a:r>
              <a:rPr lang="en-US" sz="1600" dirty="0"/>
              <a:t>D</a:t>
            </a:r>
            <a:r>
              <a:rPr lang="ru-RU" sz="1600" dirty="0"/>
              <a:t>(</a:t>
            </a:r>
            <a:r>
              <a:rPr lang="en-US" sz="1600" dirty="0"/>
              <a:t>x</a:t>
            </a:r>
            <a:r>
              <a:rPr lang="ru-RU" sz="1600" dirty="0"/>
              <a:t>), то число степеней свободы определяется</a:t>
            </a:r>
            <a:r>
              <a:rPr lang="en-US" sz="1600" dirty="0"/>
              <a:t> </a:t>
            </a:r>
            <a:r>
              <a:rPr lang="el-GR" sz="1600" b="1" dirty="0">
                <a:cs typeface="Times New Roman" panose="02020603050405020304" pitchFamily="18" charset="0"/>
              </a:rPr>
              <a:t>υ</a:t>
            </a:r>
            <a:r>
              <a:rPr lang="en-US" sz="1600" b="1" dirty="0">
                <a:cs typeface="Times New Roman" panose="02020603050405020304" pitchFamily="18" charset="0"/>
              </a:rPr>
              <a:t>=k–3</a:t>
            </a:r>
            <a:endParaRPr lang="ru-RU" sz="1600" b="1" dirty="0">
              <a:cs typeface="Times New Roman" panose="02020603050405020304" pitchFamily="18" charset="0"/>
            </a:endParaRPr>
          </a:p>
        </p:txBody>
      </p:sp>
      <p:graphicFrame>
        <p:nvGraphicFramePr>
          <p:cNvPr id="322629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194902"/>
              </p:ext>
            </p:extLst>
          </p:nvPr>
        </p:nvGraphicFramePr>
        <p:xfrm>
          <a:off x="1807482" y="1796142"/>
          <a:ext cx="2400300" cy="784679"/>
        </p:xfrm>
        <a:graphic>
          <a:graphicData uri="http://schemas.openxmlformats.org/drawingml/2006/table">
            <a:tbl>
              <a:tblPr/>
              <a:tblGrid>
                <a:gridCol w="398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1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84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02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kumimoji="0" lang="en-US" sz="16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endParaRPr kumimoji="0" lang="ru-RU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kumimoji="0" lang="ru-RU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kumimoji="0" lang="ru-RU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kumimoji="0" lang="ru-RU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kumimoji="0" lang="ru-RU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kumimoji="0" lang="ru-RU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65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endParaRPr kumimoji="0" lang="ru-RU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kumimoji="0" lang="ru-RU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kumimoji="0" lang="ru-RU" sz="16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kumimoji="0" lang="ru-RU" sz="16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kumimoji="0" lang="ru-RU" sz="16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kumimoji="0" lang="ru-RU" sz="16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699" name="Rectangle 7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000000"/>
              </a:solidFill>
            </a:endParaRPr>
          </a:p>
        </p:txBody>
      </p:sp>
      <p:graphicFrame>
        <p:nvGraphicFramePr>
          <p:cNvPr id="28700" name="Objec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791835"/>
              </p:ext>
            </p:extLst>
          </p:nvPr>
        </p:nvGraphicFramePr>
        <p:xfrm>
          <a:off x="4733017" y="3267467"/>
          <a:ext cx="2049463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6" name="Уравнение" r:id="rId3" imgW="1346040" imgH="457200" progId="Equation.3">
                  <p:embed/>
                </p:oleObj>
              </mc:Choice>
              <mc:Fallback>
                <p:oleObj name="Уравнение" r:id="rId3" imgW="13460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3017" y="3267467"/>
                        <a:ext cx="2049463" cy="693737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01" name="Rectangle 7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28702" name="Rectangle 7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28703" name="Rectangle 78"/>
          <p:cNvSpPr>
            <a:spLocks noChangeArrowheads="1"/>
          </p:cNvSpPr>
          <p:nvPr/>
        </p:nvSpPr>
        <p:spPr bwMode="auto">
          <a:xfrm>
            <a:off x="1524001" y="30109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0846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35856" y="663141"/>
            <a:ext cx="8229600" cy="549275"/>
          </a:xfrm>
          <a:noFill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ru-RU" sz="3600" dirty="0"/>
              <a:t>Правила проверки</a:t>
            </a:r>
          </a:p>
        </p:txBody>
      </p:sp>
      <p:sp>
        <p:nvSpPr>
          <p:cNvPr id="3338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10179" y="1339398"/>
            <a:ext cx="8785225" cy="5224463"/>
          </a:xfr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180975" eaLnBrk="1" hangingPunct="1">
              <a:spcBef>
                <a:spcPct val="0"/>
              </a:spcBef>
              <a:buNone/>
              <a:defRPr/>
            </a:pPr>
            <a:r>
              <a:rPr lang="ru-RU" sz="1600" dirty="0"/>
              <a:t>Для того, чтобы при заданном уровне значимости α проверить Н0: “генеральная совокупность распределена нормально”, необходимо:</a:t>
            </a:r>
          </a:p>
          <a:p>
            <a:pPr marL="0" indent="180975" eaLnBrk="1" hangingPunct="1">
              <a:spcBef>
                <a:spcPct val="0"/>
              </a:spcBef>
              <a:buSzTx/>
              <a:buFont typeface="Wingdings" panose="05000000000000000000" pitchFamily="2" charset="2"/>
              <a:buAutoNum type="arabicPeriod"/>
              <a:defRPr/>
            </a:pPr>
            <a:r>
              <a:rPr lang="ru-RU" sz="1600" dirty="0"/>
              <a:t>вычислить теоретические частоты;</a:t>
            </a:r>
            <a:endParaRPr lang="en-US" sz="1600" dirty="0"/>
          </a:p>
          <a:p>
            <a:pPr marL="0" indent="180975" eaLnBrk="1" hangingPunct="1">
              <a:spcBef>
                <a:spcPct val="0"/>
              </a:spcBef>
              <a:buSzTx/>
              <a:buFont typeface="Wingdings" panose="05000000000000000000" pitchFamily="2" charset="2"/>
              <a:buAutoNum type="arabicPeriod"/>
              <a:defRPr/>
            </a:pPr>
            <a:r>
              <a:rPr lang="ru-RU" sz="1600" dirty="0"/>
              <a:t>вычислить наблюдаемое значение критерия:</a:t>
            </a:r>
            <a:endParaRPr lang="en-US" sz="1600" dirty="0"/>
          </a:p>
          <a:p>
            <a:pPr marL="0" indent="180975" eaLnBrk="1" hangingPunct="1">
              <a:spcBef>
                <a:spcPct val="0"/>
              </a:spcBef>
              <a:buSzTx/>
              <a:buFont typeface="Wingdings" panose="05000000000000000000" pitchFamily="2" charset="2"/>
              <a:buAutoNum type="arabicPeriod"/>
              <a:defRPr/>
            </a:pPr>
            <a:r>
              <a:rPr lang="ru-RU" sz="1600" dirty="0"/>
              <a:t>по таблицам критических точек распределения χ2 по заданному уровню значимости и числу степеней свободы </a:t>
            </a:r>
            <a:r>
              <a:rPr lang="el-GR" sz="1600" b="1" dirty="0">
                <a:cs typeface="Times New Roman" panose="02020603050405020304" pitchFamily="18" charset="0"/>
              </a:rPr>
              <a:t>υ</a:t>
            </a:r>
            <a:r>
              <a:rPr lang="en-US" sz="1600" b="1" dirty="0">
                <a:cs typeface="Times New Roman" panose="02020603050405020304" pitchFamily="18" charset="0"/>
              </a:rPr>
              <a:t>=k–3</a:t>
            </a:r>
            <a:r>
              <a:rPr lang="ru-RU" sz="1600" dirty="0"/>
              <a:t>, найти критическую точку:</a:t>
            </a:r>
            <a:r>
              <a:rPr lang="en-US" sz="1600" dirty="0"/>
              <a:t> </a:t>
            </a:r>
            <a:r>
              <a:rPr lang="el-GR" sz="1800" b="1" dirty="0">
                <a:cs typeface="Times New Roman" panose="02020603050405020304" pitchFamily="18" charset="0"/>
              </a:rPr>
              <a:t>χ</a:t>
            </a:r>
            <a:r>
              <a:rPr lang="en-US" sz="1800" b="1" baseline="30000" dirty="0">
                <a:cs typeface="Times New Roman" panose="02020603050405020304" pitchFamily="18" charset="0"/>
              </a:rPr>
              <a:t>2</a:t>
            </a:r>
            <a:r>
              <a:rPr lang="ru-RU" sz="1800" b="1" baseline="-25000" dirty="0" err="1">
                <a:cs typeface="Times New Roman" panose="02020603050405020304" pitchFamily="18" charset="0"/>
              </a:rPr>
              <a:t>кр</a:t>
            </a:r>
            <a:r>
              <a:rPr lang="en-US" sz="1800" b="1" dirty="0">
                <a:cs typeface="Times New Roman" panose="02020603050405020304" pitchFamily="18" charset="0"/>
              </a:rPr>
              <a:t>=(</a:t>
            </a:r>
            <a:r>
              <a:rPr lang="el-GR" sz="1800" b="1" dirty="0">
                <a:cs typeface="Times New Roman" panose="02020603050405020304" pitchFamily="18" charset="0"/>
              </a:rPr>
              <a:t>α</a:t>
            </a:r>
            <a:r>
              <a:rPr lang="ru-RU" sz="1800" b="1" dirty="0">
                <a:cs typeface="Times New Roman" panose="02020603050405020304" pitchFamily="18" charset="0"/>
              </a:rPr>
              <a:t>,</a:t>
            </a:r>
            <a:r>
              <a:rPr lang="el-GR" sz="1800" b="1" dirty="0">
                <a:cs typeface="Times New Roman" panose="02020603050405020304" pitchFamily="18" charset="0"/>
              </a:rPr>
              <a:t>υ</a:t>
            </a:r>
            <a:r>
              <a:rPr lang="ru-RU" sz="1800" b="1" dirty="0">
                <a:cs typeface="Times New Roman" panose="02020603050405020304" pitchFamily="18" charset="0"/>
              </a:rPr>
              <a:t>);</a:t>
            </a:r>
          </a:p>
          <a:p>
            <a:pPr marL="0" indent="180975" eaLnBrk="1" hangingPunct="1">
              <a:spcBef>
                <a:spcPct val="0"/>
              </a:spcBef>
              <a:buSzTx/>
              <a:buFont typeface="Wingdings" panose="05000000000000000000" pitchFamily="2" charset="2"/>
              <a:buAutoNum type="arabicPeriod"/>
              <a:defRPr/>
            </a:pPr>
            <a:r>
              <a:rPr lang="ru-RU" sz="1600" dirty="0"/>
              <a:t>сравнить 2 имеющихся критерия:</a:t>
            </a:r>
          </a:p>
          <a:p>
            <a:pPr marL="0" indent="180975" eaLnBrk="1" hangingPunct="1">
              <a:spcBef>
                <a:spcPct val="0"/>
              </a:spcBef>
              <a:buNone/>
              <a:defRPr/>
            </a:pPr>
            <a:r>
              <a:rPr lang="ru-RU" sz="1600" dirty="0"/>
              <a:t>- если </a:t>
            </a:r>
            <a:r>
              <a:rPr lang="el-GR" sz="1800" b="1" dirty="0">
                <a:cs typeface="Times New Roman" panose="02020603050405020304" pitchFamily="18" charset="0"/>
              </a:rPr>
              <a:t>χ</a:t>
            </a:r>
            <a:r>
              <a:rPr lang="en-US" sz="1800" b="1" baseline="30000" dirty="0">
                <a:cs typeface="Times New Roman" panose="02020603050405020304" pitchFamily="18" charset="0"/>
              </a:rPr>
              <a:t>2</a:t>
            </a:r>
            <a:r>
              <a:rPr lang="ru-RU" sz="1800" b="1" baseline="-25000" dirty="0">
                <a:cs typeface="Times New Roman" panose="02020603050405020304" pitchFamily="18" charset="0"/>
              </a:rPr>
              <a:t>набл</a:t>
            </a:r>
            <a:r>
              <a:rPr lang="en-US" sz="1800" b="1" dirty="0">
                <a:cs typeface="Times New Roman" panose="02020603050405020304" pitchFamily="18" charset="0"/>
              </a:rPr>
              <a:t>&lt; </a:t>
            </a:r>
            <a:r>
              <a:rPr lang="el-GR" sz="1800" b="1" dirty="0">
                <a:cs typeface="Times New Roman" panose="02020603050405020304" pitchFamily="18" charset="0"/>
              </a:rPr>
              <a:t>χ</a:t>
            </a:r>
            <a:r>
              <a:rPr lang="en-US" sz="1800" b="1" baseline="30000" dirty="0">
                <a:cs typeface="Times New Roman" panose="02020603050405020304" pitchFamily="18" charset="0"/>
              </a:rPr>
              <a:t>2</a:t>
            </a:r>
            <a:r>
              <a:rPr lang="ru-RU" sz="1800" b="1" baseline="-25000" dirty="0" err="1">
                <a:cs typeface="Times New Roman" panose="02020603050405020304" pitchFamily="18" charset="0"/>
              </a:rPr>
              <a:t>кр</a:t>
            </a:r>
            <a:r>
              <a:rPr lang="ru-RU" sz="1600" dirty="0"/>
              <a:t> - нет основания отвергать нулевую гипотезу о нормальном распределении.</a:t>
            </a:r>
          </a:p>
          <a:p>
            <a:pPr marL="0" indent="180975" eaLnBrk="1" hangingPunct="1">
              <a:spcBef>
                <a:spcPct val="0"/>
              </a:spcBef>
              <a:buNone/>
              <a:defRPr/>
            </a:pPr>
            <a:r>
              <a:rPr lang="ru-RU" sz="1600" dirty="0"/>
              <a:t> - если </a:t>
            </a:r>
            <a:r>
              <a:rPr lang="el-GR" sz="1800" b="1" dirty="0">
                <a:cs typeface="Times New Roman" panose="02020603050405020304" pitchFamily="18" charset="0"/>
              </a:rPr>
              <a:t>χ</a:t>
            </a:r>
            <a:r>
              <a:rPr lang="en-US" sz="1800" b="1" baseline="30000" dirty="0">
                <a:cs typeface="Times New Roman" panose="02020603050405020304" pitchFamily="18" charset="0"/>
              </a:rPr>
              <a:t>2</a:t>
            </a:r>
            <a:r>
              <a:rPr lang="ru-RU" sz="1800" b="1" baseline="-25000" dirty="0">
                <a:cs typeface="Times New Roman" panose="02020603050405020304" pitchFamily="18" charset="0"/>
              </a:rPr>
              <a:t>набл</a:t>
            </a:r>
            <a:r>
              <a:rPr lang="ru-RU" sz="1800" b="1" dirty="0">
                <a:cs typeface="Times New Roman" panose="02020603050405020304" pitchFamily="18" charset="0"/>
              </a:rPr>
              <a:t> </a:t>
            </a:r>
            <a:r>
              <a:rPr lang="en-US" sz="1800" b="1" dirty="0">
                <a:cs typeface="Times New Roman" panose="02020603050405020304" pitchFamily="18" charset="0"/>
              </a:rPr>
              <a:t>&gt; </a:t>
            </a:r>
            <a:r>
              <a:rPr lang="el-GR" sz="1800" b="1" dirty="0">
                <a:cs typeface="Times New Roman" panose="02020603050405020304" pitchFamily="18" charset="0"/>
              </a:rPr>
              <a:t>χ</a:t>
            </a:r>
            <a:r>
              <a:rPr lang="en-US" sz="1800" b="1" baseline="30000" dirty="0">
                <a:cs typeface="Times New Roman" panose="02020603050405020304" pitchFamily="18" charset="0"/>
              </a:rPr>
              <a:t>2</a:t>
            </a:r>
            <a:r>
              <a:rPr lang="ru-RU" sz="1800" b="1" baseline="-25000" dirty="0" err="1">
                <a:cs typeface="Times New Roman" panose="02020603050405020304" pitchFamily="18" charset="0"/>
              </a:rPr>
              <a:t>кр</a:t>
            </a:r>
            <a:r>
              <a:rPr lang="ru-RU" sz="1600" dirty="0"/>
              <a:t> - нулевую гипотезу о нормальном распределении отвергают.</a:t>
            </a:r>
          </a:p>
          <a:p>
            <a:pPr marL="0" indent="180975" eaLnBrk="1" hangingPunct="1">
              <a:spcBef>
                <a:spcPct val="0"/>
              </a:spcBef>
              <a:buNone/>
              <a:defRPr/>
            </a:pPr>
            <a:endParaRPr lang="ru-RU" sz="1600" dirty="0"/>
          </a:p>
          <a:p>
            <a:pPr marL="0" indent="180975" eaLnBrk="1" hangingPunct="1">
              <a:spcBef>
                <a:spcPct val="0"/>
              </a:spcBef>
              <a:buNone/>
              <a:defRPr/>
            </a:pPr>
            <a:r>
              <a:rPr lang="ru-RU" sz="1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Замечание:</a:t>
            </a:r>
          </a:p>
          <a:p>
            <a:pPr marL="0" indent="180975" eaLnBrk="1" hangingPunct="1">
              <a:spcBef>
                <a:spcPct val="0"/>
              </a:spcBef>
              <a:buSzPct val="55000"/>
              <a:defRPr/>
            </a:pPr>
            <a:r>
              <a:rPr lang="ru-RU" sz="1600" dirty="0"/>
              <a:t>объем выборки должен быть достаточно велик (более 50);</a:t>
            </a:r>
          </a:p>
          <a:p>
            <a:pPr marL="0" indent="180975" eaLnBrk="1" hangingPunct="1">
              <a:spcBef>
                <a:spcPct val="0"/>
              </a:spcBef>
              <a:buSzPct val="55000"/>
              <a:defRPr/>
            </a:pPr>
            <a:r>
              <a:rPr lang="ru-RU" sz="1600" dirty="0"/>
              <a:t>малочисленные группы следует объединять в одну, суммируя частоты;</a:t>
            </a:r>
          </a:p>
          <a:p>
            <a:pPr marL="0" indent="180975" eaLnBrk="1" hangingPunct="1">
              <a:spcBef>
                <a:spcPct val="0"/>
              </a:spcBef>
              <a:buSzPct val="55000"/>
              <a:defRPr/>
            </a:pPr>
            <a:r>
              <a:rPr lang="ru-RU" sz="1600" dirty="0"/>
              <a:t>т.к. возможные ошибки первого и второго рода, то в окончательном выводе следует проявить осторожность: </a:t>
            </a:r>
            <a:endParaRPr lang="en-US" sz="1600" dirty="0"/>
          </a:p>
          <a:p>
            <a:pPr marL="0" indent="180975" eaLnBrk="1" hangingPunct="1">
              <a:spcBef>
                <a:spcPct val="0"/>
              </a:spcBef>
              <a:buNone/>
              <a:defRPr/>
            </a:pPr>
            <a:r>
              <a:rPr lang="ru-RU" sz="1600" dirty="0"/>
              <a:t>можно повторить опыт;</a:t>
            </a:r>
            <a:endParaRPr lang="en-US" sz="1600" dirty="0"/>
          </a:p>
          <a:p>
            <a:pPr marL="0" indent="180975" eaLnBrk="1" hangingPunct="1">
              <a:spcBef>
                <a:spcPct val="0"/>
              </a:spcBef>
              <a:buNone/>
              <a:defRPr/>
            </a:pPr>
            <a:r>
              <a:rPr lang="ru-RU" sz="1600" dirty="0"/>
              <a:t>увеличить число наблюдений;</a:t>
            </a:r>
            <a:endParaRPr lang="en-US" sz="1600" dirty="0"/>
          </a:p>
          <a:p>
            <a:pPr marL="0" indent="180975" eaLnBrk="1" hangingPunct="1">
              <a:spcBef>
                <a:spcPct val="0"/>
              </a:spcBef>
              <a:buNone/>
              <a:defRPr/>
            </a:pPr>
            <a:r>
              <a:rPr lang="ru-RU" sz="1600" dirty="0"/>
              <a:t>для проверки воспользоваться другими критериями;</a:t>
            </a:r>
            <a:endParaRPr lang="en-US" sz="1600" dirty="0"/>
          </a:p>
          <a:p>
            <a:pPr marL="0" indent="180975" eaLnBrk="1" hangingPunct="1">
              <a:spcBef>
                <a:spcPct val="0"/>
              </a:spcBef>
              <a:buNone/>
              <a:defRPr/>
            </a:pPr>
            <a:r>
              <a:rPr lang="ru-RU" sz="1600" dirty="0"/>
              <a:t>построить график распределения;</a:t>
            </a:r>
            <a:endParaRPr lang="en-US" sz="1600" dirty="0"/>
          </a:p>
          <a:p>
            <a:pPr marL="0" indent="180975" eaLnBrk="1" hangingPunct="1">
              <a:spcBef>
                <a:spcPct val="0"/>
              </a:spcBef>
              <a:buNone/>
              <a:defRPr/>
            </a:pPr>
            <a:r>
              <a:rPr lang="ru-RU" sz="1600" dirty="0"/>
              <a:t>вычислить эксцесс и асимметрию.</a:t>
            </a:r>
          </a:p>
          <a:p>
            <a:pPr marL="0" indent="180975" eaLnBrk="1" hangingPunct="1">
              <a:spcBef>
                <a:spcPct val="0"/>
              </a:spcBef>
              <a:buSzPct val="55000"/>
              <a:defRPr/>
            </a:pPr>
            <a:r>
              <a:rPr lang="ru-RU" sz="1600" dirty="0"/>
              <a:t>для контроля вычислений формулу			преобразуют к виду</a:t>
            </a:r>
          </a:p>
        </p:txBody>
      </p:sp>
      <p:graphicFrame>
        <p:nvGraphicFramePr>
          <p:cNvPr id="29700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39202231"/>
              </p:ext>
            </p:extLst>
          </p:nvPr>
        </p:nvGraphicFramePr>
        <p:xfrm>
          <a:off x="6301419" y="1634709"/>
          <a:ext cx="179863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4" name="Формула" r:id="rId3" imgW="1295400" imgH="457200" progId="Equation.3">
                  <p:embed/>
                </p:oleObj>
              </mc:Choice>
              <mc:Fallback>
                <p:oleObj name="Формула" r:id="rId3" imgW="1295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1419" y="1634709"/>
                        <a:ext cx="1798637" cy="635000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286382"/>
              </p:ext>
            </p:extLst>
          </p:nvPr>
        </p:nvGraphicFramePr>
        <p:xfrm>
          <a:off x="4994729" y="6122194"/>
          <a:ext cx="1800225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5" name="Формула" r:id="rId5" imgW="1282700" imgH="457200" progId="Equation.3">
                  <p:embed/>
                </p:oleObj>
              </mc:Choice>
              <mc:Fallback>
                <p:oleObj name="Формула" r:id="rId5" imgW="12827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4729" y="6122194"/>
                        <a:ext cx="1800225" cy="6397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6160087"/>
              </p:ext>
            </p:extLst>
          </p:nvPr>
        </p:nvGraphicFramePr>
        <p:xfrm>
          <a:off x="9170584" y="6133307"/>
          <a:ext cx="1655763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6" name="Формула" r:id="rId7" imgW="1231366" imgH="469696" progId="Equation.3">
                  <p:embed/>
                </p:oleObj>
              </mc:Choice>
              <mc:Fallback>
                <p:oleObj name="Формула" r:id="rId7" imgW="1231366" imgH="46969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0584" y="6133307"/>
                        <a:ext cx="1655763" cy="628650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3135734"/>
      </p:ext>
    </p:extLst>
  </p:cSld>
  <p:clrMapOvr>
    <a:masterClrMapping/>
  </p:clrMapOvr>
  <p:transition spd="med">
    <p:zo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WordArt 4"/>
          <p:cNvSpPr>
            <a:spLocks noChangeArrowheads="1" noChangeShapeType="1" noTextEdit="1"/>
          </p:cNvSpPr>
          <p:nvPr/>
        </p:nvSpPr>
        <p:spPr bwMode="auto">
          <a:xfrm>
            <a:off x="1774826" y="1341439"/>
            <a:ext cx="8569325" cy="33115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2800" b="1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295471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9" y="692150"/>
            <a:ext cx="8378825" cy="554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144642" y="1916832"/>
            <a:ext cx="7911798" cy="175432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5400" b="1" dirty="0">
                <a:ln w="12700">
                  <a:solidFill>
                    <a:srgbClr val="EAEBDE">
                      <a:satMod val="155000"/>
                    </a:srgbClr>
                  </a:solidFill>
                  <a:prstDash val="solid"/>
                </a:ln>
                <a:solidFill>
                  <a:srgbClr val="FFFF99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charset="0"/>
              </a:rPr>
              <a:t>Работайте с  литературой 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2927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5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5.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Литейная">
  <a:themeElements>
    <a:clrScheme name="Литейная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Литейная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Литейна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ater">
  <a:themeElements>
    <a:clrScheme name="Theater.pot 1">
      <a:dk1>
        <a:srgbClr val="00005B"/>
      </a:dk1>
      <a:lt1>
        <a:srgbClr val="F8F8F8"/>
      </a:lt1>
      <a:dk2>
        <a:srgbClr val="0000FF"/>
      </a:dk2>
      <a:lt2>
        <a:srgbClr val="FFCC00"/>
      </a:lt2>
      <a:accent1>
        <a:srgbClr val="98BAFF"/>
      </a:accent1>
      <a:accent2>
        <a:srgbClr val="009900"/>
      </a:accent2>
      <a:accent3>
        <a:srgbClr val="AAAAFF"/>
      </a:accent3>
      <a:accent4>
        <a:srgbClr val="D4D4D4"/>
      </a:accent4>
      <a:accent5>
        <a:srgbClr val="CAD9FF"/>
      </a:accent5>
      <a:accent6>
        <a:srgbClr val="008A00"/>
      </a:accent6>
      <a:hlink>
        <a:srgbClr val="350035"/>
      </a:hlink>
      <a:folHlink>
        <a:srgbClr val="5980D8"/>
      </a:folHlink>
    </a:clrScheme>
    <a:fontScheme name="Theater.po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Theater.pot 1">
        <a:dk1>
          <a:srgbClr val="00005B"/>
        </a:dk1>
        <a:lt1>
          <a:srgbClr val="F8F8F8"/>
        </a:lt1>
        <a:dk2>
          <a:srgbClr val="0000FF"/>
        </a:dk2>
        <a:lt2>
          <a:srgbClr val="FFCC00"/>
        </a:lt2>
        <a:accent1>
          <a:srgbClr val="98BAFF"/>
        </a:accent1>
        <a:accent2>
          <a:srgbClr val="009900"/>
        </a:accent2>
        <a:accent3>
          <a:srgbClr val="AAAAFF"/>
        </a:accent3>
        <a:accent4>
          <a:srgbClr val="D4D4D4"/>
        </a:accent4>
        <a:accent5>
          <a:srgbClr val="CAD9FF"/>
        </a:accent5>
        <a:accent6>
          <a:srgbClr val="008A00"/>
        </a:accent6>
        <a:hlink>
          <a:srgbClr val="350035"/>
        </a:hlink>
        <a:folHlink>
          <a:srgbClr val="5980D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eater.pot 2">
        <a:dk1>
          <a:srgbClr val="000000"/>
        </a:dk1>
        <a:lt1>
          <a:srgbClr val="FFFFFF"/>
        </a:lt1>
        <a:dk2>
          <a:srgbClr val="003399"/>
        </a:dk2>
        <a:lt2>
          <a:srgbClr val="5A92D2"/>
        </a:lt2>
        <a:accent1>
          <a:srgbClr val="CCECFF"/>
        </a:accent1>
        <a:accent2>
          <a:srgbClr val="CC99FF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B98AE7"/>
        </a:accent6>
        <a:hlink>
          <a:srgbClr val="FFF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eater.pot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FFFF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eater.pot 4">
        <a:dk1>
          <a:srgbClr val="333300"/>
        </a:dk1>
        <a:lt1>
          <a:srgbClr val="F8F8F8"/>
        </a:lt1>
        <a:dk2>
          <a:srgbClr val="B4AD8B"/>
        </a:dk2>
        <a:lt2>
          <a:srgbClr val="FFFF99"/>
        </a:lt2>
        <a:accent1>
          <a:srgbClr val="F5F5DE"/>
        </a:accent1>
        <a:accent2>
          <a:srgbClr val="00CCCC"/>
        </a:accent2>
        <a:accent3>
          <a:srgbClr val="D6D3C4"/>
        </a:accent3>
        <a:accent4>
          <a:srgbClr val="D4D4D4"/>
        </a:accent4>
        <a:accent5>
          <a:srgbClr val="F9F9EC"/>
        </a:accent5>
        <a:accent6>
          <a:srgbClr val="00B9B9"/>
        </a:accent6>
        <a:hlink>
          <a:srgbClr val="4E5136"/>
        </a:hlink>
        <a:folHlink>
          <a:srgbClr val="ADAA6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eater.pot 5">
        <a:dk1>
          <a:srgbClr val="003300"/>
        </a:dk1>
        <a:lt1>
          <a:srgbClr val="F8F8F8"/>
        </a:lt1>
        <a:dk2>
          <a:srgbClr val="009966"/>
        </a:dk2>
        <a:lt2>
          <a:srgbClr val="FFCC00"/>
        </a:lt2>
        <a:accent1>
          <a:srgbClr val="F5F5DE"/>
        </a:accent1>
        <a:accent2>
          <a:srgbClr val="00CCCC"/>
        </a:accent2>
        <a:accent3>
          <a:srgbClr val="AACAB8"/>
        </a:accent3>
        <a:accent4>
          <a:srgbClr val="D4D4D4"/>
        </a:accent4>
        <a:accent5>
          <a:srgbClr val="F9F9EC"/>
        </a:accent5>
        <a:accent6>
          <a:srgbClr val="00B9B9"/>
        </a:accent6>
        <a:hlink>
          <a:srgbClr val="4E5136"/>
        </a:hlink>
        <a:folHlink>
          <a:srgbClr val="ADAA6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eater.pot 6">
        <a:dk1>
          <a:srgbClr val="660033"/>
        </a:dk1>
        <a:lt1>
          <a:srgbClr val="F8F8F8"/>
        </a:lt1>
        <a:dk2>
          <a:srgbClr val="D60093"/>
        </a:dk2>
        <a:lt2>
          <a:srgbClr val="FFCC00"/>
        </a:lt2>
        <a:accent1>
          <a:srgbClr val="F5F5DE"/>
        </a:accent1>
        <a:accent2>
          <a:srgbClr val="009900"/>
        </a:accent2>
        <a:accent3>
          <a:srgbClr val="E8AAC8"/>
        </a:accent3>
        <a:accent4>
          <a:srgbClr val="D4D4D4"/>
        </a:accent4>
        <a:accent5>
          <a:srgbClr val="F9F9EC"/>
        </a:accent5>
        <a:accent6>
          <a:srgbClr val="008A00"/>
        </a:accent6>
        <a:hlink>
          <a:srgbClr val="4E5136"/>
        </a:hlink>
        <a:folHlink>
          <a:srgbClr val="ADAA67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Theater">
  <a:themeElements>
    <a:clrScheme name="Theater.pot 1">
      <a:dk1>
        <a:srgbClr val="00005B"/>
      </a:dk1>
      <a:lt1>
        <a:srgbClr val="F8F8F8"/>
      </a:lt1>
      <a:dk2>
        <a:srgbClr val="0000FF"/>
      </a:dk2>
      <a:lt2>
        <a:srgbClr val="FFCC00"/>
      </a:lt2>
      <a:accent1>
        <a:srgbClr val="98BAFF"/>
      </a:accent1>
      <a:accent2>
        <a:srgbClr val="009900"/>
      </a:accent2>
      <a:accent3>
        <a:srgbClr val="AAAAFF"/>
      </a:accent3>
      <a:accent4>
        <a:srgbClr val="D4D4D4"/>
      </a:accent4>
      <a:accent5>
        <a:srgbClr val="CAD9FF"/>
      </a:accent5>
      <a:accent6>
        <a:srgbClr val="008A00"/>
      </a:accent6>
      <a:hlink>
        <a:srgbClr val="350035"/>
      </a:hlink>
      <a:folHlink>
        <a:srgbClr val="5980D8"/>
      </a:folHlink>
    </a:clrScheme>
    <a:fontScheme name="Theater.po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Theater.pot 1">
        <a:dk1>
          <a:srgbClr val="00005B"/>
        </a:dk1>
        <a:lt1>
          <a:srgbClr val="F8F8F8"/>
        </a:lt1>
        <a:dk2>
          <a:srgbClr val="0000FF"/>
        </a:dk2>
        <a:lt2>
          <a:srgbClr val="FFCC00"/>
        </a:lt2>
        <a:accent1>
          <a:srgbClr val="98BAFF"/>
        </a:accent1>
        <a:accent2>
          <a:srgbClr val="009900"/>
        </a:accent2>
        <a:accent3>
          <a:srgbClr val="AAAAFF"/>
        </a:accent3>
        <a:accent4>
          <a:srgbClr val="D4D4D4"/>
        </a:accent4>
        <a:accent5>
          <a:srgbClr val="CAD9FF"/>
        </a:accent5>
        <a:accent6>
          <a:srgbClr val="008A00"/>
        </a:accent6>
        <a:hlink>
          <a:srgbClr val="350035"/>
        </a:hlink>
        <a:folHlink>
          <a:srgbClr val="5980D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eater.pot 2">
        <a:dk1>
          <a:srgbClr val="000000"/>
        </a:dk1>
        <a:lt1>
          <a:srgbClr val="FFFFFF"/>
        </a:lt1>
        <a:dk2>
          <a:srgbClr val="003399"/>
        </a:dk2>
        <a:lt2>
          <a:srgbClr val="5A92D2"/>
        </a:lt2>
        <a:accent1>
          <a:srgbClr val="CCECFF"/>
        </a:accent1>
        <a:accent2>
          <a:srgbClr val="CC99FF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B98AE7"/>
        </a:accent6>
        <a:hlink>
          <a:srgbClr val="FFF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eater.pot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FFFF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eater.pot 4">
        <a:dk1>
          <a:srgbClr val="333300"/>
        </a:dk1>
        <a:lt1>
          <a:srgbClr val="F8F8F8"/>
        </a:lt1>
        <a:dk2>
          <a:srgbClr val="B4AD8B"/>
        </a:dk2>
        <a:lt2>
          <a:srgbClr val="FFFF99"/>
        </a:lt2>
        <a:accent1>
          <a:srgbClr val="F5F5DE"/>
        </a:accent1>
        <a:accent2>
          <a:srgbClr val="00CCCC"/>
        </a:accent2>
        <a:accent3>
          <a:srgbClr val="D6D3C4"/>
        </a:accent3>
        <a:accent4>
          <a:srgbClr val="D4D4D4"/>
        </a:accent4>
        <a:accent5>
          <a:srgbClr val="F9F9EC"/>
        </a:accent5>
        <a:accent6>
          <a:srgbClr val="00B9B9"/>
        </a:accent6>
        <a:hlink>
          <a:srgbClr val="4E5136"/>
        </a:hlink>
        <a:folHlink>
          <a:srgbClr val="ADAA6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eater.pot 5">
        <a:dk1>
          <a:srgbClr val="003300"/>
        </a:dk1>
        <a:lt1>
          <a:srgbClr val="F8F8F8"/>
        </a:lt1>
        <a:dk2>
          <a:srgbClr val="009966"/>
        </a:dk2>
        <a:lt2>
          <a:srgbClr val="FFCC00"/>
        </a:lt2>
        <a:accent1>
          <a:srgbClr val="F5F5DE"/>
        </a:accent1>
        <a:accent2>
          <a:srgbClr val="00CCCC"/>
        </a:accent2>
        <a:accent3>
          <a:srgbClr val="AACAB8"/>
        </a:accent3>
        <a:accent4>
          <a:srgbClr val="D4D4D4"/>
        </a:accent4>
        <a:accent5>
          <a:srgbClr val="F9F9EC"/>
        </a:accent5>
        <a:accent6>
          <a:srgbClr val="00B9B9"/>
        </a:accent6>
        <a:hlink>
          <a:srgbClr val="4E5136"/>
        </a:hlink>
        <a:folHlink>
          <a:srgbClr val="ADAA6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eater.pot 6">
        <a:dk1>
          <a:srgbClr val="660033"/>
        </a:dk1>
        <a:lt1>
          <a:srgbClr val="F8F8F8"/>
        </a:lt1>
        <a:dk2>
          <a:srgbClr val="D60093"/>
        </a:dk2>
        <a:lt2>
          <a:srgbClr val="FFCC00"/>
        </a:lt2>
        <a:accent1>
          <a:srgbClr val="F5F5DE"/>
        </a:accent1>
        <a:accent2>
          <a:srgbClr val="009900"/>
        </a:accent2>
        <a:accent3>
          <a:srgbClr val="E8AAC8"/>
        </a:accent3>
        <a:accent4>
          <a:srgbClr val="D4D4D4"/>
        </a:accent4>
        <a:accent5>
          <a:srgbClr val="F9F9EC"/>
        </a:accent5>
        <a:accent6>
          <a:srgbClr val="008A00"/>
        </a:accent6>
        <a:hlink>
          <a:srgbClr val="4E5136"/>
        </a:hlink>
        <a:folHlink>
          <a:srgbClr val="ADAA67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Theater">
  <a:themeElements>
    <a:clrScheme name="Theater.pot 1">
      <a:dk1>
        <a:srgbClr val="00005B"/>
      </a:dk1>
      <a:lt1>
        <a:srgbClr val="F8F8F8"/>
      </a:lt1>
      <a:dk2>
        <a:srgbClr val="0000FF"/>
      </a:dk2>
      <a:lt2>
        <a:srgbClr val="FFCC00"/>
      </a:lt2>
      <a:accent1>
        <a:srgbClr val="98BAFF"/>
      </a:accent1>
      <a:accent2>
        <a:srgbClr val="009900"/>
      </a:accent2>
      <a:accent3>
        <a:srgbClr val="AAAAFF"/>
      </a:accent3>
      <a:accent4>
        <a:srgbClr val="D4D4D4"/>
      </a:accent4>
      <a:accent5>
        <a:srgbClr val="CAD9FF"/>
      </a:accent5>
      <a:accent6>
        <a:srgbClr val="008A00"/>
      </a:accent6>
      <a:hlink>
        <a:srgbClr val="350035"/>
      </a:hlink>
      <a:folHlink>
        <a:srgbClr val="5980D8"/>
      </a:folHlink>
    </a:clrScheme>
    <a:fontScheme name="Theater.po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Theater.pot 1">
        <a:dk1>
          <a:srgbClr val="00005B"/>
        </a:dk1>
        <a:lt1>
          <a:srgbClr val="F8F8F8"/>
        </a:lt1>
        <a:dk2>
          <a:srgbClr val="0000FF"/>
        </a:dk2>
        <a:lt2>
          <a:srgbClr val="FFCC00"/>
        </a:lt2>
        <a:accent1>
          <a:srgbClr val="98BAFF"/>
        </a:accent1>
        <a:accent2>
          <a:srgbClr val="009900"/>
        </a:accent2>
        <a:accent3>
          <a:srgbClr val="AAAAFF"/>
        </a:accent3>
        <a:accent4>
          <a:srgbClr val="D4D4D4"/>
        </a:accent4>
        <a:accent5>
          <a:srgbClr val="CAD9FF"/>
        </a:accent5>
        <a:accent6>
          <a:srgbClr val="008A00"/>
        </a:accent6>
        <a:hlink>
          <a:srgbClr val="350035"/>
        </a:hlink>
        <a:folHlink>
          <a:srgbClr val="5980D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eater.pot 2">
        <a:dk1>
          <a:srgbClr val="000000"/>
        </a:dk1>
        <a:lt1>
          <a:srgbClr val="FFFFFF"/>
        </a:lt1>
        <a:dk2>
          <a:srgbClr val="003399"/>
        </a:dk2>
        <a:lt2>
          <a:srgbClr val="5A92D2"/>
        </a:lt2>
        <a:accent1>
          <a:srgbClr val="CCECFF"/>
        </a:accent1>
        <a:accent2>
          <a:srgbClr val="CC99FF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B98AE7"/>
        </a:accent6>
        <a:hlink>
          <a:srgbClr val="FFF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eater.pot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FFFF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eater.pot 4">
        <a:dk1>
          <a:srgbClr val="333300"/>
        </a:dk1>
        <a:lt1>
          <a:srgbClr val="F8F8F8"/>
        </a:lt1>
        <a:dk2>
          <a:srgbClr val="B4AD8B"/>
        </a:dk2>
        <a:lt2>
          <a:srgbClr val="FFFF99"/>
        </a:lt2>
        <a:accent1>
          <a:srgbClr val="F5F5DE"/>
        </a:accent1>
        <a:accent2>
          <a:srgbClr val="00CCCC"/>
        </a:accent2>
        <a:accent3>
          <a:srgbClr val="D6D3C4"/>
        </a:accent3>
        <a:accent4>
          <a:srgbClr val="D4D4D4"/>
        </a:accent4>
        <a:accent5>
          <a:srgbClr val="F9F9EC"/>
        </a:accent5>
        <a:accent6>
          <a:srgbClr val="00B9B9"/>
        </a:accent6>
        <a:hlink>
          <a:srgbClr val="4E5136"/>
        </a:hlink>
        <a:folHlink>
          <a:srgbClr val="ADAA6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eater.pot 5">
        <a:dk1>
          <a:srgbClr val="003300"/>
        </a:dk1>
        <a:lt1>
          <a:srgbClr val="F8F8F8"/>
        </a:lt1>
        <a:dk2>
          <a:srgbClr val="009966"/>
        </a:dk2>
        <a:lt2>
          <a:srgbClr val="FFCC00"/>
        </a:lt2>
        <a:accent1>
          <a:srgbClr val="F5F5DE"/>
        </a:accent1>
        <a:accent2>
          <a:srgbClr val="00CCCC"/>
        </a:accent2>
        <a:accent3>
          <a:srgbClr val="AACAB8"/>
        </a:accent3>
        <a:accent4>
          <a:srgbClr val="D4D4D4"/>
        </a:accent4>
        <a:accent5>
          <a:srgbClr val="F9F9EC"/>
        </a:accent5>
        <a:accent6>
          <a:srgbClr val="00B9B9"/>
        </a:accent6>
        <a:hlink>
          <a:srgbClr val="4E5136"/>
        </a:hlink>
        <a:folHlink>
          <a:srgbClr val="ADAA6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eater.pot 6">
        <a:dk1>
          <a:srgbClr val="660033"/>
        </a:dk1>
        <a:lt1>
          <a:srgbClr val="F8F8F8"/>
        </a:lt1>
        <a:dk2>
          <a:srgbClr val="D60093"/>
        </a:dk2>
        <a:lt2>
          <a:srgbClr val="FFCC00"/>
        </a:lt2>
        <a:accent1>
          <a:srgbClr val="F5F5DE"/>
        </a:accent1>
        <a:accent2>
          <a:srgbClr val="009900"/>
        </a:accent2>
        <a:accent3>
          <a:srgbClr val="E8AAC8"/>
        </a:accent3>
        <a:accent4>
          <a:srgbClr val="D4D4D4"/>
        </a:accent4>
        <a:accent5>
          <a:srgbClr val="F9F9EC"/>
        </a:accent5>
        <a:accent6>
          <a:srgbClr val="008A00"/>
        </a:accent6>
        <a:hlink>
          <a:srgbClr val="4E5136"/>
        </a:hlink>
        <a:folHlink>
          <a:srgbClr val="ADAA67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007">
  <a:themeElements>
    <a:clrScheme name="007 16">
      <a:dk1>
        <a:srgbClr val="000000"/>
      </a:dk1>
      <a:lt1>
        <a:srgbClr val="FFFFFF"/>
      </a:lt1>
      <a:dk2>
        <a:srgbClr val="1C1C1C"/>
      </a:dk2>
      <a:lt2>
        <a:srgbClr val="4D4D4D"/>
      </a:lt2>
      <a:accent1>
        <a:srgbClr val="4D4D4D"/>
      </a:accent1>
      <a:accent2>
        <a:srgbClr val="DDDDDD"/>
      </a:accent2>
      <a:accent3>
        <a:srgbClr val="FFFFFF"/>
      </a:accent3>
      <a:accent4>
        <a:srgbClr val="000000"/>
      </a:accent4>
      <a:accent5>
        <a:srgbClr val="B2B2B2"/>
      </a:accent5>
      <a:accent6>
        <a:srgbClr val="C8C8C8"/>
      </a:accent6>
      <a:hlink>
        <a:srgbClr val="808080"/>
      </a:hlink>
      <a:folHlink>
        <a:srgbClr val="F8F8F8"/>
      </a:folHlink>
    </a:clrScheme>
    <a:fontScheme name="007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07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7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7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7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7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7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7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7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7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7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7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7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7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7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7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7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380</TotalTime>
  <Words>4209</Words>
  <Application>Microsoft Office PowerPoint</Application>
  <PresentationFormat>Широкоэкранный</PresentationFormat>
  <Paragraphs>494</Paragraphs>
  <Slides>70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5</vt:i4>
      </vt:variant>
      <vt:variant>
        <vt:lpstr>Внедренные серверы OLE</vt:lpstr>
      </vt:variant>
      <vt:variant>
        <vt:i4>6</vt:i4>
      </vt:variant>
      <vt:variant>
        <vt:lpstr>Заголовки слайдов</vt:lpstr>
      </vt:variant>
      <vt:variant>
        <vt:i4>70</vt:i4>
      </vt:variant>
    </vt:vector>
  </HeadingPairs>
  <TitlesOfParts>
    <vt:vector size="92" baseType="lpstr">
      <vt:lpstr>Albertus Extra Bold</vt:lpstr>
      <vt:lpstr>Arial</vt:lpstr>
      <vt:lpstr>Arial Narrow</vt:lpstr>
      <vt:lpstr>Calibri</vt:lpstr>
      <vt:lpstr>Cambria</vt:lpstr>
      <vt:lpstr>Century Gothic</vt:lpstr>
      <vt:lpstr>Rockwell</vt:lpstr>
      <vt:lpstr>Symbol</vt:lpstr>
      <vt:lpstr>Times New Roman</vt:lpstr>
      <vt:lpstr>Wingdings</vt:lpstr>
      <vt:lpstr>Wingdings 2</vt:lpstr>
      <vt:lpstr>Литейная</vt:lpstr>
      <vt:lpstr>Theater</vt:lpstr>
      <vt:lpstr>1_Theater</vt:lpstr>
      <vt:lpstr>2_Theater</vt:lpstr>
      <vt:lpstr>1_007</vt:lpstr>
      <vt:lpstr>Microsoft Equation 3.0</vt:lpstr>
      <vt:lpstr>Уравнение</vt:lpstr>
      <vt:lpstr>Формула</vt:lpstr>
      <vt:lpstr>Visio</vt:lpstr>
      <vt:lpstr>Equation</vt:lpstr>
      <vt:lpstr>Точечный рисунок</vt:lpstr>
      <vt:lpstr>ТЕОРИЯ ВЕРОЯТНОСТЕЙ  И  МАТЕМАТИЧЕСКАЯ СТАТИСТИКА</vt:lpstr>
      <vt:lpstr>Этапы развития </vt:lpstr>
      <vt:lpstr>Этапы развития </vt:lpstr>
      <vt:lpstr>Этапы развития</vt:lpstr>
      <vt:lpstr>Презентация PowerPoint</vt:lpstr>
      <vt:lpstr>Презентация PowerPoint</vt:lpstr>
      <vt:lpstr>Диаграммы Эйлера-Венна</vt:lpstr>
      <vt:lpstr>Презентация PowerPoint</vt:lpstr>
      <vt:lpstr>Статистическая вероятность</vt:lpstr>
      <vt:lpstr> </vt:lpstr>
      <vt:lpstr> </vt:lpstr>
      <vt:lpstr>Презентация PowerPoint</vt:lpstr>
      <vt:lpstr>Геометрическое определение вероятности </vt:lpstr>
      <vt:lpstr>СЛУЧАЙНЫЕ ВЕЛИЧИНЫ И ИХ ЗАКОНЫ РАСПРЕДЕЛЕНИЯ   Ряд распределения. Многоугольник распределения </vt:lpstr>
      <vt:lpstr>Презентация PowerPoint</vt:lpstr>
      <vt:lpstr>Презентация PowerPoint</vt:lpstr>
      <vt:lpstr>Презентация PowerPoint</vt:lpstr>
      <vt:lpstr>Функция распределения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Плотность распределения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      Математическое ожидание</vt:lpstr>
      <vt:lpstr>Для непрерывной случайной величины Х математическое ожидание выражается уже не суммой, а интегралом:</vt:lpstr>
      <vt:lpstr>Моменты</vt:lpstr>
      <vt:lpstr>Начальный момент</vt:lpstr>
      <vt:lpstr>Презентация PowerPoint</vt:lpstr>
      <vt:lpstr>Центральный момент</vt:lpstr>
      <vt:lpstr>Дисперсия</vt:lpstr>
      <vt:lpstr>Равномерный закон распределения</vt:lpstr>
      <vt:lpstr>Равномерный закон распределения характеризуется плотностью вероятности вида:</vt:lpstr>
      <vt:lpstr>Равномерный закон распределения характеризуется функцией распределения вида :</vt:lpstr>
      <vt:lpstr>Нормальный закон распределения </vt:lpstr>
      <vt:lpstr>Презентация PowerPoint</vt:lpstr>
      <vt:lpstr>Нормальный закон распределения характеризуется плотностью вероятности вида:</vt:lpstr>
      <vt:lpstr>Математическая статистика</vt:lpstr>
      <vt:lpstr>Презентация PowerPoint</vt:lpstr>
      <vt:lpstr>Генеральная совокупность и выборка</vt:lpstr>
      <vt:lpstr>Способы отбора</vt:lpstr>
      <vt:lpstr>Статистическое распределение выборки</vt:lpstr>
      <vt:lpstr>Эмпирическая функция распределения</vt:lpstr>
      <vt:lpstr>Презентация PowerPoint</vt:lpstr>
      <vt:lpstr>Точечные оценки</vt:lpstr>
      <vt:lpstr>Генеральная и выборочная средняя</vt:lpstr>
      <vt:lpstr>Генеральная и выборочная дисперсии</vt:lpstr>
      <vt:lpstr>Интервальные оценки</vt:lpstr>
      <vt:lpstr>Точность и надежность</vt:lpstr>
      <vt:lpstr>Доверительный интервал для математического ожидания</vt:lpstr>
      <vt:lpstr>Расчет доверительных интервалов при неизвестной дисперсии</vt:lpstr>
      <vt:lpstr>Доверительный интервал для оценки дисперсии</vt:lpstr>
      <vt:lpstr>Проверка статистических гипотез</vt:lpstr>
      <vt:lpstr>Классификация гипотез</vt:lpstr>
      <vt:lpstr>Статистический критерий, статистическая область</vt:lpstr>
      <vt:lpstr>Презентация PowerPoint</vt:lpstr>
      <vt:lpstr>Презентация PowerPoint</vt:lpstr>
      <vt:lpstr>Сравнение математических ожиданий</vt:lpstr>
      <vt:lpstr>Проверка гипотезы о равенстве средних при неизвестных дисперсиях</vt:lpstr>
      <vt:lpstr>Алгоритм проверки</vt:lpstr>
      <vt:lpstr>Проверка гипотезы о законе распределения генеральной совокупности</vt:lpstr>
      <vt:lpstr>Критерий Пирсона</vt:lpstr>
      <vt:lpstr>Правила проверки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/>
  <cp:revision>61</cp:revision>
  <dcterms:created xsi:type="dcterms:W3CDTF">2015-04-09T10:11:58Z</dcterms:created>
  <dcterms:modified xsi:type="dcterms:W3CDTF">2019-04-09T15:14:14Z</dcterms:modified>
</cp:coreProperties>
</file>