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51"/>
  </p:notesMasterIdLst>
  <p:sldIdLst>
    <p:sldId id="256" r:id="rId2"/>
    <p:sldId id="293" r:id="rId3"/>
    <p:sldId id="257" r:id="rId4"/>
    <p:sldId id="294" r:id="rId5"/>
    <p:sldId id="265" r:id="rId6"/>
    <p:sldId id="307" r:id="rId7"/>
    <p:sldId id="310" r:id="rId8"/>
    <p:sldId id="308" r:id="rId9"/>
    <p:sldId id="311" r:id="rId10"/>
    <p:sldId id="309" r:id="rId11"/>
    <p:sldId id="312" r:id="rId12"/>
    <p:sldId id="302" r:id="rId13"/>
    <p:sldId id="303" r:id="rId14"/>
    <p:sldId id="304" r:id="rId15"/>
    <p:sldId id="260" r:id="rId16"/>
    <p:sldId id="262" r:id="rId17"/>
    <p:sldId id="295" r:id="rId18"/>
    <p:sldId id="296" r:id="rId19"/>
    <p:sldId id="297" r:id="rId20"/>
    <p:sldId id="298" r:id="rId21"/>
    <p:sldId id="299" r:id="rId22"/>
    <p:sldId id="300" r:id="rId23"/>
    <p:sldId id="266" r:id="rId24"/>
    <p:sldId id="301" r:id="rId25"/>
    <p:sldId id="267" r:id="rId26"/>
    <p:sldId id="268" r:id="rId27"/>
    <p:sldId id="269" r:id="rId28"/>
    <p:sldId id="271" r:id="rId29"/>
    <p:sldId id="277" r:id="rId30"/>
    <p:sldId id="276" r:id="rId31"/>
    <p:sldId id="275" r:id="rId32"/>
    <p:sldId id="270" r:id="rId33"/>
    <p:sldId id="306" r:id="rId34"/>
    <p:sldId id="274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7" r:id="rId43"/>
    <p:sldId id="290" r:id="rId44"/>
    <p:sldId id="289" r:id="rId45"/>
    <p:sldId id="288" r:id="rId46"/>
    <p:sldId id="291" r:id="rId47"/>
    <p:sldId id="292" r:id="rId48"/>
    <p:sldId id="273" r:id="rId49"/>
    <p:sldId id="313" r:id="rId5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99FFCC"/>
    <a:srgbClr val="CCECFF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974" y="-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DC869-3B6D-4475-913E-FB81D89FFD89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6C4EC-5410-4155-9FA4-4BBE70711B5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70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56C4EC-5410-4155-9FA4-4BBE70711B51}" type="slidenum">
              <a:rPr lang="ru-RU" smtClean="0"/>
              <a:pPr/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48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1823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095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739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456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30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030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692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6331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25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8759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909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5864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7527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6882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4229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851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06.10.2022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201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ru.wikipedia.org/wiki/%D0%90%D0%BA%D1%82%D0%B8%D0%B2%D0%BD%D0%BE%D0%B5_%D0%BE%D0%B1%D1%83%D1%87%D0%B5%D0%BD%D0%B8%D0%B5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ru.wikipedia.org/wiki/%D0%98%D0%BD%D1%82%D0%B5%D1%80%D0%B0%D0%BA%D1%82%D0%B8%D0%B2%D0%BD%D1%8B%D0%B5_%D0%BF%D0%BE%D0%B4%D1%85%D0%BE%D0%B4%D1%8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548680"/>
            <a:ext cx="7772400" cy="5256584"/>
          </a:xfrm>
          <a:blipFill>
            <a:blip r:embed="rId2"/>
            <a:tile tx="0" ty="0" sx="100000" sy="100000" flip="none" algn="tl"/>
          </a:blipFill>
          <a:ln w="76200">
            <a:solidFill>
              <a:schemeClr val="accent1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noAutofit/>
          </a:bodyPr>
          <a:lstStyle/>
          <a:p>
            <a:pPr algn="ctr"/>
            <a:r>
              <a:rPr lang="ru-RU" sz="6600" b="1" i="1" dirty="0" smtClean="0">
                <a:solidFill>
                  <a:srgbClr val="7030A0"/>
                </a:solidFill>
              </a:rPr>
              <a:t>Характеристика </a:t>
            </a:r>
            <a:r>
              <a:rPr lang="en-US" sz="6600" b="1" i="1" dirty="0" smtClean="0">
                <a:solidFill>
                  <a:srgbClr val="7030A0"/>
                </a:solidFill>
              </a:rPr>
              <a:t/>
            </a:r>
            <a:br>
              <a:rPr lang="en-US" sz="6600" b="1" i="1" dirty="0" smtClean="0">
                <a:solidFill>
                  <a:srgbClr val="7030A0"/>
                </a:solidFill>
              </a:rPr>
            </a:br>
            <a:r>
              <a:rPr lang="en-US" sz="6600" b="1" i="1" dirty="0">
                <a:solidFill>
                  <a:srgbClr val="7030A0"/>
                </a:solidFill>
              </a:rPr>
              <a:t/>
            </a:r>
            <a:br>
              <a:rPr lang="en-US" sz="6600" b="1" i="1" dirty="0">
                <a:solidFill>
                  <a:srgbClr val="7030A0"/>
                </a:solidFill>
              </a:rPr>
            </a:br>
            <a:r>
              <a:rPr lang="ru-RU" sz="6600" b="1" i="1" dirty="0" smtClean="0">
                <a:solidFill>
                  <a:srgbClr val="7030A0"/>
                </a:solidFill>
              </a:rPr>
              <a:t>методов </a:t>
            </a:r>
            <a:br>
              <a:rPr lang="ru-RU" sz="6600" b="1" i="1" dirty="0" smtClean="0">
                <a:solidFill>
                  <a:srgbClr val="7030A0"/>
                </a:solidFill>
              </a:rPr>
            </a:br>
            <a:r>
              <a:rPr lang="en-US" sz="6600" b="1" i="1" dirty="0" smtClean="0">
                <a:solidFill>
                  <a:srgbClr val="7030A0"/>
                </a:solidFill>
              </a:rPr>
              <a:t/>
            </a:r>
            <a:br>
              <a:rPr lang="en-US" sz="6600" b="1" i="1" dirty="0" smtClean="0">
                <a:solidFill>
                  <a:srgbClr val="7030A0"/>
                </a:solidFill>
              </a:rPr>
            </a:br>
            <a:r>
              <a:rPr lang="ru-RU" sz="6600" b="1" i="1" smtClean="0">
                <a:solidFill>
                  <a:srgbClr val="7030A0"/>
                </a:solidFill>
              </a:rPr>
              <a:t>обучения</a:t>
            </a:r>
            <a:endParaRPr lang="ru-RU" sz="6600" b="1" i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uslide.ru/images/2/8921/960/img0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955" y="938212"/>
            <a:ext cx="6873445" cy="5155084"/>
          </a:xfrm>
          <a:prstGeom prst="rect">
            <a:avLst/>
          </a:prstGeom>
          <a:solidFill>
            <a:srgbClr val="00B0F0"/>
          </a:solidFill>
          <a:ln w="57150">
            <a:solidFill>
              <a:srgbClr val="92D050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</p:pic>
    </p:spTree>
    <p:extLst>
      <p:ext uri="{BB962C8B-B14F-4D97-AF65-F5344CB8AC3E}">
        <p14:creationId xmlns:p14="http://schemas.microsoft.com/office/powerpoint/2010/main" val="115197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87624" y="116632"/>
            <a:ext cx="7848872" cy="6624736"/>
          </a:xfrm>
          <a:ln w="762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2200" dirty="0" smtClean="0"/>
              <a:t>«</a:t>
            </a:r>
            <a:r>
              <a:rPr lang="ru-RU" sz="2200" b="1" dirty="0" smtClean="0">
                <a:solidFill>
                  <a:srgbClr val="7030A0"/>
                </a:solidFill>
              </a:rPr>
              <a:t>От метода преподавания </a:t>
            </a:r>
            <a:r>
              <a:rPr lang="ru-RU" sz="2200" dirty="0" smtClean="0"/>
              <a:t>зависит, </a:t>
            </a:r>
            <a:endParaRPr lang="en-US" sz="2200" dirty="0" smtClean="0"/>
          </a:p>
          <a:p>
            <a:pPr marL="0" indent="0">
              <a:spcBef>
                <a:spcPts val="0"/>
              </a:spcBef>
            </a:pPr>
            <a:r>
              <a:rPr lang="ru-RU" sz="2200" dirty="0" smtClean="0">
                <a:solidFill>
                  <a:schemeClr val="tx1"/>
                </a:solidFill>
              </a:rPr>
              <a:t>будет ли оно возбуждать в ребенке скуку, </a:t>
            </a:r>
            <a:endParaRPr lang="en-US" sz="2200" dirty="0" smtClean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ru-RU" sz="2200" dirty="0" smtClean="0">
                <a:solidFill>
                  <a:schemeClr val="tx1"/>
                </a:solidFill>
              </a:rPr>
              <a:t>будет ли преподавание скользить по поверхности детского мозга, не оставляя на нем почти никакого следа, </a:t>
            </a:r>
            <a:endParaRPr lang="en-US" sz="2200" dirty="0" smtClean="0">
              <a:solidFill>
                <a:schemeClr val="tx1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ru-RU" sz="2200" b="1" dirty="0" smtClean="0">
                <a:solidFill>
                  <a:srgbClr val="0070C0"/>
                </a:solidFill>
              </a:rPr>
              <a:t>или, наоборот</a:t>
            </a:r>
            <a:r>
              <a:rPr lang="ru-RU" sz="2200" dirty="0" smtClean="0"/>
              <a:t>,</a:t>
            </a:r>
            <a:endParaRPr lang="en-US" sz="2200" dirty="0" smtClean="0"/>
          </a:p>
          <a:p>
            <a:pPr marL="0" indent="0">
              <a:spcBef>
                <a:spcPts val="0"/>
              </a:spcBef>
            </a:pPr>
            <a:r>
              <a:rPr lang="ru-RU" sz="2200" dirty="0" smtClean="0"/>
              <a:t> </a:t>
            </a:r>
            <a:r>
              <a:rPr lang="ru-RU" sz="2200" b="1" dirty="0" smtClean="0">
                <a:solidFill>
                  <a:srgbClr val="00B050"/>
                </a:solidFill>
              </a:rPr>
              <a:t>это преподавание будет восприниматься радостно, </a:t>
            </a:r>
            <a:endParaRPr lang="en-US" sz="2200" b="1" dirty="0" smtClean="0">
              <a:solidFill>
                <a:srgbClr val="00B050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ru-RU" sz="2200" b="1" dirty="0" smtClean="0">
                <a:solidFill>
                  <a:srgbClr val="00B050"/>
                </a:solidFill>
              </a:rPr>
              <a:t>как часть детской игры, </a:t>
            </a:r>
            <a:endParaRPr lang="en-US" sz="2200" b="1" dirty="0" smtClean="0">
              <a:solidFill>
                <a:srgbClr val="00B050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ru-RU" sz="2200" b="1" dirty="0" smtClean="0">
                <a:solidFill>
                  <a:srgbClr val="00B050"/>
                </a:solidFill>
              </a:rPr>
              <a:t>как часть детской жизни, </a:t>
            </a:r>
            <a:endParaRPr lang="en-US" sz="2200" b="1" dirty="0" smtClean="0">
              <a:solidFill>
                <a:srgbClr val="00B050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ru-RU" sz="2200" b="1" dirty="0" smtClean="0">
                <a:solidFill>
                  <a:srgbClr val="00B050"/>
                </a:solidFill>
              </a:rPr>
              <a:t>сольется с психикой ребенка, </a:t>
            </a:r>
            <a:endParaRPr lang="en-US" sz="2200" b="1" dirty="0" smtClean="0">
              <a:solidFill>
                <a:srgbClr val="00B050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ru-RU" sz="2200" b="1" dirty="0" smtClean="0">
                <a:solidFill>
                  <a:srgbClr val="00B050"/>
                </a:solidFill>
              </a:rPr>
              <a:t>станет его плотью и кровью. </a:t>
            </a:r>
            <a:endParaRPr lang="en-US" sz="2200" b="1" dirty="0" smtClean="0">
              <a:solidFill>
                <a:srgbClr val="00B050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ru-RU" sz="2200" b="1" dirty="0" smtClean="0">
                <a:solidFill>
                  <a:schemeClr val="tx1"/>
                </a:solidFill>
              </a:rPr>
              <a:t>От метода преподавания зависит, </a:t>
            </a:r>
            <a:endParaRPr lang="en-US" sz="2200" b="1" dirty="0" smtClean="0">
              <a:solidFill>
                <a:schemeClr val="tx1"/>
              </a:solidFill>
            </a:endParaRPr>
          </a:p>
          <a:p>
            <a:pPr marL="0" indent="0" algn="ctr">
              <a:lnSpc>
                <a:spcPts val="2000"/>
              </a:lnSpc>
              <a:spcBef>
                <a:spcPts val="0"/>
              </a:spcBef>
              <a:buNone/>
            </a:pPr>
            <a:r>
              <a:rPr lang="ru-RU" sz="2200" b="1" dirty="0" smtClean="0">
                <a:solidFill>
                  <a:schemeClr val="tx1"/>
                </a:solidFill>
              </a:rPr>
              <a:t>будет ли класс смотреть на занятия как на каторгу </a:t>
            </a:r>
            <a:r>
              <a:rPr lang="ru-RU" sz="2200" dirty="0" smtClean="0"/>
              <a:t>…. </a:t>
            </a:r>
            <a:endParaRPr lang="en-US" sz="2200" dirty="0" smtClean="0"/>
          </a:p>
          <a:p>
            <a:pPr marL="0" indent="0" algn="ctr">
              <a:lnSpc>
                <a:spcPts val="2000"/>
              </a:lnSpc>
              <a:spcBef>
                <a:spcPts val="0"/>
              </a:spcBef>
              <a:buNone/>
            </a:pPr>
            <a:r>
              <a:rPr lang="ru-RU" sz="2200" b="1" dirty="0" smtClean="0">
                <a:solidFill>
                  <a:srgbClr val="FF0000"/>
                </a:solidFill>
              </a:rPr>
              <a:t>или класс этот будет спаян единством интересной работы и </a:t>
            </a:r>
            <a:endParaRPr lang="en-US" sz="2200" b="1" dirty="0" smtClean="0">
              <a:solidFill>
                <a:srgbClr val="FF0000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ru-RU" sz="2200" b="1" dirty="0" smtClean="0">
                <a:solidFill>
                  <a:srgbClr val="FF0000"/>
                </a:solidFill>
              </a:rPr>
              <a:t>проникнут благородной дружбой к своему руководителю. …»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 smtClean="0">
                <a:solidFill>
                  <a:schemeClr val="tx1"/>
                </a:solidFill>
              </a:rPr>
              <a:t>         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ru-RU" sz="2000" b="1" dirty="0" smtClean="0">
                <a:solidFill>
                  <a:schemeClr val="tx1"/>
                </a:solidFill>
              </a:rPr>
              <a:t>А.В</a:t>
            </a:r>
            <a:r>
              <a:rPr lang="ru-RU" sz="2000" b="1" dirty="0">
                <a:solidFill>
                  <a:schemeClr val="tx1"/>
                </a:solidFill>
              </a:rPr>
              <a:t>. Луначарский</a:t>
            </a:r>
          </a:p>
          <a:p>
            <a:pPr marL="0" indent="0" algn="ctr">
              <a:spcBef>
                <a:spcPts val="0"/>
              </a:spcBef>
              <a:buNone/>
            </a:pPr>
            <a:endParaRPr lang="ru-RU" sz="2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uslide.ru/images/2/8921/960/img2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548680"/>
            <a:ext cx="7500672" cy="5625504"/>
          </a:xfrm>
          <a:prstGeom prst="rect">
            <a:avLst/>
          </a:prstGeom>
          <a:noFill/>
          <a:ln w="76200">
            <a:solidFill>
              <a:srgbClr val="92D050"/>
            </a:solidFill>
          </a:ln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87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47864" y="332656"/>
            <a:ext cx="3744416" cy="500634"/>
          </a:xfrm>
          <a:ln w="57150"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rmAutofit fontScale="90000"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</a:rPr>
              <a:t>Метод обучения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43608" y="1052736"/>
            <a:ext cx="7848871" cy="5616624"/>
          </a:xfrm>
          <a:solidFill>
            <a:srgbClr val="CCECFF"/>
          </a:solidFill>
          <a:ln w="76200">
            <a:solidFill>
              <a:srgbClr val="7030A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«Метод» </a:t>
            </a:r>
            <a:r>
              <a:rPr lang="ru-RU" dirty="0" smtClean="0"/>
              <a:t>– по-гречески – «путь к чему-либо» – способ достижения цели. </a:t>
            </a:r>
          </a:p>
          <a:p>
            <a:r>
              <a:rPr lang="ru-RU" b="1" dirty="0" smtClean="0">
                <a:solidFill>
                  <a:srgbClr val="FF0000"/>
                </a:solidFill>
              </a:rPr>
              <a:t>Метод обучения </a:t>
            </a:r>
            <a:r>
              <a:rPr lang="ru-RU" dirty="0" smtClean="0"/>
              <a:t>– способ приобретения знаний.</a:t>
            </a:r>
          </a:p>
          <a:p>
            <a:r>
              <a:rPr lang="ru-RU" b="1" dirty="0">
                <a:solidFill>
                  <a:srgbClr val="FF0000"/>
                </a:solidFill>
              </a:rPr>
              <a:t>Метод </a:t>
            </a:r>
            <a:r>
              <a:rPr lang="ru-RU" b="1" dirty="0" smtClean="0">
                <a:solidFill>
                  <a:srgbClr val="FF0000"/>
                </a:solidFill>
              </a:rPr>
              <a:t>обучения </a:t>
            </a:r>
            <a:r>
              <a:rPr lang="ru-RU" dirty="0" smtClean="0"/>
              <a:t>- «упорядоченные </a:t>
            </a:r>
            <a:r>
              <a:rPr lang="ru-RU" dirty="0"/>
              <a:t>способы взаимосвязанной деятельности учителя и учащихся, направленные на достижение целей образования, воспитания и развития</a:t>
            </a:r>
            <a:r>
              <a:rPr lang="en-US" dirty="0"/>
              <a:t> </a:t>
            </a:r>
            <a:r>
              <a:rPr lang="ru-RU" dirty="0" smtClean="0"/>
              <a:t>школьников».</a:t>
            </a:r>
          </a:p>
          <a:p>
            <a:r>
              <a:rPr lang="ru-RU" b="1" dirty="0">
                <a:solidFill>
                  <a:srgbClr val="FF0000"/>
                </a:solidFill>
              </a:rPr>
              <a:t>Метод обучения 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dirty="0" smtClean="0"/>
              <a:t>- упорядоченный </a:t>
            </a:r>
            <a:r>
              <a:rPr lang="ru-RU" dirty="0"/>
              <a:t>комплекс дидактических приемов и средств, посредством которых реализуются цели обучения и воспитания. </a:t>
            </a:r>
            <a:endParaRPr lang="ru-RU" dirty="0" smtClean="0"/>
          </a:p>
          <a:p>
            <a:r>
              <a:rPr lang="ru-RU" b="1" dirty="0" smtClean="0">
                <a:solidFill>
                  <a:srgbClr val="FF0000"/>
                </a:solidFill>
              </a:rPr>
              <a:t>Методы </a:t>
            </a:r>
            <a:r>
              <a:rPr lang="ru-RU" b="1" dirty="0">
                <a:solidFill>
                  <a:srgbClr val="FF0000"/>
                </a:solidFill>
              </a:rPr>
              <a:t>обучения </a:t>
            </a:r>
            <a:r>
              <a:rPr lang="ru-RU" dirty="0"/>
              <a:t>- это взаимосвязанные способы целенаправленной деятельности учителя и учащихся. </a:t>
            </a: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 </a:t>
            </a:r>
            <a:r>
              <a:rPr lang="ru-RU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методами обучения понимают последовательное чередование способов взаимодействия учителя и учащихся, направленных на достижение определенной дидактической цели.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945201" y="332656"/>
            <a:ext cx="6589199" cy="1008112"/>
          </a:xfrm>
          <a:ln w="381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Autofit/>
          </a:bodyPr>
          <a:lstStyle/>
          <a:p>
            <a:pPr algn="ctr"/>
            <a:r>
              <a:rPr lang="ru-RU" sz="4000" b="1" dirty="0">
                <a:solidFill>
                  <a:schemeClr val="accent2">
                    <a:lumMod val="75000"/>
                  </a:schemeClr>
                </a:solidFill>
              </a:rPr>
              <a:t>Пассивный</a:t>
            </a:r>
            <a:r>
              <a:rPr lang="ru-RU" sz="4000" b="1" dirty="0"/>
              <a:t> </a:t>
            </a: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метод</a:t>
            </a:r>
            <a:r>
              <a:rPr lang="ru-RU" sz="4000" dirty="0"/>
              <a:t/>
            </a:r>
            <a:br>
              <a:rPr lang="ru-RU" sz="4000" dirty="0"/>
            </a:br>
            <a:endParaRPr lang="ru-RU" sz="4000" dirty="0"/>
          </a:p>
        </p:txBody>
      </p:sp>
      <p:pic>
        <p:nvPicPr>
          <p:cNvPr id="5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060848"/>
            <a:ext cx="7204681" cy="40543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57150">
            <a:solidFill>
              <a:srgbClr val="00B0F0"/>
            </a:solidFill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</p:spPr>
      </p:pic>
    </p:spTree>
    <p:extLst>
      <p:ext uri="{BB962C8B-B14F-4D97-AF65-F5344CB8AC3E}">
        <p14:creationId xmlns:p14="http://schemas.microsoft.com/office/powerpoint/2010/main" val="76726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51720" y="1241508"/>
            <a:ext cx="6912768" cy="5317043"/>
          </a:xfrm>
          <a:ln w="7620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Пассивный метод обучения</a:t>
            </a: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(схема 1) - это форма взаимодействия учащихся и учителя, который является основным действующим лицом, управляющим ходом урока, а учащиеся выступают в роли пассивных слушателей. Связь учителя с учащимися на уроках осуществляется посредством опросов, самостоятельных, контрольных работ, тестов. Пассивный метод обучения считается самым неэффективным, но, несмотря на это, он имеет и некоторые плюсы. Это относительно легкая подготовка к уроку со стороны учителя и возможность преподнести сравнительно большее количество учебного материала в ограниченных временных рамках урока. С учетом этих плюсов, многие учителя предпочитают этот метод обучения</a:t>
            </a:r>
            <a:endParaRPr lang="ru-RU" sz="2000" dirty="0"/>
          </a:p>
        </p:txBody>
      </p:sp>
      <p:pic>
        <p:nvPicPr>
          <p:cNvPr id="4" name="Picture 2" descr="https://encrypted-tbn0.gstatic.com/images?q=tbn:ANd9GcTRoou1d_Q_LUNAnSzkwWWe5GTWqiMdy6lP2omrL26Hkg1X5gM4h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23529" y="278151"/>
            <a:ext cx="2088231" cy="1926714"/>
          </a:xfrm>
          <a:prstGeom prst="ellipse">
            <a:avLst/>
          </a:prstGeom>
          <a:ln w="38100" cap="rnd">
            <a:solidFill>
              <a:srgbClr val="7030A0"/>
            </a:solidFill>
            <a:prstDash val="solid"/>
          </a:ln>
          <a:effectLst>
            <a:glow rad="101600">
              <a:schemeClr val="accent6">
                <a:satMod val="175000"/>
                <a:alpha val="40000"/>
              </a:schemeClr>
            </a:glow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4821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907704" y="404664"/>
            <a:ext cx="6589199" cy="788666"/>
          </a:xfrm>
          <a:ln w="5715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pPr algn="ctr"/>
            <a:r>
              <a:rPr lang="ru-RU" b="1" u="sng" dirty="0" smtClean="0">
                <a:solidFill>
                  <a:schemeClr val="bg1"/>
                </a:solidFill>
                <a:hlinkClick r:id="rId2"/>
              </a:rPr>
              <a:t>Активный </a:t>
            </a:r>
            <a:r>
              <a:rPr lang="ru-RU" b="1" u="sng" dirty="0">
                <a:solidFill>
                  <a:schemeClr val="bg1"/>
                </a:solidFill>
                <a:hlinkClick r:id="rId2"/>
              </a:rPr>
              <a:t>метод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Объект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416429"/>
            <a:ext cx="6907897" cy="48208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76200">
            <a:solidFill>
              <a:schemeClr val="accent1">
                <a:lumMod val="60000"/>
                <a:lumOff val="40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</p:pic>
    </p:spTree>
    <p:extLst>
      <p:ext uri="{BB962C8B-B14F-4D97-AF65-F5344CB8AC3E}">
        <p14:creationId xmlns:p14="http://schemas.microsoft.com/office/powerpoint/2010/main" val="131103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9672" y="836712"/>
            <a:ext cx="7128791" cy="5616624"/>
          </a:xfrm>
          <a:ln w="762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Активный метод </a:t>
            </a:r>
            <a:r>
              <a:rPr lang="ru-RU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обучения </a:t>
            </a:r>
            <a:r>
              <a:rPr lang="ru-RU" sz="28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это форма взаимодействия учащихся и учителя на равных правах. Активные  методы обучения предполагают демократический стиль преподавания. Многие преподаватели между активными и интерактивными методами  обучения ставят знак равенства. Интерактивные методы обучения студентов можно рассматривать как наиболее современную форму активных методов.</a:t>
            </a:r>
            <a:endParaRPr lang="ru-RU" sz="28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48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979712" y="404664"/>
            <a:ext cx="6589199" cy="716658"/>
          </a:xfrm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/>
          <a:lstStyle/>
          <a:p>
            <a:pPr algn="ctr"/>
            <a:r>
              <a:rPr lang="ru-RU" b="1" dirty="0">
                <a:hlinkClick r:id="rId2" tooltip="Интерактивные подходы"/>
              </a:rPr>
              <a:t>Интерактивный метод</a:t>
            </a:r>
            <a:r>
              <a:rPr lang="ru-RU" dirty="0"/>
              <a:t> </a:t>
            </a:r>
          </a:p>
        </p:txBody>
      </p:sp>
      <p:pic>
        <p:nvPicPr>
          <p:cNvPr id="5" name="Объект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340768"/>
            <a:ext cx="6941640" cy="52062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76200">
            <a:solidFill>
              <a:srgbClr val="CCFF66"/>
            </a:solidFill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>
            <a:bevelT prst="convex"/>
          </a:sp3d>
        </p:spPr>
      </p:pic>
    </p:spTree>
    <p:extLst>
      <p:ext uri="{BB962C8B-B14F-4D97-AF65-F5344CB8AC3E}">
        <p14:creationId xmlns:p14="http://schemas.microsoft.com/office/powerpoint/2010/main" val="203137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476672"/>
            <a:ext cx="7776863" cy="6192688"/>
          </a:xfrm>
          <a:ln w="76200"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Autofit/>
          </a:bodyPr>
          <a:lstStyle/>
          <a:p>
            <a:pPr marL="0" lvl="0" indent="0" defTabSz="914400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</a:t>
            </a:r>
            <a:r>
              <a:rPr lang="ru-RU" sz="2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Интерактивный </a:t>
            </a:r>
            <a:r>
              <a:rPr lang="ru-RU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метод  обучения </a:t>
            </a:r>
            <a:endParaRPr lang="ru-RU" sz="2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lvl="0" indent="0" defTabSz="914400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sz="20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Интерактивный</a:t>
            </a:r>
            <a:r>
              <a:rPr lang="ru-RU" sz="20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(«</a:t>
            </a:r>
            <a:r>
              <a:rPr lang="ru-RU" sz="2000" b="1" dirty="0" err="1">
                <a:solidFill>
                  <a:srgbClr val="C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Inter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» -  взаимный, «</a:t>
            </a:r>
            <a:r>
              <a:rPr lang="ru-RU" sz="2000" b="1" dirty="0" err="1">
                <a:solidFill>
                  <a:srgbClr val="C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act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» - действовать) – означает взаимодействовать, находиться в режиме беседы, диалога с кем-либо.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В отличие от активных, интерактивные методы обучения ориентированы на более широкое взаимодействие студентов не только с преподавателем, но и друг с другом . Учитель направляет деятельность студентов на достижение целей урока, разрабатывает план урока (</a:t>
            </a:r>
            <a:r>
              <a:rPr lang="ru-RU" sz="2000" b="1" i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обычно, это интерактивные упражнения и задания, в ходе выполнения которых студент изучает материал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). Основными составляющими интерактивных уроков являются интерактивные упражнения и задания, которые выполняются студентами. Важное отличие интерактивных упражнений и заданий  в том, что выполняя их студенты не столько закрепляют, сколько самостоятельно изучают новый материал. </a:t>
            </a:r>
            <a:endParaRPr lang="ru-RU" sz="20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5290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00177" y="332656"/>
            <a:ext cx="4968552" cy="461665"/>
          </a:xfrm>
          <a:prstGeom prst="rect">
            <a:avLst/>
          </a:prstGeom>
          <a:ln w="57150">
            <a:solidFill>
              <a:schemeClr val="accent6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7030A0"/>
                </a:solidFill>
              </a:rPr>
              <a:t>Структура метода обучения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059832" y="1124744"/>
            <a:ext cx="4104456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indent="0" algn="ctr">
              <a:buNone/>
            </a:pPr>
            <a:r>
              <a:rPr lang="ru-RU" dirty="0">
                <a:latin typeface="Arial" charset="0"/>
              </a:rPr>
              <a:t>Деятельность учителя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2987824" y="2204665"/>
            <a:ext cx="4176713" cy="5762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C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>
                <a:latin typeface="Arial" charset="0"/>
              </a:rPr>
              <a:t>Приемы обучения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987824" y="3356794"/>
            <a:ext cx="4176713" cy="5762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dirty="0">
                <a:latin typeface="Arial" charset="0"/>
              </a:rPr>
              <a:t>Средства обучения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987824" y="4524821"/>
            <a:ext cx="4176713" cy="5762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>
                <a:latin typeface="Arial" charset="0"/>
              </a:rPr>
              <a:t>Деятельность ученика</a:t>
            </a:r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756891" y="2492375"/>
            <a:ext cx="1366837" cy="1079500"/>
          </a:xfrm>
          <a:prstGeom prst="ellipse">
            <a:avLst/>
          </a:prstGeom>
          <a:solidFill>
            <a:srgbClr val="92D050"/>
          </a:solidFill>
          <a:ln w="38100">
            <a:solidFill>
              <a:srgbClr val="C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dirty="0">
                <a:latin typeface="Arial" charset="0"/>
              </a:rPr>
              <a:t>Цель </a:t>
            </a:r>
          </a:p>
          <a:p>
            <a:pPr algn="ctr"/>
            <a:r>
              <a:rPr lang="ru-RU" dirty="0">
                <a:latin typeface="Arial" charset="0"/>
              </a:rPr>
              <a:t>учителя</a:t>
            </a:r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7668344" y="2637036"/>
            <a:ext cx="1368425" cy="1008062"/>
          </a:xfrm>
          <a:prstGeom prst="ellipse">
            <a:avLst/>
          </a:prstGeom>
          <a:solidFill>
            <a:srgbClr val="92D05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dirty="0">
                <a:latin typeface="Arial" charset="0"/>
              </a:rPr>
              <a:t>Цель </a:t>
            </a:r>
          </a:p>
          <a:p>
            <a:pPr algn="ctr"/>
            <a:r>
              <a:rPr lang="ru-RU" dirty="0">
                <a:latin typeface="Arial" charset="0"/>
              </a:rPr>
              <a:t>ученика</a:t>
            </a:r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V="1">
            <a:off x="1979712" y="1700808"/>
            <a:ext cx="1009303" cy="93622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2" name="Line 18"/>
          <p:cNvSpPr>
            <a:spLocks noChangeShapeType="1"/>
          </p:cNvSpPr>
          <p:nvPr/>
        </p:nvSpPr>
        <p:spPr bwMode="auto">
          <a:xfrm flipV="1">
            <a:off x="2195736" y="2492796"/>
            <a:ext cx="720724" cy="28813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>
            <a:off x="1979712" y="3455243"/>
            <a:ext cx="972966" cy="189681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>
            <a:off x="1691680" y="3645098"/>
            <a:ext cx="1152128" cy="86402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7164538" y="1556965"/>
            <a:ext cx="1151878" cy="107989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7164538" y="2636862"/>
            <a:ext cx="611037" cy="14406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 flipV="1">
            <a:off x="7164538" y="3455243"/>
            <a:ext cx="611037" cy="33379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" name="Line 21"/>
          <p:cNvSpPr>
            <a:spLocks noChangeShapeType="1"/>
          </p:cNvSpPr>
          <p:nvPr/>
        </p:nvSpPr>
        <p:spPr bwMode="auto">
          <a:xfrm flipH="1">
            <a:off x="7164536" y="3645098"/>
            <a:ext cx="935855" cy="115215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24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27584" y="2492896"/>
            <a:ext cx="2304256" cy="1224136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34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>
              <a:defRPr/>
            </a:pPr>
            <a:r>
              <a:rPr lang="ru-RU" sz="3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Функции </a:t>
            </a:r>
            <a:endParaRPr lang="ru-RU" sz="3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>
              <a:defRPr/>
            </a:pPr>
            <a:r>
              <a:rPr lang="ru-RU" sz="3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МО</a:t>
            </a:r>
          </a:p>
          <a:p>
            <a:pPr algn="ctr"/>
            <a:endParaRPr lang="ru-RU" sz="3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AutoShape 5"/>
          <p:cNvSpPr>
            <a:spLocks noGrp="1" noChangeArrowheads="1"/>
          </p:cNvSpPr>
          <p:nvPr>
            <p:ph idx="1"/>
          </p:nvPr>
        </p:nvSpPr>
        <p:spPr bwMode="auto">
          <a:xfrm>
            <a:off x="3167658" y="2514302"/>
            <a:ext cx="936104" cy="1224062"/>
          </a:xfrm>
          <a:custGeom>
            <a:avLst/>
            <a:gdLst>
              <a:gd name="T0" fmla="*/ 33096705 w 21600"/>
              <a:gd name="T1" fmla="*/ 0 h 21600"/>
              <a:gd name="T2" fmla="*/ 0 w 21600"/>
              <a:gd name="T3" fmla="*/ 211706314 h 21600"/>
              <a:gd name="T4" fmla="*/ 33096705 w 21600"/>
              <a:gd name="T5" fmla="*/ 423412629 h 21600"/>
              <a:gd name="T6" fmla="*/ 44128936 w 21600"/>
              <a:gd name="T7" fmla="*/ 211706314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7030A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283968" y="1124744"/>
            <a:ext cx="4690740" cy="4530725"/>
          </a:xfrm>
          <a:prstGeom prst="rect">
            <a:avLst/>
          </a:prstGeom>
          <a:ln w="57150">
            <a:solidFill>
              <a:schemeClr val="accent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defRPr/>
            </a:pPr>
            <a:endParaRPr lang="ru-RU" sz="3600" dirty="0" smtClean="0"/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ru-RU" sz="3600" dirty="0" smtClean="0">
                <a:solidFill>
                  <a:srgbClr val="7030A0"/>
                </a:solidFill>
              </a:rPr>
              <a:t>Обучающая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ru-RU" sz="3600" dirty="0" smtClean="0">
                <a:solidFill>
                  <a:srgbClr val="00B050"/>
                </a:solidFill>
              </a:rPr>
              <a:t>Развивающая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ru-RU" sz="3600" dirty="0" smtClean="0">
                <a:solidFill>
                  <a:srgbClr val="0070C0"/>
                </a:solidFill>
              </a:rPr>
              <a:t>Воспитывающая</a:t>
            </a:r>
            <a:r>
              <a:rPr lang="ru-RU" sz="3600" dirty="0" smtClean="0"/>
              <a:t> 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ru-RU" sz="3600" dirty="0" smtClean="0">
                <a:solidFill>
                  <a:srgbClr val="FF0000"/>
                </a:solidFill>
              </a:rPr>
              <a:t>Побуждающая</a:t>
            </a:r>
            <a:r>
              <a:rPr lang="ru-RU" sz="3600" dirty="0" smtClean="0"/>
              <a:t> 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defRPr/>
            </a:pPr>
            <a:r>
              <a:rPr lang="ru-RU" sz="3600" dirty="0" smtClean="0">
                <a:solidFill>
                  <a:srgbClr val="C00000"/>
                </a:solidFill>
              </a:rPr>
              <a:t>Контрольная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ru-RU" sz="3600" dirty="0" smtClean="0"/>
          </a:p>
        </p:txBody>
      </p:sp>
      <p:sp>
        <p:nvSpPr>
          <p:cNvPr id="8" name="Прямоугольник 7"/>
          <p:cNvSpPr/>
          <p:nvPr/>
        </p:nvSpPr>
        <p:spPr>
          <a:xfrm>
            <a:off x="1115616" y="5840222"/>
            <a:ext cx="7128792" cy="757130"/>
          </a:xfrm>
          <a:prstGeom prst="rect">
            <a:avLst/>
          </a:prstGeom>
          <a:ln w="57150"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 wrap="square">
            <a:spAutoFit/>
          </a:bodyPr>
          <a:lstStyle/>
          <a:p>
            <a:pPr marL="609600" indent="-609600" algn="ctr">
              <a:lnSpc>
                <a:spcPct val="90000"/>
              </a:lnSpc>
              <a:defRPr/>
            </a:pPr>
            <a:r>
              <a:rPr lang="ru-RU" sz="2400" b="1" i="1" dirty="0"/>
              <a:t>МО в разной степени пригодны для выполнения этих функций</a:t>
            </a:r>
          </a:p>
        </p:txBody>
      </p:sp>
    </p:spTree>
    <p:extLst>
      <p:ext uri="{BB962C8B-B14F-4D97-AF65-F5344CB8AC3E}">
        <p14:creationId xmlns:p14="http://schemas.microsoft.com/office/powerpoint/2010/main" val="162490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871315" y="1412776"/>
            <a:ext cx="892373" cy="57606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71801" y="188640"/>
            <a:ext cx="5112568" cy="504056"/>
          </a:xfrm>
          <a:ln w="571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Эффективность МО</a:t>
            </a: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871315" y="1484312"/>
            <a:ext cx="977106" cy="72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ru-RU" sz="3200" b="1" smtClean="0"/>
              <a:t>МО</a:t>
            </a:r>
            <a:endParaRPr lang="ru-RU" sz="3200" b="1" dirty="0" smtClean="0"/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>
          <a:xfrm>
            <a:off x="3419872" y="818226"/>
            <a:ext cx="5557464" cy="2341229"/>
          </a:xfrm>
          <a:prstGeom prst="rect">
            <a:avLst/>
          </a:prstGeom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ru-RU" b="1" dirty="0" smtClean="0">
                <a:solidFill>
                  <a:srgbClr val="7030A0"/>
                </a:solidFill>
              </a:rPr>
              <a:t>Задачи формирования: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dirty="0" smtClean="0"/>
              <a:t>1. Кругозора, мировоззрения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dirty="0" smtClean="0"/>
              <a:t>2. Теоретических знаний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dirty="0" smtClean="0"/>
              <a:t>3. Практических, трудовых умений,  умений  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dirty="0" smtClean="0"/>
              <a:t>    систематизировать и применять знания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dirty="0" smtClean="0"/>
              <a:t>4. Умения учиться, навыков самообразования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ru-RU" dirty="0" smtClean="0"/>
              <a:t>5. Навыков упрочения знаний , умений</a:t>
            </a:r>
          </a:p>
          <a:p>
            <a:pPr marL="533400" indent="-533400">
              <a:lnSpc>
                <a:spcPct val="80000"/>
              </a:lnSpc>
              <a:defRPr/>
            </a:pPr>
            <a:endParaRPr lang="ru-RU" dirty="0" smtClean="0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539552" y="4365278"/>
            <a:ext cx="4103886" cy="2304057"/>
          </a:xfrm>
          <a:prstGeom prst="rect">
            <a:avLst/>
          </a:prstGeom>
          <a:noFill/>
          <a:ln w="57150">
            <a:solidFill>
              <a:srgbClr val="00B050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ru-RU" b="1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Побуждают к :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1. Продуктивному </a:t>
            </a:r>
            <a:r>
              <a:rPr lang="ru-RU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мышлению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2. Применению </a:t>
            </a:r>
            <a:r>
              <a:rPr lang="ru-RU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полученных ЗУ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3. Проявлению </a:t>
            </a:r>
            <a:r>
              <a:rPr lang="ru-RU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инициативы, </a:t>
            </a: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 самостоятельности  </a:t>
            </a: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4. Соревнованию коллективному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 сотрудничеству</a:t>
            </a: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AutoNum type="arabicPeriod"/>
              <a:defRPr/>
            </a:pP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4872061" y="4365278"/>
            <a:ext cx="4105275" cy="2304057"/>
          </a:xfrm>
          <a:prstGeom prst="rect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ru-RU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Задачи развития: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1. Мышления</a:t>
            </a: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2. Познавательного </a:t>
            </a:r>
            <a:r>
              <a:rPr lang="ru-RU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интереса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3. Активности</a:t>
            </a: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4. Памяти</a:t>
            </a: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5. Воли</a:t>
            </a: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6. Способности </a:t>
            </a:r>
            <a:r>
              <a:rPr lang="ru-RU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выражать мысли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ru-RU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7. Эмоций</a:t>
            </a: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AutoNum type="arabicPeriod"/>
              <a:defRPr/>
            </a:pP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endParaRPr lang="ru-RU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8" name="Line 16"/>
          <p:cNvSpPr>
            <a:spLocks noChangeShapeType="1"/>
          </p:cNvSpPr>
          <p:nvPr/>
        </p:nvSpPr>
        <p:spPr bwMode="auto">
          <a:xfrm>
            <a:off x="1317501" y="2060848"/>
            <a:ext cx="530920" cy="223224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1848421" y="1844672"/>
            <a:ext cx="1571451" cy="1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1763688" y="2060848"/>
            <a:ext cx="3042041" cy="2236679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28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695" y="624110"/>
            <a:ext cx="6698705" cy="572642"/>
          </a:xfrm>
          <a:ln w="57150">
            <a:solidFill>
              <a:schemeClr val="accent4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r>
              <a:rPr lang="ru-RU" sz="2800" b="1" dirty="0" smtClean="0"/>
              <a:t>Классификация методов обучения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19672" y="1412776"/>
            <a:ext cx="7198800" cy="5184576"/>
          </a:xfrm>
          <a:ln w="762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0070C0"/>
                </a:solidFill>
              </a:rPr>
              <a:t>По характеру познавательной деятельности: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/>
              <a:t>•  объяснительно-иллюстративные (рассказ, лекция, беседа, демонстрация и т.д.);</a:t>
            </a:r>
            <a:br>
              <a:rPr lang="ru-RU" dirty="0" smtClean="0"/>
            </a:br>
            <a:r>
              <a:rPr lang="ru-RU" dirty="0" smtClean="0"/>
              <a:t>•  репродуктивные (решение задач, повторение опытов и т.д.);</a:t>
            </a:r>
            <a:br>
              <a:rPr lang="ru-RU" dirty="0" smtClean="0"/>
            </a:br>
            <a:r>
              <a:rPr lang="ru-RU" dirty="0" smtClean="0"/>
              <a:t>•  проблемные ( проблемные задачи, познавательные задачи и т.д.);</a:t>
            </a:r>
            <a:br>
              <a:rPr lang="ru-RU" dirty="0" smtClean="0"/>
            </a:br>
            <a:r>
              <a:rPr lang="ru-RU" dirty="0" smtClean="0"/>
              <a:t>•  частично-поисковые – эвристические;</a:t>
            </a:r>
            <a:br>
              <a:rPr lang="ru-RU" dirty="0" smtClean="0"/>
            </a:br>
            <a:r>
              <a:rPr lang="ru-RU" dirty="0" smtClean="0"/>
              <a:t>•  исследовательские.</a:t>
            </a:r>
          </a:p>
          <a:p>
            <a:r>
              <a:rPr lang="ru-RU" b="1" dirty="0">
                <a:solidFill>
                  <a:srgbClr val="0070C0"/>
                </a:solidFill>
              </a:rPr>
              <a:t>По компонентам деятельности</a:t>
            </a:r>
            <a:r>
              <a:rPr lang="ru-RU" dirty="0">
                <a:solidFill>
                  <a:srgbClr val="0070C0"/>
                </a:solidFill>
              </a:rPr>
              <a:t>:</a:t>
            </a:r>
          </a:p>
          <a:p>
            <a:pPr>
              <a:buNone/>
            </a:pPr>
            <a:r>
              <a:rPr lang="ru-RU" dirty="0"/>
              <a:t>    •  организационно-действенному – методы организации и осуществления учебно-познавательной деятельности;</a:t>
            </a:r>
            <a:br>
              <a:rPr lang="ru-RU" dirty="0"/>
            </a:br>
            <a:r>
              <a:rPr lang="ru-RU" dirty="0"/>
              <a:t>•  стимулирующему – методы стимулирования и мотивации учебно-познавательной деятельности;</a:t>
            </a:r>
            <a:br>
              <a:rPr lang="ru-RU" dirty="0"/>
            </a:br>
            <a:r>
              <a:rPr lang="ru-RU" dirty="0"/>
              <a:t>•  контрольно-оценочному – методы контроля и самоконтроля эффективности учебно-познавательной деятельности.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3767" y="404664"/>
            <a:ext cx="6050633" cy="500634"/>
          </a:xfrm>
          <a:ln w="57150">
            <a:solidFill>
              <a:srgbClr val="99FF66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normAutofit/>
          </a:bodyPr>
          <a:lstStyle/>
          <a:p>
            <a:r>
              <a:rPr lang="ru-RU" sz="2400" b="1" dirty="0" smtClean="0"/>
              <a:t>Классификация методов обучения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43608" y="1268760"/>
            <a:ext cx="7776863" cy="5400600"/>
          </a:xfrm>
          <a:ln w="76200"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Autofit/>
          </a:bodyPr>
          <a:lstStyle/>
          <a:p>
            <a:r>
              <a:rPr lang="ru-RU" sz="2000" b="1" u="sng" dirty="0" smtClean="0">
                <a:solidFill>
                  <a:srgbClr val="7030A0"/>
                </a:solidFill>
              </a:rPr>
              <a:t>По дидактическим целям</a:t>
            </a:r>
            <a:r>
              <a:rPr lang="ru-RU" sz="2000" dirty="0" smtClean="0">
                <a:solidFill>
                  <a:srgbClr val="7030A0"/>
                </a:solidFill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/>
              <a:t>методы изучения новых знаний, 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/>
              <a:t>методы закрепления знаний, 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/>
              <a:t>методы контроля.</a:t>
            </a:r>
          </a:p>
          <a:p>
            <a:r>
              <a:rPr lang="ru-RU" sz="2000" b="1" u="sng" dirty="0">
                <a:solidFill>
                  <a:srgbClr val="7030A0"/>
                </a:solidFill>
              </a:rPr>
              <a:t>По способам изложения учебного материала</a:t>
            </a:r>
            <a:r>
              <a:rPr lang="ru-RU" sz="2000" dirty="0">
                <a:solidFill>
                  <a:srgbClr val="7030A0"/>
                </a:solidFill>
              </a:rPr>
              <a:t>:</a:t>
            </a:r>
          </a:p>
          <a:p>
            <a:pPr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/>
              <a:t>монологические </a:t>
            </a:r>
            <a:r>
              <a:rPr lang="ru-RU" sz="2000" dirty="0"/>
              <a:t>- информационно-сообщающие (рассказ, лекция, объяснение</a:t>
            </a:r>
            <a:r>
              <a:rPr lang="ru-RU" sz="2000" dirty="0" smtClean="0"/>
              <a:t>);</a:t>
            </a:r>
            <a:endParaRPr lang="en-US" sz="2000" dirty="0" smtClean="0"/>
          </a:p>
          <a:p>
            <a:pPr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/>
              <a:t>диалогические </a:t>
            </a:r>
            <a:r>
              <a:rPr lang="ru-RU" sz="2000" dirty="0"/>
              <a:t>(проблемное изложение, беседа, диспут).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По источникам передачи знаний:</a:t>
            </a:r>
          </a:p>
          <a:p>
            <a:pPr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/>
              <a:t>словесные</a:t>
            </a:r>
            <a:r>
              <a:rPr lang="ru-RU" sz="2000" dirty="0"/>
              <a:t>: рассказ, лекция, беседа, инструктаж, </a:t>
            </a:r>
            <a:r>
              <a:rPr lang="ru-RU" sz="2000" dirty="0" smtClean="0"/>
              <a:t>дискуссия;</a:t>
            </a:r>
            <a:endParaRPr lang="en-US" sz="2000" dirty="0" smtClean="0"/>
          </a:p>
          <a:p>
            <a:pPr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/>
              <a:t>наглядные</a:t>
            </a:r>
            <a:r>
              <a:rPr lang="ru-RU" sz="2000" dirty="0"/>
              <a:t>: демонстрация, иллюстрация, схема, показ материала, </a:t>
            </a:r>
            <a:r>
              <a:rPr lang="ru-RU" sz="2000" dirty="0" smtClean="0"/>
              <a:t>график;</a:t>
            </a:r>
            <a:endParaRPr lang="en-US" sz="2000" dirty="0" smtClean="0"/>
          </a:p>
          <a:p>
            <a:pPr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/>
              <a:t>практические</a:t>
            </a:r>
            <a:r>
              <a:rPr lang="ru-RU" sz="2000" dirty="0"/>
              <a:t>: упражнение, лабораторная работа, </a:t>
            </a:r>
            <a:r>
              <a:rPr lang="ru-RU" sz="2000" dirty="0" smtClean="0"/>
              <a:t>практикум</a:t>
            </a:r>
            <a:r>
              <a:rPr lang="en-US" sz="2000" dirty="0"/>
              <a:t>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uslide.ru/images/2/8921/960/img5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48680"/>
            <a:ext cx="7355598" cy="6056758"/>
          </a:xfrm>
          <a:prstGeom prst="rect">
            <a:avLst/>
          </a:prstGeom>
          <a:noFill/>
          <a:ln w="76200"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slop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95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91680" y="764704"/>
            <a:ext cx="7056783" cy="5616624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4" name="Picture 2" descr="http://uslide.ru/images/2/8921/960/img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764704"/>
            <a:ext cx="7272808" cy="5760640"/>
          </a:xfrm>
          <a:prstGeom prst="rect">
            <a:avLst/>
          </a:prstGeom>
          <a:noFill/>
          <a:ln w="762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70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uslide.ru/images/2/8921/960/img9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548680"/>
            <a:ext cx="7597436" cy="5976663"/>
          </a:xfrm>
          <a:prstGeom prst="rect">
            <a:avLst/>
          </a:prstGeom>
          <a:noFill/>
          <a:ln w="76200"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03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 descr="http://uslide.ru/images/2/8921/960/img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48680"/>
            <a:ext cx="7417296" cy="5887009"/>
          </a:xfrm>
          <a:prstGeom prst="rect">
            <a:avLst/>
          </a:prstGeom>
          <a:noFill/>
          <a:ln w="76200">
            <a:solidFill>
              <a:srgbClr val="92D050"/>
            </a:solidFill>
          </a:ln>
          <a:scene3d>
            <a:camera prst="orthographicFron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10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uslide.ru/images/2/8921/960/img1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76672"/>
            <a:ext cx="7459050" cy="5832648"/>
          </a:xfrm>
          <a:prstGeom prst="rect">
            <a:avLst/>
          </a:prstGeom>
          <a:noFill/>
          <a:ln w="762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45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uslide.ru/images/2/8921/960/img16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752" y="260648"/>
            <a:ext cx="7392820" cy="6336704"/>
          </a:xfrm>
          <a:prstGeom prst="rect">
            <a:avLst/>
          </a:prstGeom>
          <a:noFill/>
          <a:ln w="76200"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slop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85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1760" y="584121"/>
            <a:ext cx="6589199" cy="1280890"/>
          </a:xfrm>
        </p:spPr>
        <p:txBody>
          <a:bodyPr/>
          <a:lstStyle/>
          <a:p>
            <a:pPr algn="ctr"/>
            <a:r>
              <a:rPr lang="ru-RU" b="1" dirty="0" smtClean="0">
                <a:solidFill>
                  <a:srgbClr val="00B050"/>
                </a:solidFill>
              </a:rPr>
              <a:t>От чего зависит выбор метода?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2408974" y="1844824"/>
            <a:ext cx="6591985" cy="4353686"/>
          </a:xfrm>
          <a:ln w="76200">
            <a:solidFill>
              <a:srgbClr val="CCECFF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endParaRPr lang="ru-RU" b="1" dirty="0" smtClean="0">
              <a:solidFill>
                <a:srgbClr val="C00000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ru-RU" sz="2400" b="1" dirty="0" smtClean="0">
                <a:solidFill>
                  <a:srgbClr val="C00000"/>
                </a:solidFill>
              </a:rPr>
              <a:t>От цели урока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 smtClean="0">
                <a:solidFill>
                  <a:srgbClr val="7030A0"/>
                </a:solidFill>
              </a:rPr>
              <a:t>От этапа урока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 smtClean="0">
                <a:solidFill>
                  <a:srgbClr val="0070C0"/>
                </a:solidFill>
              </a:rPr>
              <a:t>От содержания обучения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 smtClean="0">
                <a:solidFill>
                  <a:srgbClr val="FF0000"/>
                </a:solidFill>
              </a:rPr>
              <a:t>От местных условий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 smtClean="0">
                <a:solidFill>
                  <a:srgbClr val="00B050"/>
                </a:solidFill>
              </a:rPr>
              <a:t>От наличия учебных пособий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 smtClean="0">
                <a:solidFill>
                  <a:srgbClr val="00B0F0"/>
                </a:solidFill>
              </a:rPr>
              <a:t>От личности учителя  </a:t>
            </a:r>
            <a:r>
              <a:rPr lang="ru-RU" sz="2400" b="1" dirty="0" smtClean="0">
                <a:solidFill>
                  <a:srgbClr val="002060"/>
                </a:solidFill>
              </a:rPr>
              <a:t>и т.д.</a:t>
            </a:r>
            <a:endParaRPr lang="ru-RU" sz="2400" b="1" dirty="0">
              <a:solidFill>
                <a:srgbClr val="002060"/>
              </a:solidFill>
            </a:endParaRPr>
          </a:p>
        </p:txBody>
      </p:sp>
      <p:pic>
        <p:nvPicPr>
          <p:cNvPr id="8" name="Picture 5" descr="MCj0078711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8406" y="1850644"/>
            <a:ext cx="1622066" cy="393430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uslide.ru/images/2/8921/960/img25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752" y="188640"/>
            <a:ext cx="7488831" cy="6192688"/>
          </a:xfrm>
          <a:prstGeom prst="rect">
            <a:avLst/>
          </a:prstGeom>
          <a:noFill/>
          <a:ln w="762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33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5656" y="404664"/>
            <a:ext cx="7416823" cy="1152128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 smtClean="0">
                <a:solidFill>
                  <a:srgbClr val="00B050"/>
                </a:solidFill>
              </a:rPr>
              <a:t>Объяснительно-иллюстративный</a:t>
            </a:r>
            <a:r>
              <a:rPr lang="ru-RU" b="1" dirty="0" smtClean="0">
                <a:solidFill>
                  <a:srgbClr val="00B050"/>
                </a:solidFill>
              </a:rPr>
              <a:t> </a:t>
            </a:r>
            <a:r>
              <a:rPr lang="ru-RU" sz="2800" b="1" dirty="0" smtClean="0">
                <a:solidFill>
                  <a:srgbClr val="00B050"/>
                </a:solidFill>
              </a:rPr>
              <a:t>метод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03648" y="2132856"/>
            <a:ext cx="7632848" cy="4031704"/>
          </a:xfrm>
          <a:ln w="7620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>
            <a:normAutofit/>
          </a:bodyPr>
          <a:lstStyle/>
          <a:p>
            <a:r>
              <a:rPr lang="ru-RU" sz="2400" dirty="0" smtClean="0"/>
              <a:t>заключается в передаче готовой информации различными способами:</a:t>
            </a:r>
          </a:p>
          <a:p>
            <a:r>
              <a:rPr lang="ru-RU" sz="2400" dirty="0" smtClean="0"/>
              <a:t>   устное слово учителя</a:t>
            </a:r>
            <a:r>
              <a:rPr lang="ru-RU" sz="2400" dirty="0"/>
              <a:t>;</a:t>
            </a:r>
            <a:endParaRPr lang="ru-RU" sz="2400" dirty="0" smtClean="0"/>
          </a:p>
          <a:p>
            <a:r>
              <a:rPr lang="ru-RU" sz="2400" dirty="0" smtClean="0"/>
              <a:t>   печатное слово;</a:t>
            </a:r>
          </a:p>
          <a:p>
            <a:r>
              <a:rPr lang="ru-RU" sz="2400" dirty="0" smtClean="0"/>
              <a:t>   наглядные средства.</a:t>
            </a:r>
            <a:endParaRPr lang="ru-RU" sz="24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9685" y="2974746"/>
            <a:ext cx="3160787" cy="3046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9973" y="476672"/>
            <a:ext cx="7344816" cy="1368151"/>
          </a:xfrm>
          <a:ln w="57150">
            <a:solidFill>
              <a:schemeClr val="accent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>
            <a:noAutofit/>
          </a:bodyPr>
          <a:lstStyle/>
          <a:p>
            <a:pPr algn="ctr"/>
            <a:r>
              <a:rPr lang="ru-RU" sz="2800" b="1" dirty="0" smtClean="0">
                <a:solidFill>
                  <a:srgbClr val="002060"/>
                </a:solidFill>
              </a:rPr>
              <a:t>Примеры использования объяснительно-иллюстративного метода: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23728" y="2420888"/>
            <a:ext cx="5976664" cy="3456384"/>
          </a:xfrm>
          <a:ln w="57150">
            <a:solidFill>
              <a:srgbClr val="92D05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noAutofit/>
          </a:bodyPr>
          <a:lstStyle/>
          <a:p>
            <a:r>
              <a:rPr lang="ru-RU" sz="2800" dirty="0" smtClean="0"/>
              <a:t>Сообщение исторических фактов;</a:t>
            </a:r>
          </a:p>
          <a:p>
            <a:r>
              <a:rPr lang="ru-RU" sz="2800" dirty="0" smtClean="0"/>
              <a:t>Изложение выводов;</a:t>
            </a:r>
          </a:p>
          <a:p>
            <a:r>
              <a:rPr lang="ru-RU" sz="2800" dirty="0" smtClean="0"/>
              <a:t>Доказательство тех или иных положений преподавателем.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260648"/>
            <a:ext cx="6986736" cy="1368152"/>
          </a:xfrm>
          <a:ln w="57150"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>
            <a:noAutofit/>
          </a:bodyPr>
          <a:lstStyle/>
          <a:p>
            <a:pPr algn="ctr"/>
            <a:r>
              <a:rPr lang="ru-RU" sz="2800" b="1" dirty="0" smtClean="0"/>
              <a:t>Достоинства и недостатки объяснительно-иллюстративного метода</a:t>
            </a:r>
            <a:endParaRPr lang="ru-RU" sz="2800" b="1" dirty="0"/>
          </a:p>
        </p:txBody>
      </p:sp>
      <p:sp>
        <p:nvSpPr>
          <p:cNvPr id="5" name="Содержимое 4"/>
          <p:cNvSpPr>
            <a:spLocks noGrp="1"/>
          </p:cNvSpPr>
          <p:nvPr>
            <p:ph sz="half" idx="1"/>
          </p:nvPr>
        </p:nvSpPr>
        <p:spPr>
          <a:xfrm>
            <a:off x="698644" y="1858471"/>
            <a:ext cx="5904656" cy="4032448"/>
          </a:xfrm>
          <a:ln w="76200">
            <a:solidFill>
              <a:srgbClr val="99FF66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endParaRPr lang="ru-RU" sz="2000" dirty="0" smtClean="0"/>
          </a:p>
          <a:p>
            <a:r>
              <a:rPr lang="ru-RU" sz="2000" b="1" u="sng" dirty="0" smtClean="0">
                <a:solidFill>
                  <a:srgbClr val="7030A0"/>
                </a:solidFill>
              </a:rPr>
              <a:t>Достоинство</a:t>
            </a:r>
            <a:r>
              <a:rPr lang="ru-RU" sz="2000" b="1" dirty="0" smtClean="0">
                <a:solidFill>
                  <a:srgbClr val="7030A0"/>
                </a:solidFill>
              </a:rPr>
              <a:t>:</a:t>
            </a:r>
            <a:r>
              <a:rPr lang="ru-RU" sz="2000" dirty="0" smtClean="0"/>
              <a:t> экономичен по времени, можно выдать большое количество информации.</a:t>
            </a:r>
          </a:p>
          <a:p>
            <a:pPr marL="0" indent="0">
              <a:buNone/>
            </a:pPr>
            <a:endParaRPr lang="ru-RU" sz="2000" dirty="0" smtClean="0"/>
          </a:p>
          <a:p>
            <a:pPr>
              <a:spcBef>
                <a:spcPts val="0"/>
              </a:spcBef>
            </a:pPr>
            <a:r>
              <a:rPr lang="ru-RU" sz="2000" b="1" u="sng" dirty="0" smtClean="0">
                <a:solidFill>
                  <a:schemeClr val="tx1"/>
                </a:solidFill>
              </a:rPr>
              <a:t>Недостатки</a:t>
            </a:r>
            <a:r>
              <a:rPr lang="ru-RU" sz="2000" b="1" dirty="0" smtClean="0">
                <a:solidFill>
                  <a:schemeClr val="tx1"/>
                </a:solidFill>
              </a:rPr>
              <a:t>:</a:t>
            </a:r>
            <a:r>
              <a:rPr lang="ru-RU" sz="2000" dirty="0" smtClean="0"/>
              <a:t> учащиеся находятся в стадии отслеживания того, что сообщает учитель.  </a:t>
            </a:r>
          </a:p>
          <a:p>
            <a:pPr marL="0" indent="0" algn="ctr">
              <a:spcBef>
                <a:spcPts val="0"/>
              </a:spcBef>
              <a:buNone/>
            </a:pPr>
            <a:endParaRPr lang="ru-RU" sz="2400" b="1" dirty="0" smtClean="0">
              <a:solidFill>
                <a:srgbClr val="FF0000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</a:rPr>
              <a:t>нет развития мышления учащихся. 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2348880"/>
            <a:ext cx="2174592" cy="2487734"/>
          </a:xfrm>
          <a:prstGeom prst="rect">
            <a:avLst/>
          </a:prstGeom>
          <a:noFill/>
          <a:ln w="57150">
            <a:solidFill>
              <a:srgbClr val="FFC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14300" prst="hardEdge"/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644650"/>
          </a:xfrm>
          <a:ln w="57150">
            <a:solidFill>
              <a:schemeClr val="accent1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ru-RU" sz="2800" b="1" dirty="0" smtClean="0"/>
              <a:t>Репродуктивный метод обучения</a:t>
            </a:r>
            <a:endParaRPr lang="ru-RU" sz="2800" b="1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>
          <a:xfrm>
            <a:off x="755576" y="1672208"/>
            <a:ext cx="5544616" cy="4349080"/>
          </a:xfrm>
          <a:ln w="76200">
            <a:solidFill>
              <a:schemeClr val="accent5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r>
              <a:rPr lang="ru-RU" sz="2400" dirty="0" smtClean="0"/>
              <a:t>Заключается в воспроизведении и повторении того, что сделано преподавателем.</a:t>
            </a:r>
          </a:p>
          <a:p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r>
              <a:rPr lang="ru-RU" sz="2400" dirty="0" smtClean="0"/>
              <a:t>Этот метод используется при подготовке учащихся к введению нового и при закреплении новых знаний.</a:t>
            </a:r>
            <a:endParaRPr lang="ru-RU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2216468"/>
            <a:ext cx="2483768" cy="2572618"/>
          </a:xfrm>
          <a:prstGeom prst="rect">
            <a:avLst/>
          </a:prstGeom>
          <a:noFill/>
          <a:ln w="57150">
            <a:solidFill>
              <a:srgbClr val="FF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619673" y="476672"/>
            <a:ext cx="7066038" cy="830997"/>
          </a:xfrm>
          <a:prstGeom prst="rect">
            <a:avLst/>
          </a:prstGeom>
          <a:ln w="57150">
            <a:solidFill>
              <a:srgbClr val="99FFCC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Пример использования репродуктивного </a:t>
            </a:r>
            <a:r>
              <a:rPr lang="ru-RU" sz="2400" b="1" dirty="0" smtClean="0"/>
              <a:t>метода</a:t>
            </a:r>
            <a:endParaRPr lang="ru-RU" sz="24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13402" y="2060848"/>
            <a:ext cx="7776865" cy="3785652"/>
          </a:xfrm>
          <a:prstGeom prst="rect">
            <a:avLst/>
          </a:prstGeom>
          <a:ln w="76200"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r>
              <a:rPr lang="ru-RU" sz="2400" b="1" dirty="0" smtClean="0"/>
              <a:t>     При </a:t>
            </a:r>
            <a:r>
              <a:rPr lang="ru-RU" sz="2400" b="1" dirty="0"/>
              <a:t>закреплении понятия </a:t>
            </a:r>
            <a:r>
              <a:rPr lang="ru-RU" sz="2400" b="1" dirty="0" smtClean="0"/>
              <a:t>«ДИАГНОЗ»</a:t>
            </a:r>
          </a:p>
          <a:p>
            <a:endParaRPr lang="ru-RU" sz="2400" b="1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Спросить, </a:t>
            </a:r>
            <a:r>
              <a:rPr lang="ru-RU" sz="2400" dirty="0" smtClean="0"/>
              <a:t>формулировку понятия «диагноз».</a:t>
            </a:r>
            <a:endParaRPr lang="ru-RU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Предложить вставить пропущенные слова в записанное на слайде определение </a:t>
            </a:r>
            <a:r>
              <a:rPr lang="ru-RU" sz="2400" dirty="0" smtClean="0"/>
              <a:t>«диагноз».</a:t>
            </a:r>
            <a:endParaRPr lang="ru-RU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Спросить, </a:t>
            </a:r>
            <a:r>
              <a:rPr lang="ru-RU" sz="2400" dirty="0" smtClean="0"/>
              <a:t>критерии определения диагноза.</a:t>
            </a:r>
            <a:endParaRPr lang="ru-RU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 smtClean="0"/>
              <a:t>Предложить </a:t>
            </a:r>
            <a:r>
              <a:rPr lang="ru-RU" sz="2400" dirty="0"/>
              <a:t>привести примеры </a:t>
            </a:r>
            <a:r>
              <a:rPr lang="ru-RU" sz="2400" dirty="0" smtClean="0"/>
              <a:t>постановки диагноза исходя из принятых критериев и обосновать.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9094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9712" y="260648"/>
            <a:ext cx="6589200" cy="932682"/>
          </a:xfrm>
          <a:ln w="57150"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/>
          <a:lstStyle/>
          <a:p>
            <a:r>
              <a:rPr lang="ru-RU" b="1" dirty="0" smtClean="0"/>
              <a:t>Проблемное обучение</a:t>
            </a:r>
            <a:endParaRPr lang="ru-RU" b="1" dirty="0"/>
          </a:p>
        </p:txBody>
      </p:sp>
      <p:pic>
        <p:nvPicPr>
          <p:cNvPr id="7" name="Picture 1030" descr="j041514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lum bright="12000"/>
          </a:blip>
          <a:srcRect/>
          <a:stretch>
            <a:fillRect/>
          </a:stretch>
        </p:blipFill>
        <p:spPr bwMode="auto">
          <a:xfrm>
            <a:off x="755576" y="1844824"/>
            <a:ext cx="1924352" cy="3600400"/>
          </a:xfrm>
          <a:prstGeom prst="rect">
            <a:avLst/>
          </a:prstGeom>
          <a:noFill/>
        </p:spPr>
      </p:pic>
      <p:sp>
        <p:nvSpPr>
          <p:cNvPr id="6" name="Содержимое 5"/>
          <p:cNvSpPr>
            <a:spLocks noGrp="1"/>
          </p:cNvSpPr>
          <p:nvPr>
            <p:ph sz="half" idx="2"/>
          </p:nvPr>
        </p:nvSpPr>
        <p:spPr>
          <a:xfrm>
            <a:off x="2987824" y="1905000"/>
            <a:ext cx="5904656" cy="3612232"/>
          </a:xfrm>
          <a:ln w="76200">
            <a:solidFill>
              <a:srgbClr val="92D05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normAutofit/>
          </a:bodyPr>
          <a:lstStyle/>
          <a:p>
            <a:r>
              <a:rPr lang="ru-RU" dirty="0" smtClean="0"/>
              <a:t>Система правил применения приемов учения и преподавания, построенная с учетом логики мыслительных операций (анализа, обобщения и т.д.) и закономерностей поисковой деятельности учащихся.</a:t>
            </a:r>
          </a:p>
          <a:p>
            <a:endParaRPr lang="ru-RU" dirty="0" smtClean="0"/>
          </a:p>
          <a:p>
            <a:r>
              <a:rPr lang="ru-RU" dirty="0" smtClean="0"/>
              <a:t>Поэтому оно более всего обеспечивает развитие мыслительных способностей школьника. 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932682"/>
          </a:xfrm>
          <a:ln w="57150">
            <a:solidFill>
              <a:srgbClr val="7030A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pPr algn="ctr"/>
            <a:r>
              <a:rPr lang="ru-RU" b="1" dirty="0" smtClean="0"/>
              <a:t>Проблемные методы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87352" y="2204864"/>
            <a:ext cx="6347048" cy="3744416"/>
          </a:xfrm>
          <a:ln w="762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Проблемное изложение </a:t>
            </a:r>
            <a:r>
              <a:rPr lang="ru-RU" dirty="0" smtClean="0"/>
              <a:t>– предполагает автономную деятельность учителя, учащиеся находятся в стадии слежения за поиском.</a:t>
            </a:r>
          </a:p>
          <a:p>
            <a:pPr marL="0" indent="0">
              <a:buNone/>
            </a:pPr>
            <a:endParaRPr lang="ru-RU" dirty="0" smtClean="0"/>
          </a:p>
          <a:p>
            <a:r>
              <a:rPr lang="ru-RU" b="1" dirty="0" smtClean="0">
                <a:solidFill>
                  <a:srgbClr val="FF0000"/>
                </a:solidFill>
              </a:rPr>
              <a:t>Частично-поисковый метод </a:t>
            </a:r>
            <a:r>
              <a:rPr lang="ru-RU" b="1" dirty="0" smtClean="0"/>
              <a:t>– </a:t>
            </a:r>
            <a:r>
              <a:rPr lang="ru-RU" dirty="0" smtClean="0"/>
              <a:t>предполагает совместную деятельность учителя и учащихся, но учитель направляет и регулирует эту деятельность.</a:t>
            </a:r>
          </a:p>
          <a:p>
            <a:pPr marL="0" indent="0">
              <a:buNone/>
            </a:pPr>
            <a:endParaRPr lang="ru-RU" dirty="0" smtClean="0"/>
          </a:p>
          <a:p>
            <a:r>
              <a:rPr lang="ru-RU" b="1" dirty="0" smtClean="0">
                <a:solidFill>
                  <a:srgbClr val="FF0000"/>
                </a:solidFill>
              </a:rPr>
              <a:t>Исследовательский метод </a:t>
            </a:r>
            <a:r>
              <a:rPr lang="ru-RU" dirty="0" smtClean="0"/>
              <a:t>– предполагает автономную деятельность учащихся.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1187624" y="476673"/>
            <a:ext cx="7704856" cy="720080"/>
          </a:xfrm>
          <a:ln w="5715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Autofit/>
          </a:bodyPr>
          <a:lstStyle/>
          <a:p>
            <a:pPr algn="ctr"/>
            <a:r>
              <a:rPr lang="ru-RU" sz="2800" b="1" dirty="0" smtClean="0"/>
              <a:t>Приемы создания проблемных ситуаций</a:t>
            </a:r>
            <a:endParaRPr lang="ru-RU" sz="2800" b="1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763688" y="1772816"/>
            <a:ext cx="5792688" cy="3816424"/>
          </a:xfrm>
          <a:ln w="76200">
            <a:solidFill>
              <a:srgbClr val="92D05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rmAutofit/>
          </a:bodyPr>
          <a:lstStyle/>
          <a:p>
            <a:pPr algn="l"/>
            <a:r>
              <a:rPr lang="ru-RU" sz="2400" b="1" i="1" dirty="0" smtClean="0">
                <a:solidFill>
                  <a:srgbClr val="FF0000"/>
                </a:solidFill>
              </a:rPr>
              <a:t>Проблемная ситуация</a:t>
            </a:r>
            <a:r>
              <a:rPr lang="ru-RU" sz="2400" dirty="0" smtClean="0">
                <a:solidFill>
                  <a:srgbClr val="FF000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– это ситуация, вызывающая явно или смутно осознанное затруднение, преодоление которого требует:</a:t>
            </a:r>
          </a:p>
          <a:p>
            <a:pPr algn="l">
              <a:buFontTx/>
              <a:buChar char="-"/>
            </a:pPr>
            <a:r>
              <a:rPr lang="ru-RU" sz="2400" dirty="0" smtClean="0">
                <a:solidFill>
                  <a:srgbClr val="002060"/>
                </a:solidFill>
              </a:rPr>
              <a:t> творческого поиска;</a:t>
            </a:r>
          </a:p>
          <a:p>
            <a:pPr algn="l">
              <a:buFontTx/>
              <a:buChar char="-"/>
            </a:pPr>
            <a:r>
              <a:rPr lang="ru-RU" sz="2400" dirty="0" smtClean="0">
                <a:solidFill>
                  <a:srgbClr val="002060"/>
                </a:solidFill>
              </a:rPr>
              <a:t> новых знаний;</a:t>
            </a:r>
          </a:p>
          <a:p>
            <a:pPr algn="l"/>
            <a:r>
              <a:rPr lang="ru-RU" sz="2400" dirty="0" smtClean="0">
                <a:solidFill>
                  <a:srgbClr val="002060"/>
                </a:solidFill>
              </a:rPr>
              <a:t>- нового способа действий</a:t>
            </a:r>
            <a:r>
              <a:rPr lang="ru-RU" sz="2400" dirty="0" smtClean="0"/>
              <a:t>.</a:t>
            </a:r>
          </a:p>
          <a:p>
            <a:pPr algn="l"/>
            <a:endParaRPr lang="ru-RU" sz="2400" dirty="0"/>
          </a:p>
        </p:txBody>
      </p:sp>
      <p:pic>
        <p:nvPicPr>
          <p:cNvPr id="6" name="Picture 9" descr="GRADUAT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08304" y="2348880"/>
            <a:ext cx="1440160" cy="285127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547664" y="332656"/>
            <a:ext cx="7211144" cy="792088"/>
          </a:xfrm>
          <a:ln w="57150"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rmAutofit/>
          </a:bodyPr>
          <a:lstStyle/>
          <a:p>
            <a:pPr algn="ctr"/>
            <a:r>
              <a:rPr lang="ru-RU" sz="2800" b="1" dirty="0" smtClean="0"/>
              <a:t> Учитель сам четко ставит проблему.</a:t>
            </a:r>
            <a:endParaRPr lang="ru-RU" sz="2800" b="1" dirty="0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1942415" y="2133600"/>
            <a:ext cx="6878057" cy="4463752"/>
          </a:xfrm>
          <a:ln w="76200">
            <a:solidFill>
              <a:srgbClr val="7030A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r>
              <a:rPr lang="ru-RU" sz="2400" b="1" i="1" u="sng" dirty="0" smtClean="0">
                <a:solidFill>
                  <a:srgbClr val="FF0000"/>
                </a:solidFill>
              </a:rPr>
              <a:t>Пример:</a:t>
            </a:r>
            <a:r>
              <a:rPr lang="ru-RU" sz="2400" b="1" i="1" dirty="0" smtClean="0"/>
              <a:t> </a:t>
            </a:r>
            <a:r>
              <a:rPr lang="ru-RU" sz="2400" dirty="0" smtClean="0"/>
              <a:t>Почему стол на трех ножках не качается, а на четырех неустойчив?  </a:t>
            </a:r>
            <a:endParaRPr lang="ru-RU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3861048"/>
            <a:ext cx="1988721" cy="215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3835860"/>
            <a:ext cx="2808468" cy="215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562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7664" y="404664"/>
            <a:ext cx="7416823" cy="1080120"/>
          </a:xfrm>
          <a:ln w="571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>
            <a:normAutofit/>
          </a:bodyPr>
          <a:lstStyle/>
          <a:p>
            <a:pPr algn="ctr"/>
            <a:r>
              <a:rPr lang="ru-RU" sz="2800" b="1" dirty="0" smtClean="0"/>
              <a:t>Приемы обучения </a:t>
            </a:r>
            <a:br>
              <a:rPr lang="ru-RU" sz="2800" b="1" dirty="0" smtClean="0"/>
            </a:br>
            <a:r>
              <a:rPr lang="ru-RU" sz="2800" b="1" dirty="0" smtClean="0"/>
              <a:t>или методические приемы</a:t>
            </a:r>
            <a:endParaRPr lang="ru-RU" sz="28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43608" y="1700808"/>
            <a:ext cx="7704857" cy="4752528"/>
          </a:xfrm>
          <a:ln w="762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Autofit/>
          </a:bodyPr>
          <a:lstStyle/>
          <a:p>
            <a:r>
              <a:rPr lang="ru-RU" sz="2000" dirty="0" smtClean="0"/>
              <a:t>Составной частью методов обучения являются </a:t>
            </a:r>
            <a:r>
              <a:rPr lang="ru-RU" sz="2000" b="1" dirty="0" smtClean="0">
                <a:solidFill>
                  <a:srgbClr val="FF0000"/>
                </a:solidFill>
              </a:rPr>
              <a:t>приемы</a:t>
            </a:r>
            <a:r>
              <a:rPr lang="ru-RU" sz="2000" b="1" dirty="0" smtClean="0"/>
              <a:t> </a:t>
            </a:r>
            <a:r>
              <a:rPr lang="ru-RU" sz="2000" dirty="0" smtClean="0"/>
              <a:t>учебной деятельности учителя и учащихся. </a:t>
            </a:r>
          </a:p>
          <a:p>
            <a:r>
              <a:rPr lang="ru-RU" sz="2000" b="1" dirty="0" smtClean="0">
                <a:solidFill>
                  <a:srgbClr val="FF0000"/>
                </a:solidFill>
                <a:latin typeface="+mj-lt"/>
              </a:rPr>
              <a:t>Прием </a:t>
            </a:r>
            <a:r>
              <a:rPr lang="ru-RU" sz="2000" b="1" dirty="0">
                <a:solidFill>
                  <a:srgbClr val="FF0000"/>
                </a:solidFill>
                <a:latin typeface="+mj-lt"/>
              </a:rPr>
              <a:t>обучения</a:t>
            </a:r>
            <a:r>
              <a:rPr lang="ru-RU" sz="2000" dirty="0">
                <a:solidFill>
                  <a:srgbClr val="FF0000"/>
                </a:solidFill>
                <a:latin typeface="+mj-lt"/>
              </a:rPr>
              <a:t> </a:t>
            </a:r>
            <a:r>
              <a:rPr lang="ru-RU" sz="2000" dirty="0">
                <a:latin typeface="+mj-lt"/>
              </a:rPr>
              <a:t>– составной элемент  метода обучения, </a:t>
            </a:r>
            <a:r>
              <a:rPr lang="ru-RU" sz="2000" dirty="0" smtClean="0">
                <a:latin typeface="+mj-lt"/>
              </a:rPr>
              <a:t>который </a:t>
            </a:r>
            <a:r>
              <a:rPr lang="ru-RU" sz="2000" dirty="0">
                <a:latin typeface="+mj-lt"/>
              </a:rPr>
              <a:t>имеет по отношению к нему частный характер</a:t>
            </a:r>
          </a:p>
          <a:p>
            <a:r>
              <a:rPr lang="ru-RU" sz="2000" b="1" dirty="0" smtClean="0">
                <a:solidFill>
                  <a:srgbClr val="FF0000"/>
                </a:solidFill>
              </a:rPr>
              <a:t>Методические приемы</a:t>
            </a:r>
            <a:r>
              <a:rPr lang="ru-RU" sz="2000" b="1" dirty="0" smtClean="0"/>
              <a:t> </a:t>
            </a:r>
            <a:r>
              <a:rPr lang="ru-RU" sz="2000" dirty="0" smtClean="0"/>
              <a:t>- действия, способы работы, направленные на решение конкретной задачи. За приемами учебной работы скрыты приемы умственной деятельности (анализ и синтез, сравнение и обобщение, доказательство, абстрагирование, конкретизация, выявление существенного, формулирование выводов, понятий, приемы воображения и запоминания).</a:t>
            </a:r>
          </a:p>
          <a:p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188640"/>
            <a:ext cx="7085646" cy="648072"/>
          </a:xfrm>
          <a:ln w="57150"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Autofit/>
          </a:bodyPr>
          <a:lstStyle/>
          <a:p>
            <a:pPr algn="ctr"/>
            <a:r>
              <a:rPr lang="ru-RU" sz="3200" b="1" dirty="0" smtClean="0"/>
              <a:t>Методические приёмы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1124744"/>
            <a:ext cx="7848872" cy="5616624"/>
          </a:xfrm>
          <a:ln w="762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FF0000"/>
                </a:solidFill>
              </a:rPr>
              <a:t>«Проблемная ситуация».</a:t>
            </a:r>
            <a:r>
              <a:rPr lang="ru-RU" sz="1200" dirty="0"/>
              <a:t> </a:t>
            </a:r>
            <a:endParaRPr lang="en-US" sz="1200" dirty="0" smtClean="0"/>
          </a:p>
          <a:p>
            <a:pPr marL="0" indent="0" algn="ctr">
              <a:buNone/>
            </a:pPr>
            <a:r>
              <a:rPr lang="ru-RU" sz="2400" dirty="0" smtClean="0"/>
              <a:t>Данный </a:t>
            </a:r>
            <a:r>
              <a:rPr lang="ru-RU" sz="2400" dirty="0"/>
              <a:t>приём способствует формированию мышления, речи, развивает творческие способности, учит формулировать и отстаивать свою точку зрения. </a:t>
            </a:r>
            <a:endParaRPr lang="ru-RU" sz="2400" dirty="0" smtClean="0"/>
          </a:p>
          <a:p>
            <a:pPr marL="0" indent="0" algn="ctr">
              <a:buNone/>
            </a:pPr>
            <a:r>
              <a:rPr lang="ru-RU" sz="2400" dirty="0" smtClean="0"/>
              <a:t>Проблемная </a:t>
            </a:r>
            <a:r>
              <a:rPr lang="ru-RU" sz="2400" dirty="0"/>
              <a:t>ситуация может возникнуть из затруднения, противоречия или удивления. </a:t>
            </a:r>
            <a:endParaRPr lang="ru-RU" sz="2400" dirty="0" smtClean="0"/>
          </a:p>
          <a:p>
            <a:pPr marL="0" indent="0" algn="ctr">
              <a:buNone/>
            </a:pPr>
            <a:r>
              <a:rPr lang="ru-RU" sz="2400" dirty="0" smtClean="0"/>
              <a:t>Преподаватель </a:t>
            </a:r>
            <a:r>
              <a:rPr lang="ru-RU" sz="2400" dirty="0"/>
              <a:t>создаёт проблемную ситуацию и предлагает </a:t>
            </a:r>
            <a:r>
              <a:rPr lang="ru-RU" sz="2400" dirty="0" smtClean="0"/>
              <a:t>учащимся </a:t>
            </a:r>
            <a:r>
              <a:rPr lang="ru-RU" sz="2400" dirty="0"/>
              <a:t>найти решение этой проблемы. </a:t>
            </a:r>
            <a:endParaRPr lang="ru-RU" sz="2400" dirty="0" smtClean="0"/>
          </a:p>
          <a:p>
            <a:pPr marL="0" indent="0" algn="ctr">
              <a:buNone/>
            </a:pPr>
            <a:r>
              <a:rPr lang="ru-RU" sz="2400" dirty="0" smtClean="0"/>
              <a:t>Приём </a:t>
            </a:r>
            <a:r>
              <a:rPr lang="ru-RU" sz="2400" dirty="0"/>
              <a:t>может быть использован как при обобщении изученного материала, так и при знакомстве с новой темой.</a:t>
            </a:r>
          </a:p>
          <a:p>
            <a:pPr marL="0" indent="0">
              <a:buNone/>
            </a:pPr>
            <a:r>
              <a:rPr lang="ru-RU" sz="600" dirty="0"/>
              <a:t/>
            </a:r>
            <a:br>
              <a:rPr lang="ru-RU" sz="600" dirty="0"/>
            </a:br>
            <a:endParaRPr lang="ru-RU" sz="600" dirty="0"/>
          </a:p>
        </p:txBody>
      </p:sp>
    </p:spTree>
    <p:extLst>
      <p:ext uri="{BB962C8B-B14F-4D97-AF65-F5344CB8AC3E}">
        <p14:creationId xmlns:p14="http://schemas.microsoft.com/office/powerpoint/2010/main" val="272012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5201" y="260648"/>
            <a:ext cx="6589199" cy="1008112"/>
          </a:xfrm>
          <a:ln w="5715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algn="ctr"/>
            <a:r>
              <a:rPr lang="ru-RU" sz="2800" b="1" dirty="0" smtClean="0"/>
              <a:t>Методический приём</a:t>
            </a:r>
            <a:br>
              <a:rPr lang="ru-RU" sz="2800" b="1" dirty="0" smtClean="0"/>
            </a:br>
            <a:r>
              <a:rPr lang="ru-RU" sz="2800" b="1" dirty="0" smtClean="0"/>
              <a:t> «</a:t>
            </a:r>
            <a:r>
              <a:rPr lang="ru-RU" sz="2800" b="1" dirty="0"/>
              <a:t>Лови ошибку».</a:t>
            </a:r>
            <a:r>
              <a:rPr lang="ru-RU" sz="2800" dirty="0"/>
              <a:t> 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1484784"/>
            <a:ext cx="8280920" cy="5184576"/>
          </a:xfrm>
          <a:ln w="762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>
            <a:noAutofit/>
          </a:bodyPr>
          <a:lstStyle/>
          <a:p>
            <a:r>
              <a:rPr lang="ru-RU" sz="2400" dirty="0"/>
              <a:t>Данный приём активизирует внимание учащихся. </a:t>
            </a:r>
            <a:endParaRPr lang="ru-RU" sz="2400" dirty="0" smtClean="0"/>
          </a:p>
          <a:p>
            <a:r>
              <a:rPr lang="ru-RU" sz="2400" dirty="0" smtClean="0"/>
              <a:t>Формирует </a:t>
            </a:r>
            <a:r>
              <a:rPr lang="ru-RU" sz="2400" dirty="0"/>
              <a:t>умение анализировать информацию, применять знания в нестандартной ситуации, критически оценивать полученную информацию. </a:t>
            </a:r>
            <a:endParaRPr lang="ru-RU" sz="2400" dirty="0" smtClean="0"/>
          </a:p>
          <a:p>
            <a:r>
              <a:rPr lang="ru-RU" sz="2400" dirty="0" smtClean="0"/>
              <a:t>Преподаватель </a:t>
            </a:r>
            <a:r>
              <a:rPr lang="ru-RU" sz="2400" dirty="0"/>
              <a:t>предлагает учащимся информацию, содержащую ошибку. Учащиеся ищут ошибку группой, парой или индивидуально, спорят, совещаются. Придя к опредёленному мнению, группа озвучивает свой ответ. Ошибка может быть в </a:t>
            </a:r>
            <a:r>
              <a:rPr lang="ru-RU" sz="2400" dirty="0" smtClean="0"/>
              <a:t>названии, действиях, </a:t>
            </a:r>
            <a:r>
              <a:rPr lang="ru-RU" sz="2400" dirty="0"/>
              <a:t>ответах на вопросы и т.п.</a:t>
            </a:r>
          </a:p>
        </p:txBody>
      </p:sp>
    </p:spTree>
    <p:extLst>
      <p:ext uri="{BB962C8B-B14F-4D97-AF65-F5344CB8AC3E}">
        <p14:creationId xmlns:p14="http://schemas.microsoft.com/office/powerpoint/2010/main" val="310700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9712" y="476672"/>
            <a:ext cx="6589199" cy="1148706"/>
          </a:xfrm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Методический </a:t>
            </a:r>
            <a:r>
              <a:rPr lang="ru-RU" b="1" dirty="0" smtClean="0"/>
              <a:t>приём</a:t>
            </a:r>
            <a:br>
              <a:rPr lang="ru-RU" b="1" dirty="0" smtClean="0"/>
            </a:br>
            <a:r>
              <a:rPr lang="ru-RU" b="1" dirty="0" smtClean="0"/>
              <a:t>«</a:t>
            </a:r>
            <a:r>
              <a:rPr lang="ru-RU" b="1" dirty="0"/>
              <a:t>Да-нет</a:t>
            </a:r>
            <a:r>
              <a:rPr lang="ru-RU" b="1" dirty="0" smtClean="0"/>
              <a:t>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3" y="1844824"/>
            <a:ext cx="7992888" cy="4896544"/>
          </a:xfrm>
          <a:ln w="762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>
            <a:noAutofit/>
          </a:bodyPr>
          <a:lstStyle/>
          <a:p>
            <a:r>
              <a:rPr lang="ru-RU" sz="2400" dirty="0"/>
              <a:t>Приём формирует умение систематизировать материал, связывать разрозненные факты в единую картину, умение слушать и слышать друг друга. </a:t>
            </a:r>
            <a:endParaRPr lang="ru-RU" sz="2400" dirty="0" smtClean="0"/>
          </a:p>
          <a:p>
            <a:r>
              <a:rPr lang="ru-RU" sz="2400" dirty="0" smtClean="0"/>
              <a:t>Данный </a:t>
            </a:r>
            <a:r>
              <a:rPr lang="ru-RU" sz="2400" dirty="0"/>
              <a:t>приём используется при фронтальной работе, для того чтобы быстро провести опрос детей, проверить домашнее задание, понимание темы. </a:t>
            </a:r>
            <a:endParaRPr lang="ru-RU" sz="2400" dirty="0" smtClean="0"/>
          </a:p>
          <a:p>
            <a:r>
              <a:rPr lang="ru-RU" sz="2400" dirty="0" smtClean="0"/>
              <a:t>Педагог </a:t>
            </a:r>
            <a:r>
              <a:rPr lang="ru-RU" sz="2400" dirty="0"/>
              <a:t>задаёт </a:t>
            </a:r>
            <a:r>
              <a:rPr lang="ru-RU" sz="2400" dirty="0" smtClean="0"/>
              <a:t>вопросы</a:t>
            </a:r>
            <a:r>
              <a:rPr lang="ru-RU" sz="2400" dirty="0"/>
              <a:t>, объединённые какой-то темой или из разных областей. </a:t>
            </a:r>
            <a:r>
              <a:rPr lang="ru-RU" sz="2400" dirty="0" smtClean="0"/>
              <a:t>Учащиеся, </a:t>
            </a:r>
            <a:r>
              <a:rPr lang="ru-RU" sz="2400" dirty="0"/>
              <a:t>отвечая на вопросы, используют в своих ответах только два слова </a:t>
            </a:r>
            <a:r>
              <a:rPr lang="ru-RU" sz="2400" b="1" dirty="0">
                <a:solidFill>
                  <a:srgbClr val="FF0000"/>
                </a:solidFill>
              </a:rPr>
              <a:t>«да» и «нет».</a:t>
            </a:r>
          </a:p>
        </p:txBody>
      </p:sp>
    </p:spTree>
    <p:extLst>
      <p:ext uri="{BB962C8B-B14F-4D97-AF65-F5344CB8AC3E}">
        <p14:creationId xmlns:p14="http://schemas.microsoft.com/office/powerpoint/2010/main" val="151693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260648"/>
            <a:ext cx="6589199" cy="1280890"/>
          </a:xfrm>
          <a:ln w="57150"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Методический </a:t>
            </a:r>
            <a:r>
              <a:rPr lang="ru-RU" sz="3200" b="1" dirty="0" smtClean="0"/>
              <a:t>приём</a:t>
            </a:r>
            <a:br>
              <a:rPr lang="ru-RU" sz="3200" b="1" dirty="0" smtClean="0"/>
            </a:br>
            <a:r>
              <a:rPr lang="ru-RU" sz="3200" b="1" dirty="0" smtClean="0"/>
              <a:t>«</a:t>
            </a:r>
            <a:r>
              <a:rPr lang="ru-RU" sz="3200" b="1" dirty="0"/>
              <a:t>Послушай, обсудим»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3648" y="2132856"/>
            <a:ext cx="7240057" cy="3816424"/>
          </a:xfrm>
          <a:ln w="762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 smtClean="0"/>
              <a:t>С </a:t>
            </a:r>
            <a:r>
              <a:rPr lang="ru-RU" sz="2400" dirty="0"/>
              <a:t>помощью этого приёма </a:t>
            </a:r>
            <a:r>
              <a:rPr lang="ru-RU" sz="2400" dirty="0" smtClean="0"/>
              <a:t>учащимся </a:t>
            </a:r>
            <a:r>
              <a:rPr lang="ru-RU" sz="2400" dirty="0"/>
              <a:t>даётся установка на внимательное прослушивание материала и его дальнейшее обсуждение. </a:t>
            </a:r>
            <a:endParaRPr lang="ru-RU" sz="2400" dirty="0" smtClean="0"/>
          </a:p>
          <a:p>
            <a:pPr marL="0" indent="0" algn="ctr">
              <a:buNone/>
            </a:pPr>
            <a:r>
              <a:rPr lang="ru-RU" sz="2400" dirty="0" smtClean="0"/>
              <a:t>Это </a:t>
            </a:r>
            <a:r>
              <a:rPr lang="ru-RU" sz="2400" dirty="0"/>
              <a:t>может быть рассказ </a:t>
            </a:r>
            <a:r>
              <a:rPr lang="ru-RU" sz="2400" dirty="0" smtClean="0"/>
              <a:t>преподавателя, </a:t>
            </a:r>
            <a:r>
              <a:rPr lang="ru-RU" sz="2400" dirty="0"/>
              <a:t>чтение текста, доклад </a:t>
            </a:r>
            <a:r>
              <a:rPr lang="ru-RU" sz="2400" dirty="0" smtClean="0"/>
              <a:t>студента. </a:t>
            </a:r>
          </a:p>
          <a:p>
            <a:pPr marL="0" indent="0" algn="ctr">
              <a:buNone/>
            </a:pPr>
            <a:r>
              <a:rPr lang="ru-RU" sz="2400" dirty="0" smtClean="0"/>
              <a:t>После </a:t>
            </a:r>
            <a:r>
              <a:rPr lang="ru-RU" sz="2400" dirty="0"/>
              <a:t>прослушивания </a:t>
            </a:r>
            <a:r>
              <a:rPr lang="ru-RU" sz="2400" dirty="0" smtClean="0"/>
              <a:t>материала, студентам </a:t>
            </a:r>
            <a:r>
              <a:rPr lang="ru-RU" sz="2400" dirty="0"/>
              <a:t>задаются </a:t>
            </a:r>
            <a:r>
              <a:rPr lang="ru-RU" sz="2400" dirty="0" smtClean="0"/>
              <a:t>вопросы.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4580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07704" y="116632"/>
            <a:ext cx="6480720" cy="504056"/>
          </a:xfrm>
          <a:ln w="571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 fontScale="90000"/>
          </a:bodyPr>
          <a:lstStyle/>
          <a:p>
            <a:pPr algn="ctr"/>
            <a:r>
              <a:rPr lang="ru-RU" sz="2800" b="1" dirty="0" smtClean="0"/>
              <a:t>Методический приём  </a:t>
            </a:r>
            <a:r>
              <a:rPr lang="ru-RU" sz="2800" b="1" dirty="0"/>
              <a:t>«Синквейн»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7624" y="764704"/>
            <a:ext cx="7779651" cy="5976664"/>
          </a:xfrm>
          <a:ln w="7620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r>
              <a:rPr lang="ru-RU" dirty="0"/>
              <a:t> Слово </a:t>
            </a:r>
            <a:r>
              <a:rPr lang="ru-RU" b="1" dirty="0">
                <a:solidFill>
                  <a:srgbClr val="FF0000"/>
                </a:solidFill>
              </a:rPr>
              <a:t>«синквейн» </a:t>
            </a:r>
            <a:r>
              <a:rPr lang="ru-RU" dirty="0"/>
              <a:t>происходит от французского слова «пять» и означает «стихотворение, состоящее из пяти строк». Этот </a:t>
            </a:r>
            <a:r>
              <a:rPr lang="ru-RU" dirty="0" smtClean="0"/>
              <a:t>приём </a:t>
            </a:r>
            <a:r>
              <a:rPr lang="ru-RU" dirty="0"/>
              <a:t>направлен на активизацию познавательной деятельности учащихся на </a:t>
            </a:r>
            <a:r>
              <a:rPr lang="ru-RU" dirty="0" smtClean="0"/>
              <a:t>занятиях </a:t>
            </a:r>
            <a:r>
              <a:rPr lang="ru-RU" dirty="0"/>
              <a:t>и используется на этапе закрепления и обобщения материала. Прочитанное </a:t>
            </a:r>
            <a:r>
              <a:rPr lang="ru-RU" dirty="0" smtClean="0"/>
              <a:t>предлагается </a:t>
            </a:r>
            <a:r>
              <a:rPr lang="ru-RU" dirty="0"/>
              <a:t>проанализировать по пяти пунктам. Синквейн составляется в соответствии с определенными </a:t>
            </a:r>
            <a:r>
              <a:rPr lang="ru-RU" dirty="0" smtClean="0"/>
              <a:t>правилами:</a:t>
            </a:r>
            <a:endParaRPr lang="ru-RU" dirty="0"/>
          </a:p>
          <a:p>
            <a:r>
              <a:rPr lang="ru-RU" dirty="0"/>
              <a:t>1 строка – </a:t>
            </a:r>
            <a:r>
              <a:rPr lang="ru-RU" b="1" dirty="0">
                <a:solidFill>
                  <a:srgbClr val="00B0F0"/>
                </a:solidFill>
              </a:rPr>
              <a:t>предмет, животное или человек </a:t>
            </a:r>
            <a:r>
              <a:rPr lang="ru-RU" dirty="0"/>
              <a:t>понравившейся в произведении. Записывается одним </a:t>
            </a:r>
            <a:r>
              <a:rPr lang="ru-RU" b="1" dirty="0">
                <a:solidFill>
                  <a:srgbClr val="00B0F0"/>
                </a:solidFill>
              </a:rPr>
              <a:t>существительным</a:t>
            </a:r>
            <a:r>
              <a:rPr lang="ru-RU" dirty="0">
                <a:solidFill>
                  <a:srgbClr val="00B0F0"/>
                </a:solidFill>
              </a:rPr>
              <a:t>.</a:t>
            </a:r>
          </a:p>
          <a:p>
            <a:r>
              <a:rPr lang="ru-RU" dirty="0"/>
              <a:t>2 строка – </a:t>
            </a:r>
            <a:r>
              <a:rPr lang="ru-RU" b="1" dirty="0">
                <a:solidFill>
                  <a:srgbClr val="00B050"/>
                </a:solidFill>
              </a:rPr>
              <a:t>признаки выбранного предмета</a:t>
            </a:r>
            <a:r>
              <a:rPr lang="ru-RU" dirty="0"/>
              <a:t>, животного или человека - </a:t>
            </a:r>
            <a:r>
              <a:rPr lang="ru-RU" b="1" dirty="0">
                <a:solidFill>
                  <a:srgbClr val="00B050"/>
                </a:solidFill>
              </a:rPr>
              <a:t>два прилагательных</a:t>
            </a:r>
            <a:r>
              <a:rPr lang="ru-RU" dirty="0"/>
              <a:t>.</a:t>
            </a:r>
          </a:p>
          <a:p>
            <a:r>
              <a:rPr lang="ru-RU" dirty="0"/>
              <a:t>3 строка – </a:t>
            </a:r>
            <a:r>
              <a:rPr lang="ru-RU" b="1" dirty="0">
                <a:solidFill>
                  <a:srgbClr val="7030A0"/>
                </a:solidFill>
              </a:rPr>
              <a:t>действия, совершаемые выбранным предметом</a:t>
            </a:r>
            <a:r>
              <a:rPr lang="ru-RU" dirty="0"/>
              <a:t>, животным, человеком - </a:t>
            </a:r>
            <a:r>
              <a:rPr lang="ru-RU" b="1" dirty="0">
                <a:solidFill>
                  <a:srgbClr val="7030A0"/>
                </a:solidFill>
              </a:rPr>
              <a:t>три глагола</a:t>
            </a:r>
            <a:r>
              <a:rPr lang="ru-RU" b="1" dirty="0"/>
              <a:t>.</a:t>
            </a:r>
          </a:p>
          <a:p>
            <a:r>
              <a:rPr lang="ru-RU" dirty="0"/>
              <a:t>4 строка – </a:t>
            </a:r>
            <a:r>
              <a:rPr lang="ru-RU" b="1" dirty="0">
                <a:solidFill>
                  <a:srgbClr val="C00000"/>
                </a:solidFill>
              </a:rPr>
              <a:t>предложение, фраза, несущая определенный смысл, выражающая отношение к персонажу.</a:t>
            </a:r>
          </a:p>
          <a:p>
            <a:r>
              <a:rPr lang="ru-RU" dirty="0"/>
              <a:t>5 строка – </a:t>
            </a:r>
            <a:r>
              <a:rPr lang="ru-RU" b="1" dirty="0">
                <a:solidFill>
                  <a:srgbClr val="FF0000"/>
                </a:solidFill>
              </a:rPr>
              <a:t>резюме, вывод, отношение к произведению персонажу или ко всему произведению - одно слово или словосочетание.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873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188640"/>
            <a:ext cx="7344815" cy="1008112"/>
          </a:xfrm>
          <a:ln w="5715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noAutofit/>
          </a:bodyPr>
          <a:lstStyle/>
          <a:p>
            <a:pPr algn="ctr"/>
            <a:r>
              <a:rPr lang="ru-RU" sz="2400" b="1" dirty="0"/>
              <a:t>Методический </a:t>
            </a:r>
            <a:r>
              <a:rPr lang="ru-RU" sz="2400" b="1" dirty="0" smtClean="0"/>
              <a:t>приём  </a:t>
            </a:r>
            <a:br>
              <a:rPr lang="ru-RU" sz="2400" b="1" dirty="0" smtClean="0"/>
            </a:br>
            <a:r>
              <a:rPr lang="ru-RU" sz="2400" b="1" dirty="0" smtClean="0"/>
              <a:t>«</a:t>
            </a:r>
            <a:r>
              <a:rPr lang="ru-RU" sz="2400" b="1" dirty="0"/>
              <a:t>Повтори моё и добавь своё».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5656" y="1412776"/>
            <a:ext cx="7344815" cy="5112568"/>
          </a:xfrm>
          <a:ln w="7620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2400" dirty="0"/>
              <a:t>Приём развивает кратковременную оперативную память, помогает выявить знания </a:t>
            </a:r>
            <a:r>
              <a:rPr lang="ru-RU" sz="2400" dirty="0" smtClean="0"/>
              <a:t>студентов </a:t>
            </a:r>
            <a:r>
              <a:rPr lang="ru-RU" sz="2400" dirty="0"/>
              <a:t>по изучаемой теме. </a:t>
            </a:r>
            <a:endParaRPr lang="ru-RU" sz="2400" dirty="0" smtClean="0"/>
          </a:p>
          <a:p>
            <a:pPr marL="0" indent="0" algn="ctr">
              <a:buNone/>
            </a:pPr>
            <a:r>
              <a:rPr lang="ru-RU" sz="2400" b="1" dirty="0" smtClean="0">
                <a:solidFill>
                  <a:srgbClr val="FF0000"/>
                </a:solidFill>
              </a:rPr>
              <a:t>Приём </a:t>
            </a:r>
            <a:r>
              <a:rPr lang="ru-RU" sz="2400" b="1" dirty="0">
                <a:solidFill>
                  <a:srgbClr val="FF0000"/>
                </a:solidFill>
              </a:rPr>
              <a:t>может быть проведён в виде игры-эстафеты. </a:t>
            </a:r>
            <a:endParaRPr lang="ru-RU" sz="24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sz="2400" dirty="0" smtClean="0"/>
              <a:t>Преподаватель или студент называет предмет, лекарственный препарат, диагноз, часть тела…. </a:t>
            </a:r>
            <a:r>
              <a:rPr lang="ru-RU" sz="2400" dirty="0"/>
              <a:t>и предает эстафетную палочку соседу, тот придумывает второе слово, относящееся к этой же </a:t>
            </a:r>
            <a:r>
              <a:rPr lang="ru-RU" sz="2400" dirty="0" smtClean="0"/>
              <a:t>группе, </a:t>
            </a:r>
            <a:r>
              <a:rPr lang="ru-RU" sz="2400" dirty="0"/>
              <a:t>и называет уже два слова по порядку. </a:t>
            </a:r>
            <a:endParaRPr lang="ru-RU" sz="2400" dirty="0" smtClean="0"/>
          </a:p>
          <a:p>
            <a:pPr marL="0" indent="0" algn="ctr">
              <a:buNone/>
            </a:pPr>
            <a:r>
              <a:rPr lang="ru-RU" sz="2400" dirty="0" smtClean="0"/>
              <a:t>Следующий студент называет </a:t>
            </a:r>
            <a:r>
              <a:rPr lang="ru-RU" sz="2400" dirty="0"/>
              <a:t>два слова и добавляет свое и т. д.</a:t>
            </a:r>
          </a:p>
        </p:txBody>
      </p:sp>
    </p:spTree>
    <p:extLst>
      <p:ext uri="{BB962C8B-B14F-4D97-AF65-F5344CB8AC3E}">
        <p14:creationId xmlns:p14="http://schemas.microsoft.com/office/powerpoint/2010/main" val="346738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9712" y="188640"/>
            <a:ext cx="6589199" cy="1004690"/>
          </a:xfrm>
          <a:ln w="571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Методический </a:t>
            </a:r>
            <a:r>
              <a:rPr lang="ru-RU" sz="2800" b="1" dirty="0" smtClean="0"/>
              <a:t>приём </a:t>
            </a:r>
            <a:br>
              <a:rPr lang="ru-RU" sz="2800" b="1" dirty="0" smtClean="0"/>
            </a:br>
            <a:r>
              <a:rPr lang="ru-RU" sz="2800" b="1" dirty="0" smtClean="0"/>
              <a:t>«</a:t>
            </a:r>
            <a:r>
              <a:rPr lang="ru-RU" sz="2800" b="1" dirty="0"/>
              <a:t>Хорошо или плохо».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7624" y="1484784"/>
            <a:ext cx="7600097" cy="4896544"/>
          </a:xfrm>
          <a:ln w="762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Приём, направлен на активизацию мыслительной деятельности </a:t>
            </a:r>
            <a:r>
              <a:rPr lang="ru-RU" dirty="0" smtClean="0">
                <a:solidFill>
                  <a:schemeClr val="tx1"/>
                </a:solidFill>
              </a:rPr>
              <a:t>учащихся. </a:t>
            </a:r>
            <a:r>
              <a:rPr lang="ru-RU" dirty="0">
                <a:solidFill>
                  <a:schemeClr val="tx1"/>
                </a:solidFill>
              </a:rPr>
              <a:t>Формирует умение находить положительные и отрицательные стороны в предмете, ситуации; умение оценивать объект, ситуацию с разных позиций, учитывая разные </a:t>
            </a:r>
            <a:r>
              <a:rPr lang="ru-RU" dirty="0" smtClean="0">
                <a:solidFill>
                  <a:schemeClr val="tx1"/>
                </a:solidFill>
              </a:rPr>
              <a:t>позиции. 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Преподаватель </a:t>
            </a:r>
            <a:r>
              <a:rPr lang="ru-RU" dirty="0">
                <a:solidFill>
                  <a:schemeClr val="tx1"/>
                </a:solidFill>
              </a:rPr>
              <a:t>называет предмет или ситуацию, учащиеся по очереди называют «плюсы» и «минусы». </a:t>
            </a:r>
            <a:endParaRPr lang="ru-RU" dirty="0" smtClean="0">
              <a:solidFill>
                <a:schemeClr val="tx1"/>
              </a:solidFill>
            </a:endParaRPr>
          </a:p>
          <a:p>
            <a:r>
              <a:rPr lang="ru-RU" dirty="0" smtClean="0">
                <a:solidFill>
                  <a:schemeClr val="tx1"/>
                </a:solidFill>
              </a:rPr>
              <a:t>Может </a:t>
            </a:r>
            <a:r>
              <a:rPr lang="ru-RU" dirty="0">
                <a:solidFill>
                  <a:schemeClr val="tx1"/>
                </a:solidFill>
              </a:rPr>
              <a:t>быть и другой вариант, когда </a:t>
            </a:r>
            <a:r>
              <a:rPr lang="ru-RU" dirty="0" smtClean="0">
                <a:solidFill>
                  <a:schemeClr val="tx1"/>
                </a:solidFill>
              </a:rPr>
              <a:t>Преподаватель </a:t>
            </a:r>
            <a:r>
              <a:rPr lang="ru-RU" dirty="0">
                <a:solidFill>
                  <a:schemeClr val="tx1"/>
                </a:solidFill>
              </a:rPr>
              <a:t>предлагает предмет (ситуацию), а </a:t>
            </a:r>
            <a:r>
              <a:rPr lang="ru-RU" dirty="0" smtClean="0">
                <a:solidFill>
                  <a:schemeClr val="tx1"/>
                </a:solidFill>
              </a:rPr>
              <a:t>учащийся описывают </a:t>
            </a:r>
            <a:r>
              <a:rPr lang="ru-RU" dirty="0">
                <a:solidFill>
                  <a:schemeClr val="tx1"/>
                </a:solidFill>
              </a:rPr>
              <a:t>ситуацию, для которой это полезно. Следующий </a:t>
            </a:r>
            <a:r>
              <a:rPr lang="ru-RU" dirty="0" smtClean="0">
                <a:solidFill>
                  <a:schemeClr val="tx1"/>
                </a:solidFill>
              </a:rPr>
              <a:t>ищет</a:t>
            </a:r>
            <a:r>
              <a:rPr lang="ru-RU" dirty="0">
                <a:solidFill>
                  <a:schemeClr val="tx1"/>
                </a:solidFill>
              </a:rPr>
              <a:t>, чем вредна эта ситуация и т.д. </a:t>
            </a:r>
            <a:endParaRPr lang="ru-RU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28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9712" y="332656"/>
            <a:ext cx="6589199" cy="1004690"/>
          </a:xfrm>
          <a:ln w="5715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Методический </a:t>
            </a:r>
            <a:r>
              <a:rPr lang="ru-RU" sz="2800" b="1" dirty="0" smtClean="0"/>
              <a:t>приём </a:t>
            </a:r>
            <a:br>
              <a:rPr lang="ru-RU" sz="2800" b="1" dirty="0" smtClean="0"/>
            </a:br>
            <a:r>
              <a:rPr lang="ru-RU" sz="2800" b="1" dirty="0" smtClean="0"/>
              <a:t>«</a:t>
            </a:r>
            <a:r>
              <a:rPr lang="ru-RU" sz="2800" b="1" dirty="0"/>
              <a:t>Коротко и по существу».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1484784"/>
            <a:ext cx="7744113" cy="5002502"/>
          </a:xfrm>
          <a:ln w="762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/>
          </a:bodyPr>
          <a:lstStyle/>
          <a:p>
            <a:r>
              <a:rPr lang="ru-RU" sz="2400" dirty="0"/>
              <a:t>Приём направлен на развитие умения кратко формулировать свою мысль, как в устной, так и в письменной форме. Этот приём предполагает составление кратких текстов </a:t>
            </a:r>
            <a:r>
              <a:rPr lang="ru-RU" sz="2400" dirty="0" smtClean="0"/>
              <a:t>–отзывов</a:t>
            </a:r>
            <a:r>
              <a:rPr lang="ru-RU" sz="2400" dirty="0"/>
              <a:t>, аннотаций, </a:t>
            </a:r>
            <a:r>
              <a:rPr lang="ru-RU" sz="2400" dirty="0" smtClean="0"/>
              <a:t>рецензий, рецептов, назначений…. </a:t>
            </a:r>
          </a:p>
          <a:p>
            <a:r>
              <a:rPr lang="ru-RU" sz="2400" dirty="0" smtClean="0"/>
              <a:t>Возможны </a:t>
            </a:r>
            <a:r>
              <a:rPr lang="ru-RU" sz="2400" dirty="0"/>
              <a:t>два варианты использования этого приёма: более сложный вариант этого приёма заключается в </a:t>
            </a:r>
            <a:r>
              <a:rPr lang="ru-RU" sz="2400" dirty="0" smtClean="0"/>
              <a:t>самостоятельной работе студентов; </a:t>
            </a:r>
          </a:p>
          <a:p>
            <a:r>
              <a:rPr lang="ru-RU" sz="2400" dirty="0" smtClean="0"/>
              <a:t>лёгкий </a:t>
            </a:r>
            <a:r>
              <a:rPr lang="ru-RU" sz="2400" dirty="0"/>
              <a:t>вариант – когда </a:t>
            </a:r>
            <a:r>
              <a:rPr lang="ru-RU" sz="2400" dirty="0" smtClean="0"/>
              <a:t>студентам оказывает помощь преподаватель или лаборант.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221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08617" y="620688"/>
            <a:ext cx="6589199" cy="792088"/>
          </a:xfrm>
          <a:ln w="57150">
            <a:solidFill>
              <a:srgbClr val="92D05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Методический </a:t>
            </a:r>
            <a:r>
              <a:rPr lang="ru-RU" sz="2800" b="1" dirty="0" smtClean="0"/>
              <a:t>приём  «</a:t>
            </a:r>
            <a:r>
              <a:rPr lang="ru-RU" sz="2800" b="1" dirty="0"/>
              <a:t>Без слов».</a:t>
            </a:r>
            <a:r>
              <a:rPr lang="ru-RU" sz="2800" dirty="0"/>
              <a:t> 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30839" y="2636912"/>
            <a:ext cx="6591985" cy="3777622"/>
          </a:xfrm>
          <a:ln w="76200"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rmAutofit/>
          </a:bodyPr>
          <a:lstStyle/>
          <a:p>
            <a:r>
              <a:rPr lang="ru-RU" sz="2400" dirty="0"/>
              <a:t>Приём направлен на развитие невербальной коммуникации, творческой активности. </a:t>
            </a:r>
            <a:endParaRPr lang="ru-RU" sz="2400" dirty="0" smtClean="0"/>
          </a:p>
          <a:p>
            <a:r>
              <a:rPr lang="ru-RU" sz="2400" dirty="0" smtClean="0"/>
              <a:t>С </a:t>
            </a:r>
            <a:r>
              <a:rPr lang="ru-RU" sz="2400" dirty="0"/>
              <a:t>помощью мимики и жеста учащимся предлагается продемонстрировать </a:t>
            </a:r>
            <a:r>
              <a:rPr lang="ru-RU" sz="2400" dirty="0" smtClean="0"/>
              <a:t>жалобы, а вторая команда должна поставить диагноз и отгадать заболевание.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9268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ln w="5715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rmAutofit/>
          </a:bodyPr>
          <a:lstStyle/>
          <a:p>
            <a:pPr algn="ctr"/>
            <a:r>
              <a:rPr lang="ru-RU" b="1" dirty="0"/>
              <a:t>Методический </a:t>
            </a:r>
            <a:r>
              <a:rPr lang="ru-RU" b="1" dirty="0" smtClean="0"/>
              <a:t>приём «</a:t>
            </a:r>
            <a:r>
              <a:rPr lang="ru-RU" b="1" dirty="0"/>
              <a:t>Согласен – не согласен».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35696" y="2133600"/>
            <a:ext cx="6950065" cy="4247728"/>
          </a:xfrm>
          <a:ln w="762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2000" dirty="0"/>
              <a:t>Приём способствует актуализации знаний учащихся и активизации мыслительной деятельности. </a:t>
            </a:r>
            <a:endParaRPr lang="ru-RU" sz="2000" dirty="0" smtClean="0"/>
          </a:p>
          <a:p>
            <a:pPr marL="0" indent="0" algn="ctr">
              <a:buNone/>
            </a:pPr>
            <a:r>
              <a:rPr lang="ru-RU" sz="2000" dirty="0" smtClean="0"/>
              <a:t>Формирует </a:t>
            </a:r>
            <a:r>
              <a:rPr lang="ru-RU" sz="2000" dirty="0"/>
              <a:t>умение оценивать ситуацию или факты, умение выражать свое </a:t>
            </a:r>
            <a:r>
              <a:rPr lang="ru-RU" sz="2000" dirty="0" smtClean="0"/>
              <a:t>мнение….</a:t>
            </a:r>
          </a:p>
          <a:p>
            <a:pPr marL="0" indent="0" algn="ctr">
              <a:buNone/>
            </a:pPr>
            <a:r>
              <a:rPr lang="ru-RU" sz="2000" dirty="0" smtClean="0"/>
              <a:t> Студентам </a:t>
            </a:r>
            <a:r>
              <a:rPr lang="ru-RU" sz="2000" dirty="0"/>
              <a:t>предлагается выразить свое отношение к ряду утверждений. </a:t>
            </a:r>
            <a:endParaRPr lang="ru-RU" sz="2000" dirty="0" smtClean="0"/>
          </a:p>
          <a:p>
            <a:pPr marL="0" indent="0" algn="ctr">
              <a:buNone/>
            </a:pPr>
            <a:r>
              <a:rPr lang="ru-RU" sz="2000" dirty="0" smtClean="0"/>
              <a:t>Утверждение </a:t>
            </a:r>
            <a:r>
              <a:rPr lang="ru-RU" sz="2000" dirty="0"/>
              <a:t>может быть как верным, так и нет. </a:t>
            </a:r>
            <a:endParaRPr lang="ru-RU" sz="2000" dirty="0" smtClean="0"/>
          </a:p>
          <a:p>
            <a:pPr marL="0" indent="0" algn="ctr">
              <a:buNone/>
            </a:pPr>
            <a:r>
              <a:rPr lang="ru-RU" sz="2000" dirty="0" smtClean="0"/>
              <a:t>Ответ </a:t>
            </a:r>
            <a:r>
              <a:rPr lang="ru-RU" sz="2000" dirty="0"/>
              <a:t>на утверждение необходимо начать словами: </a:t>
            </a:r>
            <a:r>
              <a:rPr lang="ru-RU" sz="2000" b="1" dirty="0">
                <a:solidFill>
                  <a:srgbClr val="FF0000"/>
                </a:solidFill>
              </a:rPr>
              <a:t>«Да я согласен с вами, что</a:t>
            </a:r>
            <a:r>
              <a:rPr lang="ru-RU" sz="2000" b="1" dirty="0" smtClean="0">
                <a:solidFill>
                  <a:srgbClr val="FF0000"/>
                </a:solidFill>
              </a:rPr>
              <a:t>…»</a:t>
            </a:r>
          </a:p>
          <a:p>
            <a:pPr marL="0" indent="0" algn="ctr">
              <a:buNone/>
            </a:pPr>
            <a:r>
              <a:rPr lang="ru-RU" sz="2000" dirty="0" smtClean="0"/>
              <a:t>или </a:t>
            </a:r>
          </a:p>
          <a:p>
            <a:pPr marL="0" indent="0" algn="ctr">
              <a:buNone/>
            </a:pPr>
            <a:r>
              <a:rPr lang="ru-RU" sz="2000" b="1" dirty="0" smtClean="0">
                <a:solidFill>
                  <a:srgbClr val="FF0000"/>
                </a:solidFill>
              </a:rPr>
              <a:t>«Нет</a:t>
            </a:r>
            <a:r>
              <a:rPr lang="ru-RU" sz="2000" b="1" dirty="0">
                <a:solidFill>
                  <a:srgbClr val="FF0000"/>
                </a:solidFill>
              </a:rPr>
              <a:t>, я не согласен с </a:t>
            </a:r>
            <a:r>
              <a:rPr lang="ru-RU" sz="2000" b="1" dirty="0" smtClean="0">
                <a:solidFill>
                  <a:srgbClr val="FF0000"/>
                </a:solidFill>
              </a:rPr>
              <a:t>вами,  потому-что</a:t>
            </a:r>
            <a:r>
              <a:rPr lang="ru-RU" sz="2000" b="1" dirty="0">
                <a:solidFill>
                  <a:srgbClr val="FF0000"/>
                </a:solidFill>
              </a:rPr>
              <a:t>...».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1518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9713" y="332656"/>
            <a:ext cx="6120679" cy="1280890"/>
          </a:xfrm>
          <a:ln w="57150"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Методический </a:t>
            </a:r>
            <a:r>
              <a:rPr lang="ru-RU" sz="3200" b="1" dirty="0" smtClean="0"/>
              <a:t>приём </a:t>
            </a:r>
            <a:br>
              <a:rPr lang="ru-RU" sz="3200" b="1" dirty="0" smtClean="0"/>
            </a:br>
            <a:r>
              <a:rPr lang="ru-RU" sz="3200" b="1" dirty="0" smtClean="0"/>
              <a:t>«</a:t>
            </a:r>
            <a:r>
              <a:rPr lang="ru-RU" sz="3200" b="1" dirty="0"/>
              <a:t>Верно – неверно».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1916832"/>
            <a:ext cx="7493579" cy="4536504"/>
          </a:xfrm>
          <a:ln w="76200"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Приём способствует формированию умения высказывать и отстаивать свою точку зрения. </a:t>
            </a:r>
            <a:endParaRPr lang="ru-RU" sz="2400" dirty="0" smtClean="0"/>
          </a:p>
          <a:p>
            <a:pPr marL="0" indent="0" algn="ctr">
              <a:buNone/>
            </a:pPr>
            <a:r>
              <a:rPr lang="ru-RU" sz="2400" dirty="0" smtClean="0"/>
              <a:t>В </a:t>
            </a:r>
            <a:r>
              <a:rPr lang="ru-RU" sz="2400" dirty="0"/>
              <a:t>данном приёме </a:t>
            </a:r>
            <a:r>
              <a:rPr lang="ru-RU" sz="2400" dirty="0" smtClean="0"/>
              <a:t>студентам </a:t>
            </a:r>
            <a:r>
              <a:rPr lang="ru-RU" sz="2400" dirty="0"/>
              <a:t>предлагаются утверждения. </a:t>
            </a:r>
            <a:endParaRPr lang="ru-RU" sz="2400" dirty="0" smtClean="0"/>
          </a:p>
          <a:p>
            <a:pPr marL="0" indent="0" algn="ctr">
              <a:buNone/>
            </a:pPr>
            <a:r>
              <a:rPr lang="ru-RU" sz="2400" dirty="0" smtClean="0"/>
              <a:t>Утверждения </a:t>
            </a:r>
            <a:r>
              <a:rPr lang="ru-RU" sz="2400" dirty="0"/>
              <a:t>могут быть самыми неожиданными и нелогичными. </a:t>
            </a:r>
            <a:endParaRPr lang="ru-RU" sz="2400" dirty="0" smtClean="0"/>
          </a:p>
          <a:p>
            <a:pPr marL="0" indent="0" algn="ctr">
              <a:buNone/>
            </a:pPr>
            <a:r>
              <a:rPr lang="ru-RU" sz="2400" b="1" dirty="0" smtClean="0">
                <a:solidFill>
                  <a:srgbClr val="FF0000"/>
                </a:solidFill>
              </a:rPr>
              <a:t>Задача  </a:t>
            </a:r>
            <a:r>
              <a:rPr lang="ru-RU" sz="2400" b="1" dirty="0">
                <a:solidFill>
                  <a:srgbClr val="FF0000"/>
                </a:solidFill>
              </a:rPr>
              <a:t>– согласиться или не согласиться с данными предположениями. </a:t>
            </a:r>
            <a:endParaRPr lang="ru-RU" sz="24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sz="2400" dirty="0" smtClean="0"/>
              <a:t>Студент </a:t>
            </a:r>
            <a:r>
              <a:rPr lang="ru-RU" sz="2400" dirty="0"/>
              <a:t>должен </a:t>
            </a:r>
            <a:r>
              <a:rPr lang="ru-RU" sz="2400" dirty="0" smtClean="0"/>
              <a:t>ответит, верно </a:t>
            </a:r>
            <a:r>
              <a:rPr lang="ru-RU" sz="2400" dirty="0"/>
              <a:t>или неверно </a:t>
            </a:r>
            <a:r>
              <a:rPr lang="ru-RU" sz="2400" dirty="0" smtClean="0"/>
              <a:t>утверждение и </a:t>
            </a:r>
            <a:r>
              <a:rPr lang="ru-RU" sz="2400" dirty="0"/>
              <a:t>обосновать свою точку зрения.</a:t>
            </a:r>
          </a:p>
        </p:txBody>
      </p:sp>
    </p:spTree>
    <p:extLst>
      <p:ext uri="{BB962C8B-B14F-4D97-AF65-F5344CB8AC3E}">
        <p14:creationId xmlns:p14="http://schemas.microsoft.com/office/powerpoint/2010/main" val="113804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9712" y="548680"/>
            <a:ext cx="6589199" cy="1280890"/>
          </a:xfrm>
          <a:ln w="5715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/>
          </a:bodyPr>
          <a:lstStyle/>
          <a:p>
            <a:pPr algn="ctr"/>
            <a:r>
              <a:rPr lang="ru-RU" b="1" dirty="0"/>
              <a:t>Методический </a:t>
            </a:r>
            <a:r>
              <a:rPr lang="ru-RU" b="1" dirty="0" smtClean="0"/>
              <a:t>приём «</a:t>
            </a:r>
            <a:r>
              <a:rPr lang="ru-RU" b="1" dirty="0"/>
              <a:t>Публичное выступление».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53775" y="2564904"/>
            <a:ext cx="6591985" cy="3777622"/>
          </a:xfrm>
          <a:ln w="7620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 Данный приём направлен на формирование умения уверенно и спокойно выступать с небольшим </a:t>
            </a:r>
            <a:r>
              <a:rPr lang="ru-RU" sz="2400" dirty="0" smtClean="0"/>
              <a:t>докладом, сообщением …. </a:t>
            </a:r>
          </a:p>
          <a:p>
            <a:r>
              <a:rPr lang="ru-RU" sz="2400" dirty="0" smtClean="0"/>
              <a:t>Учащимся </a:t>
            </a:r>
            <a:r>
              <a:rPr lang="ru-RU" sz="2400" dirty="0"/>
              <a:t>предлагается подготовить дома выступление по </a:t>
            </a:r>
            <a:r>
              <a:rPr lang="ru-RU" sz="2400" dirty="0" smtClean="0"/>
              <a:t>определенной теме</a:t>
            </a:r>
            <a:r>
              <a:rPr lang="ru-RU" sz="2400" dirty="0"/>
              <a:t>. </a:t>
            </a:r>
            <a:endParaRPr lang="ru-RU" sz="2400" dirty="0" smtClean="0"/>
          </a:p>
          <a:p>
            <a:r>
              <a:rPr lang="ru-RU" sz="2400" dirty="0" smtClean="0"/>
              <a:t>Прием также предназначен на отработку умений подбирать необходимый материал, выстраивать его в логической последовательности…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810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ln w="57150">
            <a:solidFill>
              <a:srgbClr val="7030A0"/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Методический </a:t>
            </a:r>
            <a:r>
              <a:rPr lang="ru-RU" sz="3200" b="1" dirty="0" smtClean="0"/>
              <a:t>приём </a:t>
            </a:r>
            <a:br>
              <a:rPr lang="ru-RU" sz="3200" b="1" dirty="0" smtClean="0"/>
            </a:br>
            <a:r>
              <a:rPr lang="ru-RU" sz="3200" b="1" dirty="0" smtClean="0"/>
              <a:t>«</a:t>
            </a:r>
            <a:r>
              <a:rPr lang="ru-RU" sz="3200" b="1" dirty="0"/>
              <a:t>Задай вопрос»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30321" y="2852936"/>
            <a:ext cx="6591985" cy="3024336"/>
          </a:xfrm>
          <a:ln w="762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 smtClean="0"/>
              <a:t>Приём </a:t>
            </a:r>
            <a:r>
              <a:rPr lang="ru-RU" sz="2400" dirty="0"/>
              <a:t>направлен на повышение интереса к учебному материалу и формирует умение содержательно формулировать вопросы. </a:t>
            </a:r>
            <a:endParaRPr lang="ru-RU" sz="2400" dirty="0" smtClean="0"/>
          </a:p>
          <a:p>
            <a:pPr marL="0" indent="0" algn="ctr">
              <a:buNone/>
            </a:pPr>
            <a:r>
              <a:rPr lang="ru-RU" sz="2400" dirty="0" smtClean="0"/>
              <a:t>Педагог </a:t>
            </a:r>
            <a:r>
              <a:rPr lang="ru-RU" sz="2400" dirty="0"/>
              <a:t>просит составить к тексту </a:t>
            </a:r>
            <a:r>
              <a:rPr lang="ru-RU" sz="2400" dirty="0" smtClean="0"/>
              <a:t>как </a:t>
            </a:r>
            <a:r>
              <a:rPr lang="ru-RU" sz="2400" dirty="0"/>
              <a:t>можно больше вопросов или указывает конкретное число вопросов.</a:t>
            </a:r>
          </a:p>
          <a:p>
            <a:pPr marL="0" indent="0" algn="ctr">
              <a:buNone/>
            </a:pPr>
            <a:r>
              <a:rPr lang="ru-RU" sz="2400" dirty="0"/>
              <a:t/>
            </a:r>
            <a:br>
              <a:rPr lang="ru-RU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3119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59832" y="272712"/>
            <a:ext cx="2808312" cy="996048"/>
          </a:xfrm>
          <a:ln w="57150">
            <a:solidFill>
              <a:srgbClr val="FF0000"/>
            </a:solidFill>
          </a:ln>
          <a:scene3d>
            <a:camera prst="perspectiveLeft"/>
            <a:lightRig rig="threePt" dir="t"/>
          </a:scene3d>
          <a:sp3d>
            <a:bevelT prst="angle"/>
          </a:sp3d>
        </p:spPr>
        <p:txBody>
          <a:bodyPr/>
          <a:lstStyle/>
          <a:p>
            <a:pPr algn="ctr"/>
            <a:r>
              <a:rPr lang="ru-RU" b="1" dirty="0" smtClean="0"/>
              <a:t>Вывод: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15616" y="1556792"/>
            <a:ext cx="5544616" cy="4752528"/>
          </a:xfrm>
          <a:ln w="76200"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000" b="1" dirty="0" smtClean="0">
                <a:solidFill>
                  <a:srgbClr val="FF0000"/>
                </a:solidFill>
              </a:rPr>
              <a:t>Успех в работе преподавателя в значительной степени зависит от:</a:t>
            </a:r>
          </a:p>
          <a:p>
            <a:pPr>
              <a:buFont typeface="Wingdings" pitchFamily="2" charset="2"/>
              <a:buChar char="Ø"/>
            </a:pPr>
            <a:r>
              <a:rPr lang="ru-RU" sz="2000" b="1" dirty="0" smtClean="0">
                <a:solidFill>
                  <a:srgbClr val="7030A0"/>
                </a:solidFill>
              </a:rPr>
              <a:t>сочетания различных методов обучения;</a:t>
            </a:r>
          </a:p>
          <a:p>
            <a:pPr>
              <a:buFont typeface="Wingdings" pitchFamily="2" charset="2"/>
              <a:buChar char="Ø"/>
            </a:pPr>
            <a:r>
              <a:rPr lang="ru-RU" sz="2000" b="1" dirty="0" smtClean="0">
                <a:solidFill>
                  <a:srgbClr val="7030A0"/>
                </a:solidFill>
              </a:rPr>
              <a:t>выбор метода – в руках преподавателя, который  сам моделирует путь достижения цели в зависимости от самой цели;</a:t>
            </a:r>
          </a:p>
          <a:p>
            <a:pPr>
              <a:buFont typeface="Wingdings" pitchFamily="2" charset="2"/>
              <a:buChar char="Ø"/>
            </a:pPr>
            <a:r>
              <a:rPr lang="ru-RU" sz="2000" b="1" dirty="0" smtClean="0">
                <a:solidFill>
                  <a:srgbClr val="7030A0"/>
                </a:solidFill>
              </a:rPr>
              <a:t>возрастных и индивидуальных особенностей учащихся, их подготовки;</a:t>
            </a:r>
          </a:p>
          <a:p>
            <a:pPr>
              <a:buFont typeface="Wingdings" pitchFamily="2" charset="2"/>
              <a:buChar char="Ø"/>
            </a:pPr>
            <a:r>
              <a:rPr lang="ru-RU" sz="2000" b="1" dirty="0" smtClean="0">
                <a:solidFill>
                  <a:srgbClr val="7030A0"/>
                </a:solidFill>
              </a:rPr>
              <a:t>содержания материала;</a:t>
            </a:r>
          </a:p>
          <a:p>
            <a:pPr>
              <a:buFont typeface="Wingdings" pitchFamily="2" charset="2"/>
              <a:buChar char="Ø"/>
            </a:pPr>
            <a:r>
              <a:rPr lang="ru-RU" sz="2000" b="1" dirty="0" smtClean="0">
                <a:solidFill>
                  <a:srgbClr val="7030A0"/>
                </a:solidFill>
              </a:rPr>
              <a:t>своего опыта и способностей.</a:t>
            </a:r>
            <a:endParaRPr lang="ru-RU" sz="2000" b="1" dirty="0">
              <a:solidFill>
                <a:srgbClr val="7030A0"/>
              </a:solidFill>
            </a:endParaRPr>
          </a:p>
        </p:txBody>
      </p:sp>
      <p:pic>
        <p:nvPicPr>
          <p:cNvPr id="4" name="Picture 55" descr="AMPRODU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1268760"/>
            <a:ext cx="2147318" cy="41044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5201" y="2348880"/>
            <a:ext cx="6589199" cy="2376264"/>
          </a:xfrm>
        </p:spPr>
        <p:txBody>
          <a:bodyPr/>
          <a:lstStyle/>
          <a:p>
            <a:r>
              <a:rPr lang="ru-RU" dirty="0" smtClean="0"/>
              <a:t>СПАСИБО ЗА ВНИМАНИЕ!!!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129082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1137</TotalTime>
  <Words>1484</Words>
  <Application>Microsoft Office PowerPoint</Application>
  <PresentationFormat>Экран (4:3)</PresentationFormat>
  <Paragraphs>220</Paragraphs>
  <Slides>49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0" baseType="lpstr">
      <vt:lpstr>Легкий дым</vt:lpstr>
      <vt:lpstr>Характеристика   методов   обучения</vt:lpstr>
      <vt:lpstr>Презентация PowerPoint</vt:lpstr>
      <vt:lpstr>Презентация PowerPoint</vt:lpstr>
      <vt:lpstr>Презентация PowerPoint</vt:lpstr>
      <vt:lpstr>Метод обучения</vt:lpstr>
      <vt:lpstr>Пассивный метод </vt:lpstr>
      <vt:lpstr>Презентация PowerPoint</vt:lpstr>
      <vt:lpstr>Активный метод</vt:lpstr>
      <vt:lpstr>Презентация PowerPoint</vt:lpstr>
      <vt:lpstr>Интерактивный метод </vt:lpstr>
      <vt:lpstr>Презентация PowerPoint</vt:lpstr>
      <vt:lpstr>Презентация PowerPoint</vt:lpstr>
      <vt:lpstr>Презентация PowerPoint</vt:lpstr>
      <vt:lpstr>Эффективность МО</vt:lpstr>
      <vt:lpstr>Классификация методов обучения</vt:lpstr>
      <vt:lpstr>Классификация методов обучения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От чего зависит выбор метода?</vt:lpstr>
      <vt:lpstr>Презентация PowerPoint</vt:lpstr>
      <vt:lpstr>Объяснительно-иллюстративный метод</vt:lpstr>
      <vt:lpstr>Примеры использования объяснительно-иллюстративного метода:</vt:lpstr>
      <vt:lpstr>Достоинства и недостатки объяснительно-иллюстративного метода</vt:lpstr>
      <vt:lpstr>Репродуктивный метод обучения</vt:lpstr>
      <vt:lpstr>Презентация PowerPoint</vt:lpstr>
      <vt:lpstr>Проблемное обучение</vt:lpstr>
      <vt:lpstr>Проблемные методы</vt:lpstr>
      <vt:lpstr>Приемы создания проблемных ситуаций</vt:lpstr>
      <vt:lpstr> Учитель сам четко ставит проблему.</vt:lpstr>
      <vt:lpstr>Приемы обучения  или методические приемы</vt:lpstr>
      <vt:lpstr>Методические приёмы </vt:lpstr>
      <vt:lpstr>Методический приём  «Лови ошибку». </vt:lpstr>
      <vt:lpstr>Методический приём «Да-нет»</vt:lpstr>
      <vt:lpstr>Методический приём «Послушай, обсудим»</vt:lpstr>
      <vt:lpstr>Методический приём  «Синквейн»</vt:lpstr>
      <vt:lpstr>Методический приём   «Повтори моё и добавь своё».</vt:lpstr>
      <vt:lpstr>Методический приём  «Хорошо или плохо».</vt:lpstr>
      <vt:lpstr>Методический приём  «Коротко и по существу».</vt:lpstr>
      <vt:lpstr>Методический приём  «Без слов». </vt:lpstr>
      <vt:lpstr>Методический приём «Согласен – не согласен».</vt:lpstr>
      <vt:lpstr>Методический приём  «Верно – неверно».</vt:lpstr>
      <vt:lpstr>Методический приём «Публичное выступление».</vt:lpstr>
      <vt:lpstr>Методический приём  «Задай вопрос»</vt:lpstr>
      <vt:lpstr>Вывод:</vt:lpstr>
      <vt:lpstr>СПАСИБО ЗА ВНИМАНИЕ!!!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Характеристика методов обучения</dc:title>
  <cp:lastModifiedBy/>
  <cp:revision>103</cp:revision>
  <dcterms:modified xsi:type="dcterms:W3CDTF">2022-10-06T06:10:52Z</dcterms:modified>
</cp:coreProperties>
</file>