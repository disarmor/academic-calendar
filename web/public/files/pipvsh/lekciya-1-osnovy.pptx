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75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-38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58129" y="434162"/>
            <a:ext cx="11075745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963168" y="1820206"/>
            <a:ext cx="103632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0" name="Подзаголовок 19"/>
          <p:cNvSpPr>
            <a:spLocks noGrp="1"/>
          </p:cNvSpPr>
          <p:nvPr>
            <p:ph type="subTitle" idx="1"/>
          </p:nvPr>
        </p:nvSpPr>
        <p:spPr>
          <a:xfrm>
            <a:off x="963168" y="3685032"/>
            <a:ext cx="103632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0560" y="530352"/>
            <a:ext cx="1091184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558129" y="434163"/>
            <a:ext cx="11075745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4459" y="4928616"/>
            <a:ext cx="1091184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4459" y="5624484"/>
            <a:ext cx="1091184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3" y="530352"/>
            <a:ext cx="524256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40480" y="530352"/>
            <a:ext cx="524256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09632" y="579438"/>
            <a:ext cx="524256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202892" y="579438"/>
            <a:ext cx="524256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809632" y="1447800"/>
            <a:ext cx="524256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02892" y="1447800"/>
            <a:ext cx="524256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85045" y="533400"/>
            <a:ext cx="39624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7385129" y="1447802"/>
            <a:ext cx="39624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015163" y="930144"/>
            <a:ext cx="6168212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с одним скругленным углом 10"/>
          <p:cNvSpPr/>
          <p:nvPr/>
        </p:nvSpPr>
        <p:spPr>
          <a:xfrm>
            <a:off x="8534401" y="434162"/>
            <a:ext cx="3099473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5012056"/>
            <a:ext cx="109728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8616949" y="533400"/>
            <a:ext cx="298704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61973" y="435768"/>
            <a:ext cx="7900416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70560" y="530352"/>
            <a:ext cx="1091184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533405"/>
            <a:ext cx="2641600" cy="5257799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11200" y="533403"/>
            <a:ext cx="79248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06401" y="329185"/>
            <a:ext cx="11376073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58129" y="434162"/>
            <a:ext cx="11075745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0560" y="4985590"/>
            <a:ext cx="1091184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670560" y="530352"/>
            <a:ext cx="1091184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2"/>
          </p:nvPr>
        </p:nvSpPr>
        <p:spPr>
          <a:xfrm>
            <a:off x="5035104" y="6111876"/>
            <a:ext cx="3048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0EAE89DA-7F05-4049-84BD-31F9F16C272C}" type="datetimeFigureOut">
              <a:rPr lang="ru-RU" smtClean="0"/>
              <a:t>31.01.2020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3"/>
          </p:nvPr>
        </p:nvSpPr>
        <p:spPr>
          <a:xfrm>
            <a:off x="8083104" y="6111876"/>
            <a:ext cx="3048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11131104" y="61118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32E2990-BBDC-4E8F-B7F4-2B601D8DCB8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3knew/pdf/izdv/izdv_sibgtu/Ignatova_Pedagogika_2018.pdf" TargetMode="External"/><Relationship Id="rId2" Type="http://schemas.openxmlformats.org/officeDocument/2006/relationships/hyperlink" Target="http://www.book.ru/view/908004/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ibrary3knew/pdf/izdv/izdv_sibgtu/Ignatova_Osnovyi_psikhologii_2017.pd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-online.ru/book/obrazovatelnye-tehnologii-v-pedagogicheskom-vzaimodeystvii-429700" TargetMode="External"/><Relationship Id="rId2" Type="http://schemas.openxmlformats.org/officeDocument/2006/relationships/hyperlink" Target="https://biblio-online.ru/book/proektirovanie-obrazovatelnoy-sredy-44202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blio-online.ru/book/psihologiya-i-pedagogika-v-vysshey-shkole-434305" TargetMode="External"/><Relationship Id="rId4" Type="http://schemas.openxmlformats.org/officeDocument/2006/relationships/hyperlink" Target="https://biblio-online.ru/book/innovacionnye-processy-v-obrazovanii-reforma-sistemy-obschego-obrazovaniya-4420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4534" y="325120"/>
            <a:ext cx="9525445" cy="100584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/>
            </a:r>
            <a:br>
              <a:rPr lang="ru-RU" sz="4000" b="1" dirty="0" smtClean="0"/>
            </a:br>
            <a:r>
              <a:rPr lang="ru-RU" sz="3100" b="1" dirty="0" smtClean="0">
                <a:solidFill>
                  <a:schemeClr val="tx1"/>
                </a:solidFill>
              </a:rPr>
              <a:t>Основы психологии и педагогики высшей школы</a:t>
            </a:r>
            <a:endParaRPr lang="ru-RU" sz="3100" b="1" dirty="0">
              <a:solidFill>
                <a:schemeClr val="tx1"/>
              </a:solidFill>
            </a:endParaRPr>
          </a:p>
        </p:txBody>
      </p:sp>
      <p:pic>
        <p:nvPicPr>
          <p:cNvPr id="4" name="Объект 3" descr="http://www.faunarusi.ru/uploads/posts/2015-09/579972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1412240"/>
            <a:ext cx="5923280" cy="4074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38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9973" y="303196"/>
            <a:ext cx="8851677" cy="2165684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solidFill>
                  <a:schemeClr val="accent6"/>
                </a:solidFill>
                <a:latin typeface="Century Schoolbook" pitchFamily="18" charset="0"/>
              </a:rPr>
              <a:t>Психология и педагогика высшей школы как учебная дисциплина. </a:t>
            </a:r>
            <a:r>
              <a:rPr lang="ru-RU" sz="2400" b="1" dirty="0" smtClean="0">
                <a:solidFill>
                  <a:schemeClr val="accent6"/>
                </a:solidFill>
                <a:latin typeface="Century Schoolbook" pitchFamily="18" charset="0"/>
              </a:rPr>
              <a:t/>
            </a:r>
            <a:br>
              <a:rPr lang="ru-RU" sz="2400" b="1" dirty="0" smtClean="0">
                <a:solidFill>
                  <a:schemeClr val="accent6"/>
                </a:solidFill>
                <a:latin typeface="Century Schoolbook" pitchFamily="18" charset="0"/>
              </a:rPr>
            </a:br>
            <a:r>
              <a:rPr lang="ru-RU" sz="2400" b="1" dirty="0" smtClean="0">
                <a:solidFill>
                  <a:schemeClr val="accent6"/>
                </a:solidFill>
                <a:latin typeface="Century Schoolbook" pitchFamily="18" charset="0"/>
              </a:rPr>
              <a:t>Предмет </a:t>
            </a:r>
            <a:r>
              <a:rPr lang="ru-RU" sz="2400" b="1" dirty="0">
                <a:solidFill>
                  <a:schemeClr val="accent6"/>
                </a:solidFill>
                <a:latin typeface="Century Schoolbook" pitchFamily="18" charset="0"/>
              </a:rPr>
              <a:t>и задачи психологии и педагогики высшей </a:t>
            </a:r>
            <a:r>
              <a:rPr lang="ru-RU" sz="2400" b="1" dirty="0" smtClean="0">
                <a:solidFill>
                  <a:schemeClr val="accent6"/>
                </a:solidFill>
                <a:latin typeface="Century Schoolbook" pitchFamily="18" charset="0"/>
              </a:rPr>
              <a:t>школы</a:t>
            </a:r>
            <a:r>
              <a:rPr lang="ru-RU" sz="2400" dirty="0">
                <a:solidFill>
                  <a:schemeClr val="accent6"/>
                </a:solidFill>
                <a:latin typeface="Century Schoolbook" pitchFamily="18" charset="0"/>
              </a:rPr>
              <a:t/>
            </a:r>
            <a:br>
              <a:rPr lang="ru-RU" sz="2400" dirty="0">
                <a:solidFill>
                  <a:schemeClr val="accent6"/>
                </a:solidFill>
                <a:latin typeface="Century Schoolbook" pitchFamily="18" charset="0"/>
              </a:rPr>
            </a:br>
            <a:endParaRPr lang="ru-RU" sz="2400" dirty="0">
              <a:solidFill>
                <a:schemeClr val="accent6"/>
              </a:solidFill>
              <a:latin typeface="Century Schoolbook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2" y="2438399"/>
            <a:ext cx="10884747" cy="4122821"/>
          </a:xfrm>
        </p:spPr>
        <p:txBody>
          <a:bodyPr>
            <a:normAutofit/>
          </a:bodyPr>
          <a:lstStyle/>
          <a:p>
            <a:pPr algn="just"/>
            <a:r>
              <a:rPr lang="ru-RU" sz="2800" b="1" dirty="0" smtClean="0"/>
              <a:t>План </a:t>
            </a:r>
            <a:r>
              <a:rPr lang="ru-RU" sz="2800" b="1" dirty="0"/>
              <a:t>лекции. </a:t>
            </a:r>
            <a:r>
              <a:rPr lang="ru-RU" sz="2800" dirty="0" smtClean="0"/>
              <a:t>Психология как наука о человеке.</a:t>
            </a:r>
            <a:r>
              <a:rPr lang="ru-RU" sz="2800" b="1" dirty="0" smtClean="0"/>
              <a:t> </a:t>
            </a:r>
            <a:r>
              <a:rPr lang="ru-RU" sz="2800" dirty="0" smtClean="0"/>
              <a:t>Основные психологические понятия (категории). Предмет психологии высшей школы. Задачи психологии высшей школы. </a:t>
            </a:r>
          </a:p>
          <a:p>
            <a:pPr algn="just"/>
            <a:r>
              <a:rPr lang="ru-RU" sz="2800" dirty="0" smtClean="0"/>
              <a:t>Педагогика как наука о законах образования и воспитания человека. Основные педагогические понятия (категории). Предмет педагогики высшей школы. Задачи педагогики высшей школы.</a:t>
            </a:r>
            <a:r>
              <a:rPr lang="ru-RU" sz="2800" b="1" dirty="0" smtClean="0"/>
              <a:t> </a:t>
            </a:r>
            <a:r>
              <a:rPr lang="ru-RU" sz="2800" dirty="0" smtClean="0"/>
              <a:t>Связь педагогики с психологией.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929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85881" y="256674"/>
            <a:ext cx="8596668" cy="7860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Психология как наука о </a:t>
            </a:r>
            <a:r>
              <a:rPr lang="ru-RU" b="1" dirty="0" smtClean="0"/>
              <a:t>человеке 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77334" y="1171074"/>
            <a:ext cx="10022750" cy="5566610"/>
          </a:xfrm>
        </p:spPr>
        <p:txBody>
          <a:bodyPr>
            <a:normAutofit/>
          </a:bodyPr>
          <a:lstStyle/>
          <a:p>
            <a:r>
              <a:rPr lang="ru-RU" sz="3200" b="1" i="1" dirty="0"/>
              <a:t>Психологию следует рассматривать как научное исследование поведения и умственной деятельности человека, а также практическое применение приобретенных знаний</a:t>
            </a:r>
            <a:r>
              <a:rPr lang="ru-RU" sz="3200" b="1" i="1" dirty="0" smtClean="0"/>
              <a:t>.</a:t>
            </a:r>
          </a:p>
          <a:p>
            <a:pPr marL="0" indent="0">
              <a:buNone/>
            </a:pPr>
            <a:endParaRPr lang="ru-RU" sz="2800" b="1" i="1" dirty="0" smtClean="0"/>
          </a:p>
          <a:p>
            <a:r>
              <a:rPr lang="ru-RU" sz="2800" b="1" i="1" dirty="0" smtClean="0"/>
              <a:t>Объектом</a:t>
            </a:r>
            <a:r>
              <a:rPr lang="ru-RU" sz="2800" dirty="0" smtClean="0"/>
              <a:t> </a:t>
            </a:r>
            <a:r>
              <a:rPr lang="ru-RU" sz="2800" dirty="0"/>
              <a:t>в психологии выступает </a:t>
            </a:r>
            <a:r>
              <a:rPr lang="ru-RU" sz="2800" b="1" i="1" dirty="0"/>
              <a:t>человек</a:t>
            </a:r>
            <a:r>
              <a:rPr lang="ru-RU" sz="2800" dirty="0"/>
              <a:t> и </a:t>
            </a:r>
            <a:r>
              <a:rPr lang="ru-RU" sz="2800" b="1" i="1" dirty="0"/>
              <a:t>человеческая реальность</a:t>
            </a:r>
            <a:r>
              <a:rPr lang="ru-RU" sz="2800" dirty="0"/>
              <a:t> во всей своей полноте, </a:t>
            </a:r>
            <a:endParaRPr lang="ru-RU" sz="2800" dirty="0" smtClean="0"/>
          </a:p>
          <a:p>
            <a:r>
              <a:rPr lang="ru-RU" sz="2800" b="1" i="1" dirty="0" smtClean="0"/>
              <a:t>предметом </a:t>
            </a:r>
            <a:r>
              <a:rPr lang="ru-RU" sz="2800" b="1" i="1" dirty="0"/>
              <a:t>– психика и субъективная </a:t>
            </a:r>
            <a:r>
              <a:rPr lang="ru-RU" sz="2800" b="1" i="1" dirty="0" smtClean="0"/>
              <a:t>реальность.</a:t>
            </a:r>
            <a:r>
              <a:rPr lang="ru-RU" sz="2800" dirty="0" smtClean="0"/>
              <a:t>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4415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29920"/>
            <a:ext cx="8570824" cy="1067870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800" b="1" dirty="0" smtClean="0"/>
              <a:t>Основные </a:t>
            </a:r>
            <a:r>
              <a:rPr lang="ru-RU" sz="2800" b="1" dirty="0"/>
              <a:t>психологические понятия (категории): </a:t>
            </a:r>
            <a:br>
              <a:rPr lang="ru-RU" sz="2800" b="1" dirty="0"/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545390"/>
            <a:ext cx="9605655" cy="5112083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3600" b="1" i="1" dirty="0" smtClean="0"/>
              <a:t>Мир </a:t>
            </a:r>
            <a:r>
              <a:rPr lang="ru-RU" sz="3600" b="1" i="1" dirty="0"/>
              <a:t>психических явлений</a:t>
            </a:r>
            <a:r>
              <a:rPr lang="ru-RU" sz="3600" b="1" dirty="0"/>
              <a:t> </a:t>
            </a:r>
          </a:p>
          <a:p>
            <a:pPr algn="ctr"/>
            <a:r>
              <a:rPr lang="ru-RU" sz="3600" b="1" i="1" dirty="0"/>
              <a:t>Познавательные процессы</a:t>
            </a:r>
            <a:r>
              <a:rPr lang="ru-RU" sz="3600" b="1" dirty="0"/>
              <a:t> </a:t>
            </a:r>
          </a:p>
          <a:p>
            <a:pPr algn="ctr"/>
            <a:r>
              <a:rPr lang="ru-RU" sz="3600" b="1" i="1" dirty="0"/>
              <a:t>Психологические свойства (качества)</a:t>
            </a:r>
            <a:r>
              <a:rPr lang="ru-RU" sz="3600" b="1" dirty="0"/>
              <a:t> </a:t>
            </a:r>
          </a:p>
          <a:p>
            <a:pPr algn="ctr"/>
            <a:r>
              <a:rPr lang="ru-RU" sz="3600" b="1" i="1" dirty="0"/>
              <a:t>Психологические состояния личности</a:t>
            </a:r>
            <a:r>
              <a:rPr lang="ru-RU" sz="3600" b="1" dirty="0"/>
              <a:t> </a:t>
            </a:r>
          </a:p>
          <a:p>
            <a:pPr algn="ctr"/>
            <a:r>
              <a:rPr lang="ru-RU" sz="3600" b="1" i="1" dirty="0"/>
              <a:t>Психологические образования</a:t>
            </a:r>
            <a:r>
              <a:rPr lang="ru-RU" sz="3600" b="1" dirty="0"/>
              <a:t> </a:t>
            </a:r>
          </a:p>
          <a:p>
            <a:pPr algn="ctr"/>
            <a:r>
              <a:rPr lang="ru-RU" sz="3600" b="1" i="1" dirty="0"/>
              <a:t>Социально-психологические явления и </a:t>
            </a:r>
            <a:r>
              <a:rPr lang="ru-RU" sz="3600" b="1" i="1" dirty="0" smtClean="0"/>
              <a:t>процессы.</a:t>
            </a:r>
            <a:r>
              <a:rPr lang="ru-RU" sz="3600" b="1" dirty="0" smtClean="0"/>
              <a:t> </a:t>
            </a:r>
            <a:endParaRPr lang="ru-RU" sz="36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822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40631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 smtClean="0"/>
              <a:t>Психология </a:t>
            </a:r>
            <a:r>
              <a:rPr lang="ru-RU" sz="4000" b="1" dirty="0"/>
              <a:t>высшей </a:t>
            </a:r>
            <a:r>
              <a:rPr lang="ru-RU" sz="4000" b="1" dirty="0" smtClean="0"/>
              <a:t>школы</a:t>
            </a:r>
            <a:r>
              <a:rPr lang="ru-RU" sz="4000" b="1" dirty="0"/>
              <a:t/>
            </a:r>
            <a:br>
              <a:rPr lang="ru-RU" sz="4000" b="1" dirty="0"/>
            </a:b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005841"/>
            <a:ext cx="11016827" cy="5651634"/>
          </a:xfrm>
        </p:spPr>
        <p:txBody>
          <a:bodyPr>
            <a:normAutofit/>
          </a:bodyPr>
          <a:lstStyle/>
          <a:p>
            <a:r>
              <a:rPr lang="ru-RU" sz="2800" b="1" dirty="0"/>
              <a:t>Психология высшей школы как научная отрасль изучает психологические особенности деятельности преподавателя и обучаемых вуза, психологические закономерности становления будущего специалиста, представляет обобщения и рекомендации, предназначенные для участников педагогического процесса и способствующие его оптимизации.</a:t>
            </a:r>
          </a:p>
          <a:p>
            <a:r>
              <a:rPr lang="ru-RU" sz="2800" b="1" i="1" dirty="0"/>
              <a:t>Объект психологии высшей школы</a:t>
            </a:r>
            <a:r>
              <a:rPr lang="ru-RU" sz="2800" dirty="0"/>
              <a:t>: изучение психологических аспектов педагогического процесса в целом, анализ его компонентов с учетом их органической взаимосвязанности и единства.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248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0880" y="574040"/>
            <a:ext cx="10911840" cy="10515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Предмет психологии высшей </a:t>
            </a:r>
            <a:r>
              <a:rPr lang="ru-RU" b="1" dirty="0" smtClean="0"/>
              <a:t>школы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737360"/>
            <a:ext cx="10600267" cy="4094479"/>
          </a:xfrm>
        </p:spPr>
        <p:txBody>
          <a:bodyPr>
            <a:normAutofit/>
          </a:bodyPr>
          <a:lstStyle/>
          <a:p>
            <a:pPr algn="just"/>
            <a:r>
              <a:rPr lang="ru-RU" sz="24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1. Психологические </a:t>
            </a:r>
            <a:r>
              <a:rPr lang="ru-RU" sz="2400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зависимости и </a:t>
            </a:r>
            <a:r>
              <a:rPr lang="ru-RU" sz="24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механизмы.</a:t>
            </a:r>
          </a:p>
          <a:p>
            <a:pPr algn="just"/>
            <a:r>
              <a:rPr lang="ru-RU" sz="2400" b="1" i="1" dirty="0">
                <a:latin typeface="Calibri" pitchFamily="34" charset="0"/>
                <a:cs typeface="Calibri" pitchFamily="34" charset="0"/>
              </a:rPr>
              <a:t>Психологические компоненты педагогического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процесса:</a:t>
            </a:r>
            <a:endParaRPr lang="ru-RU" sz="24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Информационный обмен</a:t>
            </a:r>
            <a:r>
              <a:rPr lang="ru-RU" sz="2400" b="1" dirty="0" smtClean="0">
                <a:latin typeface="Calibri" pitchFamily="34" charset="0"/>
                <a:cs typeface="Calibri" pitchFamily="34" charset="0"/>
              </a:rPr>
              <a:t> (обеспечивается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функционированием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психических процессов преподавателя и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студента);</a:t>
            </a:r>
          </a:p>
          <a:p>
            <a:pPr algn="just"/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Мотивационный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компонент</a:t>
            </a:r>
            <a:r>
              <a:rPr lang="ru-RU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b="1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обеспечивает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активность взаимодействия педагога и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обучаемого);</a:t>
            </a:r>
          </a:p>
          <a:p>
            <a:pPr algn="just"/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Коммуникационные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характеристики</a:t>
            </a:r>
            <a:r>
              <a:rPr lang="ru-RU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b="1" dirty="0" smtClean="0">
                <a:latin typeface="Calibri" pitchFamily="34" charset="0"/>
                <a:cs typeface="Calibri" pitchFamily="34" charset="0"/>
              </a:rPr>
              <a:t>(определяют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психические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состояния педагога и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студента);</a:t>
            </a:r>
          </a:p>
          <a:p>
            <a:pPr algn="just"/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Содержательная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сторона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(обеспечивает формирование </a:t>
            </a:r>
            <a:r>
              <a:rPr lang="ru-RU" sz="2400" b="1" i="1" dirty="0">
                <a:latin typeface="Calibri" pitchFamily="34" charset="0"/>
                <a:cs typeface="Calibri" pitchFamily="34" charset="0"/>
              </a:rPr>
              <a:t>у обучаемых системы психических </a:t>
            </a:r>
            <a:r>
              <a:rPr lang="ru-RU" sz="2400" b="1" i="1" dirty="0" smtClean="0">
                <a:latin typeface="Calibri" pitchFamily="34" charset="0"/>
                <a:cs typeface="Calibri" pitchFamily="34" charset="0"/>
              </a:rPr>
              <a:t>образований).</a:t>
            </a:r>
            <a:endParaRPr lang="ru-RU" sz="24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11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1052" y="540337"/>
            <a:ext cx="11232147" cy="5940674"/>
          </a:xfrm>
        </p:spPr>
        <p:txBody>
          <a:bodyPr>
            <a:noAutofit/>
          </a:bodyPr>
          <a:lstStyle/>
          <a:p>
            <a:r>
              <a:rPr lang="ru-RU" sz="4000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2.</a:t>
            </a:r>
            <a:r>
              <a:rPr lang="ru-RU" sz="4000" i="1" dirty="0" smtClean="0">
                <a:latin typeface="Calibri" pitchFamily="34" charset="0"/>
                <a:cs typeface="Calibri" pitchFamily="34" charset="0"/>
              </a:rPr>
              <a:t> Закономерности </a:t>
            </a:r>
            <a:r>
              <a:rPr lang="ru-RU" sz="4000" i="1" dirty="0">
                <a:latin typeface="Calibri" pitchFamily="34" charset="0"/>
                <a:cs typeface="Calibri" pitchFamily="34" charset="0"/>
              </a:rPr>
              <a:t>проявления психологии студенческого и преподавательского коллективов, включенных в педагогический процесс.</a:t>
            </a:r>
            <a:endParaRPr lang="ru-RU" sz="4000" dirty="0">
              <a:latin typeface="Calibri" pitchFamily="34" charset="0"/>
              <a:cs typeface="Calibri" pitchFamily="34" charset="0"/>
            </a:endParaRPr>
          </a:p>
          <a:p>
            <a:endParaRPr lang="ru-RU" sz="4000" i="1" dirty="0" smtClean="0">
              <a:latin typeface="Calibri" pitchFamily="34" charset="0"/>
              <a:cs typeface="Calibri" pitchFamily="34" charset="0"/>
            </a:endParaRPr>
          </a:p>
          <a:p>
            <a:r>
              <a:rPr lang="ru-RU" sz="4000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3.</a:t>
            </a:r>
            <a:r>
              <a:rPr lang="ru-RU" sz="4000" i="1" dirty="0" smtClean="0">
                <a:latin typeface="Calibri" pitchFamily="34" charset="0"/>
                <a:cs typeface="Calibri" pitchFamily="34" charset="0"/>
              </a:rPr>
              <a:t> Педагогическая </a:t>
            </a:r>
            <a:r>
              <a:rPr lang="ru-RU" sz="4000" i="1" dirty="0">
                <a:latin typeface="Calibri" pitchFamily="34" charset="0"/>
                <a:cs typeface="Calibri" pitchFamily="34" charset="0"/>
              </a:rPr>
              <a:t>деятельность педагогов и обучаемых.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64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9253" y="497840"/>
            <a:ext cx="10135046" cy="1042737"/>
          </a:xfrm>
        </p:spPr>
        <p:txBody>
          <a:bodyPr>
            <a:noAutofit/>
          </a:bodyPr>
          <a:lstStyle/>
          <a:p>
            <a:pPr algn="ctr"/>
            <a:r>
              <a:rPr lang="ru-RU" sz="2400" b="1" i="1" dirty="0" smtClean="0"/>
              <a:t/>
            </a:r>
            <a:br>
              <a:rPr lang="ru-RU" sz="2400" b="1" i="1" dirty="0" smtClean="0"/>
            </a:br>
            <a:r>
              <a:rPr lang="ru-RU" sz="2400" i="1" dirty="0"/>
              <a:t/>
            </a:r>
            <a:br>
              <a:rPr lang="ru-RU" sz="2400" i="1" dirty="0"/>
            </a:br>
            <a:r>
              <a:rPr lang="ru-RU" sz="2400" b="1" i="1" dirty="0" smtClean="0"/>
              <a:t>Психология </a:t>
            </a:r>
            <a:r>
              <a:rPr lang="ru-RU" sz="2400" b="1" i="1" dirty="0"/>
              <a:t>высшей школы исследует ряд направлений: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042737"/>
            <a:ext cx="11159067" cy="5327583"/>
          </a:xfrm>
        </p:spPr>
        <p:txBody>
          <a:bodyPr>
            <a:noAutofit/>
          </a:bodyPr>
          <a:lstStyle/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раскрывает закономерности познавательной деятельности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обучаемого; 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определяет значение эмоционально-волевой сферы психики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обучаемого;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раскрывает механизм проявления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мотивации;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исследует психологические закономерности становления личности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обучаемого; 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выявляет психологические закономерности формирования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ЗУН и </a:t>
            </a: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мастерства будущего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специалиста;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изучает задачи, условия и содержание деятельности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специалистов; 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анализирует процесс обучения и воспитания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студентов;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разрабатывает социально-психологическую характеристику контингента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обучаемых;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реализует методы изучения индивидуально-психологических и групповых особенностей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обучаемых;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выявляет психологические предпосылки повышения эффективности учебных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занятий; 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принимает участие в разработке научной организации, методики и содержания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преподавания; </a:t>
            </a:r>
          </a:p>
          <a:p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дает </a:t>
            </a: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 педагогической деятельности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преподавателя; </a:t>
            </a:r>
          </a:p>
          <a:p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осуществляет социально-психологическое изучение педагогических коллективов </a:t>
            </a:r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кафедр.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524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2832" y="568959"/>
            <a:ext cx="10587968" cy="117962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sz="3100" b="1" dirty="0" smtClean="0"/>
              <a:t>Педагогика </a:t>
            </a:r>
            <a:r>
              <a:rPr lang="ru-RU" sz="3100" b="1" dirty="0"/>
              <a:t>как наука о законах образования и воспитания </a:t>
            </a:r>
            <a:r>
              <a:rPr lang="ru-RU" sz="3100" b="1" dirty="0" smtClean="0"/>
              <a:t>человека</a:t>
            </a:r>
            <a:r>
              <a:rPr lang="ru-RU" sz="3100" dirty="0"/>
              <a:t/>
            </a:r>
            <a:br>
              <a:rPr lang="ru-RU" sz="3100" dirty="0"/>
            </a:br>
            <a:endParaRPr lang="ru-RU" sz="3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545389"/>
            <a:ext cx="10151087" cy="5312611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Свое название педагогика получила от греческих слов (</a:t>
            </a:r>
            <a:r>
              <a:rPr lang="ru-RU" sz="2400" dirty="0" err="1"/>
              <a:t>пайдос</a:t>
            </a:r>
            <a:r>
              <a:rPr lang="ru-RU" sz="2400" dirty="0"/>
              <a:t>) – дитя и (</a:t>
            </a:r>
            <a:r>
              <a:rPr lang="ru-RU" sz="2400" dirty="0" err="1"/>
              <a:t>аго</a:t>
            </a:r>
            <a:r>
              <a:rPr lang="ru-RU" sz="2400" dirty="0"/>
              <a:t>) – </a:t>
            </a:r>
            <a:r>
              <a:rPr lang="ru-RU" sz="2400" dirty="0" smtClean="0"/>
              <a:t>вести; </a:t>
            </a:r>
            <a:r>
              <a:rPr lang="ru-RU" sz="2400" b="1" dirty="0" smtClean="0"/>
              <a:t>(</a:t>
            </a:r>
            <a:r>
              <a:rPr lang="ru-RU" sz="2400" b="1" dirty="0" err="1"/>
              <a:t>пайдагос</a:t>
            </a:r>
            <a:r>
              <a:rPr lang="ru-RU" sz="2400" b="1" dirty="0"/>
              <a:t>) – означает </a:t>
            </a:r>
            <a:r>
              <a:rPr lang="ru-RU" sz="2400" b="1" dirty="0" err="1"/>
              <a:t>детоводитель</a:t>
            </a:r>
            <a:r>
              <a:rPr lang="ru-RU" sz="2400" b="1" dirty="0" smtClean="0"/>
              <a:t>.</a:t>
            </a:r>
          </a:p>
          <a:p>
            <a:r>
              <a:rPr lang="ru-RU" sz="2800" b="1" dirty="0" smtClean="0"/>
              <a:t>Педагогика - наука </a:t>
            </a:r>
            <a:r>
              <a:rPr lang="ru-RU" sz="2800" b="1" dirty="0"/>
              <a:t>о воспитании подрастающих поколений и взрослых людей посредством целенаправленной, специально организованной системы воздействия. </a:t>
            </a:r>
            <a:endParaRPr lang="ru-RU" sz="2800" b="1" dirty="0" smtClean="0"/>
          </a:p>
          <a:p>
            <a:r>
              <a:rPr lang="ru-RU" sz="2400" b="1" i="1" dirty="0"/>
              <a:t>О</a:t>
            </a:r>
            <a:r>
              <a:rPr lang="ru-RU" sz="2400" b="1" i="1" dirty="0" smtClean="0"/>
              <a:t>бъектом </a:t>
            </a:r>
            <a:r>
              <a:rPr lang="ru-RU" sz="2400" b="1" i="1" dirty="0"/>
              <a:t>педагогической науки</a:t>
            </a:r>
            <a:r>
              <a:rPr lang="ru-RU" sz="2400" dirty="0"/>
              <a:t> является </a:t>
            </a:r>
            <a:r>
              <a:rPr lang="ru-RU" sz="2400" dirty="0" smtClean="0"/>
              <a:t>человек.</a:t>
            </a:r>
            <a:endParaRPr lang="ru-RU" sz="2800" b="1" dirty="0" smtClean="0"/>
          </a:p>
          <a:p>
            <a:r>
              <a:rPr lang="ru-RU" sz="2800" b="1" i="1" dirty="0"/>
              <a:t>П</a:t>
            </a:r>
            <a:r>
              <a:rPr lang="ru-RU" sz="2800" b="1" i="1" dirty="0" smtClean="0"/>
              <a:t>редметом </a:t>
            </a:r>
            <a:r>
              <a:rPr lang="ru-RU" sz="2800" b="1" i="1" dirty="0"/>
              <a:t>педагогики</a:t>
            </a:r>
            <a:r>
              <a:rPr lang="ru-RU" sz="2800" dirty="0"/>
              <a:t> является особая, целенаправленная, </a:t>
            </a:r>
            <a:r>
              <a:rPr lang="ru-RU" sz="2800" i="1" dirty="0"/>
              <a:t>социально и личностно детерминированная деятельность по приобщению человека к жизни общества.</a:t>
            </a:r>
            <a:endParaRPr lang="ru-RU" sz="2800" dirty="0"/>
          </a:p>
          <a:p>
            <a:r>
              <a:rPr lang="ru-RU" sz="2800" dirty="0"/>
              <a:t>Е</a:t>
            </a:r>
            <a:r>
              <a:rPr lang="ru-RU" sz="2800" dirty="0" smtClean="0"/>
              <a:t>е </a:t>
            </a:r>
            <a:r>
              <a:rPr lang="ru-RU" sz="2800" dirty="0"/>
              <a:t>обозначают термином </a:t>
            </a:r>
            <a:r>
              <a:rPr lang="ru-RU" sz="2800" b="1" i="1" dirty="0" smtClean="0"/>
              <a:t>воспитание.</a:t>
            </a:r>
            <a:endParaRPr lang="ru-RU" sz="2800" b="1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759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1831" y="365306"/>
            <a:ext cx="11404089" cy="814858"/>
          </a:xfrm>
        </p:spPr>
        <p:txBody>
          <a:bodyPr>
            <a:noAutofit/>
          </a:bodyPr>
          <a:lstStyle/>
          <a:p>
            <a:pPr algn="ctr"/>
            <a:r>
              <a:rPr lang="ru-RU" sz="2400" b="1" i="1" dirty="0"/>
              <a:t>Классификация педагогических дисциплин</a:t>
            </a:r>
            <a:r>
              <a:rPr lang="ru-RU" sz="2400" i="1" dirty="0"/>
              <a:t>: 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288531" y="1137768"/>
            <a:ext cx="3625968" cy="1483220"/>
          </a:xfrm>
        </p:spPr>
        <p:txBody>
          <a:bodyPr>
            <a:normAutofit lnSpcReduction="10000"/>
          </a:bodyPr>
          <a:lstStyle/>
          <a:p>
            <a:r>
              <a:rPr lang="ru-RU" b="1" i="1" dirty="0"/>
              <a:t>1. Науки о воспитании, обучении и о самой педагогике.</a:t>
            </a:r>
            <a:endParaRPr lang="ru-RU" b="1" dirty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4878793" y="990321"/>
            <a:ext cx="5932543" cy="2719694"/>
          </a:xfrm>
        </p:spPr>
        <p:txBody>
          <a:bodyPr/>
          <a:lstStyle/>
          <a:p>
            <a:r>
              <a:rPr lang="ru-RU" i="1" dirty="0"/>
              <a:t>2. </a:t>
            </a:r>
            <a:r>
              <a:rPr lang="ru-RU" b="1" i="1" dirty="0"/>
              <a:t>Отрасли применения педагогических положений </a:t>
            </a:r>
            <a:r>
              <a:rPr lang="ru-RU" i="1" dirty="0"/>
              <a:t>к различным этапам образования, определенным контингентам воспитанников и обучающихся и к сферам деятельности.</a:t>
            </a:r>
            <a:endParaRPr lang="ru-RU" dirty="0"/>
          </a:p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2"/>
          </p:nvPr>
        </p:nvSpPr>
        <p:spPr>
          <a:xfrm>
            <a:off x="288531" y="2339029"/>
            <a:ext cx="3946359" cy="3690359"/>
          </a:xfrm>
        </p:spPr>
        <p:txBody>
          <a:bodyPr>
            <a:normAutofit/>
          </a:bodyPr>
          <a:lstStyle/>
          <a:p>
            <a:r>
              <a:rPr lang="ru-RU" sz="2000" b="1" i="1" dirty="0" smtClean="0"/>
              <a:t>Общая </a:t>
            </a:r>
            <a:r>
              <a:rPr lang="ru-RU" sz="2000" b="1" i="1" dirty="0"/>
              <a:t>педагогика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b="1" i="1" dirty="0" smtClean="0"/>
              <a:t>Дидактика</a:t>
            </a:r>
          </a:p>
          <a:p>
            <a:r>
              <a:rPr lang="ru-RU" sz="2000" b="1" i="1" dirty="0"/>
              <a:t>Теория </a:t>
            </a:r>
            <a:r>
              <a:rPr lang="ru-RU" sz="2000" b="1" i="1" dirty="0" smtClean="0"/>
              <a:t>воспитания</a:t>
            </a:r>
          </a:p>
          <a:p>
            <a:r>
              <a:rPr lang="ru-RU" sz="2000" b="1" i="1" dirty="0"/>
              <a:t>Частные методики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b="1" i="1" dirty="0"/>
              <a:t>История педагогики и </a:t>
            </a:r>
            <a:r>
              <a:rPr lang="ru-RU" sz="2000" b="1" i="1" dirty="0" smtClean="0"/>
              <a:t>образования</a:t>
            </a:r>
          </a:p>
          <a:p>
            <a:r>
              <a:rPr lang="ru-RU" sz="2000" b="1" i="1" dirty="0"/>
              <a:t>Сравнительная педагогика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b="1" i="1" dirty="0"/>
              <a:t>Методология </a:t>
            </a:r>
            <a:r>
              <a:rPr lang="ru-RU" sz="2000" b="1" i="1" dirty="0" smtClean="0"/>
              <a:t>педагогики.</a:t>
            </a:r>
            <a:r>
              <a:rPr lang="ru-RU" sz="2000" dirty="0" smtClean="0"/>
              <a:t> 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878793" y="3382442"/>
            <a:ext cx="4185617" cy="3104147"/>
          </a:xfrm>
        </p:spPr>
        <p:txBody>
          <a:bodyPr>
            <a:normAutofit fontScale="85000" lnSpcReduction="10000"/>
          </a:bodyPr>
          <a:lstStyle/>
          <a:p>
            <a:r>
              <a:rPr lang="ru-RU" b="1" i="1" dirty="0"/>
              <a:t>Возрастная педагогика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b="1" i="1" dirty="0"/>
              <a:t>Профессиональная педагогика</a:t>
            </a:r>
            <a:r>
              <a:rPr lang="ru-RU" dirty="0"/>
              <a:t>, </a:t>
            </a:r>
            <a:endParaRPr lang="ru-RU" dirty="0" smtClean="0"/>
          </a:p>
          <a:p>
            <a:r>
              <a:rPr lang="ru-RU" b="1" i="1" dirty="0"/>
              <a:t>Коррекционная (специальная) педагогика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b="1" i="1" dirty="0"/>
              <a:t>Отраслевая педагогика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b="1" i="1" dirty="0"/>
              <a:t>Социальная педагогика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b="1" i="1" dirty="0"/>
              <a:t>Исправительно-трудовая </a:t>
            </a:r>
            <a:r>
              <a:rPr lang="ru-RU" b="1" i="1" dirty="0" smtClean="0"/>
              <a:t>педагогика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25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77334" y="224589"/>
            <a:ext cx="10996506" cy="1780674"/>
          </a:xfrm>
        </p:spPr>
        <p:txBody>
          <a:bodyPr>
            <a:normAutofit/>
          </a:bodyPr>
          <a:lstStyle/>
          <a:p>
            <a:r>
              <a:rPr lang="ru-RU" sz="2000" b="1" i="1" dirty="0">
                <a:solidFill>
                  <a:srgbClr val="FF0000"/>
                </a:solidFill>
              </a:rPr>
              <a:t>Функции педагогики</a:t>
            </a:r>
            <a:r>
              <a:rPr lang="ru-RU" sz="2000" b="1" i="1" dirty="0" smtClean="0">
                <a:solidFill>
                  <a:srgbClr val="FF0000"/>
                </a:solidFill>
              </a:rPr>
              <a:t>: </a:t>
            </a:r>
            <a:r>
              <a:rPr lang="ru-RU" sz="2000" i="1" dirty="0" smtClean="0">
                <a:solidFill>
                  <a:schemeClr val="accent2">
                    <a:lumMod val="75000"/>
                  </a:schemeClr>
                </a:solidFill>
              </a:rPr>
              <a:t>Теоретические</a:t>
            </a:r>
            <a:r>
              <a:rPr lang="ru-RU" sz="2000" i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ru-RU" sz="2000" i="1" dirty="0"/>
              <a:t> </a:t>
            </a:r>
            <a:r>
              <a:rPr lang="ru-RU" sz="2000" dirty="0"/>
              <a:t>описательная (объяснительная), диагностическая, прогностическая.</a:t>
            </a:r>
            <a:br>
              <a:rPr lang="ru-RU" sz="2000" dirty="0"/>
            </a:br>
            <a:r>
              <a:rPr lang="ru-RU" sz="2000" i="1" dirty="0">
                <a:solidFill>
                  <a:schemeClr val="accent2">
                    <a:lumMod val="75000"/>
                  </a:schemeClr>
                </a:solidFill>
              </a:rPr>
              <a:t>Технологические:</a:t>
            </a:r>
            <a:r>
              <a:rPr lang="ru-RU" sz="2000" dirty="0"/>
              <a:t> проектная, преобразовательная, рефлексивная.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77334" y="1764633"/>
            <a:ext cx="10054834" cy="4940968"/>
          </a:xfrm>
        </p:spPr>
        <p:txBody>
          <a:bodyPr/>
          <a:lstStyle/>
          <a:p>
            <a:r>
              <a:rPr lang="ru-RU" sz="2000" b="1" i="1" dirty="0"/>
              <a:t>Задачи педагогики как науки:</a:t>
            </a:r>
            <a:endParaRPr lang="ru-RU" sz="2000" dirty="0"/>
          </a:p>
          <a:p>
            <a:r>
              <a:rPr lang="ru-RU" sz="2000" i="1" dirty="0"/>
              <a:t>Вскрытие закономерностей в области образования и управления образовательными системами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i="1" dirty="0"/>
              <a:t>Изучение и обобщение практики, опыта педагогической деятельности.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i="1" dirty="0"/>
              <a:t>Разработка новых методов, средств, форм, систем обучения, воспитания, управления образовательными структурами.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i="1" dirty="0"/>
              <a:t>Прогнозирование образования.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i="1" dirty="0"/>
              <a:t>Внедрение результатов исследований в практику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i="1" dirty="0" smtClean="0"/>
              <a:t>Разработка </a:t>
            </a:r>
            <a:r>
              <a:rPr lang="ru-RU" sz="2000" i="1" dirty="0"/>
              <a:t>теоретических, методологических основ инновационных процессов, рациональных связей теории и практики, взаимопроникновения исследовательской и практической деятельности.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65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02765" y="118989"/>
            <a:ext cx="8596668" cy="1320800"/>
          </a:xfrm>
        </p:spPr>
        <p:txBody>
          <a:bodyPr/>
          <a:lstStyle/>
          <a:p>
            <a:pPr algn="ctr"/>
            <a:r>
              <a:rPr lang="ru-RU" b="1" dirty="0"/>
              <a:t>Основные педагогические понятия</a:t>
            </a:r>
            <a:r>
              <a:rPr lang="ru-RU" b="1" i="1" dirty="0"/>
              <a:t> (категории</a:t>
            </a:r>
            <a:r>
              <a:rPr lang="ru-RU" b="1" i="1" dirty="0" smtClean="0"/>
              <a:t>)</a:t>
            </a:r>
            <a:r>
              <a:rPr lang="ru-RU" b="1" dirty="0"/>
              <a:t>:</a:t>
            </a:r>
            <a:r>
              <a:rPr lang="ru-RU" b="1" dirty="0" smtClean="0"/>
              <a:t> 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338861" y="1545389"/>
            <a:ext cx="4185623" cy="812192"/>
          </a:xfrm>
        </p:spPr>
        <p:txBody>
          <a:bodyPr>
            <a:normAutofit fontScale="85000" lnSpcReduction="10000"/>
          </a:bodyPr>
          <a:lstStyle/>
          <a:p>
            <a:r>
              <a:rPr lang="ru-RU" sz="2800" b="1" i="1" dirty="0"/>
              <a:t>Основные категории педагогики:</a:t>
            </a:r>
            <a:r>
              <a:rPr lang="ru-RU" sz="2800" i="1" dirty="0"/>
              <a:t> </a:t>
            </a:r>
            <a:endParaRPr lang="ru-RU" sz="2800" dirty="0"/>
          </a:p>
        </p:txBody>
      </p:sp>
      <p:sp>
        <p:nvSpPr>
          <p:cNvPr id="7" name="Текст 6"/>
          <p:cNvSpPr>
            <a:spLocks noGrp="1"/>
          </p:cNvSpPr>
          <p:nvPr>
            <p:ph type="body" sz="half" idx="3"/>
          </p:nvPr>
        </p:nvSpPr>
        <p:spPr>
          <a:xfrm>
            <a:off x="5201099" y="1535995"/>
            <a:ext cx="4185618" cy="576262"/>
          </a:xfrm>
        </p:spPr>
        <p:txBody>
          <a:bodyPr/>
          <a:lstStyle/>
          <a:p>
            <a:r>
              <a:rPr lang="ru-RU" sz="2800" i="1" dirty="0"/>
              <a:t>С</a:t>
            </a:r>
            <a:r>
              <a:rPr lang="ru-RU" sz="2800" i="1" dirty="0" smtClean="0"/>
              <a:t>очетания:</a:t>
            </a:r>
            <a:r>
              <a:rPr lang="ru-RU" sz="2800" dirty="0" smtClean="0"/>
              <a:t> </a:t>
            </a:r>
            <a:endParaRPr lang="ru-RU" sz="2800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2"/>
          </p:nvPr>
        </p:nvSpPr>
        <p:spPr>
          <a:xfrm>
            <a:off x="338861" y="2521297"/>
            <a:ext cx="4185623" cy="3731337"/>
          </a:xfrm>
        </p:spPr>
        <p:txBody>
          <a:bodyPr>
            <a:normAutofit/>
          </a:bodyPr>
          <a:lstStyle/>
          <a:p>
            <a:r>
              <a:rPr lang="ru-RU" sz="3200" i="1" dirty="0"/>
              <a:t>образование, </a:t>
            </a:r>
            <a:endParaRPr lang="ru-RU" sz="3200" i="1" dirty="0" smtClean="0"/>
          </a:p>
          <a:p>
            <a:r>
              <a:rPr lang="ru-RU" sz="3200" i="1" dirty="0" smtClean="0"/>
              <a:t>обучение</a:t>
            </a:r>
            <a:r>
              <a:rPr lang="ru-RU" sz="3200" i="1" dirty="0"/>
              <a:t>, </a:t>
            </a:r>
            <a:endParaRPr lang="ru-RU" sz="3200" i="1" dirty="0" smtClean="0"/>
          </a:p>
          <a:p>
            <a:r>
              <a:rPr lang="ru-RU" sz="3200" i="1" dirty="0" smtClean="0"/>
              <a:t>воспитание</a:t>
            </a:r>
            <a:r>
              <a:rPr lang="ru-RU" sz="3200" i="1" dirty="0"/>
              <a:t>, </a:t>
            </a:r>
            <a:endParaRPr lang="ru-RU" sz="3200" i="1" dirty="0" smtClean="0"/>
          </a:p>
          <a:p>
            <a:r>
              <a:rPr lang="ru-RU" sz="3200" i="1" dirty="0" smtClean="0"/>
              <a:t>развитие</a:t>
            </a:r>
            <a:r>
              <a:rPr lang="ru-RU" sz="3200" i="1" dirty="0"/>
              <a:t>, </a:t>
            </a:r>
            <a:endParaRPr lang="ru-RU" sz="3200" i="1" dirty="0" smtClean="0"/>
          </a:p>
          <a:p>
            <a:r>
              <a:rPr lang="ru-RU" sz="3200" i="1" dirty="0" smtClean="0"/>
              <a:t>формирование</a:t>
            </a:r>
            <a:r>
              <a:rPr lang="ru-RU" sz="3200" i="1" dirty="0"/>
              <a:t>.</a:t>
            </a:r>
            <a:endParaRPr lang="ru-RU" sz="3200" dirty="0"/>
          </a:p>
          <a:p>
            <a:endParaRPr lang="ru-RU" sz="3200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5201099" y="2123541"/>
            <a:ext cx="5867954" cy="4526851"/>
          </a:xfrm>
        </p:spPr>
        <p:txBody>
          <a:bodyPr>
            <a:noAutofit/>
          </a:bodyPr>
          <a:lstStyle/>
          <a:p>
            <a:r>
              <a:rPr lang="ru-RU" sz="2800" i="1" dirty="0"/>
              <a:t>педагогическая система, </a:t>
            </a:r>
            <a:endParaRPr lang="ru-RU" sz="2800" i="1" dirty="0" smtClean="0"/>
          </a:p>
          <a:p>
            <a:r>
              <a:rPr lang="ru-RU" sz="2800" i="1" dirty="0" smtClean="0"/>
              <a:t>педагогическая </a:t>
            </a:r>
            <a:r>
              <a:rPr lang="ru-RU" sz="2800" i="1" dirty="0"/>
              <a:t>деятельность, </a:t>
            </a:r>
            <a:endParaRPr lang="ru-RU" sz="2800" i="1" dirty="0" smtClean="0"/>
          </a:p>
          <a:p>
            <a:r>
              <a:rPr lang="ru-RU" sz="2800" i="1" dirty="0" smtClean="0"/>
              <a:t>педагогическая </a:t>
            </a:r>
            <a:r>
              <a:rPr lang="ru-RU" sz="2800" i="1" dirty="0"/>
              <a:t>действительность, </a:t>
            </a:r>
            <a:endParaRPr lang="ru-RU" sz="2800" i="1" dirty="0" smtClean="0"/>
          </a:p>
          <a:p>
            <a:r>
              <a:rPr lang="ru-RU" sz="2800" i="1" dirty="0" smtClean="0"/>
              <a:t>образовательный </a:t>
            </a:r>
            <a:r>
              <a:rPr lang="ru-RU" sz="2800" i="1" dirty="0"/>
              <a:t>(педагогический) процесс, </a:t>
            </a:r>
            <a:endParaRPr lang="ru-RU" sz="2800" i="1" dirty="0" smtClean="0"/>
          </a:p>
          <a:p>
            <a:r>
              <a:rPr lang="ru-RU" sz="2800" i="1" dirty="0" smtClean="0"/>
              <a:t>педагогическое взаимодействие.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3522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917966" y="208548"/>
            <a:ext cx="10034514" cy="1320800"/>
          </a:xfrm>
        </p:spPr>
        <p:txBody>
          <a:bodyPr>
            <a:normAutofit/>
          </a:bodyPr>
          <a:lstStyle/>
          <a:p>
            <a:r>
              <a:rPr lang="ru-RU" sz="3000" b="1" dirty="0"/>
              <a:t>Предмет педагогики высшей </a:t>
            </a:r>
            <a:r>
              <a:rPr lang="ru-RU" sz="3000" b="1" dirty="0" smtClean="0"/>
              <a:t>школы</a:t>
            </a:r>
            <a:r>
              <a:rPr lang="ru-RU" sz="3000" dirty="0"/>
              <a:t/>
            </a:r>
            <a:br>
              <a:rPr lang="ru-RU" sz="3000" dirty="0"/>
            </a:br>
            <a:endParaRPr lang="ru-RU" sz="3000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77333" y="1235242"/>
            <a:ext cx="10391720" cy="5342021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i="1" dirty="0"/>
              <a:t>Объектом</a:t>
            </a:r>
            <a:r>
              <a:rPr lang="ru-RU" sz="2800" dirty="0"/>
              <a:t> </a:t>
            </a:r>
            <a:r>
              <a:rPr lang="ru-RU" sz="2800" b="1" i="1" dirty="0"/>
              <a:t>исследований педагогики </a:t>
            </a:r>
            <a:r>
              <a:rPr lang="ru-RU" sz="2800" b="1" i="1" dirty="0" smtClean="0"/>
              <a:t>ВШ </a:t>
            </a:r>
            <a:r>
              <a:rPr lang="ru-RU" sz="2800" dirty="0" smtClean="0"/>
              <a:t>является </a:t>
            </a:r>
            <a:r>
              <a:rPr lang="ru-RU" sz="2800" dirty="0"/>
              <a:t>многогранная деятельность, университетов </a:t>
            </a:r>
            <a:r>
              <a:rPr lang="ru-RU" sz="2800" dirty="0" smtClean="0"/>
              <a:t>по </a:t>
            </a:r>
            <a:r>
              <a:rPr lang="ru-RU" sz="2800" dirty="0"/>
              <a:t>подготовке высокопрофессиональных </a:t>
            </a:r>
            <a:r>
              <a:rPr lang="ru-RU" sz="2800" dirty="0" smtClean="0"/>
              <a:t>специалистов.</a:t>
            </a:r>
          </a:p>
          <a:p>
            <a:r>
              <a:rPr lang="ru-RU" sz="2800" b="1" i="1" dirty="0" smtClean="0"/>
              <a:t>Предметом </a:t>
            </a:r>
            <a:r>
              <a:rPr lang="ru-RU" sz="2800" b="1" i="1" dirty="0"/>
              <a:t>педагогики </a:t>
            </a:r>
            <a:r>
              <a:rPr lang="ru-RU" sz="2800" b="1" i="1" dirty="0" smtClean="0"/>
              <a:t>ВШ </a:t>
            </a:r>
            <a:r>
              <a:rPr lang="ru-RU" sz="2800" dirty="0" smtClean="0"/>
              <a:t>является </a:t>
            </a:r>
            <a:r>
              <a:rPr lang="ru-RU" sz="2800" dirty="0"/>
              <a:t>изучение педагогических закономерностей процесса подготовки будущих </a:t>
            </a:r>
            <a:r>
              <a:rPr lang="ru-RU" sz="2800" dirty="0" smtClean="0"/>
              <a:t>специалистов.</a:t>
            </a:r>
          </a:p>
          <a:p>
            <a:r>
              <a:rPr lang="ru-RU" sz="2800" dirty="0"/>
              <a:t>Подготовка студентов вузов складывается из воспитания, обучения и развития (умственного и физического). </a:t>
            </a:r>
            <a:r>
              <a:rPr lang="ru-RU" sz="2800" dirty="0" smtClean="0"/>
              <a:t> </a:t>
            </a:r>
          </a:p>
          <a:p>
            <a:r>
              <a:rPr lang="ru-RU" sz="2800" b="1" dirty="0"/>
              <a:t>Обучение, воспитание и развитие </a:t>
            </a:r>
            <a:r>
              <a:rPr lang="ru-RU" sz="2800" dirty="0"/>
              <a:t>как целенаправленная, взаимообусловленная деятельность преподавателей и обучаемых</a:t>
            </a:r>
            <a:r>
              <a:rPr lang="ru-RU" sz="2800" i="1" dirty="0"/>
              <a:t> образуют </a:t>
            </a:r>
            <a:r>
              <a:rPr lang="ru-RU" sz="2800" b="1" i="1" dirty="0"/>
              <a:t>педагогический процесс высшего учебного заведения.</a:t>
            </a:r>
            <a:r>
              <a:rPr lang="ru-RU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53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920" y="288757"/>
            <a:ext cx="11135360" cy="1652337"/>
          </a:xfrm>
        </p:spPr>
        <p:txBody>
          <a:bodyPr>
            <a:normAutofit/>
          </a:bodyPr>
          <a:lstStyle/>
          <a:p>
            <a:r>
              <a:rPr lang="ru-RU" sz="2700" b="1" i="1" dirty="0" smtClean="0"/>
              <a:t>Функции педагогики ВШ:</a:t>
            </a:r>
            <a:r>
              <a:rPr lang="ru-RU" sz="2700" dirty="0" smtClean="0"/>
              <a:t> </a:t>
            </a:r>
            <a:r>
              <a:rPr lang="ru-RU" sz="2700" i="1" dirty="0"/>
              <a:t>познавательная</a:t>
            </a:r>
            <a:r>
              <a:rPr lang="ru-RU" sz="2700" dirty="0"/>
              <a:t> и </a:t>
            </a:r>
            <a:r>
              <a:rPr lang="ru-RU" sz="2700" i="1" dirty="0" smtClean="0"/>
              <a:t>научно-образовательная;</a:t>
            </a:r>
            <a:r>
              <a:rPr lang="ru-RU" sz="2700" dirty="0" smtClean="0"/>
              <a:t> </a:t>
            </a:r>
            <a:r>
              <a:rPr lang="ru-RU" sz="2700" i="1" dirty="0" err="1"/>
              <a:t>диагностико</a:t>
            </a:r>
            <a:r>
              <a:rPr lang="ru-RU" sz="2700" i="1" dirty="0"/>
              <a:t>-прогностическая</a:t>
            </a:r>
            <a:r>
              <a:rPr lang="ru-RU" sz="2700" dirty="0"/>
              <a:t> и </a:t>
            </a:r>
            <a:r>
              <a:rPr lang="ru-RU" sz="2700" i="1" dirty="0" smtClean="0"/>
              <a:t>преобразовательная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941095"/>
            <a:ext cx="11087946" cy="4709868"/>
          </a:xfrm>
        </p:spPr>
        <p:txBody>
          <a:bodyPr>
            <a:normAutofit/>
          </a:bodyPr>
          <a:lstStyle/>
          <a:p>
            <a:r>
              <a:rPr lang="ru-RU" sz="2800" b="1" i="1" dirty="0" smtClean="0"/>
              <a:t>Педагогика </a:t>
            </a:r>
            <a:r>
              <a:rPr lang="ru-RU" sz="2800" b="1" i="1" dirty="0"/>
              <a:t>ВШ </a:t>
            </a:r>
            <a:endParaRPr lang="ru-RU" sz="2800" b="1" i="1" dirty="0" smtClean="0"/>
          </a:p>
          <a:p>
            <a:r>
              <a:rPr lang="ru-RU" sz="2800" dirty="0" smtClean="0"/>
              <a:t>изучает </a:t>
            </a:r>
            <a:r>
              <a:rPr lang="ru-RU" sz="2800" dirty="0"/>
              <a:t>структуру, функции, содержание и диалектику развития педагогического процесса в вузе, </a:t>
            </a:r>
            <a:endParaRPr lang="ru-RU" sz="2800" dirty="0" smtClean="0"/>
          </a:p>
          <a:p>
            <a:r>
              <a:rPr lang="ru-RU" sz="2800" dirty="0" smtClean="0"/>
              <a:t>обосновывает </a:t>
            </a:r>
            <a:r>
              <a:rPr lang="ru-RU" sz="2800" dirty="0"/>
              <a:t>его принципы, </a:t>
            </a:r>
            <a:endParaRPr lang="ru-RU" sz="2800" dirty="0" smtClean="0"/>
          </a:p>
          <a:p>
            <a:r>
              <a:rPr lang="ru-RU" sz="2800" dirty="0" smtClean="0"/>
              <a:t>определяет </a:t>
            </a:r>
            <a:r>
              <a:rPr lang="ru-RU" sz="2800" dirty="0"/>
              <a:t>методы и организационные формы учебно-воспитательной работы, </a:t>
            </a:r>
            <a:endParaRPr lang="ru-RU" sz="2800" dirty="0" smtClean="0"/>
          </a:p>
          <a:p>
            <a:r>
              <a:rPr lang="ru-RU" sz="2800" dirty="0" smtClean="0"/>
              <a:t>формулирует </a:t>
            </a:r>
            <a:r>
              <a:rPr lang="ru-RU" sz="2800" dirty="0"/>
              <a:t>правила и практические </a:t>
            </a:r>
            <a:r>
              <a:rPr lang="ru-RU" sz="2800" dirty="0" smtClean="0"/>
              <a:t>рекомендации, </a:t>
            </a:r>
          </a:p>
          <a:p>
            <a:r>
              <a:rPr lang="ru-RU" sz="2800" dirty="0" smtClean="0"/>
              <a:t>выступает </a:t>
            </a:r>
            <a:r>
              <a:rPr lang="ru-RU" sz="2800" dirty="0"/>
              <a:t>как система прикладных практических </a:t>
            </a:r>
            <a:r>
              <a:rPr lang="ru-RU" sz="2800" dirty="0" smtClean="0"/>
              <a:t>знаний.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8118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93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Задачи педагогики высшей школы.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47537"/>
            <a:ext cx="10844106" cy="5358063"/>
          </a:xfrm>
        </p:spPr>
        <p:txBody>
          <a:bodyPr>
            <a:normAutofit/>
          </a:bodyPr>
          <a:lstStyle/>
          <a:p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Оказывать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помощь руководству страны, Министерствам и ведомствам в разработке и постоянном уточнении целей и задач подготовки и переподготовки кадров, а также в совершенствовании системы высших учебных заведений в соответствии с изменяющимися социально-экономическими и научно-техническими факторами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азрабатывать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пути и условия формирования у преподавателей и обучаемых сильной и устойчивой мотивации к освоению будущей профессии.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Решать дидактические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проблемы вузов, интегрирование учебных курсов,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совершенствовать формы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методы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обучения студентов,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дифференциацию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обучения,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разработку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 современных методических систем по циклам.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Искать пути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развития индивидуальных способностей обучаемых,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осуществлять содержательное моделирование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их творческих возможностей.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2143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417095"/>
            <a:ext cx="11087946" cy="6192252"/>
          </a:xfrm>
        </p:spPr>
        <p:txBody>
          <a:bodyPr>
            <a:normAutofit/>
          </a:bodyPr>
          <a:lstStyle/>
          <a:p>
            <a:pPr algn="just"/>
            <a:r>
              <a:rPr lang="ru-RU" sz="2400" i="1" dirty="0" smtClean="0"/>
              <a:t>Повышать эффективность </a:t>
            </a:r>
            <a:r>
              <a:rPr lang="ru-RU" sz="2400" i="1" dirty="0"/>
              <a:t>формирования у студентов научного мировоззрения, нравственных и профессиональных качеств, высокой сознательности и ответственности, умения анализировать и оценивать общественные явления, отстаивать идеалы и духовные ценности общества.</a:t>
            </a:r>
            <a:r>
              <a:rPr lang="ru-RU" sz="2400" dirty="0"/>
              <a:t> </a:t>
            </a:r>
          </a:p>
          <a:p>
            <a:pPr algn="just"/>
            <a:r>
              <a:rPr lang="ru-RU" sz="2400" i="1" dirty="0" smtClean="0"/>
              <a:t>Изучать практику </a:t>
            </a:r>
            <a:r>
              <a:rPr lang="ru-RU" sz="2400" i="1" dirty="0"/>
              <a:t>трудового воспитания обучаемых, системы и методики индивидуально-воспитательной работы в вузах, укрепления организованности и порядка, а также педагогических аспектов формирования в учебных коллективах здорового социально-психологического климата и морально-нравственной </a:t>
            </a:r>
            <a:r>
              <a:rPr lang="ru-RU" sz="2400" i="1" dirty="0" smtClean="0"/>
              <a:t>атмосферы.</a:t>
            </a:r>
          </a:p>
          <a:p>
            <a:pPr algn="just"/>
            <a:r>
              <a:rPr lang="ru-RU" sz="2400" i="1" dirty="0"/>
              <a:t>В</a:t>
            </a:r>
            <a:r>
              <a:rPr lang="ru-RU" sz="2400" i="1" dirty="0" smtClean="0"/>
              <a:t>ыявлять </a:t>
            </a:r>
            <a:r>
              <a:rPr lang="ru-RU" sz="2400" i="1" dirty="0"/>
              <a:t>эти особенности и разрабатывать пути совершенствования учебно-воспитательной работы в данной системе.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30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336884"/>
            <a:ext cx="10935547" cy="6400799"/>
          </a:xfrm>
        </p:spPr>
        <p:txBody>
          <a:bodyPr>
            <a:normAutofit/>
          </a:bodyPr>
          <a:lstStyle/>
          <a:p>
            <a:pPr algn="just"/>
            <a:r>
              <a:rPr lang="ru-RU" sz="2400" i="1" dirty="0"/>
              <a:t>В</a:t>
            </a:r>
            <a:r>
              <a:rPr lang="ru-RU" sz="2400" i="1" dirty="0" smtClean="0"/>
              <a:t>ыявлять </a:t>
            </a:r>
            <a:r>
              <a:rPr lang="ru-RU" sz="2400" i="1" dirty="0"/>
              <a:t>особенности деятельности преподавателей, требования к их личным качествам, специальной и методической подготовке, разрабатывать систему повышения их педагогической культуры, условия диалектического сочетания в их деятельности учебно-воспитательной и научно-исследовательской работы, а также пути совершенствования методической работы на кафедрах.</a:t>
            </a:r>
            <a:endParaRPr lang="ru-RU" sz="2400" dirty="0"/>
          </a:p>
          <a:p>
            <a:pPr algn="just"/>
            <a:r>
              <a:rPr lang="ru-RU" sz="2400" i="1" dirty="0" smtClean="0"/>
              <a:t>Изучать историю, осуществлять критический </a:t>
            </a:r>
            <a:r>
              <a:rPr lang="ru-RU" sz="2400" i="1" dirty="0"/>
              <a:t>анализ педагогической мысли </a:t>
            </a:r>
            <a:r>
              <a:rPr lang="ru-RU" sz="2400" i="1" dirty="0" smtClean="0"/>
              <a:t>прошлого.</a:t>
            </a:r>
            <a:r>
              <a:rPr lang="ru-RU" sz="2400" dirty="0" smtClean="0"/>
              <a:t> </a:t>
            </a:r>
          </a:p>
          <a:p>
            <a:pPr algn="just"/>
            <a:r>
              <a:rPr lang="ru-RU" sz="2400" i="1" dirty="0" smtClean="0"/>
              <a:t>Разрабатывать принципы </a:t>
            </a:r>
            <a:r>
              <a:rPr lang="ru-RU" sz="2400" i="1" dirty="0"/>
              <a:t>прогнозирования, </a:t>
            </a:r>
            <a:r>
              <a:rPr lang="ru-RU" sz="2400" i="1" dirty="0" smtClean="0"/>
              <a:t>современные методики </a:t>
            </a:r>
            <a:r>
              <a:rPr lang="ru-RU" sz="2400" i="1" dirty="0"/>
              <a:t>прогнозирования, а также </a:t>
            </a:r>
            <a:r>
              <a:rPr lang="ru-RU" sz="2400" i="1" dirty="0" smtClean="0"/>
              <a:t>критерии </a:t>
            </a:r>
            <a:r>
              <a:rPr lang="ru-RU" sz="2400" i="1" dirty="0"/>
              <a:t>объективности и реальности прогнозов.</a:t>
            </a:r>
            <a:r>
              <a:rPr lang="ru-RU" sz="2400" dirty="0"/>
              <a:t> </a:t>
            </a:r>
            <a:endParaRPr lang="ru-RU" sz="2400" dirty="0" smtClean="0"/>
          </a:p>
          <a:p>
            <a:pPr algn="just"/>
            <a:r>
              <a:rPr lang="ru-RU" sz="2400" i="1" dirty="0" smtClean="0"/>
              <a:t>Анализировать педагогические аспекты </a:t>
            </a:r>
            <a:r>
              <a:rPr lang="ru-RU" sz="2400" i="1" dirty="0"/>
              <a:t>подготовки специалистов в других странах, </a:t>
            </a:r>
            <a:r>
              <a:rPr lang="ru-RU" sz="2400" i="1" dirty="0" smtClean="0"/>
              <a:t>выявлять позитивные методики </a:t>
            </a:r>
            <a:r>
              <a:rPr lang="ru-RU" sz="2400" i="1" dirty="0"/>
              <a:t>и </a:t>
            </a:r>
            <a:r>
              <a:rPr lang="ru-RU" sz="2400" i="1" dirty="0" smtClean="0"/>
              <a:t>технологии, </a:t>
            </a:r>
            <a:r>
              <a:rPr lang="ru-RU" sz="2400" i="1" dirty="0"/>
              <a:t>которые при определенных условиях могут быть использованы в практике наших вузов.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739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224589"/>
            <a:ext cx="859666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Связь педагогики с психологией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834189"/>
            <a:ext cx="10966027" cy="5791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600" dirty="0"/>
              <a:t>П</a:t>
            </a:r>
            <a:r>
              <a:rPr lang="ru-RU" sz="2600" dirty="0" smtClean="0"/>
              <a:t>редмет </a:t>
            </a:r>
            <a:r>
              <a:rPr lang="ru-RU" sz="2600" dirty="0"/>
              <a:t>исследования этих </a:t>
            </a:r>
            <a:r>
              <a:rPr lang="ru-RU" sz="2600" dirty="0" smtClean="0"/>
              <a:t>наук: психология </a:t>
            </a:r>
            <a:r>
              <a:rPr lang="ru-RU" sz="2600" dirty="0"/>
              <a:t>изучает законы развития психики человека, педагогика разрабатывает законы управления развитием личности. </a:t>
            </a:r>
            <a:endParaRPr lang="ru-RU" sz="2600" dirty="0" smtClean="0"/>
          </a:p>
          <a:p>
            <a:pPr algn="just"/>
            <a:r>
              <a:rPr lang="ru-RU" sz="2600" dirty="0"/>
              <a:t>О</a:t>
            </a:r>
            <a:r>
              <a:rPr lang="ru-RU" sz="2600" dirty="0" smtClean="0"/>
              <a:t>бщность </a:t>
            </a:r>
            <a:r>
              <a:rPr lang="ru-RU" sz="2600" dirty="0"/>
              <a:t>методов исследований педагогики и </a:t>
            </a:r>
            <a:r>
              <a:rPr lang="ru-RU" sz="2600" dirty="0" smtClean="0"/>
              <a:t>психологии </a:t>
            </a:r>
            <a:r>
              <a:rPr lang="ru-RU" sz="2600" dirty="0"/>
              <a:t>(психометрия, парное сравнение, психологические тесты, психологические анкеты и </a:t>
            </a:r>
            <a:r>
              <a:rPr lang="ru-RU" sz="2600" dirty="0" smtClean="0"/>
              <a:t>др.).</a:t>
            </a:r>
          </a:p>
          <a:p>
            <a:pPr algn="just"/>
            <a:r>
              <a:rPr lang="ru-RU" sz="2600" dirty="0"/>
              <a:t>Б</a:t>
            </a:r>
            <a:r>
              <a:rPr lang="ru-RU" sz="2600" dirty="0" smtClean="0"/>
              <a:t>азовые </a:t>
            </a:r>
            <a:r>
              <a:rPr lang="ru-RU" sz="2600" dirty="0"/>
              <a:t>понятия </a:t>
            </a:r>
            <a:r>
              <a:rPr lang="ru-RU" sz="2600" dirty="0" smtClean="0"/>
              <a:t>психологии.</a:t>
            </a:r>
          </a:p>
          <a:p>
            <a:pPr algn="just"/>
            <a:r>
              <a:rPr lang="ru-RU" sz="2600" dirty="0"/>
              <a:t>Р</a:t>
            </a:r>
            <a:r>
              <a:rPr lang="ru-RU" sz="2600" dirty="0" smtClean="0"/>
              <a:t>езультаты </a:t>
            </a:r>
            <a:r>
              <a:rPr lang="ru-RU" sz="2600" dirty="0"/>
              <a:t>педагогической деятельности изучаются с помощью психологических диагностик (тестов, анкет и т.д</a:t>
            </a:r>
            <a:r>
              <a:rPr lang="ru-RU" sz="2600" dirty="0" smtClean="0"/>
              <a:t>.).</a:t>
            </a:r>
          </a:p>
          <a:p>
            <a:pPr algn="just"/>
            <a:r>
              <a:rPr lang="ru-RU" sz="2600" dirty="0" smtClean="0"/>
              <a:t>Мостом </a:t>
            </a:r>
            <a:r>
              <a:rPr lang="ru-RU" sz="2600" dirty="0"/>
              <a:t>между педагогической и психологической науками выступают педагогическая и возрастная психология, психология профессиональной педагогической деятельности, психология управления педагогическими системами и </a:t>
            </a:r>
            <a:r>
              <a:rPr lang="ru-RU" sz="2600" dirty="0" smtClean="0"/>
              <a:t>др.</a:t>
            </a:r>
          </a:p>
          <a:p>
            <a:pPr algn="just"/>
            <a:endParaRPr lang="ru-RU" sz="2600" b="1" i="1" dirty="0" smtClean="0"/>
          </a:p>
          <a:p>
            <a:pPr algn="just"/>
            <a:r>
              <a:rPr lang="ru-RU" sz="2600" b="1" i="1" dirty="0"/>
              <a:t> </a:t>
            </a:r>
            <a:endParaRPr lang="ru-RU" sz="2600" dirty="0"/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46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36884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/>
              <a:t>К числу наиболее важных связей с психологией педагогика относит: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427747"/>
            <a:ext cx="10966027" cy="5430253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1. </a:t>
            </a:r>
            <a:r>
              <a:rPr lang="ru-RU" sz="3200" dirty="0"/>
              <a:t>Возрастные характеристики групп воспитанников и обучаемых.</a:t>
            </a:r>
          </a:p>
          <a:p>
            <a:pPr algn="just"/>
            <a:r>
              <a:rPr lang="ru-RU" sz="3200" dirty="0"/>
              <a:t>2. Представления о психических процессах.</a:t>
            </a:r>
          </a:p>
          <a:p>
            <a:pPr algn="just"/>
            <a:r>
              <a:rPr lang="ru-RU" sz="3200" dirty="0"/>
              <a:t>3. Интерпретации отдельных характеристик личности, в первую очередь – самостоятельности, активности, мотивации.</a:t>
            </a:r>
          </a:p>
          <a:p>
            <a:pPr algn="just"/>
            <a:r>
              <a:rPr lang="ru-RU" sz="3200" dirty="0"/>
              <a:t>4. Представление цели образования в форме, которую педагогика может воспринять в форме содержания.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958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9418" y="160422"/>
            <a:ext cx="8596668" cy="4812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Литература для самоподготовки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8785" y="786063"/>
            <a:ext cx="11017361" cy="607193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sz="1900" dirty="0" err="1" smtClean="0"/>
              <a:t>Афонин</a:t>
            </a:r>
            <a:r>
              <a:rPr lang="ru-RU" sz="1900" dirty="0"/>
              <a:t>, И.Д. Психология и педагогика высшей школы [Текст] : учебник / И.Д. </a:t>
            </a:r>
            <a:r>
              <a:rPr lang="ru-RU" sz="1900" dirty="0" err="1"/>
              <a:t>Афонин</a:t>
            </a:r>
            <a:r>
              <a:rPr lang="ru-RU" sz="1900" dirty="0"/>
              <a:t>, А.И. </a:t>
            </a:r>
            <a:r>
              <a:rPr lang="ru-RU" sz="1900" dirty="0" err="1"/>
              <a:t>Афонин</a:t>
            </a:r>
            <a:r>
              <a:rPr lang="ru-RU" sz="1900" dirty="0"/>
              <a:t>. – М. : Издательство «</a:t>
            </a:r>
            <a:r>
              <a:rPr lang="ru-RU" sz="1900" dirty="0" err="1"/>
              <a:t>Русайнс</a:t>
            </a:r>
            <a:r>
              <a:rPr lang="ru-RU" sz="1900" dirty="0"/>
              <a:t>», 2016. - 248 с.</a:t>
            </a:r>
          </a:p>
          <a:p>
            <a:pPr lvl="0"/>
            <a:r>
              <a:rPr lang="ru-RU" sz="1900" dirty="0" smtClean="0"/>
              <a:t>Психология </a:t>
            </a:r>
            <a:r>
              <a:rPr lang="ru-RU" sz="1900" dirty="0"/>
              <a:t>и педагогика высшей школы [Текст] : краткий курс лекций для </a:t>
            </a:r>
            <a:r>
              <a:rPr lang="ru-RU" sz="1900" dirty="0" err="1"/>
              <a:t>для</a:t>
            </a:r>
            <a:r>
              <a:rPr lang="ru-RU" sz="1900" dirty="0"/>
              <a:t> аспирантов, магистров, слушателей системы повышения квалификации и преподавателей / Сост.: Рыжкова И.В., Щербакова Н.А.// ФГБОУ ВПО «Саратовский ГАУ». – Саратов, 2014. – 134с.</a:t>
            </a:r>
          </a:p>
          <a:p>
            <a:pPr lvl="0"/>
            <a:r>
              <a:rPr lang="ru-RU" sz="1900" dirty="0"/>
              <a:t>Психология и педагогика высшей школы [Текст] : учебное пособие / Отв. редактор М.И. Буланова-Топоркова. – Ростов н/Д: Феникс, 2002. – 544 с. </a:t>
            </a:r>
          </a:p>
          <a:p>
            <a:pPr lvl="0"/>
            <a:r>
              <a:rPr lang="ru-RU" sz="1900" dirty="0"/>
              <a:t>Самыгин, С. И. Психология и педагогика [Текст] : учебное пособие / С.И. Самыгин, Л. Д. Столяренко. – М. : КНОРУС, 2012. – 480 с;  [Электронный ресурс] : ЭБС «BOOK». Ссылка на текст учебника: </a:t>
            </a:r>
            <a:r>
              <a:rPr lang="ru-RU" sz="1900" u="sng" dirty="0">
                <a:hlinkClick r:id="rId2"/>
              </a:rPr>
              <a:t>http://www.book.ru/view/908004/2</a:t>
            </a:r>
            <a:endParaRPr lang="ru-RU" sz="1900" dirty="0"/>
          </a:p>
          <a:p>
            <a:pPr marL="0" lvl="3" indent="273050"/>
            <a:r>
              <a:rPr lang="ru-RU" sz="1900" dirty="0"/>
              <a:t>Столяренко Л.Д. Педагогика и психология высшей школы. [Текст]/ </a:t>
            </a:r>
            <a:r>
              <a:rPr lang="ru-RU" sz="1900" dirty="0" err="1"/>
              <a:t>Л.Д.Столяренко</a:t>
            </a:r>
            <a:r>
              <a:rPr lang="ru-RU" sz="1900" dirty="0"/>
              <a:t>: Учебник. - </a:t>
            </a:r>
            <a:r>
              <a:rPr lang="ru-RU" sz="1900" dirty="0" smtClean="0"/>
              <a:t>    М</a:t>
            </a:r>
            <a:r>
              <a:rPr lang="ru-RU" sz="1900" dirty="0"/>
              <a:t>.: Феникс, 2014 - 624 с. Режим доступа к электронному варианту: http://www.libros.am/book/3737/pedagogika-ipsikhologiya-vysshejj-shkoly</a:t>
            </a:r>
          </a:p>
          <a:p>
            <a:pPr lvl="0"/>
            <a:r>
              <a:rPr lang="ru-RU" sz="1900" b="1" dirty="0" smtClean="0"/>
              <a:t>Игнатова</a:t>
            </a:r>
            <a:r>
              <a:rPr lang="ru-RU" sz="1900" b="1" dirty="0"/>
              <a:t>, В. В. Педагогика и психология высшей школы</a:t>
            </a:r>
            <a:r>
              <a:rPr lang="ru-RU" sz="1900" dirty="0"/>
              <a:t> [Электронный ресурс]</a:t>
            </a:r>
            <a:r>
              <a:rPr lang="ru-RU" sz="1900" b="1" dirty="0"/>
              <a:t> </a:t>
            </a:r>
            <a:r>
              <a:rPr lang="ru-RU" sz="1900" dirty="0"/>
              <a:t>: учеб. пособие / В. В. Игнатова, Н. А. Красноперова, С. А. Сапрыгина ; </a:t>
            </a:r>
            <a:r>
              <a:rPr lang="ru-RU" sz="1900" dirty="0" err="1"/>
              <a:t>СибГУ</a:t>
            </a:r>
            <a:r>
              <a:rPr lang="ru-RU" sz="1900" dirty="0"/>
              <a:t> им. М. Ф. </a:t>
            </a:r>
            <a:r>
              <a:rPr lang="ru-RU" sz="1900" dirty="0" err="1"/>
              <a:t>Решетнева</a:t>
            </a:r>
            <a:r>
              <a:rPr lang="ru-RU" sz="1900" dirty="0"/>
              <a:t>. – Красноярск, 2018. – 98 с.</a:t>
            </a:r>
            <a:r>
              <a:rPr lang="ru-RU" sz="1900" b="1" dirty="0"/>
              <a:t> </a:t>
            </a:r>
            <a:r>
              <a:rPr lang="ru-RU" sz="1900" u="sng" dirty="0">
                <a:hlinkClick r:id="rId3"/>
              </a:rPr>
              <a:t>http://library3knew/pdf/izdv/izdv_sibgtu/Ignatova_Pedagogika_2018.pdf</a:t>
            </a:r>
            <a:endParaRPr lang="ru-RU" sz="1900" dirty="0"/>
          </a:p>
          <a:p>
            <a:pPr lvl="0"/>
            <a:r>
              <a:rPr lang="ru-RU" sz="1900" b="1" dirty="0"/>
              <a:t>Игнатова, В. В. Основы психологии и педагогики высшей школы</a:t>
            </a:r>
            <a:r>
              <a:rPr lang="ru-RU" sz="1900" dirty="0"/>
              <a:t> [Электронный ресурс]: учеб. пособие / В. В. Игнатова, Н. А. Красноперова ; </a:t>
            </a:r>
            <a:r>
              <a:rPr lang="ru-RU" sz="1900" dirty="0" err="1"/>
              <a:t>СибГУ</a:t>
            </a:r>
            <a:r>
              <a:rPr lang="ru-RU" sz="1900" dirty="0"/>
              <a:t> им. М. Ф. </a:t>
            </a:r>
            <a:r>
              <a:rPr lang="ru-RU" sz="1900" dirty="0" err="1"/>
              <a:t>Решетнева</a:t>
            </a:r>
            <a:r>
              <a:rPr lang="ru-RU" sz="1900" dirty="0"/>
              <a:t>. – Красноярск, 2017. – 90 с</a:t>
            </a:r>
            <a:r>
              <a:rPr lang="ru-RU" sz="1900" dirty="0" smtClean="0"/>
              <a:t>. </a:t>
            </a:r>
            <a:r>
              <a:rPr lang="ru-RU" sz="1900" u="sng" dirty="0" smtClean="0">
                <a:hlinkClick r:id="rId4"/>
              </a:rPr>
              <a:t>http</a:t>
            </a:r>
            <a:r>
              <a:rPr lang="ru-RU" sz="1900" u="sng" dirty="0">
                <a:hlinkClick r:id="rId4"/>
              </a:rPr>
              <a:t>://library3knew/pdf/izdv/izdv_sibgtu/Ignatova_Osnovyi_psikhologii_2017.pdf</a:t>
            </a:r>
            <a:r>
              <a:rPr lang="ru-RU" sz="1900" dirty="0"/>
              <a:t/>
            </a:r>
            <a:br>
              <a:rPr lang="ru-RU" sz="1900" dirty="0"/>
            </a:br>
            <a:endParaRPr lang="ru-RU" sz="1900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145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4407" y="465221"/>
            <a:ext cx="11017361" cy="6272463"/>
          </a:xfrm>
        </p:spPr>
        <p:txBody>
          <a:bodyPr>
            <a:normAutofit fontScale="70000" lnSpcReduction="20000"/>
          </a:bodyPr>
          <a:lstStyle/>
          <a:p>
            <a:r>
              <a:rPr lang="ru-RU" i="1" dirty="0"/>
              <a:t>Дрозд, К. В. </a:t>
            </a:r>
            <a:r>
              <a:rPr lang="ru-RU" dirty="0"/>
              <a:t>Проектирование образовательной среды : учеб. пособие для </a:t>
            </a:r>
            <a:r>
              <a:rPr lang="ru-RU" dirty="0" err="1"/>
              <a:t>бакалавриата</a:t>
            </a:r>
            <a:r>
              <a:rPr lang="ru-RU" dirty="0"/>
              <a:t> и магистратуры / К. В. Дрозд, И. В. Плаксина. — 2-е изд., </a:t>
            </a:r>
            <a:r>
              <a:rPr lang="ru-RU" dirty="0" err="1"/>
              <a:t>испр</a:t>
            </a:r>
            <a:r>
              <a:rPr lang="ru-RU" dirty="0"/>
              <a:t>. и доп. — М. : Издательство </a:t>
            </a:r>
            <a:r>
              <a:rPr lang="ru-RU" dirty="0" err="1"/>
              <a:t>Юрайт</a:t>
            </a:r>
            <a:r>
              <a:rPr lang="ru-RU" dirty="0"/>
              <a:t>, 2019. — 437 с. — (Серия : Образовательный процесс). — ISBN 978-5-534-06592-3. Режим доступа: </a:t>
            </a:r>
            <a:r>
              <a:rPr lang="ru-RU" u="sng" dirty="0">
                <a:hlinkClick r:id="rId2"/>
              </a:rPr>
              <a:t>https://biblio-online.ru/book/proektirovanie-obrazovatelnoy-sredy-442026</a:t>
            </a:r>
            <a:endParaRPr lang="ru-RU" dirty="0"/>
          </a:p>
          <a:p>
            <a:r>
              <a:rPr lang="ru-RU" i="1" dirty="0" err="1"/>
              <a:t>Коротаева</a:t>
            </a:r>
            <a:r>
              <a:rPr lang="ru-RU" i="1" dirty="0"/>
              <a:t>, Е. В. </a:t>
            </a:r>
            <a:r>
              <a:rPr lang="ru-RU" dirty="0"/>
              <a:t>Образовательные технологии в педагогическом взаимодействии : учеб. пособие для вузов / Е. В. </a:t>
            </a:r>
            <a:r>
              <a:rPr lang="ru-RU" dirty="0" err="1"/>
              <a:t>Коротаева</a:t>
            </a:r>
            <a:r>
              <a:rPr lang="ru-RU" dirty="0"/>
              <a:t>. — 2-е изд., </a:t>
            </a:r>
            <a:r>
              <a:rPr lang="ru-RU" dirty="0" err="1"/>
              <a:t>перераб</a:t>
            </a:r>
            <a:r>
              <a:rPr lang="ru-RU" dirty="0"/>
              <a:t>. и доп. — М. : Издательство </a:t>
            </a:r>
            <a:r>
              <a:rPr lang="ru-RU" dirty="0" err="1"/>
              <a:t>Юрайт</a:t>
            </a:r>
            <a:r>
              <a:rPr lang="ru-RU" dirty="0"/>
              <a:t>, 2019. — 181 с. — (Серия : Образовательный процесс). — ISBN 978-5-534-10298-7.Режим доступа:  </a:t>
            </a:r>
            <a:r>
              <a:rPr lang="ru-RU" u="sng" dirty="0">
                <a:hlinkClick r:id="rId3"/>
              </a:rPr>
              <a:t>https://biblio-online.ru/book/obrazovatelnye-tehnologii-v-pedagogicheskom-vzaimodeystvii-429700</a:t>
            </a:r>
            <a:endParaRPr lang="ru-RU" dirty="0"/>
          </a:p>
          <a:p>
            <a:r>
              <a:rPr lang="ru-RU" i="1" dirty="0" err="1"/>
              <a:t>Ксензова</a:t>
            </a:r>
            <a:r>
              <a:rPr lang="ru-RU" i="1" dirty="0"/>
              <a:t>, Г. Ю. </a:t>
            </a:r>
            <a:r>
              <a:rPr lang="ru-RU" dirty="0"/>
              <a:t>Инновационные процессы в образовании. Реформа системы общего образования : учеб. пособие для вузов / Г. Ю. </a:t>
            </a:r>
            <a:r>
              <a:rPr lang="ru-RU" dirty="0" err="1"/>
              <a:t>Ксензова</a:t>
            </a:r>
            <a:r>
              <a:rPr lang="ru-RU" dirty="0"/>
              <a:t>. — М. : Издательство </a:t>
            </a:r>
            <a:r>
              <a:rPr lang="ru-RU" dirty="0" err="1"/>
              <a:t>Юрайт</a:t>
            </a:r>
            <a:r>
              <a:rPr lang="ru-RU" dirty="0"/>
              <a:t>, 2019. — 349 с. — (Серия : Образовательный процесс). — ISBN 978-5-534-06899-3. Режим доступа: </a:t>
            </a:r>
            <a:r>
              <a:rPr lang="ru-RU" u="sng" dirty="0">
                <a:hlinkClick r:id="rId4"/>
              </a:rPr>
              <a:t>https://</a:t>
            </a:r>
            <a:r>
              <a:rPr lang="ru-RU" u="sng" dirty="0" smtClean="0">
                <a:hlinkClick r:id="rId4"/>
              </a:rPr>
              <a:t>biblio-online.ru/book/innovacionnye-processy-v-obrazovanii-reforma-sistemy-obschego-obrazovaniya-442099</a:t>
            </a:r>
            <a:endParaRPr lang="ru-RU" u="sng" dirty="0" smtClean="0"/>
          </a:p>
          <a:p>
            <a:r>
              <a:rPr lang="ru-RU" i="1" dirty="0" smtClean="0"/>
              <a:t>Смирнов</a:t>
            </a:r>
            <a:r>
              <a:rPr lang="ru-RU" i="1" dirty="0"/>
              <a:t>, С. Д. </a:t>
            </a:r>
            <a:r>
              <a:rPr lang="ru-RU" dirty="0"/>
              <a:t>Психология и педагогика в высшей школе : учеб. пособие для вузов / С. Д. Смирнов. — 3-е изд., </a:t>
            </a:r>
            <a:r>
              <a:rPr lang="ru-RU" dirty="0" err="1"/>
              <a:t>перераб</a:t>
            </a:r>
            <a:r>
              <a:rPr lang="ru-RU" dirty="0"/>
              <a:t>. и доп. — М. : Издательство </a:t>
            </a:r>
            <a:r>
              <a:rPr lang="ru-RU" dirty="0" err="1"/>
              <a:t>Юрайт</a:t>
            </a:r>
            <a:r>
              <a:rPr lang="ru-RU" dirty="0"/>
              <a:t>, 2019. — 352 с. — (Серия : Образовательный процесс). — ISBN 978-5-534-08294-4. Режим доступа: </a:t>
            </a:r>
            <a:r>
              <a:rPr lang="ru-RU" u="sng" dirty="0">
                <a:hlinkClick r:id="rId5"/>
              </a:rPr>
              <a:t>https://biblio-online.ru/book/psihologiya-i-pedagogika-v-vysshey-shkole-434305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621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Аспект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150</TotalTime>
  <Words>1750</Words>
  <Application>Microsoft Office PowerPoint</Application>
  <PresentationFormat>Произвольный</PresentationFormat>
  <Paragraphs>136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Аспект</vt:lpstr>
      <vt:lpstr> Основы психологии и педагогики высшей школы</vt:lpstr>
      <vt:lpstr>Психология и педагогика высшей школы как учебная дисциплина.  Предмет и задачи психологии и педагогики высшей школы </vt:lpstr>
      <vt:lpstr>Психология как наука о человеке </vt:lpstr>
      <vt:lpstr>   Основные психологические понятия (категории):  </vt:lpstr>
      <vt:lpstr>Психология высшей школы </vt:lpstr>
      <vt:lpstr>Предмет психологии высшей школы </vt:lpstr>
      <vt:lpstr>Презентация PowerPoint</vt:lpstr>
      <vt:lpstr>  Психология высшей школы исследует ряд направлений: </vt:lpstr>
      <vt:lpstr> Педагогика как наука о законах образования и воспитания человека </vt:lpstr>
      <vt:lpstr>Классификация педагогических дисциплин:  </vt:lpstr>
      <vt:lpstr>Функции педагогики: Теоретические: описательная (объяснительная), диагностическая, прогностическая. Технологические: проектная, преобразовательная, рефлексивная. </vt:lpstr>
      <vt:lpstr>Основные педагогические понятия (категории): </vt:lpstr>
      <vt:lpstr>Предмет педагогики высшей школы </vt:lpstr>
      <vt:lpstr>Функции педагогики ВШ: познавательная и научно-образовательная; диагностико-прогностическая и преобразовательная</vt:lpstr>
      <vt:lpstr>Задачи педагогики высшей школы. </vt:lpstr>
      <vt:lpstr>Презентация PowerPoint</vt:lpstr>
      <vt:lpstr>Презентация PowerPoint</vt:lpstr>
      <vt:lpstr>Связь педагогики с психологией</vt:lpstr>
      <vt:lpstr>К числу наиболее важных связей с психологией педагогика относит: </vt:lpstr>
      <vt:lpstr>Литература для самоподготовки 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30</cp:revision>
  <dcterms:created xsi:type="dcterms:W3CDTF">2016-10-16T10:30:18Z</dcterms:created>
  <dcterms:modified xsi:type="dcterms:W3CDTF">2020-01-31T09:29:31Z</dcterms:modified>
</cp:coreProperties>
</file>